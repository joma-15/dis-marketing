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1"/>
  </p:notesMasterIdLst>
  <p:sldIdLst>
    <p:sldId id="377" r:id="rId2"/>
    <p:sldId id="257" r:id="rId3"/>
    <p:sldId id="378" r:id="rId4"/>
    <p:sldId id="379" r:id="rId5"/>
    <p:sldId id="380" r:id="rId6"/>
    <p:sldId id="381" r:id="rId7"/>
    <p:sldId id="382" r:id="rId8"/>
    <p:sldId id="383" r:id="rId9"/>
    <p:sldId id="264" r:id="rId10"/>
    <p:sldId id="265" r:id="rId11"/>
    <p:sldId id="384" r:id="rId12"/>
    <p:sldId id="385" r:id="rId13"/>
    <p:sldId id="268" r:id="rId14"/>
    <p:sldId id="256" r:id="rId15"/>
    <p:sldId id="368" r:id="rId16"/>
    <p:sldId id="349" r:id="rId17"/>
    <p:sldId id="258" r:id="rId18"/>
    <p:sldId id="259" r:id="rId19"/>
    <p:sldId id="260" r:id="rId20"/>
    <p:sldId id="342" r:id="rId21"/>
    <p:sldId id="261" r:id="rId22"/>
    <p:sldId id="343" r:id="rId23"/>
    <p:sldId id="262" r:id="rId24"/>
    <p:sldId id="369" r:id="rId25"/>
    <p:sldId id="263" r:id="rId26"/>
    <p:sldId id="266" r:id="rId27"/>
    <p:sldId id="267" r:id="rId28"/>
    <p:sldId id="350" r:id="rId29"/>
    <p:sldId id="351" r:id="rId30"/>
    <p:sldId id="352" r:id="rId31"/>
    <p:sldId id="269" r:id="rId32"/>
    <p:sldId id="344" r:id="rId33"/>
    <p:sldId id="345" r:id="rId34"/>
    <p:sldId id="346" r:id="rId35"/>
    <p:sldId id="370" r:id="rId36"/>
    <p:sldId id="347" r:id="rId37"/>
    <p:sldId id="348" r:id="rId38"/>
    <p:sldId id="376" r:id="rId39"/>
    <p:sldId id="270" r:id="rId40"/>
  </p:sldIdLst>
  <p:sldSz cx="18288000" cy="10287000"/>
  <p:notesSz cx="6858000" cy="9144000"/>
  <p:embeddedFontLst>
    <p:embeddedFont>
      <p:font typeface="Aharoni" panose="02010803020104030203" pitchFamily="2" charset="-79"/>
      <p:bold r:id="rId42"/>
    </p:embeddedFont>
    <p:embeddedFont>
      <p:font typeface="Anantason SemiExpanded Bold" panose="020B0604020202020204" charset="0"/>
      <p:regular r:id="rId43"/>
    </p:embeddedFont>
    <p:embeddedFont>
      <p:font typeface="Anantason SemiExpanded Italics" panose="020B0604020202020204" charset="0"/>
      <p:regular r:id="rId44"/>
    </p:embeddedFont>
    <p:embeddedFont>
      <p:font typeface="Arial MT" panose="020B0604020202020204" charset="0"/>
      <p:bold r:id="rId45"/>
      <p:italic r:id="rId46"/>
      <p:boldItalic r:id="rId47"/>
    </p:embeddedFont>
    <p:embeddedFont>
      <p:font typeface="Calibri" panose="020F0502020204030204" pitchFamily="34" charset="0"/>
      <p:regular r:id="rId48"/>
      <p:bold r:id="rId49"/>
      <p:italic r:id="rId50"/>
      <p:boldItalic r:id="rId51"/>
    </p:embeddedFont>
    <p:embeddedFont>
      <p:font typeface="Open Sans Bold" panose="020B0604020202020204" charset="0"/>
      <p:regular r:id="rId52"/>
    </p:embeddedFont>
    <p:embeddedFont>
      <p:font typeface="Open Sans Italics" panose="020B0604020202020204" charset="0"/>
      <p:regular r:id="rId53"/>
    </p:embeddedFont>
    <p:embeddedFont>
      <p:font typeface="Poppins" panose="00000500000000000000" pitchFamily="2" charset="0"/>
      <p:regular r:id="rId54"/>
      <p:bold r:id="rId55"/>
    </p:embeddedFont>
    <p:embeddedFont>
      <p:font typeface="Poppins Bold" panose="00000800000000000000" charset="0"/>
      <p:regular r:id="rId56"/>
    </p:embeddedFont>
    <p:embeddedFont>
      <p:font typeface="Prachason Neue SemiExpanded" panose="020B0604020202020204" charset="0"/>
      <p:regular r:id="rId57"/>
    </p:embeddedFont>
    <p:embeddedFont>
      <p:font typeface="Prachason Neue SemiExpanded Bold" panose="020B0604020202020204" charset="0"/>
      <p:regular r:id="rId58"/>
    </p:embeddedFont>
    <p:embeddedFont>
      <p:font typeface="Prachason Neue SemiExpanded Italics" panose="020B0604020202020204" charset="0"/>
      <p:regular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8712"/>
    <a:srgbClr val="0606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56" autoAdjust="0"/>
    <p:restoredTop sz="94622" autoAdjust="0"/>
  </p:normalViewPr>
  <p:slideViewPr>
    <p:cSldViewPr>
      <p:cViewPr varScale="1">
        <p:scale>
          <a:sx n="39" d="100"/>
          <a:sy n="39" d="100"/>
        </p:scale>
        <p:origin x="952"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font" Target="fonts/font14.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54" Type="http://schemas.openxmlformats.org/officeDocument/2006/relationships/font" Target="fonts/font13.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font" Target="fonts/font12.fntdata"/><Relationship Id="rId58"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 Id="rId57" Type="http://schemas.openxmlformats.org/officeDocument/2006/relationships/font" Target="fonts/font16.fntdata"/><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font" Target="fonts/font11.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59"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93A46D-3E24-4A18-9631-244B5BF4217A}" type="datetimeFigureOut">
              <a:rPr lang="en-PH" smtClean="0"/>
              <a:t>27/02/2026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214E93-671E-4CCD-9DA3-6B549C10719A}" type="slidenum">
              <a:rPr lang="en-PH" smtClean="0"/>
              <a:t>‹#›</a:t>
            </a:fld>
            <a:endParaRPr lang="en-PH"/>
          </a:p>
        </p:txBody>
      </p:sp>
    </p:spTree>
    <p:extLst>
      <p:ext uri="{BB962C8B-B14F-4D97-AF65-F5344CB8AC3E}">
        <p14:creationId xmlns:p14="http://schemas.microsoft.com/office/powerpoint/2010/main" val="3299751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4214E93-671E-4CCD-9DA3-6B549C10719A}" type="slidenum">
              <a:rPr lang="en-PH" smtClean="0"/>
              <a:t>4</a:t>
            </a:fld>
            <a:endParaRPr lang="en-PH"/>
          </a:p>
        </p:txBody>
      </p:sp>
    </p:spTree>
    <p:extLst>
      <p:ext uri="{BB962C8B-B14F-4D97-AF65-F5344CB8AC3E}">
        <p14:creationId xmlns:p14="http://schemas.microsoft.com/office/powerpoint/2010/main" val="2651161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7.jpeg"/><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9.sv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8.sv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9.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image" Target="../media/image1.jpeg"/><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4.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20.svg"/><Relationship Id="rId9" Type="http://schemas.openxmlformats.org/officeDocument/2006/relationships/image" Target="../media/image24.png"/><Relationship Id="rId14" Type="http://schemas.openxmlformats.org/officeDocument/2006/relationships/image" Target="../media/image29.png"/></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9.png"/><Relationship Id="rId7" Type="http://schemas.openxmlformats.org/officeDocument/2006/relationships/image" Target="../media/image3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4.png"/><Relationship Id="rId10" Type="http://schemas.openxmlformats.org/officeDocument/2006/relationships/image" Target="../media/image37.png"/><Relationship Id="rId4" Type="http://schemas.openxmlformats.org/officeDocument/2006/relationships/image" Target="../media/image20.svg"/><Relationship Id="rId9" Type="http://schemas.openxmlformats.org/officeDocument/2006/relationships/image" Target="../media/image36.png"/></Relationships>
</file>

<file path=ppt/slides/_rels/slide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37.png"/><Relationship Id="rId3" Type="http://schemas.openxmlformats.org/officeDocument/2006/relationships/image" Target="../media/image19.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4.png"/><Relationship Id="rId10" Type="http://schemas.openxmlformats.org/officeDocument/2006/relationships/image" Target="../media/image42.png"/><Relationship Id="rId4" Type="http://schemas.openxmlformats.org/officeDocument/2006/relationships/image" Target="../media/image20.svg"/><Relationship Id="rId9" Type="http://schemas.openxmlformats.org/officeDocument/2006/relationships/image" Target="../media/image41.png"/></Relationships>
</file>

<file path=ppt/slides/_rels/slide9.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18" Type="http://schemas.openxmlformats.org/officeDocument/2006/relationships/image" Target="../media/image57.png"/><Relationship Id="rId3" Type="http://schemas.openxmlformats.org/officeDocument/2006/relationships/image" Target="../media/image19.png"/><Relationship Id="rId21" Type="http://schemas.openxmlformats.org/officeDocument/2006/relationships/image" Target="../media/image60.png"/><Relationship Id="rId7" Type="http://schemas.openxmlformats.org/officeDocument/2006/relationships/image" Target="../media/image46.png"/><Relationship Id="rId12" Type="http://schemas.openxmlformats.org/officeDocument/2006/relationships/image" Target="../media/image51.png"/><Relationship Id="rId17" Type="http://schemas.openxmlformats.org/officeDocument/2006/relationships/image" Target="../media/image56.png"/><Relationship Id="rId2" Type="http://schemas.openxmlformats.org/officeDocument/2006/relationships/image" Target="../media/image1.jpeg"/><Relationship Id="rId16" Type="http://schemas.openxmlformats.org/officeDocument/2006/relationships/image" Target="../media/image55.png"/><Relationship Id="rId20"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png"/><Relationship Id="rId15" Type="http://schemas.openxmlformats.org/officeDocument/2006/relationships/image" Target="../media/image54.png"/><Relationship Id="rId10" Type="http://schemas.openxmlformats.org/officeDocument/2006/relationships/image" Target="../media/image49.png"/><Relationship Id="rId19" Type="http://schemas.openxmlformats.org/officeDocument/2006/relationships/image" Target="../media/image58.png"/><Relationship Id="rId4" Type="http://schemas.openxmlformats.org/officeDocument/2006/relationships/image" Target="../media/image20.svg"/><Relationship Id="rId9" Type="http://schemas.openxmlformats.org/officeDocument/2006/relationships/image" Target="../media/image48.png"/><Relationship Id="rId14" Type="http://schemas.openxmlformats.org/officeDocument/2006/relationships/image" Target="../media/image53.png"/><Relationship Id="rId22"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s>
</file>

<file path=ppt/slides/_rels/slide1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6.svg"/></Relationships>
</file>

<file path=ppt/slides/_rels/slide12.xml.rels><?xml version="1.0" encoding="UTF-8" standalone="yes"?>
<Relationships xmlns="http://schemas.openxmlformats.org/package/2006/relationships"><Relationship Id="rId8" Type="http://schemas.openxmlformats.org/officeDocument/2006/relationships/image" Target="../media/image70.jpeg"/><Relationship Id="rId3" Type="http://schemas.openxmlformats.org/officeDocument/2006/relationships/image" Target="../media/image61.png"/><Relationship Id="rId7" Type="http://schemas.openxmlformats.org/officeDocument/2006/relationships/image" Target="../media/image69.jpeg"/><Relationship Id="rId12" Type="http://schemas.openxmlformats.org/officeDocument/2006/relationships/image" Target="../media/image74.jpe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68.jpeg"/><Relationship Id="rId11" Type="http://schemas.openxmlformats.org/officeDocument/2006/relationships/image" Target="../media/image73.jpeg"/><Relationship Id="rId5" Type="http://schemas.openxmlformats.org/officeDocument/2006/relationships/image" Target="../media/image67.jpeg"/><Relationship Id="rId10" Type="http://schemas.openxmlformats.org/officeDocument/2006/relationships/image" Target="../media/image72.jpeg"/><Relationship Id="rId4" Type="http://schemas.openxmlformats.org/officeDocument/2006/relationships/image" Target="../media/image62.svg"/><Relationship Id="rId9" Type="http://schemas.openxmlformats.org/officeDocument/2006/relationships/image" Target="../media/image71.jpeg"/></Relationships>
</file>

<file path=ppt/slides/_rels/slide1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62.svg"/></Relationships>
</file>

<file path=ppt/slides/_rels/slide1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jpe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svg"/></Relationships>
</file>

<file path=ppt/slides/_rels/slide1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jpe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svg"/></Relationships>
</file>

<file path=ppt/slides/_rels/slide1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91.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970000">
            <a:off x="-705701" y="-5150088"/>
            <a:ext cx="19699402" cy="20587176"/>
          </a:xfrm>
          <a:custGeom>
            <a:avLst/>
            <a:gdLst/>
            <a:ahLst/>
            <a:cxnLst/>
            <a:rect l="l" t="t" r="r" b="b"/>
            <a:pathLst>
              <a:path w="19699402" h="20587176">
                <a:moveTo>
                  <a:pt x="7822296" y="0"/>
                </a:moveTo>
                <a:lnTo>
                  <a:pt x="19699402" y="13906304"/>
                </a:lnTo>
                <a:lnTo>
                  <a:pt x="11877106" y="20587176"/>
                </a:lnTo>
                <a:lnTo>
                  <a:pt x="0" y="6680872"/>
                </a:lnTo>
                <a:lnTo>
                  <a:pt x="7822296" y="0"/>
                </a:lnTo>
                <a:close/>
              </a:path>
            </a:pathLst>
          </a:custGeom>
          <a:blipFill>
            <a:blip r:embed="rId2"/>
            <a:stretch>
              <a:fillRect l="-29935" t="-960" r="-29935" b="-960"/>
            </a:stretch>
          </a:blipFill>
        </p:spPr>
      </p:sp>
      <p:sp>
        <p:nvSpPr>
          <p:cNvPr id="3" name="Freeform 3"/>
          <p:cNvSpPr/>
          <p:nvPr/>
        </p:nvSpPr>
        <p:spPr>
          <a:xfrm flipH="1">
            <a:off x="10080249" y="1528865"/>
            <a:ext cx="8780085" cy="8758135"/>
          </a:xfrm>
          <a:custGeom>
            <a:avLst/>
            <a:gdLst/>
            <a:ahLst/>
            <a:cxnLst/>
            <a:rect l="l" t="t" r="r" b="b"/>
            <a:pathLst>
              <a:path w="8780085" h="8758135">
                <a:moveTo>
                  <a:pt x="8780085" y="0"/>
                </a:moveTo>
                <a:lnTo>
                  <a:pt x="0" y="0"/>
                </a:lnTo>
                <a:lnTo>
                  <a:pt x="0" y="8758135"/>
                </a:lnTo>
                <a:lnTo>
                  <a:pt x="8780085" y="8758135"/>
                </a:lnTo>
                <a:lnTo>
                  <a:pt x="8780085"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05720" y="687712"/>
            <a:ext cx="5785700" cy="1543050"/>
            <a:chOff x="0" y="0"/>
            <a:chExt cx="1523806" cy="406400"/>
          </a:xfrm>
        </p:grpSpPr>
        <p:sp>
          <p:nvSpPr>
            <p:cNvPr id="5" name="Freeform 5"/>
            <p:cNvSpPr/>
            <p:nvPr/>
          </p:nvSpPr>
          <p:spPr>
            <a:xfrm>
              <a:off x="0" y="0"/>
              <a:ext cx="1523806" cy="406400"/>
            </a:xfrm>
            <a:custGeom>
              <a:avLst/>
              <a:gdLst/>
              <a:ahLst/>
              <a:cxnLst/>
              <a:rect l="l" t="t" r="r" b="b"/>
              <a:pathLst>
                <a:path w="1523806" h="406400">
                  <a:moveTo>
                    <a:pt x="1320606" y="0"/>
                  </a:moveTo>
                  <a:cubicBezTo>
                    <a:pt x="1432830" y="0"/>
                    <a:pt x="1523806" y="90976"/>
                    <a:pt x="1523806" y="203200"/>
                  </a:cubicBezTo>
                  <a:cubicBezTo>
                    <a:pt x="1523806" y="315424"/>
                    <a:pt x="1432830" y="406400"/>
                    <a:pt x="1320606" y="406400"/>
                  </a:cubicBezTo>
                  <a:lnTo>
                    <a:pt x="203200" y="406400"/>
                  </a:lnTo>
                  <a:cubicBezTo>
                    <a:pt x="90976" y="406400"/>
                    <a:pt x="0" y="315424"/>
                    <a:pt x="0" y="203200"/>
                  </a:cubicBezTo>
                  <a:cubicBezTo>
                    <a:pt x="0" y="90976"/>
                    <a:pt x="90976" y="0"/>
                    <a:pt x="203200" y="0"/>
                  </a:cubicBezTo>
                  <a:close/>
                </a:path>
              </a:pathLst>
            </a:custGeom>
            <a:solidFill>
              <a:srgbClr val="021048"/>
            </a:solidFill>
          </p:spPr>
        </p:sp>
        <p:sp>
          <p:nvSpPr>
            <p:cNvPr id="6" name="TextBox 6"/>
            <p:cNvSpPr txBox="1"/>
            <p:nvPr/>
          </p:nvSpPr>
          <p:spPr>
            <a:xfrm>
              <a:off x="0" y="-38100"/>
              <a:ext cx="1523806" cy="4445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0080249" y="1748133"/>
            <a:ext cx="7160426" cy="716042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048"/>
            </a:soli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0481770" y="2072322"/>
            <a:ext cx="6434715" cy="643471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9202" t="-2072" r="-7704" b="-14834"/>
              </a:stretch>
            </a:blipFill>
          </p:spPr>
        </p:sp>
      </p:grpSp>
      <p:grpSp>
        <p:nvGrpSpPr>
          <p:cNvPr id="12" name="Group 12"/>
          <p:cNvGrpSpPr/>
          <p:nvPr/>
        </p:nvGrpSpPr>
        <p:grpSpPr>
          <a:xfrm>
            <a:off x="1750071" y="7404805"/>
            <a:ext cx="6059818" cy="1102232"/>
            <a:chOff x="0" y="0"/>
            <a:chExt cx="8079757" cy="1469643"/>
          </a:xfrm>
        </p:grpSpPr>
        <p:grpSp>
          <p:nvGrpSpPr>
            <p:cNvPr id="13" name="Group 13"/>
            <p:cNvGrpSpPr/>
            <p:nvPr/>
          </p:nvGrpSpPr>
          <p:grpSpPr>
            <a:xfrm>
              <a:off x="0" y="0"/>
              <a:ext cx="8079757" cy="1469643"/>
              <a:chOff x="0" y="0"/>
              <a:chExt cx="2234293" cy="406400"/>
            </a:xfrm>
          </p:grpSpPr>
          <p:sp>
            <p:nvSpPr>
              <p:cNvPr id="14" name="Freeform 14"/>
              <p:cNvSpPr/>
              <p:nvPr/>
            </p:nvSpPr>
            <p:spPr>
              <a:xfrm>
                <a:off x="0" y="0"/>
                <a:ext cx="2234293" cy="406400"/>
              </a:xfrm>
              <a:custGeom>
                <a:avLst/>
                <a:gdLst/>
                <a:ahLst/>
                <a:cxnLst/>
                <a:rect l="l" t="t" r="r" b="b"/>
                <a:pathLst>
                  <a:path w="2234293" h="406400">
                    <a:moveTo>
                      <a:pt x="2031093" y="0"/>
                    </a:moveTo>
                    <a:cubicBezTo>
                      <a:pt x="2143317" y="0"/>
                      <a:pt x="2234293" y="90976"/>
                      <a:pt x="2234293" y="203200"/>
                    </a:cubicBezTo>
                    <a:cubicBezTo>
                      <a:pt x="2234293" y="315424"/>
                      <a:pt x="2143317" y="406400"/>
                      <a:pt x="2031093"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38100" cap="sq">
                <a:solidFill>
                  <a:srgbClr val="010F48"/>
                </a:solidFill>
                <a:prstDash val="solid"/>
                <a:miter/>
              </a:ln>
            </p:spPr>
          </p:sp>
          <p:sp>
            <p:nvSpPr>
              <p:cNvPr id="15" name="TextBox 15"/>
              <p:cNvSpPr txBox="1"/>
              <p:nvPr/>
            </p:nvSpPr>
            <p:spPr>
              <a:xfrm>
                <a:off x="0" y="-38100"/>
                <a:ext cx="2234293" cy="44450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71315" y="156683"/>
              <a:ext cx="7737127" cy="1156277"/>
              <a:chOff x="0" y="0"/>
              <a:chExt cx="2719391" cy="406400"/>
            </a:xfrm>
          </p:grpSpPr>
          <p:sp>
            <p:nvSpPr>
              <p:cNvPr id="17" name="Freeform 17"/>
              <p:cNvSpPr/>
              <p:nvPr/>
            </p:nvSpPr>
            <p:spPr>
              <a:xfrm>
                <a:off x="0" y="0"/>
                <a:ext cx="2719391" cy="406400"/>
              </a:xfrm>
              <a:custGeom>
                <a:avLst/>
                <a:gdLst/>
                <a:ahLst/>
                <a:cxnLst/>
                <a:rect l="l" t="t" r="r" b="b"/>
                <a:pathLst>
                  <a:path w="2719391" h="406400">
                    <a:moveTo>
                      <a:pt x="2516191" y="0"/>
                    </a:moveTo>
                    <a:cubicBezTo>
                      <a:pt x="2628415" y="0"/>
                      <a:pt x="2719391" y="90976"/>
                      <a:pt x="2719391" y="203200"/>
                    </a:cubicBezTo>
                    <a:cubicBezTo>
                      <a:pt x="2719391" y="315424"/>
                      <a:pt x="2628415" y="406400"/>
                      <a:pt x="2516191" y="406400"/>
                    </a:cubicBezTo>
                    <a:lnTo>
                      <a:pt x="203200" y="406400"/>
                    </a:lnTo>
                    <a:cubicBezTo>
                      <a:pt x="90976" y="406400"/>
                      <a:pt x="0" y="315424"/>
                      <a:pt x="0" y="203200"/>
                    </a:cubicBezTo>
                    <a:cubicBezTo>
                      <a:pt x="0" y="90976"/>
                      <a:pt x="90976" y="0"/>
                      <a:pt x="203200" y="0"/>
                    </a:cubicBezTo>
                    <a:close/>
                  </a:path>
                </a:pathLst>
              </a:custGeom>
              <a:solidFill>
                <a:srgbClr val="010F48"/>
              </a:solidFill>
            </p:spPr>
          </p:sp>
          <p:sp>
            <p:nvSpPr>
              <p:cNvPr id="18" name="TextBox 18"/>
              <p:cNvSpPr txBox="1"/>
              <p:nvPr/>
            </p:nvSpPr>
            <p:spPr>
              <a:xfrm>
                <a:off x="0" y="-38100"/>
                <a:ext cx="2719391" cy="444500"/>
              </a:xfrm>
              <a:prstGeom prst="rect">
                <a:avLst/>
              </a:prstGeom>
            </p:spPr>
            <p:txBody>
              <a:bodyPr lIns="50800" tIns="50800" rIns="50800" bIns="50800" rtlCol="0" anchor="ctr"/>
              <a:lstStyle/>
              <a:p>
                <a:pPr algn="ctr">
                  <a:lnSpc>
                    <a:spcPts val="2659"/>
                  </a:lnSpc>
                  <a:spcBef>
                    <a:spcPct val="0"/>
                  </a:spcBef>
                </a:pPr>
                <a:endParaRPr/>
              </a:p>
            </p:txBody>
          </p:sp>
        </p:grpSp>
        <p:sp>
          <p:nvSpPr>
            <p:cNvPr id="19" name="Freeform 19"/>
            <p:cNvSpPr/>
            <p:nvPr/>
          </p:nvSpPr>
          <p:spPr>
            <a:xfrm>
              <a:off x="375800" y="272124"/>
              <a:ext cx="925395" cy="925395"/>
            </a:xfrm>
            <a:custGeom>
              <a:avLst/>
              <a:gdLst/>
              <a:ahLst/>
              <a:cxnLst/>
              <a:rect l="l" t="t" r="r" b="b"/>
              <a:pathLst>
                <a:path w="925395" h="925395">
                  <a:moveTo>
                    <a:pt x="0" y="0"/>
                  </a:moveTo>
                  <a:lnTo>
                    <a:pt x="925395" y="0"/>
                  </a:lnTo>
                  <a:lnTo>
                    <a:pt x="925395" y="925395"/>
                  </a:lnTo>
                  <a:lnTo>
                    <a:pt x="0" y="92539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 name="TextBox 20"/>
            <p:cNvSpPr txBox="1"/>
            <p:nvPr/>
          </p:nvSpPr>
          <p:spPr>
            <a:xfrm>
              <a:off x="1510073" y="372871"/>
              <a:ext cx="6398369" cy="590550"/>
            </a:xfrm>
            <a:prstGeom prst="rect">
              <a:avLst/>
            </a:prstGeom>
          </p:spPr>
          <p:txBody>
            <a:bodyPr lIns="0" tIns="0" rIns="0" bIns="0" rtlCol="0" anchor="t">
              <a:spAutoFit/>
            </a:bodyPr>
            <a:lstStyle/>
            <a:p>
              <a:pPr algn="l">
                <a:lnSpc>
                  <a:spcPts val="2760"/>
                </a:lnSpc>
              </a:pPr>
              <a:r>
                <a:rPr lang="en-US" sz="2300" spc="-23">
                  <a:solidFill>
                    <a:srgbClr val="FFFFFF"/>
                  </a:solidFill>
                  <a:latin typeface="Prachason Neue SemiExpanded"/>
                  <a:ea typeface="Prachason Neue SemiExpanded"/>
                  <a:cs typeface="Prachason Neue SemiExpanded"/>
                  <a:sym typeface="Prachason Neue SemiExpanded"/>
                </a:rPr>
                <a:t>www.rmc2consultancycorp.com</a:t>
              </a:r>
            </a:p>
          </p:txBody>
        </p:sp>
      </p:grpSp>
      <p:sp>
        <p:nvSpPr>
          <p:cNvPr id="21" name="TextBox 21"/>
          <p:cNvSpPr txBox="1"/>
          <p:nvPr/>
        </p:nvSpPr>
        <p:spPr>
          <a:xfrm>
            <a:off x="417130" y="2978133"/>
            <a:ext cx="9051549" cy="1957803"/>
          </a:xfrm>
          <a:prstGeom prst="rect">
            <a:avLst/>
          </a:prstGeom>
        </p:spPr>
        <p:txBody>
          <a:bodyPr lIns="0" tIns="0" rIns="0" bIns="0" rtlCol="0" anchor="t">
            <a:spAutoFit/>
          </a:bodyPr>
          <a:lstStyle/>
          <a:p>
            <a:pPr algn="ctr">
              <a:lnSpc>
                <a:spcPts val="15989"/>
              </a:lnSpc>
              <a:spcBef>
                <a:spcPct val="0"/>
              </a:spcBef>
            </a:pPr>
            <a:r>
              <a:rPr lang="en-US" sz="11421" b="1" dirty="0">
                <a:solidFill>
                  <a:srgbClr val="010F48"/>
                </a:solidFill>
                <a:latin typeface="Anantason SemiExpanded Bold"/>
                <a:ea typeface="Anantason SemiExpanded Bold"/>
                <a:cs typeface="Anantason SemiExpanded Bold"/>
                <a:sym typeface="Anantason SemiExpanded Bold"/>
              </a:rPr>
              <a:t>RMC2</a:t>
            </a:r>
          </a:p>
        </p:txBody>
      </p:sp>
      <p:sp>
        <p:nvSpPr>
          <p:cNvPr id="22" name="TextBox 22"/>
          <p:cNvSpPr txBox="1"/>
          <p:nvPr/>
        </p:nvSpPr>
        <p:spPr>
          <a:xfrm>
            <a:off x="281647" y="4489893"/>
            <a:ext cx="9520840" cy="1111244"/>
          </a:xfrm>
          <a:prstGeom prst="rect">
            <a:avLst/>
          </a:prstGeom>
        </p:spPr>
        <p:txBody>
          <a:bodyPr lIns="0" tIns="0" rIns="0" bIns="0" rtlCol="0" anchor="t">
            <a:spAutoFit/>
          </a:bodyPr>
          <a:lstStyle/>
          <a:p>
            <a:pPr algn="l">
              <a:lnSpc>
                <a:spcPts val="9100"/>
              </a:lnSpc>
              <a:spcBef>
                <a:spcPct val="0"/>
              </a:spcBef>
            </a:pPr>
            <a:r>
              <a:rPr lang="en-US" sz="6500" b="1">
                <a:solidFill>
                  <a:srgbClr val="FF7E30"/>
                </a:solidFill>
                <a:latin typeface="Anantason SemiExpanded Bold"/>
                <a:ea typeface="Anantason SemiExpanded Bold"/>
                <a:cs typeface="Anantason SemiExpanded Bold"/>
                <a:sym typeface="Anantason SemiExpanded Bold"/>
              </a:rPr>
              <a:t>CONSULTANCY CORP</a:t>
            </a:r>
          </a:p>
        </p:txBody>
      </p:sp>
      <p:sp>
        <p:nvSpPr>
          <p:cNvPr id="23" name="TextBox 23"/>
          <p:cNvSpPr txBox="1"/>
          <p:nvPr/>
        </p:nvSpPr>
        <p:spPr>
          <a:xfrm>
            <a:off x="909001" y="5784108"/>
            <a:ext cx="8067807" cy="752475"/>
          </a:xfrm>
          <a:prstGeom prst="rect">
            <a:avLst/>
          </a:prstGeom>
        </p:spPr>
        <p:txBody>
          <a:bodyPr lIns="0" tIns="0" rIns="0" bIns="0" rtlCol="0" anchor="t">
            <a:spAutoFit/>
          </a:bodyPr>
          <a:lstStyle/>
          <a:p>
            <a:pPr algn="just">
              <a:lnSpc>
                <a:spcPts val="2515"/>
              </a:lnSpc>
            </a:pPr>
            <a:r>
              <a:rPr lang="en-US" sz="2096" i="1" spc="-20">
                <a:solidFill>
                  <a:srgbClr val="010F48"/>
                </a:solidFill>
                <a:latin typeface="Prachason Neue SemiExpanded Italics"/>
                <a:ea typeface="Prachason Neue SemiExpanded Italics"/>
                <a:cs typeface="Prachason Neue SemiExpanded Italics"/>
                <a:sym typeface="Prachason Neue SemiExpanded Italics"/>
              </a:rPr>
              <a:t>Your trusted partner in Health, Life and Non-Life Coverage</a:t>
            </a:r>
          </a:p>
          <a:p>
            <a:pPr algn="just">
              <a:lnSpc>
                <a:spcPts val="2515"/>
              </a:lnSpc>
            </a:pPr>
            <a:endParaRPr lang="en-US" sz="2096" i="1" spc="-20">
              <a:solidFill>
                <a:srgbClr val="010F48"/>
              </a:solidFill>
              <a:latin typeface="Prachason Neue SemiExpanded Italics"/>
              <a:ea typeface="Prachason Neue SemiExpanded Italics"/>
              <a:cs typeface="Prachason Neue SemiExpanded Italics"/>
              <a:sym typeface="Prachason Neue SemiExpanded Italics"/>
            </a:endParaRPr>
          </a:p>
        </p:txBody>
      </p:sp>
      <p:sp>
        <p:nvSpPr>
          <p:cNvPr id="24" name="TextBox 24"/>
          <p:cNvSpPr txBox="1"/>
          <p:nvPr/>
        </p:nvSpPr>
        <p:spPr>
          <a:xfrm>
            <a:off x="118218" y="1082658"/>
            <a:ext cx="4311974" cy="619125"/>
          </a:xfrm>
          <a:prstGeom prst="rect">
            <a:avLst/>
          </a:prstGeom>
        </p:spPr>
        <p:txBody>
          <a:bodyPr lIns="0" tIns="0" rIns="0" bIns="0" rtlCol="0" anchor="t">
            <a:spAutoFit/>
          </a:bodyPr>
          <a:lstStyle/>
          <a:p>
            <a:pPr algn="ctr">
              <a:lnSpc>
                <a:spcPts val="3599"/>
              </a:lnSpc>
            </a:pPr>
            <a:r>
              <a:rPr lang="en-US" sz="2999" b="1" spc="-29">
                <a:solidFill>
                  <a:srgbClr val="FFFFFF"/>
                </a:solidFill>
                <a:latin typeface="Prachason Neue SemiExpanded Bold"/>
                <a:ea typeface="Prachason Neue SemiExpanded Bold"/>
                <a:cs typeface="Prachason Neue SemiExpanded Bold"/>
                <a:sym typeface="Prachason Neue SemiExpanded Bold"/>
              </a:rPr>
              <a:t>COMPANY PROFILE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0" y="0"/>
            <a:ext cx="7029213" cy="7118190"/>
          </a:xfrm>
          <a:custGeom>
            <a:avLst/>
            <a:gdLst/>
            <a:ahLst/>
            <a:cxnLst/>
            <a:rect l="l" t="t" r="r" b="b"/>
            <a:pathLst>
              <a:path w="7029213" h="7118190">
                <a:moveTo>
                  <a:pt x="0" y="7118190"/>
                </a:moveTo>
                <a:lnTo>
                  <a:pt x="7029213" y="7118190"/>
                </a:lnTo>
                <a:lnTo>
                  <a:pt x="7029213" y="0"/>
                </a:lnTo>
                <a:lnTo>
                  <a:pt x="0" y="0"/>
                </a:lnTo>
                <a:lnTo>
                  <a:pt x="0" y="711819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28700"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52889"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t="-6149" b="-22421"/>
              </a:stretch>
            </a:blipFill>
          </p:spPr>
        </p:sp>
      </p:grpSp>
      <p:sp>
        <p:nvSpPr>
          <p:cNvPr id="9" name="TextBox 9"/>
          <p:cNvSpPr txBox="1"/>
          <p:nvPr/>
        </p:nvSpPr>
        <p:spPr>
          <a:xfrm>
            <a:off x="9144000" y="251732"/>
            <a:ext cx="8457485" cy="1401535"/>
          </a:xfrm>
          <a:prstGeom prst="rect">
            <a:avLst/>
          </a:prstGeom>
        </p:spPr>
        <p:txBody>
          <a:bodyPr lIns="0" tIns="0" rIns="0" bIns="0" rtlCol="0" anchor="t">
            <a:spAutoFit/>
          </a:bodyPr>
          <a:lstStyle/>
          <a:p>
            <a:pPr algn="ctr">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WHO </a:t>
            </a:r>
            <a:r>
              <a:rPr lang="en-US" sz="8196" b="1">
                <a:solidFill>
                  <a:srgbClr val="FF7E2F"/>
                </a:solidFill>
                <a:latin typeface="Anantason SemiExpanded Bold"/>
                <a:ea typeface="Anantason SemiExpanded Bold"/>
                <a:cs typeface="Anantason SemiExpanded Bold"/>
                <a:sym typeface="Anantason SemiExpanded Bold"/>
              </a:rPr>
              <a:t>WE ARE</a:t>
            </a:r>
          </a:p>
        </p:txBody>
      </p:sp>
      <p:sp>
        <p:nvSpPr>
          <p:cNvPr id="12" name="TextBox 12"/>
          <p:cNvSpPr txBox="1"/>
          <p:nvPr/>
        </p:nvSpPr>
        <p:spPr>
          <a:xfrm>
            <a:off x="9214513" y="1832291"/>
            <a:ext cx="8255581" cy="7310399"/>
          </a:xfrm>
          <a:prstGeom prst="rect">
            <a:avLst/>
          </a:prstGeom>
        </p:spPr>
        <p:txBody>
          <a:bodyPr lIns="0" tIns="0" rIns="0" bIns="0" rtlCol="0" anchor="t">
            <a:spAutoFit/>
          </a:bodyPr>
          <a:lstStyle/>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 At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RMC2 Consultancy Corp</a:t>
            </a:r>
            <a:r>
              <a:rPr lang="en-US" sz="2000" spc="-20" dirty="0">
                <a:solidFill>
                  <a:srgbClr val="000000"/>
                </a:solidFill>
                <a:latin typeface="Prachason Neue SemiExpanded"/>
                <a:ea typeface="Prachason Neue SemiExpanded"/>
                <a:cs typeface="Prachason Neue SemiExpanded"/>
                <a:sym typeface="Prachason Neue SemiExpanded"/>
              </a:rPr>
              <a:t>, we believe that health and financial security should be accessible to everyone. Founded by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Rosemarie Fernandez</a:t>
            </a:r>
            <a:r>
              <a:rPr lang="en-US" sz="2000" b="1" spc="-20" dirty="0">
                <a:solidFill>
                  <a:srgbClr val="000000"/>
                </a:solidFill>
                <a:latin typeface="Prachason Neue SemiExpanded Bold"/>
                <a:ea typeface="Prachason Neue SemiExpanded Bold"/>
                <a:cs typeface="Prachason Neue SemiExpanded Bold"/>
                <a:sym typeface="Prachason Neue SemiExpanded Bold"/>
              </a:rPr>
              <a:t>,</a:t>
            </a:r>
            <a:r>
              <a:rPr lang="en-US" sz="2000" spc="-20" dirty="0">
                <a:solidFill>
                  <a:srgbClr val="000000"/>
                </a:solidFill>
                <a:latin typeface="Prachason Neue SemiExpanded"/>
                <a:ea typeface="Prachason Neue SemiExpanded"/>
                <a:cs typeface="Prachason Neue SemiExpanded"/>
                <a:sym typeface="Prachason Neue SemiExpanded"/>
              </a:rPr>
              <a:t> who has been in the insurance industry for over 23 years, RMC2 was established with a passion for making a difference. Rosemarie has been exposed to the various needs of the market and decided to create a bridge for Filipinos who are overwhelmed by the process of insurance, making it more accessible and understandable.</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We specialize in providing affordable, convenient, and reliable HMO, Life, and Non-Life Insurance solutions tailored to meet diverse needs. </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Our mission is simple: to bridge the gap between people and quality healthcare by offering plans that prioritize accessibility and peace of mind. We understand that navigating insurance options can be overwhelming — that's why we take pride in guiding our clients every step of the way, ensuring clarity, compassion, and personalized service.</a:t>
            </a: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With a commitment to building lasting relationships, RMC2 Consultancy Corp stands as a trusted partner in safeguarding the well-being and future of individuals, families, and businesses alike.</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Let us help you protect what matters most.</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a:off x="8762144" y="4059472"/>
            <a:ext cx="9525856" cy="6227528"/>
          </a:xfrm>
          <a:custGeom>
            <a:avLst/>
            <a:gdLst/>
            <a:ahLst/>
            <a:cxnLst/>
            <a:rect l="l" t="t" r="r" b="b"/>
            <a:pathLst>
              <a:path w="9525856" h="6227528">
                <a:moveTo>
                  <a:pt x="9525856" y="0"/>
                </a:moveTo>
                <a:lnTo>
                  <a:pt x="0" y="0"/>
                </a:lnTo>
                <a:lnTo>
                  <a:pt x="0" y="6227528"/>
                </a:lnTo>
                <a:lnTo>
                  <a:pt x="9525856" y="6227528"/>
                </a:lnTo>
                <a:lnTo>
                  <a:pt x="9525856"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352105"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676294"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7752" t="-3510" r="-8190" b="-12432"/>
              </a:stretch>
            </a:blipFill>
          </p:spPr>
        </p:sp>
      </p:grpSp>
      <p:sp>
        <p:nvSpPr>
          <p:cNvPr id="9" name="TextBox 9"/>
          <p:cNvSpPr txBox="1"/>
          <p:nvPr/>
        </p:nvSpPr>
        <p:spPr>
          <a:xfrm>
            <a:off x="1028700" y="1295355"/>
            <a:ext cx="6268095" cy="1401535"/>
          </a:xfrm>
          <a:prstGeom prst="rect">
            <a:avLst/>
          </a:prstGeom>
        </p:spPr>
        <p:txBody>
          <a:bodyPr lIns="0" tIns="0" rIns="0" bIns="0" rtlCol="0" anchor="t">
            <a:spAutoFit/>
          </a:bodyPr>
          <a:lstStyle/>
          <a:p>
            <a:pPr algn="ctr">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ABOUT </a:t>
            </a:r>
            <a:r>
              <a:rPr lang="en-US" sz="8196" b="1">
                <a:solidFill>
                  <a:srgbClr val="FF7E2F"/>
                </a:solidFill>
                <a:latin typeface="Anantason SemiExpanded Bold"/>
                <a:ea typeface="Anantason SemiExpanded Bold"/>
                <a:cs typeface="Anantason SemiExpanded Bold"/>
                <a:sym typeface="Anantason SemiExpanded Bold"/>
              </a:rPr>
              <a:t>US</a:t>
            </a:r>
          </a:p>
        </p:txBody>
      </p:sp>
      <p:sp>
        <p:nvSpPr>
          <p:cNvPr id="13" name="TextBox 13"/>
          <p:cNvSpPr txBox="1"/>
          <p:nvPr/>
        </p:nvSpPr>
        <p:spPr>
          <a:xfrm>
            <a:off x="1416942" y="2857500"/>
            <a:ext cx="7209868" cy="6976975"/>
          </a:xfrm>
          <a:prstGeom prst="rect">
            <a:avLst/>
          </a:prstGeom>
        </p:spPr>
        <p:txBody>
          <a:bodyPr lIns="0" tIns="0" rIns="0" bIns="0" rtlCol="0" anchor="t">
            <a:spAutoFit/>
          </a:bodyPr>
          <a:lstStyle/>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 At RMC2, we are dedicated to redefining the insurance experience. We specialize in providing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HMO, Life, and Non-Life Insurance solution</a:t>
            </a:r>
            <a:r>
              <a:rPr lang="en-US" sz="2000" b="1" spc="-20" dirty="0">
                <a:solidFill>
                  <a:srgbClr val="000000"/>
                </a:solidFill>
                <a:latin typeface="Prachason Neue SemiExpanded Bold"/>
                <a:ea typeface="Prachason Neue SemiExpanded Bold"/>
                <a:cs typeface="Prachason Neue SemiExpanded Bold"/>
                <a:sym typeface="Prachason Neue SemiExpanded Bold"/>
              </a:rPr>
              <a:t>s</a:t>
            </a:r>
            <a:r>
              <a:rPr lang="en-US" sz="2000" spc="-20" dirty="0">
                <a:solidFill>
                  <a:srgbClr val="000000"/>
                </a:solidFill>
                <a:latin typeface="Prachason Neue SemiExpanded"/>
                <a:ea typeface="Prachason Neue SemiExpanded"/>
                <a:cs typeface="Prachason Neue SemiExpanded"/>
                <a:sym typeface="Prachason Neue SemiExpanded"/>
              </a:rPr>
              <a:t> that put people first, ensuring that protection isn’t just a privilege but a right for all. Our approach is built on three core principles: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Affordability, Accessibility, and Convenience.</a:t>
            </a:r>
          </a:p>
          <a:p>
            <a:pPr algn="just">
              <a:lnSpc>
                <a:spcPts val="2600"/>
              </a:lnSpc>
            </a:pPr>
            <a:endParaRPr lang="en-US" sz="2000" b="1" spc="-20" dirty="0">
              <a:solidFill>
                <a:srgbClr val="000000"/>
              </a:solidFill>
              <a:latin typeface="Prachason Neue SemiExpanded Bold"/>
              <a:ea typeface="Prachason Neue SemiExpanded Bold"/>
              <a:cs typeface="Prachason Neue SemiExpanded Bold"/>
              <a:sym typeface="Prachason Neue SemiExpanded Bol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We understand that navigating insurance can feel overwhelming, so we’ve made it our mission to simplify the process. From personalized plans to hassle-free assistance, we’re here every step of the way, helping individuals, families, and businesses secure their future with peace of mind.</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At the heart of RMC2 is a commitment to building lasting relationships. Whether it’s ensuring quick access to healthcare or offering life protection tailored to your needs, we’re more than just an insurance provider. </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We are your trusted partner in safeguarding what matters most which is protecting lives and empowering futures.</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sp>
      <p:sp>
        <p:nvSpPr>
          <p:cNvPr id="3" name="Freeform 3"/>
          <p:cNvSpPr/>
          <p:nvPr/>
        </p:nvSpPr>
        <p:spPr>
          <a:xfrm flipV="1">
            <a:off x="4902240" y="5080800"/>
            <a:ext cx="2012485" cy="2037960"/>
          </a:xfrm>
          <a:custGeom>
            <a:avLst/>
            <a:gdLst/>
            <a:ahLst/>
            <a:cxnLst/>
            <a:rect l="l" t="t" r="r" b="b"/>
            <a:pathLst>
              <a:path w="2012485" h="2037960">
                <a:moveTo>
                  <a:pt x="0" y="2037960"/>
                </a:moveTo>
                <a:lnTo>
                  <a:pt x="2012485" y="2037960"/>
                </a:lnTo>
                <a:lnTo>
                  <a:pt x="2012485" y="0"/>
                </a:lnTo>
                <a:lnTo>
                  <a:pt x="0" y="0"/>
                </a:lnTo>
                <a:lnTo>
                  <a:pt x="0" y="203796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5196760" y="5581296"/>
            <a:ext cx="2050052" cy="2050052"/>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5289577" y="5674112"/>
            <a:ext cx="1864419" cy="186441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t="-1085" b="-1085"/>
              </a:stretch>
            </a:blipFill>
          </p:spPr>
        </p:sp>
      </p:grpSp>
      <p:sp>
        <p:nvSpPr>
          <p:cNvPr id="9" name="Freeform 9"/>
          <p:cNvSpPr/>
          <p:nvPr/>
        </p:nvSpPr>
        <p:spPr>
          <a:xfrm flipV="1">
            <a:off x="9344164" y="5072930"/>
            <a:ext cx="2012485" cy="2037960"/>
          </a:xfrm>
          <a:custGeom>
            <a:avLst/>
            <a:gdLst/>
            <a:ahLst/>
            <a:cxnLst/>
            <a:rect l="l" t="t" r="r" b="b"/>
            <a:pathLst>
              <a:path w="2012485" h="2037960">
                <a:moveTo>
                  <a:pt x="0" y="2037960"/>
                </a:moveTo>
                <a:lnTo>
                  <a:pt x="2012485" y="2037960"/>
                </a:lnTo>
                <a:lnTo>
                  <a:pt x="2012485" y="0"/>
                </a:lnTo>
                <a:lnTo>
                  <a:pt x="0" y="0"/>
                </a:lnTo>
                <a:lnTo>
                  <a:pt x="0" y="203796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9638684" y="5573426"/>
            <a:ext cx="2050052" cy="205005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731500" y="5666242"/>
            <a:ext cx="1864419" cy="1864419"/>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5429" t="-26048" r="-11379" b="-29697"/>
              </a:stretch>
            </a:blipFill>
          </p:spPr>
        </p:sp>
      </p:grpSp>
      <p:grpSp>
        <p:nvGrpSpPr>
          <p:cNvPr id="15" name="Group 15"/>
          <p:cNvGrpSpPr/>
          <p:nvPr/>
        </p:nvGrpSpPr>
        <p:grpSpPr>
          <a:xfrm>
            <a:off x="472209" y="4991084"/>
            <a:ext cx="2846198" cy="4038616"/>
            <a:chOff x="0" y="0"/>
            <a:chExt cx="3794931" cy="5384821"/>
          </a:xfrm>
        </p:grpSpPr>
        <p:sp>
          <p:nvSpPr>
            <p:cNvPr id="16" name="Freeform 16"/>
            <p:cNvSpPr/>
            <p:nvPr/>
          </p:nvSpPr>
          <p:spPr>
            <a:xfrm flipV="1">
              <a:off x="138071" y="0"/>
              <a:ext cx="2683314" cy="2717280"/>
            </a:xfrm>
            <a:custGeom>
              <a:avLst/>
              <a:gdLst/>
              <a:ahLst/>
              <a:cxnLst/>
              <a:rect l="l" t="t" r="r" b="b"/>
              <a:pathLst>
                <a:path w="2683314" h="2717280">
                  <a:moveTo>
                    <a:pt x="0" y="2717280"/>
                  </a:moveTo>
                  <a:lnTo>
                    <a:pt x="2683313" y="2717280"/>
                  </a:lnTo>
                  <a:lnTo>
                    <a:pt x="2683313" y="0"/>
                  </a:lnTo>
                  <a:lnTo>
                    <a:pt x="0" y="0"/>
                  </a:lnTo>
                  <a:lnTo>
                    <a:pt x="0" y="27172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7" name="Group 17"/>
            <p:cNvGrpSpPr/>
            <p:nvPr/>
          </p:nvGrpSpPr>
          <p:grpSpPr>
            <a:xfrm>
              <a:off x="530764" y="667328"/>
              <a:ext cx="2733403" cy="2733403"/>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grpSp>
          <p:nvGrpSpPr>
            <p:cNvPr id="20" name="Group 20"/>
            <p:cNvGrpSpPr/>
            <p:nvPr/>
          </p:nvGrpSpPr>
          <p:grpSpPr>
            <a:xfrm>
              <a:off x="654519" y="791083"/>
              <a:ext cx="2485892" cy="248589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b="-56000"/>
                </a:stretch>
              </a:blipFill>
            </p:spPr>
          </p:sp>
        </p:grpSp>
        <p:sp>
          <p:nvSpPr>
            <p:cNvPr id="22" name="TextBox 22"/>
            <p:cNvSpPr txBox="1"/>
            <p:nvPr/>
          </p:nvSpPr>
          <p:spPr>
            <a:xfrm>
              <a:off x="0" y="4859874"/>
              <a:ext cx="3794931" cy="524947"/>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23" name="TextBox 23"/>
            <p:cNvSpPr txBox="1"/>
            <p:nvPr/>
          </p:nvSpPr>
          <p:spPr>
            <a:xfrm>
              <a:off x="5400" y="3666931"/>
              <a:ext cx="3784130" cy="524946"/>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MICHELLE GUINTO</a:t>
              </a:r>
            </a:p>
          </p:txBody>
        </p:sp>
      </p:grpSp>
      <p:grpSp>
        <p:nvGrpSpPr>
          <p:cNvPr id="24" name="Group 24"/>
          <p:cNvGrpSpPr/>
          <p:nvPr/>
        </p:nvGrpSpPr>
        <p:grpSpPr>
          <a:xfrm>
            <a:off x="13497968" y="5067300"/>
            <a:ext cx="4275682" cy="3898909"/>
            <a:chOff x="0" y="0"/>
            <a:chExt cx="5700909" cy="5198546"/>
          </a:xfrm>
        </p:grpSpPr>
        <p:sp>
          <p:nvSpPr>
            <p:cNvPr id="25" name="Freeform 25"/>
            <p:cNvSpPr/>
            <p:nvPr/>
          </p:nvSpPr>
          <p:spPr>
            <a:xfrm flipV="1">
              <a:off x="949868" y="0"/>
              <a:ext cx="2683314" cy="2717280"/>
            </a:xfrm>
            <a:custGeom>
              <a:avLst/>
              <a:gdLst/>
              <a:ahLst/>
              <a:cxnLst/>
              <a:rect l="l" t="t" r="r" b="b"/>
              <a:pathLst>
                <a:path w="2683314" h="2717280">
                  <a:moveTo>
                    <a:pt x="0" y="2717280"/>
                  </a:moveTo>
                  <a:lnTo>
                    <a:pt x="2683313" y="2717280"/>
                  </a:lnTo>
                  <a:lnTo>
                    <a:pt x="2683313" y="0"/>
                  </a:lnTo>
                  <a:lnTo>
                    <a:pt x="0" y="0"/>
                  </a:lnTo>
                  <a:lnTo>
                    <a:pt x="0" y="27172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26" name="Group 26"/>
            <p:cNvGrpSpPr/>
            <p:nvPr/>
          </p:nvGrpSpPr>
          <p:grpSpPr>
            <a:xfrm>
              <a:off x="1342561" y="667328"/>
              <a:ext cx="2733403" cy="2733403"/>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sp>
          <p:nvSpPr>
            <p:cNvPr id="29" name="TextBox 29"/>
            <p:cNvSpPr txBox="1"/>
            <p:nvPr/>
          </p:nvSpPr>
          <p:spPr>
            <a:xfrm>
              <a:off x="952989" y="4673601"/>
              <a:ext cx="3794930" cy="52494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30" name="TextBox 30"/>
            <p:cNvSpPr txBox="1"/>
            <p:nvPr/>
          </p:nvSpPr>
          <p:spPr>
            <a:xfrm>
              <a:off x="0" y="3557803"/>
              <a:ext cx="5700909" cy="524946"/>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CHARLES MARK UYBENGKEE</a:t>
              </a:r>
            </a:p>
          </p:txBody>
        </p:sp>
        <p:grpSp>
          <p:nvGrpSpPr>
            <p:cNvPr id="31" name="Group 31"/>
            <p:cNvGrpSpPr/>
            <p:nvPr/>
          </p:nvGrpSpPr>
          <p:grpSpPr>
            <a:xfrm>
              <a:off x="1501182" y="823351"/>
              <a:ext cx="2400370" cy="2400370"/>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88723" t="-19589" r="-104326" b="-309789"/>
                </a:stretch>
              </a:blipFill>
            </p:spPr>
          </p:sp>
        </p:grpSp>
      </p:grpSp>
      <p:grpSp>
        <p:nvGrpSpPr>
          <p:cNvPr id="33" name="Group 33"/>
          <p:cNvGrpSpPr/>
          <p:nvPr/>
        </p:nvGrpSpPr>
        <p:grpSpPr>
          <a:xfrm>
            <a:off x="6024399" y="2012393"/>
            <a:ext cx="2344572" cy="2550548"/>
            <a:chOff x="0" y="0"/>
            <a:chExt cx="3126096" cy="3400730"/>
          </a:xfrm>
        </p:grpSpPr>
        <p:sp>
          <p:nvSpPr>
            <p:cNvPr id="34" name="Freeform 34"/>
            <p:cNvSpPr/>
            <p:nvPr/>
          </p:nvSpPr>
          <p:spPr>
            <a:xfrm flipV="1">
              <a:off x="0" y="0"/>
              <a:ext cx="2683314" cy="2717280"/>
            </a:xfrm>
            <a:custGeom>
              <a:avLst/>
              <a:gdLst/>
              <a:ahLst/>
              <a:cxnLst/>
              <a:rect l="l" t="t" r="r" b="b"/>
              <a:pathLst>
                <a:path w="2683314" h="2717280">
                  <a:moveTo>
                    <a:pt x="0" y="2717280"/>
                  </a:moveTo>
                  <a:lnTo>
                    <a:pt x="2683314" y="2717280"/>
                  </a:lnTo>
                  <a:lnTo>
                    <a:pt x="2683314" y="0"/>
                  </a:lnTo>
                  <a:lnTo>
                    <a:pt x="0" y="0"/>
                  </a:lnTo>
                  <a:lnTo>
                    <a:pt x="0" y="27172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35" name="Group 35"/>
            <p:cNvGrpSpPr/>
            <p:nvPr/>
          </p:nvGrpSpPr>
          <p:grpSpPr>
            <a:xfrm>
              <a:off x="392693" y="667328"/>
              <a:ext cx="2733403" cy="2733403"/>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37" name="TextBox 37"/>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grpSp>
          <p:nvGrpSpPr>
            <p:cNvPr id="38" name="Group 38"/>
            <p:cNvGrpSpPr/>
            <p:nvPr/>
          </p:nvGrpSpPr>
          <p:grpSpPr>
            <a:xfrm>
              <a:off x="516448" y="791083"/>
              <a:ext cx="2485892" cy="2485892"/>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2700">
                <a:solidFill>
                  <a:srgbClr val="000000"/>
                </a:solidFill>
              </a:ln>
            </p:spPr>
          </p:sp>
        </p:grpSp>
        <p:grpSp>
          <p:nvGrpSpPr>
            <p:cNvPr id="40" name="Group 40"/>
            <p:cNvGrpSpPr/>
            <p:nvPr/>
          </p:nvGrpSpPr>
          <p:grpSpPr>
            <a:xfrm>
              <a:off x="516448" y="791083"/>
              <a:ext cx="2485892" cy="2485892"/>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t="-6149" b="-22421"/>
                </a:stretch>
              </a:blipFill>
            </p:spPr>
          </p:sp>
        </p:grpSp>
      </p:grpSp>
      <p:sp>
        <p:nvSpPr>
          <p:cNvPr id="42" name="TextBox 42"/>
          <p:cNvSpPr txBox="1"/>
          <p:nvPr/>
        </p:nvSpPr>
        <p:spPr>
          <a:xfrm>
            <a:off x="4398009" y="354818"/>
            <a:ext cx="9491981" cy="1143226"/>
          </a:xfrm>
          <a:prstGeom prst="rect">
            <a:avLst/>
          </a:prstGeom>
        </p:spPr>
        <p:txBody>
          <a:bodyPr lIns="0" tIns="0" rIns="0" bIns="0" rtlCol="0" anchor="t">
            <a:spAutoFit/>
          </a:bodyPr>
          <a:lstStyle/>
          <a:p>
            <a:pPr algn="ctr">
              <a:lnSpc>
                <a:spcPts val="9437"/>
              </a:lnSpc>
              <a:spcBef>
                <a:spcPct val="0"/>
              </a:spcBef>
            </a:pPr>
            <a:r>
              <a:rPr lang="en-US" sz="6741" b="1">
                <a:solidFill>
                  <a:srgbClr val="010F48"/>
                </a:solidFill>
                <a:latin typeface="Anantason SemiExpanded Bold"/>
                <a:ea typeface="Anantason SemiExpanded Bold"/>
                <a:cs typeface="Anantason SemiExpanded Bold"/>
                <a:sym typeface="Anantason SemiExpanded Bold"/>
              </a:rPr>
              <a:t>THE MANAGEMENT</a:t>
            </a:r>
          </a:p>
        </p:txBody>
      </p:sp>
      <p:sp>
        <p:nvSpPr>
          <p:cNvPr id="43" name="TextBox 43"/>
          <p:cNvSpPr txBox="1"/>
          <p:nvPr/>
        </p:nvSpPr>
        <p:spPr>
          <a:xfrm>
            <a:off x="9277292" y="3872156"/>
            <a:ext cx="2411444" cy="40323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PRESIDENT &amp; CEO</a:t>
            </a:r>
          </a:p>
        </p:txBody>
      </p:sp>
      <p:sp>
        <p:nvSpPr>
          <p:cNvPr id="44" name="TextBox 44"/>
          <p:cNvSpPr txBox="1"/>
          <p:nvPr/>
        </p:nvSpPr>
        <p:spPr>
          <a:xfrm>
            <a:off x="8735756" y="2993273"/>
            <a:ext cx="3700172" cy="403235"/>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ROSEMARIE FERNANDEZ</a:t>
            </a:r>
          </a:p>
        </p:txBody>
      </p:sp>
      <p:sp>
        <p:nvSpPr>
          <p:cNvPr id="45" name="TextBox 45"/>
          <p:cNvSpPr txBox="1"/>
          <p:nvPr/>
        </p:nvSpPr>
        <p:spPr>
          <a:xfrm>
            <a:off x="4904581" y="8626465"/>
            <a:ext cx="2846198" cy="40323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46" name="TextBox 46"/>
          <p:cNvSpPr txBox="1"/>
          <p:nvPr/>
        </p:nvSpPr>
        <p:spPr>
          <a:xfrm>
            <a:off x="5095131" y="7739627"/>
            <a:ext cx="2465098" cy="403235"/>
          </a:xfrm>
          <a:prstGeom prst="rect">
            <a:avLst/>
          </a:prstGeom>
        </p:spPr>
        <p:txBody>
          <a:bodyPr lIns="0" tIns="0" rIns="0" bIns="0" rtlCol="0" anchor="t">
            <a:spAutoFit/>
          </a:bodyPr>
          <a:lstStyle/>
          <a:p>
            <a:pPr algn="ctr">
              <a:lnSpc>
                <a:spcPts val="3406"/>
              </a:lnSpc>
              <a:spcBef>
                <a:spcPct val="0"/>
              </a:spcBef>
            </a:pPr>
            <a:r>
              <a:rPr lang="en-US" sz="2433" b="1" dirty="0">
                <a:solidFill>
                  <a:srgbClr val="010F48"/>
                </a:solidFill>
                <a:latin typeface="Open Sans Bold"/>
                <a:ea typeface="Open Sans Bold"/>
                <a:cs typeface="Open Sans Bold"/>
                <a:sym typeface="Open Sans Bold"/>
              </a:rPr>
              <a:t>CHERRY CORTEZ</a:t>
            </a:r>
          </a:p>
        </p:txBody>
      </p:sp>
      <p:sp>
        <p:nvSpPr>
          <p:cNvPr id="47" name="TextBox 47"/>
          <p:cNvSpPr txBox="1"/>
          <p:nvPr/>
        </p:nvSpPr>
        <p:spPr>
          <a:xfrm>
            <a:off x="9416045" y="8626465"/>
            <a:ext cx="2846198" cy="40323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48" name="TextBox 48"/>
          <p:cNvSpPr txBox="1"/>
          <p:nvPr/>
        </p:nvSpPr>
        <p:spPr>
          <a:xfrm>
            <a:off x="8708546" y="7731757"/>
            <a:ext cx="4261197" cy="403235"/>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CLEMENT DOLF FERNANDEZ</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par>
                                <p:cTn id="24" presetID="10" presetClass="entr" presetSubtype="0" fill="hold"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fade">
                                      <p:cBhvr>
                                        <p:cTn id="29" dur="500"/>
                                        <p:tgtEl>
                                          <p:spTgt spid="4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par>
                                <p:cTn id="33" presetID="10"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par>
                          <p:cTn id="41" fill="hold">
                            <p:stCondLst>
                              <p:cond delay="500"/>
                            </p:stCondLst>
                            <p:childTnLst>
                              <p:par>
                                <p:cTn id="42" presetID="10" presetClass="entr" presetSubtype="0" fill="hold"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par>
                                <p:cTn id="45" presetID="10"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fade">
                                      <p:cBhvr>
                                        <p:cTn id="50" dur="500"/>
                                        <p:tgtEl>
                                          <p:spTgt spid="4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fade">
                                      <p:cBhvr>
                                        <p:cTn id="53" dur="500"/>
                                        <p:tgtEl>
                                          <p:spTgt spid="4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46" grpId="0"/>
      <p:bldP spid="47" grpId="0"/>
      <p:bldP spid="4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a:off x="11422802" y="6182872"/>
            <a:ext cx="6995650" cy="7687527"/>
          </a:xfrm>
          <a:custGeom>
            <a:avLst/>
            <a:gdLst/>
            <a:ahLst/>
            <a:cxnLst/>
            <a:rect l="l" t="t" r="r" b="b"/>
            <a:pathLst>
              <a:path w="6995650" h="7687527">
                <a:moveTo>
                  <a:pt x="6995650" y="0"/>
                </a:moveTo>
                <a:lnTo>
                  <a:pt x="0" y="0"/>
                </a:lnTo>
                <a:lnTo>
                  <a:pt x="0" y="7687527"/>
                </a:lnTo>
                <a:lnTo>
                  <a:pt x="6995650" y="7687527"/>
                </a:lnTo>
                <a:lnTo>
                  <a:pt x="699565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080249"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404438"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9224" t="-2049" r="-8785" b="-15959"/>
              </a:stretch>
            </a:blipFill>
          </p:spPr>
        </p:sp>
      </p:grpSp>
      <p:sp>
        <p:nvSpPr>
          <p:cNvPr id="9" name="TextBox 9"/>
          <p:cNvSpPr txBox="1"/>
          <p:nvPr/>
        </p:nvSpPr>
        <p:spPr>
          <a:xfrm>
            <a:off x="1040026" y="1541941"/>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VISION</a:t>
            </a:r>
          </a:p>
        </p:txBody>
      </p:sp>
      <p:sp>
        <p:nvSpPr>
          <p:cNvPr id="10" name="TextBox 10"/>
          <p:cNvSpPr txBox="1"/>
          <p:nvPr/>
        </p:nvSpPr>
        <p:spPr>
          <a:xfrm>
            <a:off x="1040026" y="2575493"/>
            <a:ext cx="6441805" cy="1401535"/>
          </a:xfrm>
          <a:prstGeom prst="rect">
            <a:avLst/>
          </a:prstGeom>
        </p:spPr>
        <p:txBody>
          <a:bodyPr lIns="0" tIns="0" rIns="0" bIns="0" rtlCol="0" anchor="t">
            <a:spAutoFit/>
          </a:bodyPr>
          <a:lstStyle/>
          <a:p>
            <a:pPr algn="l">
              <a:lnSpc>
                <a:spcPts val="11475"/>
              </a:lnSpc>
              <a:spcBef>
                <a:spcPct val="0"/>
              </a:spcBef>
            </a:pPr>
            <a:r>
              <a:rPr lang="en-US" sz="8196" b="1">
                <a:solidFill>
                  <a:srgbClr val="FF7E2F"/>
                </a:solidFill>
                <a:latin typeface="Anantason SemiExpanded Bold"/>
                <a:ea typeface="Anantason SemiExpanded Bold"/>
                <a:cs typeface="Anantason SemiExpanded Bold"/>
                <a:sym typeface="Anantason SemiExpanded Bold"/>
              </a:rPr>
              <a:t>&amp; MISSION</a:t>
            </a:r>
          </a:p>
        </p:txBody>
      </p:sp>
      <p:sp>
        <p:nvSpPr>
          <p:cNvPr id="11" name="TextBox 11"/>
          <p:cNvSpPr txBox="1"/>
          <p:nvPr/>
        </p:nvSpPr>
        <p:spPr>
          <a:xfrm>
            <a:off x="1028700" y="4252003"/>
            <a:ext cx="8115300" cy="1815503"/>
          </a:xfrm>
          <a:prstGeom prst="rect">
            <a:avLst/>
          </a:prstGeom>
        </p:spPr>
        <p:txBody>
          <a:bodyPr lIns="0" tIns="0" rIns="0" bIns="0" rtlCol="0" anchor="t">
            <a:spAutoFit/>
          </a:bodyPr>
          <a:lstStyle/>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 </a:t>
            </a:r>
            <a:r>
              <a:rPr lang="en-US" sz="2547" b="1" spc="-25" dirty="0">
                <a:solidFill>
                  <a:srgbClr val="000000"/>
                </a:solidFill>
                <a:latin typeface="Prachason Neue SemiExpanded Bold"/>
                <a:ea typeface="Prachason Neue SemiExpanded Bold"/>
                <a:cs typeface="Prachason Neue SemiExpanded Bold"/>
                <a:sym typeface="Prachason Neue SemiExpanded Bold"/>
              </a:rPr>
              <a:t>V &gt;</a:t>
            </a:r>
            <a:r>
              <a:rPr lang="en-US" sz="2547" spc="-25" dirty="0">
                <a:solidFill>
                  <a:srgbClr val="000000"/>
                </a:solidFill>
                <a:latin typeface="Prachason Neue SemiExpanded"/>
                <a:ea typeface="Prachason Neue SemiExpanded"/>
                <a:cs typeface="Prachason Neue SemiExpanded"/>
                <a:sym typeface="Prachason Neue SemiExpanded"/>
              </a:rPr>
              <a:t> To break barriers where quality health and life protection is within everyone’s reach, ensuring affordability and accessibility for all.</a:t>
            </a:r>
          </a:p>
          <a:p>
            <a:pPr algn="just">
              <a:lnSpc>
                <a:spcPts val="3311"/>
              </a:lnSpc>
            </a:pPr>
            <a:endParaRPr lang="en-US" sz="2547" spc="-25" dirty="0">
              <a:solidFill>
                <a:srgbClr val="000000"/>
              </a:solidFill>
              <a:latin typeface="Prachason Neue SemiExpanded"/>
              <a:ea typeface="Prachason Neue SemiExpanded"/>
              <a:cs typeface="Prachason Neue SemiExpanded"/>
              <a:sym typeface="Prachason Neue SemiExpanded"/>
            </a:endParaRPr>
          </a:p>
        </p:txBody>
      </p:sp>
      <p:sp>
        <p:nvSpPr>
          <p:cNvPr id="12" name="TextBox 12"/>
          <p:cNvSpPr txBox="1"/>
          <p:nvPr/>
        </p:nvSpPr>
        <p:spPr>
          <a:xfrm>
            <a:off x="1028700" y="6343731"/>
            <a:ext cx="8115300" cy="1815503"/>
          </a:xfrm>
          <a:prstGeom prst="rect">
            <a:avLst/>
          </a:prstGeom>
        </p:spPr>
        <p:txBody>
          <a:bodyPr lIns="0" tIns="0" rIns="0" bIns="0" rtlCol="0" anchor="t">
            <a:spAutoFit/>
          </a:bodyPr>
          <a:lstStyle/>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 </a:t>
            </a:r>
            <a:r>
              <a:rPr lang="en-US" sz="2547" b="1" spc="-25" dirty="0">
                <a:solidFill>
                  <a:srgbClr val="000000"/>
                </a:solidFill>
                <a:latin typeface="Prachason Neue SemiExpanded Bold"/>
                <a:ea typeface="Prachason Neue SemiExpanded Bold"/>
                <a:cs typeface="Prachason Neue SemiExpanded Bold"/>
                <a:sym typeface="Prachason Neue SemiExpanded Bold"/>
              </a:rPr>
              <a:t>M &gt;</a:t>
            </a:r>
            <a:r>
              <a:rPr lang="en-US" sz="2547" spc="-25" dirty="0">
                <a:solidFill>
                  <a:srgbClr val="000000"/>
                </a:solidFill>
                <a:latin typeface="Prachason Neue SemiExpanded"/>
                <a:ea typeface="Prachason Neue SemiExpanded"/>
                <a:cs typeface="Prachason Neue SemiExpanded"/>
                <a:sym typeface="Prachason Neue SemiExpanded"/>
              </a:rPr>
              <a:t> To safeguard lives by delivering affordable and accessible HMO, Life, Non-Life Insurance solutions, ensuring everyone has the security and care they deserve.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685" r="-5563" b="-10249"/>
              </a:stretch>
            </a:blipFill>
          </p:spPr>
        </p:sp>
      </p:grpSp>
      <p:sp>
        <p:nvSpPr>
          <p:cNvPr id="9" name="Freeform 9"/>
          <p:cNvSpPr/>
          <p:nvPr/>
        </p:nvSpPr>
        <p:spPr>
          <a:xfrm>
            <a:off x="922132" y="4476837"/>
            <a:ext cx="2328572" cy="1847333"/>
          </a:xfrm>
          <a:custGeom>
            <a:avLst/>
            <a:gdLst/>
            <a:ahLst/>
            <a:cxnLst/>
            <a:rect l="l" t="t" r="r" b="b"/>
            <a:pathLst>
              <a:path w="2328572" h="1847333">
                <a:moveTo>
                  <a:pt x="0" y="0"/>
                </a:moveTo>
                <a:lnTo>
                  <a:pt x="2328572" y="0"/>
                </a:lnTo>
                <a:lnTo>
                  <a:pt x="2328572" y="1847333"/>
                </a:lnTo>
                <a:lnTo>
                  <a:pt x="0" y="1847333"/>
                </a:lnTo>
                <a:lnTo>
                  <a:pt x="0" y="0"/>
                </a:lnTo>
                <a:close/>
              </a:path>
            </a:pathLst>
          </a:custGeom>
          <a:blipFill>
            <a:blip r:embed="rId6"/>
            <a:stretch>
              <a:fillRect/>
            </a:stretch>
          </a:blipFill>
        </p:spPr>
      </p:sp>
      <p:sp>
        <p:nvSpPr>
          <p:cNvPr id="10" name="Freeform 10"/>
          <p:cNvSpPr/>
          <p:nvPr/>
        </p:nvSpPr>
        <p:spPr>
          <a:xfrm>
            <a:off x="3856604" y="4602436"/>
            <a:ext cx="4266437" cy="1847669"/>
          </a:xfrm>
          <a:custGeom>
            <a:avLst/>
            <a:gdLst/>
            <a:ahLst/>
            <a:cxnLst/>
            <a:rect l="l" t="t" r="r" b="b"/>
            <a:pathLst>
              <a:path w="4266437" h="1847669">
                <a:moveTo>
                  <a:pt x="0" y="0"/>
                </a:moveTo>
                <a:lnTo>
                  <a:pt x="4266437" y="0"/>
                </a:lnTo>
                <a:lnTo>
                  <a:pt x="4266437" y="1847670"/>
                </a:lnTo>
                <a:lnTo>
                  <a:pt x="0" y="1847670"/>
                </a:lnTo>
                <a:lnTo>
                  <a:pt x="0" y="0"/>
                </a:lnTo>
                <a:close/>
              </a:path>
            </a:pathLst>
          </a:custGeom>
          <a:blipFill>
            <a:blip r:embed="rId7"/>
            <a:stretch>
              <a:fillRect/>
            </a:stretch>
          </a:blipFill>
        </p:spPr>
      </p:sp>
      <p:sp>
        <p:nvSpPr>
          <p:cNvPr id="11" name="Freeform 11"/>
          <p:cNvSpPr/>
          <p:nvPr/>
        </p:nvSpPr>
        <p:spPr>
          <a:xfrm>
            <a:off x="539863" y="6800420"/>
            <a:ext cx="4583275" cy="1333805"/>
          </a:xfrm>
          <a:custGeom>
            <a:avLst/>
            <a:gdLst/>
            <a:ahLst/>
            <a:cxnLst/>
            <a:rect l="l" t="t" r="r" b="b"/>
            <a:pathLst>
              <a:path w="4583275" h="1333805">
                <a:moveTo>
                  <a:pt x="0" y="0"/>
                </a:moveTo>
                <a:lnTo>
                  <a:pt x="4583275" y="0"/>
                </a:lnTo>
                <a:lnTo>
                  <a:pt x="4583275" y="1333805"/>
                </a:lnTo>
                <a:lnTo>
                  <a:pt x="0" y="1333805"/>
                </a:lnTo>
                <a:lnTo>
                  <a:pt x="0" y="0"/>
                </a:lnTo>
                <a:close/>
              </a:path>
            </a:pathLst>
          </a:custGeom>
          <a:blipFill>
            <a:blip r:embed="rId8"/>
            <a:stretch>
              <a:fillRect/>
            </a:stretch>
          </a:blipFill>
          <a:ln cap="sq">
            <a:noFill/>
            <a:prstDash val="solid"/>
            <a:miter/>
          </a:ln>
        </p:spPr>
      </p:sp>
      <p:sp>
        <p:nvSpPr>
          <p:cNvPr id="12" name="Freeform 12"/>
          <p:cNvSpPr/>
          <p:nvPr/>
        </p:nvSpPr>
        <p:spPr>
          <a:xfrm>
            <a:off x="5123138" y="6450106"/>
            <a:ext cx="4670702" cy="1831972"/>
          </a:xfrm>
          <a:custGeom>
            <a:avLst/>
            <a:gdLst/>
            <a:ahLst/>
            <a:cxnLst/>
            <a:rect l="l" t="t" r="r" b="b"/>
            <a:pathLst>
              <a:path w="4670702" h="1831972">
                <a:moveTo>
                  <a:pt x="0" y="0"/>
                </a:moveTo>
                <a:lnTo>
                  <a:pt x="4670703" y="0"/>
                </a:lnTo>
                <a:lnTo>
                  <a:pt x="4670703" y="1831971"/>
                </a:lnTo>
                <a:lnTo>
                  <a:pt x="0" y="1831971"/>
                </a:lnTo>
                <a:lnTo>
                  <a:pt x="0" y="0"/>
                </a:lnTo>
                <a:close/>
              </a:path>
            </a:pathLst>
          </a:custGeom>
          <a:blipFill>
            <a:blip r:embed="rId9"/>
            <a:stretch>
              <a:fillRect/>
            </a:stretch>
          </a:blipFill>
        </p:spPr>
      </p:sp>
      <p:sp>
        <p:nvSpPr>
          <p:cNvPr id="13" name="Freeform 13"/>
          <p:cNvSpPr/>
          <p:nvPr/>
        </p:nvSpPr>
        <p:spPr>
          <a:xfrm>
            <a:off x="3116572" y="8383882"/>
            <a:ext cx="2873251" cy="1484733"/>
          </a:xfrm>
          <a:custGeom>
            <a:avLst/>
            <a:gdLst/>
            <a:ahLst/>
            <a:cxnLst/>
            <a:rect l="l" t="t" r="r" b="b"/>
            <a:pathLst>
              <a:path w="2873251" h="1484733">
                <a:moveTo>
                  <a:pt x="0" y="0"/>
                </a:moveTo>
                <a:lnTo>
                  <a:pt x="2873250" y="0"/>
                </a:lnTo>
                <a:lnTo>
                  <a:pt x="2873250" y="1484733"/>
                </a:lnTo>
                <a:lnTo>
                  <a:pt x="0" y="1484733"/>
                </a:lnTo>
                <a:lnTo>
                  <a:pt x="0" y="0"/>
                </a:lnTo>
                <a:close/>
              </a:path>
            </a:pathLst>
          </a:custGeom>
          <a:blipFill>
            <a:blip r:embed="rId10"/>
            <a:stretch>
              <a:fillRect/>
            </a:stretch>
          </a:blipFill>
        </p:spPr>
      </p:sp>
      <p:sp>
        <p:nvSpPr>
          <p:cNvPr id="14" name="Freeform 14"/>
          <p:cNvSpPr/>
          <p:nvPr/>
        </p:nvSpPr>
        <p:spPr>
          <a:xfrm>
            <a:off x="679789" y="7984058"/>
            <a:ext cx="2284382" cy="2284382"/>
          </a:xfrm>
          <a:custGeom>
            <a:avLst/>
            <a:gdLst/>
            <a:ahLst/>
            <a:cxnLst/>
            <a:rect l="l" t="t" r="r" b="b"/>
            <a:pathLst>
              <a:path w="2284382" h="2284382">
                <a:moveTo>
                  <a:pt x="0" y="0"/>
                </a:moveTo>
                <a:lnTo>
                  <a:pt x="2284383" y="0"/>
                </a:lnTo>
                <a:lnTo>
                  <a:pt x="2284383" y="2284382"/>
                </a:lnTo>
                <a:lnTo>
                  <a:pt x="0" y="2284382"/>
                </a:lnTo>
                <a:lnTo>
                  <a:pt x="0" y="0"/>
                </a:lnTo>
                <a:close/>
              </a:path>
            </a:pathLst>
          </a:custGeom>
          <a:blipFill>
            <a:blip r:embed="rId11"/>
            <a:stretch>
              <a:fillRect/>
            </a:stretch>
          </a:blipFill>
        </p:spPr>
      </p:sp>
      <p:sp>
        <p:nvSpPr>
          <p:cNvPr id="15" name="Freeform 15"/>
          <p:cNvSpPr/>
          <p:nvPr/>
        </p:nvSpPr>
        <p:spPr>
          <a:xfrm>
            <a:off x="5989822" y="7732520"/>
            <a:ext cx="3035848" cy="3035848"/>
          </a:xfrm>
          <a:custGeom>
            <a:avLst/>
            <a:gdLst/>
            <a:ahLst/>
            <a:cxnLst/>
            <a:rect l="l" t="t" r="r" b="b"/>
            <a:pathLst>
              <a:path w="3035848" h="3035848">
                <a:moveTo>
                  <a:pt x="0" y="0"/>
                </a:moveTo>
                <a:lnTo>
                  <a:pt x="3035848" y="0"/>
                </a:lnTo>
                <a:lnTo>
                  <a:pt x="3035848" y="3035848"/>
                </a:lnTo>
                <a:lnTo>
                  <a:pt x="0" y="3035848"/>
                </a:lnTo>
                <a:lnTo>
                  <a:pt x="0" y="0"/>
                </a:lnTo>
                <a:close/>
              </a:path>
            </a:pathLst>
          </a:custGeom>
          <a:blipFill>
            <a:blip r:embed="rId12"/>
            <a:stretch>
              <a:fillRect/>
            </a:stretch>
          </a:blipFill>
        </p:spPr>
      </p:sp>
      <p:sp>
        <p:nvSpPr>
          <p:cNvPr id="16" name="Freeform 16"/>
          <p:cNvSpPr/>
          <p:nvPr/>
        </p:nvSpPr>
        <p:spPr>
          <a:xfrm>
            <a:off x="8950650" y="8535864"/>
            <a:ext cx="5161987" cy="1429159"/>
          </a:xfrm>
          <a:custGeom>
            <a:avLst/>
            <a:gdLst/>
            <a:ahLst/>
            <a:cxnLst/>
            <a:rect l="l" t="t" r="r" b="b"/>
            <a:pathLst>
              <a:path w="5161987" h="1429159">
                <a:moveTo>
                  <a:pt x="0" y="0"/>
                </a:moveTo>
                <a:lnTo>
                  <a:pt x="5161987" y="0"/>
                </a:lnTo>
                <a:lnTo>
                  <a:pt x="5161987" y="1429159"/>
                </a:lnTo>
                <a:lnTo>
                  <a:pt x="0" y="1429159"/>
                </a:lnTo>
                <a:lnTo>
                  <a:pt x="0" y="0"/>
                </a:lnTo>
                <a:close/>
              </a:path>
            </a:pathLst>
          </a:custGeom>
          <a:blipFill>
            <a:blip r:embed="rId13"/>
            <a:stretch>
              <a:fillRect/>
            </a:stretch>
          </a:blipFill>
        </p:spPr>
      </p:sp>
      <p:sp>
        <p:nvSpPr>
          <p:cNvPr id="17" name="Freeform 17"/>
          <p:cNvSpPr/>
          <p:nvPr/>
        </p:nvSpPr>
        <p:spPr>
          <a:xfrm>
            <a:off x="10051016" y="6504833"/>
            <a:ext cx="4443110" cy="1777244"/>
          </a:xfrm>
          <a:custGeom>
            <a:avLst/>
            <a:gdLst/>
            <a:ahLst/>
            <a:cxnLst/>
            <a:rect l="l" t="t" r="r" b="b"/>
            <a:pathLst>
              <a:path w="4443110" h="1777244">
                <a:moveTo>
                  <a:pt x="0" y="0"/>
                </a:moveTo>
                <a:lnTo>
                  <a:pt x="4443109" y="0"/>
                </a:lnTo>
                <a:lnTo>
                  <a:pt x="4443109" y="1777244"/>
                </a:lnTo>
                <a:lnTo>
                  <a:pt x="0" y="1777244"/>
                </a:lnTo>
                <a:lnTo>
                  <a:pt x="0" y="0"/>
                </a:lnTo>
                <a:close/>
              </a:path>
            </a:pathLst>
          </a:custGeom>
          <a:blipFill>
            <a:blip r:embed="rId14"/>
            <a:stretch>
              <a:fillRect/>
            </a:stretch>
          </a:blipFill>
        </p:spPr>
      </p:sp>
      <p:sp>
        <p:nvSpPr>
          <p:cNvPr id="18" name="Freeform 18"/>
          <p:cNvSpPr/>
          <p:nvPr/>
        </p:nvSpPr>
        <p:spPr>
          <a:xfrm>
            <a:off x="14452674" y="8707222"/>
            <a:ext cx="3599607" cy="1086443"/>
          </a:xfrm>
          <a:custGeom>
            <a:avLst/>
            <a:gdLst/>
            <a:ahLst/>
            <a:cxnLst/>
            <a:rect l="l" t="t" r="r" b="b"/>
            <a:pathLst>
              <a:path w="3599607" h="1086443">
                <a:moveTo>
                  <a:pt x="0" y="0"/>
                </a:moveTo>
                <a:lnTo>
                  <a:pt x="3599607" y="0"/>
                </a:lnTo>
                <a:lnTo>
                  <a:pt x="3599607" y="1086443"/>
                </a:lnTo>
                <a:lnTo>
                  <a:pt x="0" y="1086443"/>
                </a:lnTo>
                <a:lnTo>
                  <a:pt x="0" y="0"/>
                </a:lnTo>
                <a:close/>
              </a:path>
            </a:pathLst>
          </a:custGeom>
          <a:blipFill>
            <a:blip r:embed="rId15"/>
            <a:stretch>
              <a:fillRect/>
            </a:stretch>
          </a:blipFill>
        </p:spPr>
      </p:sp>
      <p:sp>
        <p:nvSpPr>
          <p:cNvPr id="19" name="Freeform 19"/>
          <p:cNvSpPr/>
          <p:nvPr/>
        </p:nvSpPr>
        <p:spPr>
          <a:xfrm>
            <a:off x="13964320" y="6710745"/>
            <a:ext cx="4305751" cy="1021775"/>
          </a:xfrm>
          <a:custGeom>
            <a:avLst/>
            <a:gdLst/>
            <a:ahLst/>
            <a:cxnLst/>
            <a:rect l="l" t="t" r="r" b="b"/>
            <a:pathLst>
              <a:path w="4305751" h="1021775">
                <a:moveTo>
                  <a:pt x="0" y="0"/>
                </a:moveTo>
                <a:lnTo>
                  <a:pt x="4305751" y="0"/>
                </a:lnTo>
                <a:lnTo>
                  <a:pt x="4305751" y="1021775"/>
                </a:lnTo>
                <a:lnTo>
                  <a:pt x="0" y="1021775"/>
                </a:lnTo>
                <a:lnTo>
                  <a:pt x="0" y="0"/>
                </a:lnTo>
                <a:close/>
              </a:path>
            </a:pathLst>
          </a:custGeom>
          <a:blipFill>
            <a:blip r:embed="rId16"/>
            <a:stretch>
              <a:fillRect/>
            </a:stretch>
          </a:blipFill>
        </p:spPr>
      </p:sp>
      <p:sp>
        <p:nvSpPr>
          <p:cNvPr id="20" name="TextBox 20"/>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OUR</a:t>
            </a:r>
          </a:p>
        </p:txBody>
      </p:sp>
      <p:sp>
        <p:nvSpPr>
          <p:cNvPr id="21" name="TextBox 21"/>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PARTNERS</a:t>
            </a:r>
          </a:p>
        </p:txBody>
      </p:sp>
      <p:sp>
        <p:nvSpPr>
          <p:cNvPr id="22" name="Freeform 22"/>
          <p:cNvSpPr/>
          <p:nvPr/>
        </p:nvSpPr>
        <p:spPr>
          <a:xfrm>
            <a:off x="804962" y="2880317"/>
            <a:ext cx="6077255" cy="1049232"/>
          </a:xfrm>
          <a:custGeom>
            <a:avLst/>
            <a:gdLst/>
            <a:ahLst/>
            <a:cxnLst/>
            <a:rect l="l" t="t" r="r" b="b"/>
            <a:pathLst>
              <a:path w="6077255" h="1049232">
                <a:moveTo>
                  <a:pt x="0" y="0"/>
                </a:moveTo>
                <a:lnTo>
                  <a:pt x="6077255" y="0"/>
                </a:lnTo>
                <a:lnTo>
                  <a:pt x="6077255" y="1049232"/>
                </a:lnTo>
                <a:lnTo>
                  <a:pt x="0" y="1049232"/>
                </a:lnTo>
                <a:lnTo>
                  <a:pt x="0" y="0"/>
                </a:lnTo>
                <a:close/>
              </a:path>
            </a:pathLst>
          </a:custGeom>
          <a:blipFill>
            <a:blip r:embed="rId17"/>
            <a:stretch>
              <a:fillRect l="-8358" t="-186373" r="-53746"/>
            </a:stretch>
          </a:blipFill>
        </p:spPr>
      </p:sp>
      <p:sp>
        <p:nvSpPr>
          <p:cNvPr id="23" name="TextBox 23"/>
          <p:cNvSpPr txBox="1"/>
          <p:nvPr/>
        </p:nvSpPr>
        <p:spPr>
          <a:xfrm>
            <a:off x="804962" y="2628010"/>
            <a:ext cx="7700416" cy="1401446"/>
          </a:xfrm>
          <a:prstGeom prst="rect">
            <a:avLst/>
          </a:prstGeom>
        </p:spPr>
        <p:txBody>
          <a:bodyPr lIns="0" tIns="0" rIns="0" bIns="0" rtlCol="0" anchor="t">
            <a:spAutoFit/>
          </a:bodyPr>
          <a:lstStyle/>
          <a:p>
            <a:pPr algn="l">
              <a:lnSpc>
                <a:spcPts val="11479"/>
              </a:lnSpc>
              <a:spcBef>
                <a:spcPct val="0"/>
              </a:spcBef>
            </a:pPr>
            <a:r>
              <a:rPr lang="en-US" sz="8199" b="1">
                <a:solidFill>
                  <a:srgbClr val="010F48"/>
                </a:solidFill>
                <a:latin typeface="Anantason SemiExpanded Bold"/>
                <a:ea typeface="Anantason SemiExpanded Bold"/>
                <a:cs typeface="Anantason SemiExpanded Bold"/>
                <a:sym typeface="Anantason SemiExpanded Bold"/>
              </a:rPr>
              <a:t>IN HEALTH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685" r="-5563" b="-10249"/>
              </a:stretch>
            </a:blipFill>
          </p:spPr>
        </p:sp>
      </p:grpSp>
      <p:sp>
        <p:nvSpPr>
          <p:cNvPr id="9" name="Freeform 9"/>
          <p:cNvSpPr/>
          <p:nvPr/>
        </p:nvSpPr>
        <p:spPr>
          <a:xfrm>
            <a:off x="9302609" y="7276582"/>
            <a:ext cx="7765671" cy="2482566"/>
          </a:xfrm>
          <a:custGeom>
            <a:avLst/>
            <a:gdLst/>
            <a:ahLst/>
            <a:cxnLst/>
            <a:rect l="l" t="t" r="r" b="b"/>
            <a:pathLst>
              <a:path w="7765671" h="2482566">
                <a:moveTo>
                  <a:pt x="0" y="0"/>
                </a:moveTo>
                <a:lnTo>
                  <a:pt x="7765672" y="0"/>
                </a:lnTo>
                <a:lnTo>
                  <a:pt x="7765672" y="2482566"/>
                </a:lnTo>
                <a:lnTo>
                  <a:pt x="0" y="2482566"/>
                </a:lnTo>
                <a:lnTo>
                  <a:pt x="0" y="0"/>
                </a:lnTo>
                <a:close/>
              </a:path>
            </a:pathLst>
          </a:custGeom>
          <a:blipFill>
            <a:blip r:embed="rId6"/>
            <a:stretch>
              <a:fillRect l="-8701" t="-17011" r="-7250" b="-23815"/>
            </a:stretch>
          </a:blipFill>
        </p:spPr>
      </p:sp>
      <p:sp>
        <p:nvSpPr>
          <p:cNvPr id="10" name="Freeform 10"/>
          <p:cNvSpPr/>
          <p:nvPr/>
        </p:nvSpPr>
        <p:spPr>
          <a:xfrm>
            <a:off x="6496242" y="5021994"/>
            <a:ext cx="5576115" cy="2025989"/>
          </a:xfrm>
          <a:custGeom>
            <a:avLst/>
            <a:gdLst/>
            <a:ahLst/>
            <a:cxnLst/>
            <a:rect l="l" t="t" r="r" b="b"/>
            <a:pathLst>
              <a:path w="5576115" h="2025989">
                <a:moveTo>
                  <a:pt x="0" y="0"/>
                </a:moveTo>
                <a:lnTo>
                  <a:pt x="5576116" y="0"/>
                </a:lnTo>
                <a:lnTo>
                  <a:pt x="5576116" y="2025988"/>
                </a:lnTo>
                <a:lnTo>
                  <a:pt x="0" y="2025988"/>
                </a:lnTo>
                <a:lnTo>
                  <a:pt x="0" y="0"/>
                </a:lnTo>
                <a:close/>
              </a:path>
            </a:pathLst>
          </a:custGeom>
          <a:blipFill>
            <a:blip r:embed="rId7"/>
            <a:stretch>
              <a:fillRect/>
            </a:stretch>
          </a:blipFill>
        </p:spPr>
      </p:sp>
      <p:sp>
        <p:nvSpPr>
          <p:cNvPr id="11" name="Freeform 11"/>
          <p:cNvSpPr/>
          <p:nvPr/>
        </p:nvSpPr>
        <p:spPr>
          <a:xfrm>
            <a:off x="987412" y="4832870"/>
            <a:ext cx="5501149" cy="2550123"/>
          </a:xfrm>
          <a:custGeom>
            <a:avLst/>
            <a:gdLst/>
            <a:ahLst/>
            <a:cxnLst/>
            <a:rect l="l" t="t" r="r" b="b"/>
            <a:pathLst>
              <a:path w="5501149" h="2550123">
                <a:moveTo>
                  <a:pt x="0" y="0"/>
                </a:moveTo>
                <a:lnTo>
                  <a:pt x="5501149" y="0"/>
                </a:lnTo>
                <a:lnTo>
                  <a:pt x="5501149" y="2550123"/>
                </a:lnTo>
                <a:lnTo>
                  <a:pt x="0" y="2550123"/>
                </a:lnTo>
                <a:lnTo>
                  <a:pt x="0" y="0"/>
                </a:lnTo>
                <a:close/>
              </a:path>
            </a:pathLst>
          </a:custGeom>
          <a:blipFill>
            <a:blip r:embed="rId8"/>
            <a:stretch>
              <a:fillRect t="-58320" b="-57400"/>
            </a:stretch>
          </a:blipFill>
        </p:spPr>
      </p:sp>
      <p:sp>
        <p:nvSpPr>
          <p:cNvPr id="12" name="Freeform 12"/>
          <p:cNvSpPr/>
          <p:nvPr/>
        </p:nvSpPr>
        <p:spPr>
          <a:xfrm>
            <a:off x="3112719" y="7382993"/>
            <a:ext cx="4970170" cy="2530544"/>
          </a:xfrm>
          <a:custGeom>
            <a:avLst/>
            <a:gdLst/>
            <a:ahLst/>
            <a:cxnLst/>
            <a:rect l="l" t="t" r="r" b="b"/>
            <a:pathLst>
              <a:path w="4970170" h="2530544">
                <a:moveTo>
                  <a:pt x="0" y="0"/>
                </a:moveTo>
                <a:lnTo>
                  <a:pt x="4970170" y="0"/>
                </a:lnTo>
                <a:lnTo>
                  <a:pt x="4970170" y="2530544"/>
                </a:lnTo>
                <a:lnTo>
                  <a:pt x="0" y="2530544"/>
                </a:lnTo>
                <a:lnTo>
                  <a:pt x="0" y="0"/>
                </a:lnTo>
                <a:close/>
              </a:path>
            </a:pathLst>
          </a:custGeom>
          <a:blipFill>
            <a:blip r:embed="rId9"/>
            <a:stretch>
              <a:fillRect/>
            </a:stretch>
          </a:blipFill>
        </p:spPr>
      </p:sp>
      <p:sp>
        <p:nvSpPr>
          <p:cNvPr id="13" name="TextBox 13"/>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OUR</a:t>
            </a:r>
          </a:p>
        </p:txBody>
      </p:sp>
      <p:sp>
        <p:nvSpPr>
          <p:cNvPr id="14" name="TextBox 14"/>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PARTNERS</a:t>
            </a:r>
          </a:p>
        </p:txBody>
      </p:sp>
      <p:sp>
        <p:nvSpPr>
          <p:cNvPr id="15" name="Freeform 15"/>
          <p:cNvSpPr/>
          <p:nvPr/>
        </p:nvSpPr>
        <p:spPr>
          <a:xfrm>
            <a:off x="847112" y="2835567"/>
            <a:ext cx="4008373" cy="1049232"/>
          </a:xfrm>
          <a:custGeom>
            <a:avLst/>
            <a:gdLst/>
            <a:ahLst/>
            <a:cxnLst/>
            <a:rect l="l" t="t" r="r" b="b"/>
            <a:pathLst>
              <a:path w="4008373" h="1049232">
                <a:moveTo>
                  <a:pt x="0" y="0"/>
                </a:moveTo>
                <a:lnTo>
                  <a:pt x="4008373" y="0"/>
                </a:lnTo>
                <a:lnTo>
                  <a:pt x="4008373" y="1049232"/>
                </a:lnTo>
                <a:lnTo>
                  <a:pt x="0" y="1049232"/>
                </a:lnTo>
                <a:lnTo>
                  <a:pt x="0" y="0"/>
                </a:lnTo>
                <a:close/>
              </a:path>
            </a:pathLst>
          </a:custGeom>
          <a:blipFill>
            <a:blip r:embed="rId10"/>
            <a:stretch>
              <a:fillRect l="-12672" t="-186373" r="-133101"/>
            </a:stretch>
          </a:blipFill>
        </p:spPr>
      </p:sp>
      <p:sp>
        <p:nvSpPr>
          <p:cNvPr id="16" name="TextBox 16"/>
          <p:cNvSpPr txBox="1"/>
          <p:nvPr/>
        </p:nvSpPr>
        <p:spPr>
          <a:xfrm>
            <a:off x="847112" y="2683167"/>
            <a:ext cx="3764394" cy="1401446"/>
          </a:xfrm>
          <a:prstGeom prst="rect">
            <a:avLst/>
          </a:prstGeom>
        </p:spPr>
        <p:txBody>
          <a:bodyPr lIns="0" tIns="0" rIns="0" bIns="0" rtlCol="0" anchor="t">
            <a:spAutoFit/>
          </a:bodyPr>
          <a:lstStyle/>
          <a:p>
            <a:pPr algn="l">
              <a:lnSpc>
                <a:spcPts val="11479"/>
              </a:lnSpc>
              <a:spcBef>
                <a:spcPct val="0"/>
              </a:spcBef>
            </a:pPr>
            <a:r>
              <a:rPr lang="en-US" sz="8199" b="1">
                <a:solidFill>
                  <a:srgbClr val="010F48"/>
                </a:solidFill>
                <a:latin typeface="Anantason SemiExpanded Bold"/>
                <a:ea typeface="Anantason SemiExpanded Bold"/>
                <a:cs typeface="Anantason SemiExpanded Bold"/>
                <a:sym typeface="Anantason SemiExpanded Bold"/>
              </a:rPr>
              <a:t>IN LIFE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685" r="-5563" b="-10249"/>
              </a:stretch>
            </a:blipFill>
          </p:spPr>
        </p:sp>
      </p:grpSp>
      <p:sp>
        <p:nvSpPr>
          <p:cNvPr id="9" name="Freeform 9"/>
          <p:cNvSpPr/>
          <p:nvPr/>
        </p:nvSpPr>
        <p:spPr>
          <a:xfrm>
            <a:off x="828796" y="4583154"/>
            <a:ext cx="3395118" cy="2448180"/>
          </a:xfrm>
          <a:custGeom>
            <a:avLst/>
            <a:gdLst/>
            <a:ahLst/>
            <a:cxnLst/>
            <a:rect l="l" t="t" r="r" b="b"/>
            <a:pathLst>
              <a:path w="3395118" h="2448180">
                <a:moveTo>
                  <a:pt x="0" y="0"/>
                </a:moveTo>
                <a:lnTo>
                  <a:pt x="3395118" y="0"/>
                </a:lnTo>
                <a:lnTo>
                  <a:pt x="3395118" y="2448181"/>
                </a:lnTo>
                <a:lnTo>
                  <a:pt x="0" y="2448181"/>
                </a:lnTo>
                <a:lnTo>
                  <a:pt x="0" y="0"/>
                </a:lnTo>
                <a:close/>
              </a:path>
            </a:pathLst>
          </a:custGeom>
          <a:blipFill>
            <a:blip r:embed="rId6"/>
            <a:stretch>
              <a:fillRect/>
            </a:stretch>
          </a:blipFill>
        </p:spPr>
      </p:sp>
      <p:sp>
        <p:nvSpPr>
          <p:cNvPr id="10" name="Freeform 10"/>
          <p:cNvSpPr/>
          <p:nvPr/>
        </p:nvSpPr>
        <p:spPr>
          <a:xfrm>
            <a:off x="4593189" y="4778012"/>
            <a:ext cx="5142486" cy="2058465"/>
          </a:xfrm>
          <a:custGeom>
            <a:avLst/>
            <a:gdLst/>
            <a:ahLst/>
            <a:cxnLst/>
            <a:rect l="l" t="t" r="r" b="b"/>
            <a:pathLst>
              <a:path w="5142486" h="2058465">
                <a:moveTo>
                  <a:pt x="0" y="0"/>
                </a:moveTo>
                <a:lnTo>
                  <a:pt x="5142486" y="0"/>
                </a:lnTo>
                <a:lnTo>
                  <a:pt x="5142486" y="2058465"/>
                </a:lnTo>
                <a:lnTo>
                  <a:pt x="0" y="2058465"/>
                </a:lnTo>
                <a:lnTo>
                  <a:pt x="0" y="0"/>
                </a:lnTo>
                <a:close/>
              </a:path>
            </a:pathLst>
          </a:custGeom>
          <a:blipFill>
            <a:blip r:embed="rId7"/>
            <a:stretch>
              <a:fillRect t="-74398" b="-75422"/>
            </a:stretch>
          </a:blipFill>
        </p:spPr>
      </p:sp>
      <p:sp>
        <p:nvSpPr>
          <p:cNvPr id="11" name="Freeform 11"/>
          <p:cNvSpPr/>
          <p:nvPr/>
        </p:nvSpPr>
        <p:spPr>
          <a:xfrm>
            <a:off x="599957" y="6943431"/>
            <a:ext cx="5211629" cy="1774794"/>
          </a:xfrm>
          <a:custGeom>
            <a:avLst/>
            <a:gdLst/>
            <a:ahLst/>
            <a:cxnLst/>
            <a:rect l="l" t="t" r="r" b="b"/>
            <a:pathLst>
              <a:path w="5211629" h="1774794">
                <a:moveTo>
                  <a:pt x="0" y="0"/>
                </a:moveTo>
                <a:lnTo>
                  <a:pt x="5211629" y="0"/>
                </a:lnTo>
                <a:lnTo>
                  <a:pt x="5211629" y="1774794"/>
                </a:lnTo>
                <a:lnTo>
                  <a:pt x="0" y="1774794"/>
                </a:lnTo>
                <a:lnTo>
                  <a:pt x="0" y="0"/>
                </a:lnTo>
                <a:close/>
              </a:path>
            </a:pathLst>
          </a:custGeom>
          <a:blipFill>
            <a:blip r:embed="rId8"/>
            <a:stretch>
              <a:fillRect t="-29011" b="-31160"/>
            </a:stretch>
          </a:blipFill>
        </p:spPr>
      </p:sp>
      <p:sp>
        <p:nvSpPr>
          <p:cNvPr id="12" name="Freeform 12"/>
          <p:cNvSpPr/>
          <p:nvPr/>
        </p:nvSpPr>
        <p:spPr>
          <a:xfrm>
            <a:off x="6075813" y="7254492"/>
            <a:ext cx="3431024" cy="1303789"/>
          </a:xfrm>
          <a:custGeom>
            <a:avLst/>
            <a:gdLst/>
            <a:ahLst/>
            <a:cxnLst/>
            <a:rect l="l" t="t" r="r" b="b"/>
            <a:pathLst>
              <a:path w="3431024" h="1303789">
                <a:moveTo>
                  <a:pt x="0" y="0"/>
                </a:moveTo>
                <a:lnTo>
                  <a:pt x="3431024" y="0"/>
                </a:lnTo>
                <a:lnTo>
                  <a:pt x="3431024" y="1303789"/>
                </a:lnTo>
                <a:lnTo>
                  <a:pt x="0" y="1303789"/>
                </a:lnTo>
                <a:lnTo>
                  <a:pt x="0" y="0"/>
                </a:lnTo>
                <a:close/>
              </a:path>
            </a:pathLst>
          </a:custGeom>
          <a:blipFill>
            <a:blip r:embed="rId9"/>
            <a:stretch>
              <a:fillRect/>
            </a:stretch>
          </a:blipFill>
        </p:spPr>
      </p:sp>
      <p:sp>
        <p:nvSpPr>
          <p:cNvPr id="13" name="Freeform 13"/>
          <p:cNvSpPr/>
          <p:nvPr/>
        </p:nvSpPr>
        <p:spPr>
          <a:xfrm>
            <a:off x="10190456" y="7254492"/>
            <a:ext cx="4504865" cy="1357091"/>
          </a:xfrm>
          <a:custGeom>
            <a:avLst/>
            <a:gdLst/>
            <a:ahLst/>
            <a:cxnLst/>
            <a:rect l="l" t="t" r="r" b="b"/>
            <a:pathLst>
              <a:path w="4504865" h="1357091">
                <a:moveTo>
                  <a:pt x="0" y="0"/>
                </a:moveTo>
                <a:lnTo>
                  <a:pt x="4504865" y="0"/>
                </a:lnTo>
                <a:lnTo>
                  <a:pt x="4504865" y="1357090"/>
                </a:lnTo>
                <a:lnTo>
                  <a:pt x="0" y="1357090"/>
                </a:lnTo>
                <a:lnTo>
                  <a:pt x="0" y="0"/>
                </a:lnTo>
                <a:close/>
              </a:path>
            </a:pathLst>
          </a:custGeom>
          <a:blipFill>
            <a:blip r:embed="rId10"/>
            <a:stretch>
              <a:fillRect/>
            </a:stretch>
          </a:blipFill>
        </p:spPr>
      </p:sp>
      <p:sp>
        <p:nvSpPr>
          <p:cNvPr id="14" name="Freeform 14"/>
          <p:cNvSpPr/>
          <p:nvPr/>
        </p:nvSpPr>
        <p:spPr>
          <a:xfrm>
            <a:off x="903749" y="8761480"/>
            <a:ext cx="4846932" cy="1442969"/>
          </a:xfrm>
          <a:custGeom>
            <a:avLst/>
            <a:gdLst/>
            <a:ahLst/>
            <a:cxnLst/>
            <a:rect l="l" t="t" r="r" b="b"/>
            <a:pathLst>
              <a:path w="4846932" h="1442969">
                <a:moveTo>
                  <a:pt x="0" y="0"/>
                </a:moveTo>
                <a:lnTo>
                  <a:pt x="4846932" y="0"/>
                </a:lnTo>
                <a:lnTo>
                  <a:pt x="4846932" y="1442969"/>
                </a:lnTo>
                <a:lnTo>
                  <a:pt x="0" y="1442969"/>
                </a:lnTo>
                <a:lnTo>
                  <a:pt x="0" y="0"/>
                </a:lnTo>
                <a:close/>
              </a:path>
            </a:pathLst>
          </a:custGeom>
          <a:blipFill>
            <a:blip r:embed="rId11"/>
            <a:stretch>
              <a:fillRect l="-34" r="-34"/>
            </a:stretch>
          </a:blipFill>
        </p:spPr>
      </p:sp>
      <p:sp>
        <p:nvSpPr>
          <p:cNvPr id="15" name="Freeform 15"/>
          <p:cNvSpPr/>
          <p:nvPr/>
        </p:nvSpPr>
        <p:spPr>
          <a:xfrm>
            <a:off x="6243746" y="8825179"/>
            <a:ext cx="3946710" cy="1315570"/>
          </a:xfrm>
          <a:custGeom>
            <a:avLst/>
            <a:gdLst/>
            <a:ahLst/>
            <a:cxnLst/>
            <a:rect l="l" t="t" r="r" b="b"/>
            <a:pathLst>
              <a:path w="3946710" h="1315570">
                <a:moveTo>
                  <a:pt x="0" y="0"/>
                </a:moveTo>
                <a:lnTo>
                  <a:pt x="3946710" y="0"/>
                </a:lnTo>
                <a:lnTo>
                  <a:pt x="3946710" y="1315570"/>
                </a:lnTo>
                <a:lnTo>
                  <a:pt x="0" y="1315570"/>
                </a:lnTo>
                <a:lnTo>
                  <a:pt x="0" y="0"/>
                </a:lnTo>
                <a:close/>
              </a:path>
            </a:pathLst>
          </a:custGeom>
          <a:blipFill>
            <a:blip r:embed="rId12"/>
            <a:stretch>
              <a:fillRect/>
            </a:stretch>
          </a:blipFill>
        </p:spPr>
      </p:sp>
      <p:sp>
        <p:nvSpPr>
          <p:cNvPr id="16" name="TextBox 16"/>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OUR</a:t>
            </a:r>
          </a:p>
        </p:txBody>
      </p:sp>
      <p:sp>
        <p:nvSpPr>
          <p:cNvPr id="17" name="TextBox 17"/>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PARTNERS</a:t>
            </a:r>
          </a:p>
        </p:txBody>
      </p:sp>
      <p:sp>
        <p:nvSpPr>
          <p:cNvPr id="18" name="Freeform 18"/>
          <p:cNvSpPr/>
          <p:nvPr/>
        </p:nvSpPr>
        <p:spPr>
          <a:xfrm>
            <a:off x="847112" y="2904456"/>
            <a:ext cx="6694074" cy="1000953"/>
          </a:xfrm>
          <a:custGeom>
            <a:avLst/>
            <a:gdLst/>
            <a:ahLst/>
            <a:cxnLst/>
            <a:rect l="l" t="t" r="r" b="b"/>
            <a:pathLst>
              <a:path w="6694074" h="1000953">
                <a:moveTo>
                  <a:pt x="0" y="0"/>
                </a:moveTo>
                <a:lnTo>
                  <a:pt x="6694074" y="0"/>
                </a:lnTo>
                <a:lnTo>
                  <a:pt x="6694074" y="1000953"/>
                </a:lnTo>
                <a:lnTo>
                  <a:pt x="0" y="1000953"/>
                </a:lnTo>
                <a:lnTo>
                  <a:pt x="0" y="0"/>
                </a:lnTo>
                <a:close/>
              </a:path>
            </a:pathLst>
          </a:custGeom>
          <a:blipFill>
            <a:blip r:embed="rId13"/>
            <a:stretch>
              <a:fillRect l="-5976" t="-186373" r="-34419"/>
            </a:stretch>
          </a:blipFill>
        </p:spPr>
      </p:sp>
      <p:sp>
        <p:nvSpPr>
          <p:cNvPr id="19" name="TextBox 19"/>
          <p:cNvSpPr txBox="1"/>
          <p:nvPr/>
        </p:nvSpPr>
        <p:spPr>
          <a:xfrm>
            <a:off x="847112" y="2683167"/>
            <a:ext cx="6694074" cy="1401446"/>
          </a:xfrm>
          <a:prstGeom prst="rect">
            <a:avLst/>
          </a:prstGeom>
        </p:spPr>
        <p:txBody>
          <a:bodyPr lIns="0" tIns="0" rIns="0" bIns="0" rtlCol="0" anchor="t">
            <a:spAutoFit/>
          </a:bodyPr>
          <a:lstStyle/>
          <a:p>
            <a:pPr algn="l">
              <a:lnSpc>
                <a:spcPts val="11479"/>
              </a:lnSpc>
              <a:spcBef>
                <a:spcPct val="0"/>
              </a:spcBef>
            </a:pPr>
            <a:r>
              <a:rPr lang="en-US" sz="8199" b="1">
                <a:solidFill>
                  <a:srgbClr val="010F48"/>
                </a:solidFill>
                <a:latin typeface="Anantason SemiExpanded Bold"/>
                <a:ea typeface="Anantason SemiExpanded Bold"/>
                <a:cs typeface="Anantason SemiExpanded Bold"/>
                <a:sym typeface="Anantason SemiExpanded Bold"/>
              </a:rPr>
              <a:t>IN NON-LIFE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1962357" y="-646334"/>
            <a:ext cx="6687971" cy="4372261"/>
          </a:xfrm>
          <a:custGeom>
            <a:avLst/>
            <a:gdLst/>
            <a:ahLst/>
            <a:cxnLst/>
            <a:rect l="l" t="t" r="r" b="b"/>
            <a:pathLst>
              <a:path w="6687971" h="4372261">
                <a:moveTo>
                  <a:pt x="6687970" y="4372261"/>
                </a:moveTo>
                <a:lnTo>
                  <a:pt x="0" y="4372261"/>
                </a:lnTo>
                <a:lnTo>
                  <a:pt x="0" y="0"/>
                </a:lnTo>
                <a:lnTo>
                  <a:pt x="6687970" y="0"/>
                </a:lnTo>
                <a:lnTo>
                  <a:pt x="6687970" y="4372261"/>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3315961" y="489809"/>
            <a:ext cx="4653691" cy="465369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526657" y="700506"/>
            <a:ext cx="4232298" cy="423229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5995" t="-8110" r="-12616" b="-20501"/>
              </a:stretch>
            </a:blipFill>
          </p:spPr>
        </p:sp>
      </p:grpSp>
      <p:grpSp>
        <p:nvGrpSpPr>
          <p:cNvPr id="9" name="Group 9"/>
          <p:cNvGrpSpPr/>
          <p:nvPr/>
        </p:nvGrpSpPr>
        <p:grpSpPr>
          <a:xfrm>
            <a:off x="804982" y="2816655"/>
            <a:ext cx="12113427" cy="2576102"/>
            <a:chOff x="0" y="0"/>
            <a:chExt cx="16151235" cy="3434802"/>
          </a:xfrm>
        </p:grpSpPr>
        <p:sp>
          <p:nvSpPr>
            <p:cNvPr id="10" name="Freeform 10"/>
            <p:cNvSpPr/>
            <p:nvPr/>
          </p:nvSpPr>
          <p:spPr>
            <a:xfrm>
              <a:off x="0" y="517887"/>
              <a:ext cx="5037329" cy="2399028"/>
            </a:xfrm>
            <a:custGeom>
              <a:avLst/>
              <a:gdLst/>
              <a:ahLst/>
              <a:cxnLst/>
              <a:rect l="l" t="t" r="r" b="b"/>
              <a:pathLst>
                <a:path w="5037329" h="2399028">
                  <a:moveTo>
                    <a:pt x="0" y="0"/>
                  </a:moveTo>
                  <a:lnTo>
                    <a:pt x="5037329" y="0"/>
                  </a:lnTo>
                  <a:lnTo>
                    <a:pt x="5037329" y="2399028"/>
                  </a:lnTo>
                  <a:lnTo>
                    <a:pt x="0" y="2399028"/>
                  </a:lnTo>
                  <a:lnTo>
                    <a:pt x="0" y="0"/>
                  </a:lnTo>
                  <a:close/>
                </a:path>
              </a:pathLst>
            </a:custGeom>
            <a:blipFill>
              <a:blip r:embed="rId6"/>
              <a:stretch>
                <a:fillRect/>
              </a:stretch>
            </a:blipFill>
          </p:spPr>
        </p:sp>
        <p:sp>
          <p:nvSpPr>
            <p:cNvPr id="11" name="Freeform 11"/>
            <p:cNvSpPr/>
            <p:nvPr/>
          </p:nvSpPr>
          <p:spPr>
            <a:xfrm>
              <a:off x="5970773" y="0"/>
              <a:ext cx="3203613" cy="3434802"/>
            </a:xfrm>
            <a:custGeom>
              <a:avLst/>
              <a:gdLst/>
              <a:ahLst/>
              <a:cxnLst/>
              <a:rect l="l" t="t" r="r" b="b"/>
              <a:pathLst>
                <a:path w="3203613" h="3434802">
                  <a:moveTo>
                    <a:pt x="0" y="0"/>
                  </a:moveTo>
                  <a:lnTo>
                    <a:pt x="3203614" y="0"/>
                  </a:lnTo>
                  <a:lnTo>
                    <a:pt x="3203614" y="3434802"/>
                  </a:lnTo>
                  <a:lnTo>
                    <a:pt x="0" y="3434802"/>
                  </a:lnTo>
                  <a:lnTo>
                    <a:pt x="0" y="0"/>
                  </a:lnTo>
                  <a:close/>
                </a:path>
              </a:pathLst>
            </a:custGeom>
            <a:blipFill>
              <a:blip r:embed="rId7"/>
              <a:stretch>
                <a:fillRect l="-19136" t="-24200" r="-26280" b="-11429"/>
              </a:stretch>
            </a:blipFill>
          </p:spPr>
        </p:sp>
        <p:sp>
          <p:nvSpPr>
            <p:cNvPr id="12" name="Freeform 12"/>
            <p:cNvSpPr/>
            <p:nvPr/>
          </p:nvSpPr>
          <p:spPr>
            <a:xfrm>
              <a:off x="9368424" y="0"/>
              <a:ext cx="4111354" cy="3434802"/>
            </a:xfrm>
            <a:custGeom>
              <a:avLst/>
              <a:gdLst/>
              <a:ahLst/>
              <a:cxnLst/>
              <a:rect l="l" t="t" r="r" b="b"/>
              <a:pathLst>
                <a:path w="4111354" h="3434802">
                  <a:moveTo>
                    <a:pt x="0" y="0"/>
                  </a:moveTo>
                  <a:lnTo>
                    <a:pt x="4111354" y="0"/>
                  </a:lnTo>
                  <a:lnTo>
                    <a:pt x="4111354" y="3434802"/>
                  </a:lnTo>
                  <a:lnTo>
                    <a:pt x="0" y="3434802"/>
                  </a:lnTo>
                  <a:lnTo>
                    <a:pt x="0" y="0"/>
                  </a:lnTo>
                  <a:close/>
                </a:path>
              </a:pathLst>
            </a:custGeom>
            <a:blipFill>
              <a:blip r:embed="rId8"/>
              <a:stretch>
                <a:fillRect l="-24363" t="-19066" r="-20508" b="-20405"/>
              </a:stretch>
            </a:blipFill>
          </p:spPr>
        </p:sp>
        <p:sp>
          <p:nvSpPr>
            <p:cNvPr id="13" name="Freeform 13"/>
            <p:cNvSpPr/>
            <p:nvPr/>
          </p:nvSpPr>
          <p:spPr>
            <a:xfrm>
              <a:off x="13667570" y="430141"/>
              <a:ext cx="2483666" cy="2486774"/>
            </a:xfrm>
            <a:custGeom>
              <a:avLst/>
              <a:gdLst/>
              <a:ahLst/>
              <a:cxnLst/>
              <a:rect l="l" t="t" r="r" b="b"/>
              <a:pathLst>
                <a:path w="2483666" h="2486774">
                  <a:moveTo>
                    <a:pt x="0" y="0"/>
                  </a:moveTo>
                  <a:lnTo>
                    <a:pt x="2483665" y="0"/>
                  </a:lnTo>
                  <a:lnTo>
                    <a:pt x="2483665" y="2486774"/>
                  </a:lnTo>
                  <a:lnTo>
                    <a:pt x="0" y="2486774"/>
                  </a:lnTo>
                  <a:lnTo>
                    <a:pt x="0" y="0"/>
                  </a:lnTo>
                  <a:close/>
                </a:path>
              </a:pathLst>
            </a:custGeom>
            <a:blipFill>
              <a:blip r:embed="rId9"/>
              <a:stretch>
                <a:fillRect/>
              </a:stretch>
            </a:blipFill>
          </p:spPr>
        </p:sp>
      </p:grpSp>
      <p:grpSp>
        <p:nvGrpSpPr>
          <p:cNvPr id="14" name="Group 14"/>
          <p:cNvGrpSpPr/>
          <p:nvPr/>
        </p:nvGrpSpPr>
        <p:grpSpPr>
          <a:xfrm>
            <a:off x="804982" y="5111632"/>
            <a:ext cx="15806373" cy="2505630"/>
            <a:chOff x="0" y="0"/>
            <a:chExt cx="21075164" cy="3340840"/>
          </a:xfrm>
        </p:grpSpPr>
        <p:sp>
          <p:nvSpPr>
            <p:cNvPr id="15" name="Freeform 15"/>
            <p:cNvSpPr/>
            <p:nvPr/>
          </p:nvSpPr>
          <p:spPr>
            <a:xfrm>
              <a:off x="0" y="0"/>
              <a:ext cx="5217877" cy="2670236"/>
            </a:xfrm>
            <a:custGeom>
              <a:avLst/>
              <a:gdLst/>
              <a:ahLst/>
              <a:cxnLst/>
              <a:rect l="l" t="t" r="r" b="b"/>
              <a:pathLst>
                <a:path w="5217877" h="2670236">
                  <a:moveTo>
                    <a:pt x="0" y="0"/>
                  </a:moveTo>
                  <a:lnTo>
                    <a:pt x="5217877" y="0"/>
                  </a:lnTo>
                  <a:lnTo>
                    <a:pt x="5217877" y="2670236"/>
                  </a:lnTo>
                  <a:lnTo>
                    <a:pt x="0" y="2670236"/>
                  </a:lnTo>
                  <a:lnTo>
                    <a:pt x="0" y="0"/>
                  </a:lnTo>
                  <a:close/>
                </a:path>
              </a:pathLst>
            </a:custGeom>
            <a:blipFill>
              <a:blip r:embed="rId10"/>
              <a:stretch>
                <a:fillRect l="-8550" r="-7868"/>
              </a:stretch>
            </a:blipFill>
          </p:spPr>
        </p:sp>
        <p:sp>
          <p:nvSpPr>
            <p:cNvPr id="16" name="Freeform 16"/>
            <p:cNvSpPr/>
            <p:nvPr/>
          </p:nvSpPr>
          <p:spPr>
            <a:xfrm>
              <a:off x="9019525" y="1217476"/>
              <a:ext cx="3441366" cy="1618946"/>
            </a:xfrm>
            <a:custGeom>
              <a:avLst/>
              <a:gdLst/>
              <a:ahLst/>
              <a:cxnLst/>
              <a:rect l="l" t="t" r="r" b="b"/>
              <a:pathLst>
                <a:path w="3441366" h="1618946">
                  <a:moveTo>
                    <a:pt x="0" y="0"/>
                  </a:moveTo>
                  <a:lnTo>
                    <a:pt x="3441366" y="0"/>
                  </a:lnTo>
                  <a:lnTo>
                    <a:pt x="3441366" y="1618945"/>
                  </a:lnTo>
                  <a:lnTo>
                    <a:pt x="0" y="1618945"/>
                  </a:lnTo>
                  <a:lnTo>
                    <a:pt x="0" y="0"/>
                  </a:lnTo>
                  <a:close/>
                </a:path>
              </a:pathLst>
            </a:custGeom>
            <a:blipFill>
              <a:blip r:embed="rId11"/>
              <a:stretch>
                <a:fillRect/>
              </a:stretch>
            </a:blipFill>
          </p:spPr>
        </p:sp>
        <p:sp>
          <p:nvSpPr>
            <p:cNvPr id="17" name="Freeform 17"/>
            <p:cNvSpPr/>
            <p:nvPr/>
          </p:nvSpPr>
          <p:spPr>
            <a:xfrm>
              <a:off x="6371420" y="271147"/>
              <a:ext cx="2565274" cy="2565274"/>
            </a:xfrm>
            <a:custGeom>
              <a:avLst/>
              <a:gdLst/>
              <a:ahLst/>
              <a:cxnLst/>
              <a:rect l="l" t="t" r="r" b="b"/>
              <a:pathLst>
                <a:path w="2565274" h="2565274">
                  <a:moveTo>
                    <a:pt x="0" y="0"/>
                  </a:moveTo>
                  <a:lnTo>
                    <a:pt x="2565274" y="0"/>
                  </a:lnTo>
                  <a:lnTo>
                    <a:pt x="2565274" y="2565274"/>
                  </a:lnTo>
                  <a:lnTo>
                    <a:pt x="0" y="2565274"/>
                  </a:lnTo>
                  <a:lnTo>
                    <a:pt x="0" y="0"/>
                  </a:lnTo>
                  <a:close/>
                </a:path>
              </a:pathLst>
            </a:custGeom>
            <a:blipFill>
              <a:blip r:embed="rId12"/>
              <a:stretch>
                <a:fillRect/>
              </a:stretch>
            </a:blipFill>
          </p:spPr>
        </p:sp>
        <p:sp>
          <p:nvSpPr>
            <p:cNvPr id="18" name="Freeform 18"/>
            <p:cNvSpPr/>
            <p:nvPr/>
          </p:nvSpPr>
          <p:spPr>
            <a:xfrm>
              <a:off x="13826781" y="399593"/>
              <a:ext cx="2855133" cy="2855133"/>
            </a:xfrm>
            <a:custGeom>
              <a:avLst/>
              <a:gdLst/>
              <a:ahLst/>
              <a:cxnLst/>
              <a:rect l="l" t="t" r="r" b="b"/>
              <a:pathLst>
                <a:path w="2855133" h="2855133">
                  <a:moveTo>
                    <a:pt x="0" y="0"/>
                  </a:moveTo>
                  <a:lnTo>
                    <a:pt x="2855133" y="0"/>
                  </a:lnTo>
                  <a:lnTo>
                    <a:pt x="2855133" y="2855133"/>
                  </a:lnTo>
                  <a:lnTo>
                    <a:pt x="0" y="2855133"/>
                  </a:lnTo>
                  <a:lnTo>
                    <a:pt x="0" y="0"/>
                  </a:lnTo>
                  <a:close/>
                </a:path>
              </a:pathLst>
            </a:custGeom>
            <a:blipFill>
              <a:blip r:embed="rId13"/>
              <a:stretch>
                <a:fillRect/>
              </a:stretch>
            </a:blipFill>
          </p:spPr>
        </p:sp>
        <p:sp>
          <p:nvSpPr>
            <p:cNvPr id="19" name="Freeform 19"/>
            <p:cNvSpPr/>
            <p:nvPr/>
          </p:nvSpPr>
          <p:spPr>
            <a:xfrm>
              <a:off x="18047804" y="313479"/>
              <a:ext cx="3027361" cy="3027361"/>
            </a:xfrm>
            <a:custGeom>
              <a:avLst/>
              <a:gdLst/>
              <a:ahLst/>
              <a:cxnLst/>
              <a:rect l="l" t="t" r="r" b="b"/>
              <a:pathLst>
                <a:path w="3027361" h="3027361">
                  <a:moveTo>
                    <a:pt x="0" y="0"/>
                  </a:moveTo>
                  <a:lnTo>
                    <a:pt x="3027360" y="0"/>
                  </a:lnTo>
                  <a:lnTo>
                    <a:pt x="3027360" y="3027361"/>
                  </a:lnTo>
                  <a:lnTo>
                    <a:pt x="0" y="3027361"/>
                  </a:lnTo>
                  <a:lnTo>
                    <a:pt x="0" y="0"/>
                  </a:lnTo>
                  <a:close/>
                </a:path>
              </a:pathLst>
            </a:custGeom>
            <a:blipFill>
              <a:blip r:embed="rId14"/>
              <a:stretch>
                <a:fillRect/>
              </a:stretch>
            </a:blipFill>
          </p:spPr>
        </p:sp>
      </p:grpSp>
      <p:grpSp>
        <p:nvGrpSpPr>
          <p:cNvPr id="20" name="Group 20"/>
          <p:cNvGrpSpPr/>
          <p:nvPr/>
        </p:nvGrpSpPr>
        <p:grpSpPr>
          <a:xfrm>
            <a:off x="15634456" y="9356048"/>
            <a:ext cx="2653544" cy="930952"/>
            <a:chOff x="0" y="0"/>
            <a:chExt cx="3538059" cy="1241269"/>
          </a:xfrm>
        </p:grpSpPr>
        <p:sp>
          <p:nvSpPr>
            <p:cNvPr id="21" name="Freeform 21"/>
            <p:cNvSpPr/>
            <p:nvPr/>
          </p:nvSpPr>
          <p:spPr>
            <a:xfrm>
              <a:off x="0" y="0"/>
              <a:ext cx="3538059" cy="1241269"/>
            </a:xfrm>
            <a:custGeom>
              <a:avLst/>
              <a:gdLst/>
              <a:ahLst/>
              <a:cxnLst/>
              <a:rect l="l" t="t" r="r" b="b"/>
              <a:pathLst>
                <a:path w="3538059" h="1241269">
                  <a:moveTo>
                    <a:pt x="0" y="0"/>
                  </a:moveTo>
                  <a:lnTo>
                    <a:pt x="3538059" y="0"/>
                  </a:lnTo>
                  <a:lnTo>
                    <a:pt x="3538059" y="1241269"/>
                  </a:lnTo>
                  <a:lnTo>
                    <a:pt x="0" y="1241269"/>
                  </a:lnTo>
                  <a:lnTo>
                    <a:pt x="0" y="0"/>
                  </a:lnTo>
                  <a:close/>
                </a:path>
              </a:pathLst>
            </a:custGeom>
            <a:blipFill>
              <a:blip r:embed="rId15"/>
              <a:stretch>
                <a:fillRect/>
              </a:stretch>
            </a:blipFill>
          </p:spPr>
        </p:sp>
        <p:sp>
          <p:nvSpPr>
            <p:cNvPr id="22" name="TextBox 22"/>
            <p:cNvSpPr txBox="1"/>
            <p:nvPr/>
          </p:nvSpPr>
          <p:spPr>
            <a:xfrm>
              <a:off x="530446" y="297004"/>
              <a:ext cx="2477166" cy="590111"/>
            </a:xfrm>
            <a:prstGeom prst="rect">
              <a:avLst/>
            </a:prstGeom>
          </p:spPr>
          <p:txBody>
            <a:bodyPr lIns="0" tIns="0" rIns="0" bIns="0" rtlCol="0" anchor="t">
              <a:spAutoFit/>
            </a:bodyPr>
            <a:lstStyle/>
            <a:p>
              <a:pPr algn="ctr">
                <a:lnSpc>
                  <a:spcPts val="3750"/>
                </a:lnSpc>
                <a:spcBef>
                  <a:spcPct val="0"/>
                </a:spcBef>
              </a:pPr>
              <a:r>
                <a:rPr lang="en-US" sz="2678" b="1">
                  <a:solidFill>
                    <a:srgbClr val="021048"/>
                  </a:solidFill>
                  <a:latin typeface="Open Sans Bold"/>
                  <a:ea typeface="Open Sans Bold"/>
                  <a:cs typeface="Open Sans Bold"/>
                  <a:sym typeface="Open Sans Bold"/>
                </a:rPr>
                <a:t>AND MORE</a:t>
              </a:r>
            </a:p>
          </p:txBody>
        </p:sp>
      </p:grpSp>
      <p:grpSp>
        <p:nvGrpSpPr>
          <p:cNvPr id="23" name="Group 23"/>
          <p:cNvGrpSpPr/>
          <p:nvPr/>
        </p:nvGrpSpPr>
        <p:grpSpPr>
          <a:xfrm>
            <a:off x="804982" y="8998387"/>
            <a:ext cx="11889708" cy="1407635"/>
            <a:chOff x="0" y="0"/>
            <a:chExt cx="15852944" cy="1876847"/>
          </a:xfrm>
        </p:grpSpPr>
        <p:sp>
          <p:nvSpPr>
            <p:cNvPr id="24" name="Freeform 24"/>
            <p:cNvSpPr/>
            <p:nvPr/>
          </p:nvSpPr>
          <p:spPr>
            <a:xfrm>
              <a:off x="8312040" y="0"/>
              <a:ext cx="7540904" cy="1876847"/>
            </a:xfrm>
            <a:custGeom>
              <a:avLst/>
              <a:gdLst/>
              <a:ahLst/>
              <a:cxnLst/>
              <a:rect l="l" t="t" r="r" b="b"/>
              <a:pathLst>
                <a:path w="7540904" h="1876847">
                  <a:moveTo>
                    <a:pt x="0" y="0"/>
                  </a:moveTo>
                  <a:lnTo>
                    <a:pt x="7540904" y="0"/>
                  </a:lnTo>
                  <a:lnTo>
                    <a:pt x="7540904" y="1876847"/>
                  </a:lnTo>
                  <a:lnTo>
                    <a:pt x="0" y="1876847"/>
                  </a:lnTo>
                  <a:lnTo>
                    <a:pt x="0" y="0"/>
                  </a:lnTo>
                  <a:close/>
                </a:path>
              </a:pathLst>
            </a:custGeom>
            <a:blipFill>
              <a:blip r:embed="rId16"/>
              <a:stretch>
                <a:fillRect/>
              </a:stretch>
            </a:blipFill>
          </p:spPr>
        </p:sp>
        <p:sp>
          <p:nvSpPr>
            <p:cNvPr id="25" name="Freeform 25"/>
            <p:cNvSpPr/>
            <p:nvPr/>
          </p:nvSpPr>
          <p:spPr>
            <a:xfrm>
              <a:off x="0" y="402549"/>
              <a:ext cx="7030326" cy="1377800"/>
            </a:xfrm>
            <a:custGeom>
              <a:avLst/>
              <a:gdLst/>
              <a:ahLst/>
              <a:cxnLst/>
              <a:rect l="l" t="t" r="r" b="b"/>
              <a:pathLst>
                <a:path w="7030326" h="1377800">
                  <a:moveTo>
                    <a:pt x="0" y="0"/>
                  </a:moveTo>
                  <a:lnTo>
                    <a:pt x="7030326" y="0"/>
                  </a:lnTo>
                  <a:lnTo>
                    <a:pt x="7030326" y="1377800"/>
                  </a:lnTo>
                  <a:lnTo>
                    <a:pt x="0" y="1377800"/>
                  </a:lnTo>
                  <a:lnTo>
                    <a:pt x="0" y="0"/>
                  </a:lnTo>
                  <a:close/>
                </a:path>
              </a:pathLst>
            </a:custGeom>
            <a:blipFill>
              <a:blip r:embed="rId17"/>
              <a:stretch>
                <a:fillRect r="-13611"/>
              </a:stretch>
            </a:blipFill>
          </p:spPr>
        </p:sp>
        <p:sp>
          <p:nvSpPr>
            <p:cNvPr id="26" name="Freeform 26"/>
            <p:cNvSpPr/>
            <p:nvPr/>
          </p:nvSpPr>
          <p:spPr>
            <a:xfrm>
              <a:off x="0" y="402549"/>
              <a:ext cx="6929146" cy="1361698"/>
            </a:xfrm>
            <a:custGeom>
              <a:avLst/>
              <a:gdLst/>
              <a:ahLst/>
              <a:cxnLst/>
              <a:rect l="l" t="t" r="r" b="b"/>
              <a:pathLst>
                <a:path w="6929146" h="1361698">
                  <a:moveTo>
                    <a:pt x="0" y="0"/>
                  </a:moveTo>
                  <a:lnTo>
                    <a:pt x="6929146" y="0"/>
                  </a:lnTo>
                  <a:lnTo>
                    <a:pt x="6929146" y="1361698"/>
                  </a:lnTo>
                  <a:lnTo>
                    <a:pt x="0" y="1361698"/>
                  </a:lnTo>
                  <a:lnTo>
                    <a:pt x="0" y="0"/>
                  </a:lnTo>
                  <a:close/>
                </a:path>
              </a:pathLst>
            </a:custGeom>
            <a:blipFill>
              <a:blip r:embed="rId18"/>
              <a:stretch>
                <a:fillRect/>
              </a:stretch>
            </a:blipFill>
          </p:spPr>
        </p:sp>
      </p:grpSp>
      <p:grpSp>
        <p:nvGrpSpPr>
          <p:cNvPr id="27" name="Group 27"/>
          <p:cNvGrpSpPr/>
          <p:nvPr/>
        </p:nvGrpSpPr>
        <p:grpSpPr>
          <a:xfrm>
            <a:off x="804982" y="7008533"/>
            <a:ext cx="9680188" cy="2249767"/>
            <a:chOff x="0" y="0"/>
            <a:chExt cx="12906918" cy="2999689"/>
          </a:xfrm>
        </p:grpSpPr>
        <p:sp>
          <p:nvSpPr>
            <p:cNvPr id="28" name="Freeform 28"/>
            <p:cNvSpPr/>
            <p:nvPr/>
          </p:nvSpPr>
          <p:spPr>
            <a:xfrm>
              <a:off x="8150719" y="500388"/>
              <a:ext cx="4756199" cy="2499301"/>
            </a:xfrm>
            <a:custGeom>
              <a:avLst/>
              <a:gdLst/>
              <a:ahLst/>
              <a:cxnLst/>
              <a:rect l="l" t="t" r="r" b="b"/>
              <a:pathLst>
                <a:path w="4756199" h="2499301">
                  <a:moveTo>
                    <a:pt x="0" y="0"/>
                  </a:moveTo>
                  <a:lnTo>
                    <a:pt x="4756199" y="0"/>
                  </a:lnTo>
                  <a:lnTo>
                    <a:pt x="4756199" y="2499301"/>
                  </a:lnTo>
                  <a:lnTo>
                    <a:pt x="0" y="2499301"/>
                  </a:lnTo>
                  <a:lnTo>
                    <a:pt x="0" y="0"/>
                  </a:lnTo>
                  <a:close/>
                </a:path>
              </a:pathLst>
            </a:custGeom>
            <a:blipFill>
              <a:blip r:embed="rId19"/>
              <a:stretch>
                <a:fillRect l="-7477" r="-6497" b="-28502"/>
              </a:stretch>
            </a:blipFill>
          </p:spPr>
        </p:sp>
        <p:sp>
          <p:nvSpPr>
            <p:cNvPr id="29" name="Freeform 29"/>
            <p:cNvSpPr/>
            <p:nvPr/>
          </p:nvSpPr>
          <p:spPr>
            <a:xfrm>
              <a:off x="4601710" y="402549"/>
              <a:ext cx="2188390" cy="2188390"/>
            </a:xfrm>
            <a:custGeom>
              <a:avLst/>
              <a:gdLst/>
              <a:ahLst/>
              <a:cxnLst/>
              <a:rect l="l" t="t" r="r" b="b"/>
              <a:pathLst>
                <a:path w="2188390" h="2188390">
                  <a:moveTo>
                    <a:pt x="0" y="0"/>
                  </a:moveTo>
                  <a:lnTo>
                    <a:pt x="2188390" y="0"/>
                  </a:lnTo>
                  <a:lnTo>
                    <a:pt x="2188390" y="2188390"/>
                  </a:lnTo>
                  <a:lnTo>
                    <a:pt x="0" y="2188390"/>
                  </a:lnTo>
                  <a:lnTo>
                    <a:pt x="0" y="0"/>
                  </a:lnTo>
                  <a:close/>
                </a:path>
              </a:pathLst>
            </a:custGeom>
            <a:blipFill>
              <a:blip r:embed="rId20"/>
              <a:stretch>
                <a:fillRect/>
              </a:stretch>
            </a:blipFill>
          </p:spPr>
        </p:sp>
        <p:sp>
          <p:nvSpPr>
            <p:cNvPr id="30" name="Freeform 30"/>
            <p:cNvSpPr/>
            <p:nvPr/>
          </p:nvSpPr>
          <p:spPr>
            <a:xfrm>
              <a:off x="0" y="0"/>
              <a:ext cx="2993489" cy="2993489"/>
            </a:xfrm>
            <a:custGeom>
              <a:avLst/>
              <a:gdLst/>
              <a:ahLst/>
              <a:cxnLst/>
              <a:rect l="l" t="t" r="r" b="b"/>
              <a:pathLst>
                <a:path w="2993489" h="2993489">
                  <a:moveTo>
                    <a:pt x="0" y="0"/>
                  </a:moveTo>
                  <a:lnTo>
                    <a:pt x="2993489" y="0"/>
                  </a:lnTo>
                  <a:lnTo>
                    <a:pt x="2993489" y="2993489"/>
                  </a:lnTo>
                  <a:lnTo>
                    <a:pt x="0" y="2993489"/>
                  </a:lnTo>
                  <a:lnTo>
                    <a:pt x="0" y="0"/>
                  </a:lnTo>
                  <a:close/>
                </a:path>
              </a:pathLst>
            </a:custGeom>
            <a:blipFill>
              <a:blip r:embed="rId21"/>
              <a:stretch>
                <a:fillRect/>
              </a:stretch>
            </a:blipFill>
          </p:spPr>
        </p:sp>
      </p:grpSp>
      <p:sp>
        <p:nvSpPr>
          <p:cNvPr id="31" name="TextBox 31"/>
          <p:cNvSpPr txBox="1"/>
          <p:nvPr/>
        </p:nvSpPr>
        <p:spPr>
          <a:xfrm>
            <a:off x="995680" y="125882"/>
            <a:ext cx="6441805"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CLIENTS</a:t>
            </a:r>
          </a:p>
        </p:txBody>
      </p:sp>
      <p:sp>
        <p:nvSpPr>
          <p:cNvPr id="32" name="Freeform 32"/>
          <p:cNvSpPr/>
          <p:nvPr/>
        </p:nvSpPr>
        <p:spPr>
          <a:xfrm>
            <a:off x="1028700" y="1527417"/>
            <a:ext cx="6721258" cy="1030320"/>
          </a:xfrm>
          <a:custGeom>
            <a:avLst/>
            <a:gdLst/>
            <a:ahLst/>
            <a:cxnLst/>
            <a:rect l="l" t="t" r="r" b="b"/>
            <a:pathLst>
              <a:path w="6721258" h="1030320">
                <a:moveTo>
                  <a:pt x="0" y="0"/>
                </a:moveTo>
                <a:lnTo>
                  <a:pt x="6721258" y="0"/>
                </a:lnTo>
                <a:lnTo>
                  <a:pt x="6721258" y="1030320"/>
                </a:lnTo>
                <a:lnTo>
                  <a:pt x="0" y="1030320"/>
                </a:lnTo>
                <a:lnTo>
                  <a:pt x="0" y="0"/>
                </a:lnTo>
                <a:close/>
              </a:path>
            </a:pathLst>
          </a:custGeom>
          <a:blipFill>
            <a:blip r:embed="rId22"/>
            <a:stretch>
              <a:fillRect t="-333850" r="-133731" b="-31195"/>
            </a:stretch>
          </a:blipFill>
        </p:spPr>
      </p:sp>
      <p:sp>
        <p:nvSpPr>
          <p:cNvPr id="33" name="TextBox 33"/>
          <p:cNvSpPr txBox="1"/>
          <p:nvPr/>
        </p:nvSpPr>
        <p:spPr>
          <a:xfrm>
            <a:off x="804982" y="1375017"/>
            <a:ext cx="6944976"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 WE 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5018225"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1107747"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15998324"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2451226" y="1192571"/>
            <a:ext cx="13591383" cy="1094826"/>
          </a:xfrm>
          <a:prstGeom prst="rect">
            <a:avLst/>
          </a:prstGeom>
        </p:spPr>
        <p:txBody>
          <a:bodyPr lIns="0" tIns="0" rIns="0" bIns="0" rtlCol="0" anchor="t">
            <a:spAutoFit/>
          </a:bodyPr>
          <a:lstStyle/>
          <a:p>
            <a:pPr algn="ctr">
              <a:lnSpc>
                <a:spcPts val="8955"/>
              </a:lnSpc>
              <a:spcBef>
                <a:spcPct val="0"/>
              </a:spcBef>
            </a:pPr>
            <a:r>
              <a:rPr lang="en-US" sz="6396" b="1">
                <a:solidFill>
                  <a:srgbClr val="010F48"/>
                </a:solidFill>
                <a:latin typeface="Anantason SemiExpanded Bold"/>
                <a:ea typeface="Anantason SemiExpanded Bold"/>
                <a:cs typeface="Anantason SemiExpanded Bold"/>
                <a:sym typeface="Anantason SemiExpanded Bold"/>
              </a:rPr>
              <a:t>OUR GROWING NETWORK</a:t>
            </a:r>
          </a:p>
        </p:txBody>
      </p:sp>
      <p:sp>
        <p:nvSpPr>
          <p:cNvPr id="9" name="TextBox 9"/>
          <p:cNvSpPr txBox="1"/>
          <p:nvPr/>
        </p:nvSpPr>
        <p:spPr>
          <a:xfrm>
            <a:off x="3591694" y="3874372"/>
            <a:ext cx="11460880" cy="1684655"/>
          </a:xfrm>
          <a:prstGeom prst="rect">
            <a:avLst/>
          </a:prstGeom>
        </p:spPr>
        <p:txBody>
          <a:bodyPr lIns="0" tIns="0" rIns="0" bIns="0" rtlCol="0" anchor="t">
            <a:spAutoFit/>
          </a:bodyPr>
          <a:lstStyle/>
          <a:p>
            <a:pPr algn="just">
              <a:lnSpc>
                <a:spcPts val="4029"/>
              </a:lnSpc>
            </a:pPr>
            <a:r>
              <a:rPr lang="en-US" sz="3099" spc="-30" dirty="0">
                <a:solidFill>
                  <a:srgbClr val="000000"/>
                </a:solidFill>
                <a:latin typeface="Prachason Neue SemiExpanded"/>
                <a:ea typeface="Prachason Neue SemiExpanded"/>
                <a:cs typeface="Prachason Neue SemiExpanded"/>
                <a:sym typeface="Prachason Neue SemiExpanded"/>
              </a:rPr>
              <a:t>A growing consultancy firm for insurance solution with a strong client network, committed to promoting wellness, preventive health, and lifestyle benefits for its members.</a:t>
            </a:r>
          </a:p>
        </p:txBody>
      </p:sp>
      <p:sp>
        <p:nvSpPr>
          <p:cNvPr id="10" name="TextBox 10"/>
          <p:cNvSpPr txBox="1"/>
          <p:nvPr/>
        </p:nvSpPr>
        <p:spPr>
          <a:xfrm>
            <a:off x="3465705" y="2806582"/>
            <a:ext cx="11712858" cy="712470"/>
          </a:xfrm>
          <a:prstGeom prst="rect">
            <a:avLst/>
          </a:prstGeom>
        </p:spPr>
        <p:txBody>
          <a:bodyPr lIns="0" tIns="0" rIns="0" bIns="0" rtlCol="0" anchor="t">
            <a:spAutoFit/>
          </a:bodyPr>
          <a:lstStyle/>
          <a:p>
            <a:pPr algn="ctr">
              <a:lnSpc>
                <a:spcPts val="5879"/>
              </a:lnSpc>
              <a:spcBef>
                <a:spcPct val="0"/>
              </a:spcBef>
            </a:pPr>
            <a:r>
              <a:rPr lang="en-US" sz="4199" b="1" u="sng">
                <a:solidFill>
                  <a:srgbClr val="010F48"/>
                </a:solidFill>
                <a:latin typeface="Anantason SemiExpanded Bold"/>
                <a:ea typeface="Anantason SemiExpanded Bold"/>
                <a:cs typeface="Anantason SemiExpanded Bold"/>
                <a:sym typeface="Anantason SemiExpanded Bold"/>
              </a:rPr>
              <a:t>RMC2 CONSULTANCY CORP</a:t>
            </a:r>
          </a:p>
        </p:txBody>
      </p:sp>
      <p:sp>
        <p:nvSpPr>
          <p:cNvPr id="11" name="TextBox 11"/>
          <p:cNvSpPr txBox="1"/>
          <p:nvPr/>
        </p:nvSpPr>
        <p:spPr>
          <a:xfrm>
            <a:off x="680350" y="7744755"/>
            <a:ext cx="6051527" cy="587376"/>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Anantason SemiExpanded Bold"/>
                <a:ea typeface="Anantason SemiExpanded Bold"/>
                <a:cs typeface="Anantason SemiExpanded Bold"/>
                <a:sym typeface="Anantason SemiExpanded Bold"/>
              </a:rPr>
              <a:t>SALES ADVISORS</a:t>
            </a:r>
          </a:p>
        </p:txBody>
      </p:sp>
      <p:sp>
        <p:nvSpPr>
          <p:cNvPr id="12" name="TextBox 12"/>
          <p:cNvSpPr txBox="1"/>
          <p:nvPr/>
        </p:nvSpPr>
        <p:spPr>
          <a:xfrm>
            <a:off x="1787765" y="6450941"/>
            <a:ext cx="3071664" cy="1550045"/>
          </a:xfrm>
          <a:prstGeom prst="rect">
            <a:avLst/>
          </a:prstGeom>
        </p:spPr>
        <p:txBody>
          <a:bodyPr lIns="0" tIns="0" rIns="0" bIns="0" rtlCol="0" anchor="t">
            <a:spAutoFit/>
          </a:bodyPr>
          <a:lstStyle/>
          <a:p>
            <a:pPr algn="ctr">
              <a:lnSpc>
                <a:spcPts val="12739"/>
              </a:lnSpc>
              <a:spcBef>
                <a:spcPct val="0"/>
              </a:spcBef>
            </a:pPr>
            <a:r>
              <a:rPr lang="en-US" sz="9099" b="1" dirty="0">
                <a:solidFill>
                  <a:srgbClr val="000000"/>
                </a:solidFill>
                <a:latin typeface="Anantason SemiExpanded Bold"/>
                <a:ea typeface="Anantason SemiExpanded Bold"/>
                <a:cs typeface="Anantason SemiExpanded Bold"/>
                <a:sym typeface="Anantason SemiExpanded Bold"/>
              </a:rPr>
              <a:t>1,200</a:t>
            </a:r>
          </a:p>
        </p:txBody>
      </p:sp>
      <p:sp>
        <p:nvSpPr>
          <p:cNvPr id="13" name="TextBox 13"/>
          <p:cNvSpPr txBox="1"/>
          <p:nvPr/>
        </p:nvSpPr>
        <p:spPr>
          <a:xfrm>
            <a:off x="7154921" y="6450941"/>
            <a:ext cx="3848249" cy="1550045"/>
          </a:xfrm>
          <a:prstGeom prst="rect">
            <a:avLst/>
          </a:prstGeom>
        </p:spPr>
        <p:txBody>
          <a:bodyPr lIns="0" tIns="0" rIns="0" bIns="0" rtlCol="0" anchor="t">
            <a:spAutoFit/>
          </a:bodyPr>
          <a:lstStyle/>
          <a:p>
            <a:pPr algn="ctr">
              <a:lnSpc>
                <a:spcPts val="12739"/>
              </a:lnSpc>
              <a:spcBef>
                <a:spcPct val="0"/>
              </a:spcBef>
            </a:pPr>
            <a:r>
              <a:rPr lang="en-US" sz="9099" b="1" dirty="0">
                <a:solidFill>
                  <a:srgbClr val="000000"/>
                </a:solidFill>
                <a:latin typeface="Anantason SemiExpanded Bold"/>
                <a:ea typeface="Anantason SemiExpanded Bold"/>
                <a:cs typeface="Anantason SemiExpanded Bold"/>
                <a:sym typeface="Anantason SemiExpanded Bold"/>
              </a:rPr>
              <a:t>15,300</a:t>
            </a:r>
          </a:p>
        </p:txBody>
      </p:sp>
      <p:sp>
        <p:nvSpPr>
          <p:cNvPr id="14" name="TextBox 14"/>
          <p:cNvSpPr txBox="1"/>
          <p:nvPr/>
        </p:nvSpPr>
        <p:spPr>
          <a:xfrm>
            <a:off x="7119734" y="7769521"/>
            <a:ext cx="4594250" cy="587376"/>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Anantason SemiExpanded Bold"/>
                <a:ea typeface="Anantason SemiExpanded Bold"/>
                <a:cs typeface="Anantason SemiExpanded Bold"/>
                <a:sym typeface="Anantason SemiExpanded Bold"/>
              </a:rPr>
              <a:t>GROUP ENROLLEES</a:t>
            </a:r>
          </a:p>
        </p:txBody>
      </p:sp>
      <p:sp>
        <p:nvSpPr>
          <p:cNvPr id="15" name="TextBox 15"/>
          <p:cNvSpPr txBox="1"/>
          <p:nvPr/>
        </p:nvSpPr>
        <p:spPr>
          <a:xfrm>
            <a:off x="13610330" y="6516973"/>
            <a:ext cx="2308994" cy="1550045"/>
          </a:xfrm>
          <a:prstGeom prst="rect">
            <a:avLst/>
          </a:prstGeom>
        </p:spPr>
        <p:txBody>
          <a:bodyPr lIns="0" tIns="0" rIns="0" bIns="0" rtlCol="0" anchor="t">
            <a:spAutoFit/>
          </a:bodyPr>
          <a:lstStyle/>
          <a:p>
            <a:pPr algn="ctr">
              <a:lnSpc>
                <a:spcPts val="12739"/>
              </a:lnSpc>
              <a:spcBef>
                <a:spcPct val="0"/>
              </a:spcBef>
            </a:pPr>
            <a:r>
              <a:rPr lang="en-US" sz="9099" b="1" dirty="0">
                <a:solidFill>
                  <a:srgbClr val="000000"/>
                </a:solidFill>
                <a:latin typeface="Anantason SemiExpanded Bold"/>
                <a:ea typeface="Anantason SemiExpanded Bold"/>
                <a:cs typeface="Anantason SemiExpanded Bold"/>
                <a:sym typeface="Anantason SemiExpanded Bold"/>
              </a:rPr>
              <a:t>900</a:t>
            </a:r>
          </a:p>
        </p:txBody>
      </p:sp>
      <p:sp>
        <p:nvSpPr>
          <p:cNvPr id="16" name="TextBox 16"/>
          <p:cNvSpPr txBox="1"/>
          <p:nvPr/>
        </p:nvSpPr>
        <p:spPr>
          <a:xfrm>
            <a:off x="12558088" y="7769521"/>
            <a:ext cx="5186288" cy="587376"/>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Anantason SemiExpanded Bold"/>
                <a:ea typeface="Anantason SemiExpanded Bold"/>
                <a:cs typeface="Anantason SemiExpanded Bold"/>
                <a:sym typeface="Anantason SemiExpanded Bold"/>
              </a:rPr>
              <a:t>INDIVIDUAL ACCOUNT</a:t>
            </a:r>
          </a:p>
        </p:txBody>
      </p:sp>
      <p:sp>
        <p:nvSpPr>
          <p:cNvPr id="17" name="TextBox 17"/>
          <p:cNvSpPr txBox="1"/>
          <p:nvPr/>
        </p:nvSpPr>
        <p:spPr>
          <a:xfrm>
            <a:off x="72790" y="9940925"/>
            <a:ext cx="2582714" cy="346075"/>
          </a:xfrm>
          <a:prstGeom prst="rect">
            <a:avLst/>
          </a:prstGeom>
        </p:spPr>
        <p:txBody>
          <a:bodyPr lIns="0" tIns="0" rIns="0" bIns="0" rtlCol="0" anchor="t">
            <a:spAutoFit/>
          </a:bodyPr>
          <a:lstStyle/>
          <a:p>
            <a:pPr algn="l">
              <a:lnSpc>
                <a:spcPts val="1400"/>
              </a:lnSpc>
            </a:pPr>
            <a:r>
              <a:rPr lang="en-US" sz="1000" i="1">
                <a:solidFill>
                  <a:srgbClr val="000000"/>
                </a:solidFill>
                <a:latin typeface="Anantason SemiExpanded Italics"/>
                <a:ea typeface="Anantason SemiExpanded Italics"/>
                <a:cs typeface="Anantason SemiExpanded Italics"/>
                <a:sym typeface="Anantason SemiExpanded Italics"/>
              </a:rPr>
              <a:t>*DATA FROM </a:t>
            </a:r>
          </a:p>
          <a:p>
            <a:pPr algn="l">
              <a:lnSpc>
                <a:spcPts val="1400"/>
              </a:lnSpc>
              <a:spcBef>
                <a:spcPct val="0"/>
              </a:spcBef>
            </a:pPr>
            <a:r>
              <a:rPr lang="en-US" sz="1000" i="1">
                <a:solidFill>
                  <a:srgbClr val="000000"/>
                </a:solidFill>
                <a:latin typeface="Anantason SemiExpanded Italics"/>
                <a:ea typeface="Anantason SemiExpanded Italics"/>
                <a:cs typeface="Anantason SemiExpanded Italics"/>
                <a:sym typeface="Anantason SemiExpanded Italics"/>
              </a:rPr>
              <a:t>SEPTEMBER 2024 - NOVEMBER 2025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par>
                                <p:cTn id="25" presetID="10"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rot="5400000">
            <a:off x="-982828" y="5787091"/>
            <a:ext cx="7560213" cy="5594557"/>
          </a:xfrm>
          <a:custGeom>
            <a:avLst/>
            <a:gdLst/>
            <a:ahLst/>
            <a:cxnLst/>
            <a:rect l="l" t="t" r="r" b="b"/>
            <a:pathLst>
              <a:path w="7560213" h="5594557">
                <a:moveTo>
                  <a:pt x="0" y="0"/>
                </a:moveTo>
                <a:lnTo>
                  <a:pt x="7560213" y="0"/>
                </a:lnTo>
                <a:lnTo>
                  <a:pt x="7560213" y="5594557"/>
                </a:lnTo>
                <a:lnTo>
                  <a:pt x="0" y="55945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28700"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52889"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246" r="-2781" b="-7028"/>
              </a:stretch>
            </a:blipFill>
          </p:spPr>
        </p:sp>
      </p:grpSp>
      <p:sp>
        <p:nvSpPr>
          <p:cNvPr id="9" name="TextBox 9"/>
          <p:cNvSpPr txBox="1"/>
          <p:nvPr/>
        </p:nvSpPr>
        <p:spPr>
          <a:xfrm>
            <a:off x="8857915" y="454389"/>
            <a:ext cx="5492561" cy="1401535"/>
          </a:xfrm>
          <a:prstGeom prst="rect">
            <a:avLst/>
          </a:prstGeom>
        </p:spPr>
        <p:txBody>
          <a:bodyPr lIns="0" tIns="0" rIns="0" bIns="0" rtlCol="0" anchor="t">
            <a:spAutoFit/>
          </a:bodyPr>
          <a:lstStyle/>
          <a:p>
            <a:pPr algn="l">
              <a:lnSpc>
                <a:spcPts val="11475"/>
              </a:lnSpc>
              <a:spcBef>
                <a:spcPct val="0"/>
              </a:spcBef>
            </a:pPr>
            <a:r>
              <a:rPr lang="en-US" sz="8196" b="1">
                <a:solidFill>
                  <a:srgbClr val="000000"/>
                </a:solidFill>
                <a:latin typeface="Anantason SemiExpanded Bold"/>
                <a:ea typeface="Anantason SemiExpanded Bold"/>
                <a:cs typeface="Anantason SemiExpanded Bold"/>
                <a:sym typeface="Anantason SemiExpanded Bold"/>
              </a:rPr>
              <a:t>OUR</a:t>
            </a:r>
          </a:p>
        </p:txBody>
      </p:sp>
      <p:sp>
        <p:nvSpPr>
          <p:cNvPr id="10" name="TextBox 10"/>
          <p:cNvSpPr txBox="1"/>
          <p:nvPr/>
        </p:nvSpPr>
        <p:spPr>
          <a:xfrm>
            <a:off x="8857915" y="1487941"/>
            <a:ext cx="6876747" cy="1401535"/>
          </a:xfrm>
          <a:prstGeom prst="rect">
            <a:avLst/>
          </a:prstGeom>
        </p:spPr>
        <p:txBody>
          <a:bodyPr lIns="0" tIns="0" rIns="0" bIns="0" rtlCol="0" anchor="t">
            <a:spAutoFit/>
          </a:bodyPr>
          <a:lstStyle/>
          <a:p>
            <a:pPr algn="l">
              <a:lnSpc>
                <a:spcPts val="11475"/>
              </a:lnSpc>
              <a:spcBef>
                <a:spcPct val="0"/>
              </a:spcBef>
            </a:pPr>
            <a:r>
              <a:rPr lang="en-US" sz="8196" b="1">
                <a:solidFill>
                  <a:srgbClr val="FF7E2F"/>
                </a:solidFill>
                <a:latin typeface="Anantason SemiExpanded Bold"/>
                <a:ea typeface="Anantason SemiExpanded Bold"/>
                <a:cs typeface="Anantason SemiExpanded Bold"/>
                <a:sym typeface="Anantason SemiExpanded Bold"/>
              </a:rPr>
              <a:t>OFFICES</a:t>
            </a:r>
          </a:p>
        </p:txBody>
      </p:sp>
      <p:sp>
        <p:nvSpPr>
          <p:cNvPr id="11" name="TextBox 11"/>
          <p:cNvSpPr txBox="1"/>
          <p:nvPr/>
        </p:nvSpPr>
        <p:spPr>
          <a:xfrm>
            <a:off x="8857915" y="3097774"/>
            <a:ext cx="5300504" cy="5470024"/>
          </a:xfrm>
          <a:prstGeom prst="rect">
            <a:avLst/>
          </a:prstGeom>
        </p:spPr>
        <p:txBody>
          <a:bodyPr lIns="0" tIns="0" rIns="0" bIns="0" rtlCol="0" anchor="t">
            <a:spAutoFit/>
          </a:bodyPr>
          <a:lstStyle/>
          <a:p>
            <a:pPr algn="just">
              <a:lnSpc>
                <a:spcPts val="3311"/>
              </a:lnSpc>
            </a:pPr>
            <a:r>
              <a:rPr lang="en-US" sz="2547" b="1" spc="-25" dirty="0">
                <a:solidFill>
                  <a:srgbClr val="000000"/>
                </a:solidFill>
                <a:latin typeface="Prachason Neue SemiExpanded Bold"/>
                <a:ea typeface="Prachason Neue SemiExpanded Bold"/>
                <a:cs typeface="Prachason Neue SemiExpanded Bold"/>
                <a:sym typeface="Prachason Neue SemiExpanded Bold"/>
              </a:rPr>
              <a:t>LUZON: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Cainta - HEAD OFFICE</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Antipolo</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Taytay</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Bulacan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Pampanga - OPENING SOON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La Union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Baguio</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Isabela</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Bicol - OPENING SOON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Quezon City</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Ilagan - OPENING SOON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Lipa City</a:t>
            </a:r>
          </a:p>
        </p:txBody>
      </p:sp>
      <p:sp>
        <p:nvSpPr>
          <p:cNvPr id="12" name="TextBox 12"/>
          <p:cNvSpPr txBox="1"/>
          <p:nvPr/>
        </p:nvSpPr>
        <p:spPr>
          <a:xfrm>
            <a:off x="13249458" y="3097774"/>
            <a:ext cx="4216456" cy="977303"/>
          </a:xfrm>
          <a:prstGeom prst="rect">
            <a:avLst/>
          </a:prstGeom>
        </p:spPr>
        <p:txBody>
          <a:bodyPr lIns="0" tIns="0" rIns="0" bIns="0" rtlCol="0" anchor="t">
            <a:spAutoFit/>
          </a:bodyPr>
          <a:lstStyle/>
          <a:p>
            <a:pPr algn="l">
              <a:lnSpc>
                <a:spcPts val="3311"/>
              </a:lnSpc>
            </a:pPr>
            <a:r>
              <a:rPr lang="en-US" sz="2547" b="1" spc="-25" dirty="0">
                <a:solidFill>
                  <a:srgbClr val="000000"/>
                </a:solidFill>
                <a:latin typeface="Prachason Neue SemiExpanded Bold"/>
                <a:ea typeface="Prachason Neue SemiExpanded Bold"/>
                <a:cs typeface="Prachason Neue SemiExpanded Bold"/>
                <a:sym typeface="Prachason Neue SemiExpanded Bold"/>
              </a:rPr>
              <a:t>MINDANAO:</a:t>
            </a:r>
          </a:p>
          <a:p>
            <a:pPr algn="l">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TBA</a:t>
            </a:r>
          </a:p>
        </p:txBody>
      </p:sp>
      <p:sp>
        <p:nvSpPr>
          <p:cNvPr id="13" name="TextBox 13"/>
          <p:cNvSpPr txBox="1"/>
          <p:nvPr/>
        </p:nvSpPr>
        <p:spPr>
          <a:xfrm>
            <a:off x="8845825" y="8474374"/>
            <a:ext cx="6888837" cy="1396403"/>
          </a:xfrm>
          <a:prstGeom prst="rect">
            <a:avLst/>
          </a:prstGeom>
        </p:spPr>
        <p:txBody>
          <a:bodyPr lIns="0" tIns="0" rIns="0" bIns="0" rtlCol="0" anchor="t">
            <a:spAutoFit/>
          </a:bodyPr>
          <a:lstStyle/>
          <a:p>
            <a:pPr algn="l">
              <a:lnSpc>
                <a:spcPts val="3311"/>
              </a:lnSpc>
            </a:pPr>
            <a:r>
              <a:rPr lang="en-US" sz="2547" b="1" spc="-25" dirty="0">
                <a:solidFill>
                  <a:srgbClr val="000000"/>
                </a:solidFill>
                <a:latin typeface="Prachason Neue SemiExpanded Bold"/>
                <a:ea typeface="Prachason Neue SemiExpanded Bold"/>
                <a:cs typeface="Prachason Neue SemiExpanded Bold"/>
                <a:sym typeface="Prachason Neue SemiExpanded Bold"/>
              </a:rPr>
              <a:t>VISAYAS:</a:t>
            </a:r>
          </a:p>
          <a:p>
            <a:pPr algn="l">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Mandaue City - REGIONAL HEAD OFFICE</a:t>
            </a:r>
          </a:p>
          <a:p>
            <a:pPr algn="l">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Cebu City - OPENING SOON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fade">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fade">
                                      <p:cBhvr>
                                        <p:cTn id="27" dur="500"/>
                                        <p:tgtEl>
                                          <p:spTgt spid="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xEl>
                                              <p:pRg st="5" end="5"/>
                                            </p:txEl>
                                          </p:spTgt>
                                        </p:tgtEl>
                                        <p:attrNameLst>
                                          <p:attrName>style.visibility</p:attrName>
                                        </p:attrNameLst>
                                      </p:cBhvr>
                                      <p:to>
                                        <p:strVal val="visible"/>
                                      </p:to>
                                    </p:set>
                                    <p:animEffect transition="in" filter="fade">
                                      <p:cBhvr>
                                        <p:cTn id="32" dur="500"/>
                                        <p:tgtEl>
                                          <p:spTgt spid="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animEffect transition="in" filter="fade">
                                      <p:cBhvr>
                                        <p:cTn id="37" dur="500"/>
                                        <p:tgtEl>
                                          <p:spTgt spid="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
                                            <p:txEl>
                                              <p:pRg st="7" end="7"/>
                                            </p:txEl>
                                          </p:spTgt>
                                        </p:tgtEl>
                                        <p:attrNameLst>
                                          <p:attrName>style.visibility</p:attrName>
                                        </p:attrNameLst>
                                      </p:cBhvr>
                                      <p:to>
                                        <p:strVal val="visible"/>
                                      </p:to>
                                    </p:set>
                                    <p:animEffect transition="in" filter="fade">
                                      <p:cBhvr>
                                        <p:cTn id="42" dur="500"/>
                                        <p:tgtEl>
                                          <p:spTgt spid="1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
                                            <p:txEl>
                                              <p:pRg st="8" end="8"/>
                                            </p:txEl>
                                          </p:spTgt>
                                        </p:tgtEl>
                                        <p:attrNameLst>
                                          <p:attrName>style.visibility</p:attrName>
                                        </p:attrNameLst>
                                      </p:cBhvr>
                                      <p:to>
                                        <p:strVal val="visible"/>
                                      </p:to>
                                    </p:set>
                                    <p:animEffect transition="in" filter="fade">
                                      <p:cBhvr>
                                        <p:cTn id="47" dur="500"/>
                                        <p:tgtEl>
                                          <p:spTgt spid="1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1">
                                            <p:txEl>
                                              <p:pRg st="9" end="9"/>
                                            </p:txEl>
                                          </p:spTgt>
                                        </p:tgtEl>
                                        <p:attrNameLst>
                                          <p:attrName>style.visibility</p:attrName>
                                        </p:attrNameLst>
                                      </p:cBhvr>
                                      <p:to>
                                        <p:strVal val="visible"/>
                                      </p:to>
                                    </p:set>
                                    <p:animEffect transition="in" filter="fade">
                                      <p:cBhvr>
                                        <p:cTn id="52" dur="500"/>
                                        <p:tgtEl>
                                          <p:spTgt spid="1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1">
                                            <p:txEl>
                                              <p:pRg st="10" end="10"/>
                                            </p:txEl>
                                          </p:spTgt>
                                        </p:tgtEl>
                                        <p:attrNameLst>
                                          <p:attrName>style.visibility</p:attrName>
                                        </p:attrNameLst>
                                      </p:cBhvr>
                                      <p:to>
                                        <p:strVal val="visible"/>
                                      </p:to>
                                    </p:set>
                                    <p:animEffect transition="in" filter="fade">
                                      <p:cBhvr>
                                        <p:cTn id="57" dur="500"/>
                                        <p:tgtEl>
                                          <p:spTgt spid="1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1">
                                            <p:txEl>
                                              <p:pRg st="11" end="11"/>
                                            </p:txEl>
                                          </p:spTgt>
                                        </p:tgtEl>
                                        <p:attrNameLst>
                                          <p:attrName>style.visibility</p:attrName>
                                        </p:attrNameLst>
                                      </p:cBhvr>
                                      <p:to>
                                        <p:strVal val="visible"/>
                                      </p:to>
                                    </p:set>
                                    <p:animEffect transition="in" filter="fade">
                                      <p:cBhvr>
                                        <p:cTn id="62" dur="500"/>
                                        <p:tgtEl>
                                          <p:spTgt spid="1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1">
                                            <p:txEl>
                                              <p:pRg st="12" end="12"/>
                                            </p:txEl>
                                          </p:spTgt>
                                        </p:tgtEl>
                                        <p:attrNameLst>
                                          <p:attrName>style.visibility</p:attrName>
                                        </p:attrNameLst>
                                      </p:cBhvr>
                                      <p:to>
                                        <p:strVal val="visible"/>
                                      </p:to>
                                    </p:set>
                                    <p:animEffect transition="in" filter="fade">
                                      <p:cBhvr>
                                        <p:cTn id="67" dur="500"/>
                                        <p:tgtEl>
                                          <p:spTgt spid="11">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3">
                                            <p:txEl>
                                              <p:pRg st="0" end="0"/>
                                            </p:txEl>
                                          </p:spTgt>
                                        </p:tgtEl>
                                        <p:attrNameLst>
                                          <p:attrName>style.visibility</p:attrName>
                                        </p:attrNameLst>
                                      </p:cBhvr>
                                      <p:to>
                                        <p:strVal val="visible"/>
                                      </p:to>
                                    </p:set>
                                    <p:animEffect transition="in" filter="fade">
                                      <p:cBhvr>
                                        <p:cTn id="72" dur="500"/>
                                        <p:tgtEl>
                                          <p:spTgt spid="13">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3">
                                            <p:txEl>
                                              <p:pRg st="1" end="1"/>
                                            </p:txEl>
                                          </p:spTgt>
                                        </p:tgtEl>
                                        <p:attrNameLst>
                                          <p:attrName>style.visibility</p:attrName>
                                        </p:attrNameLst>
                                      </p:cBhvr>
                                      <p:to>
                                        <p:strVal val="visible"/>
                                      </p:to>
                                    </p:set>
                                    <p:animEffect transition="in" filter="fade">
                                      <p:cBhvr>
                                        <p:cTn id="77" dur="500"/>
                                        <p:tgtEl>
                                          <p:spTgt spid="13">
                                            <p:txEl>
                                              <p:pRg st="1" end="1"/>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3">
                                            <p:txEl>
                                              <p:pRg st="2" end="2"/>
                                            </p:txEl>
                                          </p:spTgt>
                                        </p:tgtEl>
                                        <p:attrNameLst>
                                          <p:attrName>style.visibility</p:attrName>
                                        </p:attrNameLst>
                                      </p:cBhvr>
                                      <p:to>
                                        <p:strVal val="visible"/>
                                      </p:to>
                                    </p:set>
                                    <p:animEffect transition="in" filter="fade">
                                      <p:cBhvr>
                                        <p:cTn id="82" dur="500"/>
                                        <p:tgtEl>
                                          <p:spTgt spid="13">
                                            <p:txEl>
                                              <p:pRg st="2" end="2"/>
                                            </p:txEl>
                                          </p:spTgt>
                                        </p:tgtEl>
                                      </p:cBhvr>
                                    </p:animEffect>
                                  </p:childTnLst>
                                </p:cTn>
                              </p:par>
                              <p:par>
                                <p:cTn id="83" presetID="10" presetClass="entr" presetSubtype="0" fill="hold" nodeType="withEffect">
                                  <p:stCondLst>
                                    <p:cond delay="0"/>
                                  </p:stCondLst>
                                  <p:childTnLst>
                                    <p:set>
                                      <p:cBhvr>
                                        <p:cTn id="84" dur="1" fill="hold">
                                          <p:stCondLst>
                                            <p:cond delay="0"/>
                                          </p:stCondLst>
                                        </p:cTn>
                                        <p:tgtEl>
                                          <p:spTgt spid="12">
                                            <p:txEl>
                                              <p:pRg st="0" end="0"/>
                                            </p:txEl>
                                          </p:spTgt>
                                        </p:tgtEl>
                                        <p:attrNameLst>
                                          <p:attrName>style.visibility</p:attrName>
                                        </p:attrNameLst>
                                      </p:cBhvr>
                                      <p:to>
                                        <p:strVal val="visible"/>
                                      </p:to>
                                    </p:set>
                                    <p:animEffect transition="in" filter="fade">
                                      <p:cBhvr>
                                        <p:cTn id="85" dur="500"/>
                                        <p:tgtEl>
                                          <p:spTgt spid="12">
                                            <p:txEl>
                                              <p:pRg st="0" end="0"/>
                                            </p:txEl>
                                          </p:spTgt>
                                        </p:tgtEl>
                                      </p:cBhvr>
                                    </p:animEffect>
                                  </p:childTnLst>
                                </p:cTn>
                              </p:par>
                              <p:par>
                                <p:cTn id="86" presetID="10" presetClass="entr" presetSubtype="0" fill="hold" nodeType="withEffect">
                                  <p:stCondLst>
                                    <p:cond delay="0"/>
                                  </p:stCondLst>
                                  <p:childTnLst>
                                    <p:set>
                                      <p:cBhvr>
                                        <p:cTn id="87" dur="1" fill="hold">
                                          <p:stCondLst>
                                            <p:cond delay="0"/>
                                          </p:stCondLst>
                                        </p:cTn>
                                        <p:tgtEl>
                                          <p:spTgt spid="12">
                                            <p:txEl>
                                              <p:pRg st="1" end="1"/>
                                            </p:txEl>
                                          </p:spTgt>
                                        </p:tgtEl>
                                        <p:attrNameLst>
                                          <p:attrName>style.visibility</p:attrName>
                                        </p:attrNameLst>
                                      </p:cBhvr>
                                      <p:to>
                                        <p:strVal val="visible"/>
                                      </p:to>
                                    </p:set>
                                    <p:animEffect transition="in" filter="fade">
                                      <p:cBhvr>
                                        <p:cTn id="88"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220440"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5"/>
            <a:stretch>
              <a:fillRect/>
            </a:stretch>
          </a:blipFill>
        </p:spPr>
      </p:sp>
      <p:sp>
        <p:nvSpPr>
          <p:cNvPr id="6" name="Freeform 6"/>
          <p:cNvSpPr/>
          <p:nvPr/>
        </p:nvSpPr>
        <p:spPr>
          <a:xfrm>
            <a:off x="5378096" y="4119128"/>
            <a:ext cx="3682838" cy="2384638"/>
          </a:xfrm>
          <a:custGeom>
            <a:avLst/>
            <a:gdLst/>
            <a:ahLst/>
            <a:cxnLst/>
            <a:rect l="l" t="t" r="r" b="b"/>
            <a:pathLst>
              <a:path w="3682838" h="2384638">
                <a:moveTo>
                  <a:pt x="0" y="0"/>
                </a:moveTo>
                <a:lnTo>
                  <a:pt x="3682839" y="0"/>
                </a:lnTo>
                <a:lnTo>
                  <a:pt x="3682839" y="2384637"/>
                </a:lnTo>
                <a:lnTo>
                  <a:pt x="0" y="2384637"/>
                </a:lnTo>
                <a:lnTo>
                  <a:pt x="0" y="0"/>
                </a:lnTo>
                <a:close/>
              </a:path>
            </a:pathLst>
          </a:custGeom>
          <a:blipFill>
            <a:blip r:embed="rId6"/>
            <a:stretch>
              <a:fillRect/>
            </a:stretch>
          </a:blipFill>
        </p:spPr>
      </p:sp>
      <p:sp>
        <p:nvSpPr>
          <p:cNvPr id="7" name="Freeform 7"/>
          <p:cNvSpPr/>
          <p:nvPr/>
        </p:nvSpPr>
        <p:spPr>
          <a:xfrm>
            <a:off x="9537185"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7"/>
            <a:stretch>
              <a:fillRect/>
            </a:stretch>
          </a:blipFill>
        </p:spPr>
      </p:sp>
      <p:sp>
        <p:nvSpPr>
          <p:cNvPr id="8" name="Freeform 8"/>
          <p:cNvSpPr/>
          <p:nvPr/>
        </p:nvSpPr>
        <p:spPr>
          <a:xfrm>
            <a:off x="13576462"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8"/>
            <a:stretch>
              <a:fillRect/>
            </a:stretch>
          </a:blipFill>
        </p:spPr>
      </p:sp>
      <p:sp>
        <p:nvSpPr>
          <p:cNvPr id="9" name="Freeform 9"/>
          <p:cNvSpPr/>
          <p:nvPr/>
        </p:nvSpPr>
        <p:spPr>
          <a:xfrm>
            <a:off x="5378096" y="6873662"/>
            <a:ext cx="3682838" cy="2384638"/>
          </a:xfrm>
          <a:custGeom>
            <a:avLst/>
            <a:gdLst/>
            <a:ahLst/>
            <a:cxnLst/>
            <a:rect l="l" t="t" r="r" b="b"/>
            <a:pathLst>
              <a:path w="3682838" h="2384638">
                <a:moveTo>
                  <a:pt x="0" y="0"/>
                </a:moveTo>
                <a:lnTo>
                  <a:pt x="3682839" y="0"/>
                </a:lnTo>
                <a:lnTo>
                  <a:pt x="3682839" y="2384638"/>
                </a:lnTo>
                <a:lnTo>
                  <a:pt x="0" y="2384638"/>
                </a:lnTo>
                <a:lnTo>
                  <a:pt x="0" y="0"/>
                </a:lnTo>
                <a:close/>
              </a:path>
            </a:pathLst>
          </a:custGeom>
          <a:blipFill>
            <a:blip r:embed="rId9"/>
            <a:stretch>
              <a:fillRect/>
            </a:stretch>
          </a:blipFill>
        </p:spPr>
      </p:sp>
      <p:sp>
        <p:nvSpPr>
          <p:cNvPr id="10" name="Freeform 10"/>
          <p:cNvSpPr/>
          <p:nvPr/>
        </p:nvSpPr>
        <p:spPr>
          <a:xfrm>
            <a:off x="13643333" y="6916961"/>
            <a:ext cx="3615967" cy="2341339"/>
          </a:xfrm>
          <a:custGeom>
            <a:avLst/>
            <a:gdLst/>
            <a:ahLst/>
            <a:cxnLst/>
            <a:rect l="l" t="t" r="r" b="b"/>
            <a:pathLst>
              <a:path w="3615967" h="2341339">
                <a:moveTo>
                  <a:pt x="0" y="0"/>
                </a:moveTo>
                <a:lnTo>
                  <a:pt x="3615967" y="0"/>
                </a:lnTo>
                <a:lnTo>
                  <a:pt x="3615967" y="2341339"/>
                </a:lnTo>
                <a:lnTo>
                  <a:pt x="0" y="2341339"/>
                </a:lnTo>
                <a:lnTo>
                  <a:pt x="0" y="0"/>
                </a:lnTo>
                <a:close/>
              </a:path>
            </a:pathLst>
          </a:custGeom>
          <a:blipFill>
            <a:blip r:embed="rId10"/>
            <a:stretch>
              <a:fillRect/>
            </a:stretch>
          </a:blipFill>
        </p:spPr>
      </p:sp>
      <p:sp>
        <p:nvSpPr>
          <p:cNvPr id="11" name="Freeform 11"/>
          <p:cNvSpPr/>
          <p:nvPr/>
        </p:nvSpPr>
        <p:spPr>
          <a:xfrm>
            <a:off x="9537185" y="6873662"/>
            <a:ext cx="3682838" cy="2384638"/>
          </a:xfrm>
          <a:custGeom>
            <a:avLst/>
            <a:gdLst/>
            <a:ahLst/>
            <a:cxnLst/>
            <a:rect l="l" t="t" r="r" b="b"/>
            <a:pathLst>
              <a:path w="3682838" h="2384638">
                <a:moveTo>
                  <a:pt x="0" y="0"/>
                </a:moveTo>
                <a:lnTo>
                  <a:pt x="3682838" y="0"/>
                </a:lnTo>
                <a:lnTo>
                  <a:pt x="3682838" y="2384638"/>
                </a:lnTo>
                <a:lnTo>
                  <a:pt x="0" y="2384638"/>
                </a:lnTo>
                <a:lnTo>
                  <a:pt x="0" y="0"/>
                </a:lnTo>
                <a:close/>
              </a:path>
            </a:pathLst>
          </a:custGeom>
          <a:blipFill>
            <a:blip r:embed="rId11"/>
            <a:stretch>
              <a:fillRect/>
            </a:stretch>
          </a:blipFill>
        </p:spPr>
      </p:sp>
      <p:sp>
        <p:nvSpPr>
          <p:cNvPr id="12" name="Freeform 12"/>
          <p:cNvSpPr/>
          <p:nvPr/>
        </p:nvSpPr>
        <p:spPr>
          <a:xfrm>
            <a:off x="1220440" y="6873662"/>
            <a:ext cx="3681406" cy="2383711"/>
          </a:xfrm>
          <a:custGeom>
            <a:avLst/>
            <a:gdLst/>
            <a:ahLst/>
            <a:cxnLst/>
            <a:rect l="l" t="t" r="r" b="b"/>
            <a:pathLst>
              <a:path w="3681406" h="2383711">
                <a:moveTo>
                  <a:pt x="0" y="0"/>
                </a:moveTo>
                <a:lnTo>
                  <a:pt x="3681406" y="0"/>
                </a:lnTo>
                <a:lnTo>
                  <a:pt x="3681406" y="2383711"/>
                </a:lnTo>
                <a:lnTo>
                  <a:pt x="0" y="2383711"/>
                </a:lnTo>
                <a:lnTo>
                  <a:pt x="0" y="0"/>
                </a:lnTo>
                <a:close/>
              </a:path>
            </a:pathLst>
          </a:custGeom>
          <a:blipFill>
            <a:blip r:embed="rId12"/>
            <a:stretch>
              <a:fillRect/>
            </a:stretch>
          </a:blipFill>
        </p:spPr>
      </p:sp>
      <p:sp>
        <p:nvSpPr>
          <p:cNvPr id="13" name="TextBox 13"/>
          <p:cNvSpPr txBox="1"/>
          <p:nvPr/>
        </p:nvSpPr>
        <p:spPr>
          <a:xfrm>
            <a:off x="2451226" y="895350"/>
            <a:ext cx="13591383" cy="1193886"/>
          </a:xfrm>
          <a:prstGeom prst="rect">
            <a:avLst/>
          </a:prstGeom>
        </p:spPr>
        <p:txBody>
          <a:bodyPr lIns="0" tIns="0" rIns="0" bIns="0" rtlCol="0" anchor="t">
            <a:spAutoFit/>
          </a:bodyPr>
          <a:lstStyle/>
          <a:p>
            <a:pPr algn="ctr">
              <a:lnSpc>
                <a:spcPts val="9795"/>
              </a:lnSpc>
              <a:spcBef>
                <a:spcPct val="0"/>
              </a:spcBef>
            </a:pPr>
            <a:r>
              <a:rPr lang="en-US" sz="6996" b="1">
                <a:solidFill>
                  <a:srgbClr val="010F48"/>
                </a:solidFill>
                <a:latin typeface="Anantason SemiExpanded Bold"/>
                <a:ea typeface="Anantason SemiExpanded Bold"/>
                <a:cs typeface="Anantason SemiExpanded Bold"/>
                <a:sym typeface="Anantason SemiExpanded Bold"/>
              </a:rPr>
              <a:t>RMC2 PRODUCTS</a:t>
            </a:r>
          </a:p>
        </p:txBody>
      </p:sp>
      <p:sp>
        <p:nvSpPr>
          <p:cNvPr id="14" name="TextBox 14"/>
          <p:cNvSpPr txBox="1"/>
          <p:nvPr/>
        </p:nvSpPr>
        <p:spPr>
          <a:xfrm>
            <a:off x="3390488" y="2022561"/>
            <a:ext cx="11712858" cy="580390"/>
          </a:xfrm>
          <a:prstGeom prst="rect">
            <a:avLst/>
          </a:prstGeom>
        </p:spPr>
        <p:txBody>
          <a:bodyPr lIns="0" tIns="0" rIns="0" bIns="0" rtlCol="0" anchor="t">
            <a:spAutoFit/>
          </a:bodyPr>
          <a:lstStyle/>
          <a:p>
            <a:pPr algn="ctr">
              <a:lnSpc>
                <a:spcPts val="4760"/>
              </a:lnSpc>
              <a:spcBef>
                <a:spcPct val="0"/>
              </a:spcBef>
            </a:pPr>
            <a:r>
              <a:rPr lang="en-US" sz="3400" b="1" u="sng">
                <a:solidFill>
                  <a:srgbClr val="010F48"/>
                </a:solidFill>
                <a:latin typeface="Anantason SemiExpanded Bold"/>
                <a:ea typeface="Anantason SemiExpanded Bold"/>
                <a:cs typeface="Anantason SemiExpanded Bold"/>
                <a:sym typeface="Anantason SemiExpanded Bold"/>
              </a:rPr>
              <a:t>IN PARTNERSHIP WITH AMAPHIL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6755606" y="361614"/>
            <a:ext cx="4776788" cy="2068688"/>
          </a:xfrm>
          <a:custGeom>
            <a:avLst/>
            <a:gdLst/>
            <a:ahLst/>
            <a:cxnLst/>
            <a:rect l="l" t="t" r="r" b="b"/>
            <a:pathLst>
              <a:path w="4776788" h="2068688">
                <a:moveTo>
                  <a:pt x="0" y="0"/>
                </a:moveTo>
                <a:lnTo>
                  <a:pt x="4776788" y="0"/>
                </a:lnTo>
                <a:lnTo>
                  <a:pt x="4776788" y="2068688"/>
                </a:lnTo>
                <a:lnTo>
                  <a:pt x="0" y="2068688"/>
                </a:lnTo>
                <a:lnTo>
                  <a:pt x="0" y="0"/>
                </a:lnTo>
                <a:close/>
              </a:path>
            </a:pathLst>
          </a:custGeom>
          <a:blipFill>
            <a:blip r:embed="rId5"/>
            <a:stretch>
              <a:fillRect/>
            </a:stretch>
          </a:blipFill>
        </p:spPr>
      </p:sp>
      <p:sp>
        <p:nvSpPr>
          <p:cNvPr id="6" name="Freeform 6"/>
          <p:cNvSpPr/>
          <p:nvPr/>
        </p:nvSpPr>
        <p:spPr>
          <a:xfrm>
            <a:off x="797315" y="3473634"/>
            <a:ext cx="2790310" cy="4896109"/>
          </a:xfrm>
          <a:custGeom>
            <a:avLst/>
            <a:gdLst/>
            <a:ahLst/>
            <a:cxnLst/>
            <a:rect l="l" t="t" r="r" b="b"/>
            <a:pathLst>
              <a:path w="2790310" h="4896109">
                <a:moveTo>
                  <a:pt x="0" y="0"/>
                </a:moveTo>
                <a:lnTo>
                  <a:pt x="2790311" y="0"/>
                </a:lnTo>
                <a:lnTo>
                  <a:pt x="2790311" y="4896109"/>
                </a:lnTo>
                <a:lnTo>
                  <a:pt x="0" y="4896109"/>
                </a:lnTo>
                <a:lnTo>
                  <a:pt x="0" y="0"/>
                </a:lnTo>
                <a:close/>
              </a:path>
            </a:pathLst>
          </a:custGeom>
          <a:blipFill>
            <a:blip r:embed="rId6"/>
            <a:stretch>
              <a:fillRect r="-555636" b="-30487"/>
            </a:stretch>
          </a:blipFill>
        </p:spPr>
      </p:sp>
      <p:sp>
        <p:nvSpPr>
          <p:cNvPr id="7" name="Freeform 7"/>
          <p:cNvSpPr/>
          <p:nvPr/>
        </p:nvSpPr>
        <p:spPr>
          <a:xfrm>
            <a:off x="6315534" y="3385174"/>
            <a:ext cx="2774644" cy="4896109"/>
          </a:xfrm>
          <a:custGeom>
            <a:avLst/>
            <a:gdLst/>
            <a:ahLst/>
            <a:cxnLst/>
            <a:rect l="l" t="t" r="r" b="b"/>
            <a:pathLst>
              <a:path w="2774644" h="4896109">
                <a:moveTo>
                  <a:pt x="0" y="0"/>
                </a:moveTo>
                <a:lnTo>
                  <a:pt x="2774643" y="0"/>
                </a:lnTo>
                <a:lnTo>
                  <a:pt x="2774643" y="4896109"/>
                </a:lnTo>
                <a:lnTo>
                  <a:pt x="0" y="4896109"/>
                </a:lnTo>
                <a:lnTo>
                  <a:pt x="0" y="0"/>
                </a:lnTo>
                <a:close/>
              </a:path>
            </a:pathLst>
          </a:custGeom>
          <a:blipFill>
            <a:blip r:embed="rId6"/>
            <a:stretch>
              <a:fillRect l="-95032" r="-468184" b="-31254"/>
            </a:stretch>
          </a:blipFill>
        </p:spPr>
      </p:sp>
      <p:sp>
        <p:nvSpPr>
          <p:cNvPr id="8" name="Freeform 8"/>
          <p:cNvSpPr/>
          <p:nvPr/>
        </p:nvSpPr>
        <p:spPr>
          <a:xfrm>
            <a:off x="3609387" y="3473634"/>
            <a:ext cx="2681443" cy="4896109"/>
          </a:xfrm>
          <a:custGeom>
            <a:avLst/>
            <a:gdLst/>
            <a:ahLst/>
            <a:cxnLst/>
            <a:rect l="l" t="t" r="r" b="b"/>
            <a:pathLst>
              <a:path w="2681443" h="4896109">
                <a:moveTo>
                  <a:pt x="0" y="0"/>
                </a:moveTo>
                <a:lnTo>
                  <a:pt x="2681442" y="0"/>
                </a:lnTo>
                <a:lnTo>
                  <a:pt x="2681442" y="4896109"/>
                </a:lnTo>
                <a:lnTo>
                  <a:pt x="0" y="4896109"/>
                </a:lnTo>
                <a:lnTo>
                  <a:pt x="0" y="0"/>
                </a:lnTo>
                <a:close/>
              </a:path>
            </a:pathLst>
          </a:custGeom>
          <a:blipFill>
            <a:blip r:embed="rId6"/>
            <a:stretch>
              <a:fillRect l="-191456" r="-374021" b="-27278"/>
            </a:stretch>
          </a:blipFill>
        </p:spPr>
      </p:sp>
      <p:sp>
        <p:nvSpPr>
          <p:cNvPr id="9" name="Freeform 9"/>
          <p:cNvSpPr/>
          <p:nvPr/>
        </p:nvSpPr>
        <p:spPr>
          <a:xfrm>
            <a:off x="9114882" y="3473634"/>
            <a:ext cx="2665295" cy="4719189"/>
          </a:xfrm>
          <a:custGeom>
            <a:avLst/>
            <a:gdLst/>
            <a:ahLst/>
            <a:cxnLst/>
            <a:rect l="l" t="t" r="r" b="b"/>
            <a:pathLst>
              <a:path w="2665295" h="4719189">
                <a:moveTo>
                  <a:pt x="0" y="0"/>
                </a:moveTo>
                <a:lnTo>
                  <a:pt x="2665294" y="0"/>
                </a:lnTo>
                <a:lnTo>
                  <a:pt x="2665294" y="4719189"/>
                </a:lnTo>
                <a:lnTo>
                  <a:pt x="0" y="4719189"/>
                </a:lnTo>
                <a:lnTo>
                  <a:pt x="0" y="0"/>
                </a:lnTo>
                <a:close/>
              </a:path>
            </a:pathLst>
          </a:custGeom>
          <a:blipFill>
            <a:blip r:embed="rId6"/>
            <a:stretch>
              <a:fillRect l="-285568" r="-279910" b="-31254"/>
            </a:stretch>
          </a:blipFill>
        </p:spPr>
      </p:sp>
      <p:sp>
        <p:nvSpPr>
          <p:cNvPr id="10" name="Freeform 10"/>
          <p:cNvSpPr/>
          <p:nvPr/>
        </p:nvSpPr>
        <p:spPr>
          <a:xfrm>
            <a:off x="11804880" y="3473634"/>
            <a:ext cx="2728561" cy="4807649"/>
          </a:xfrm>
          <a:custGeom>
            <a:avLst/>
            <a:gdLst/>
            <a:ahLst/>
            <a:cxnLst/>
            <a:rect l="l" t="t" r="r" b="b"/>
            <a:pathLst>
              <a:path w="2728561" h="4807649">
                <a:moveTo>
                  <a:pt x="0" y="0"/>
                </a:moveTo>
                <a:lnTo>
                  <a:pt x="2728562" y="0"/>
                </a:lnTo>
                <a:lnTo>
                  <a:pt x="2728562" y="4807649"/>
                </a:lnTo>
                <a:lnTo>
                  <a:pt x="0" y="4807649"/>
                </a:lnTo>
                <a:lnTo>
                  <a:pt x="0" y="0"/>
                </a:lnTo>
                <a:close/>
              </a:path>
            </a:pathLst>
          </a:custGeom>
          <a:blipFill>
            <a:blip r:embed="rId6"/>
            <a:stretch>
              <a:fillRect l="-386124" r="-188294" b="-33669"/>
            </a:stretch>
          </a:blipFill>
        </p:spPr>
      </p:sp>
      <p:sp>
        <p:nvSpPr>
          <p:cNvPr id="11" name="Freeform 11"/>
          <p:cNvSpPr/>
          <p:nvPr/>
        </p:nvSpPr>
        <p:spPr>
          <a:xfrm>
            <a:off x="14698528" y="3473634"/>
            <a:ext cx="2792156" cy="4807649"/>
          </a:xfrm>
          <a:custGeom>
            <a:avLst/>
            <a:gdLst/>
            <a:ahLst/>
            <a:cxnLst/>
            <a:rect l="l" t="t" r="r" b="b"/>
            <a:pathLst>
              <a:path w="2792156" h="4807649">
                <a:moveTo>
                  <a:pt x="0" y="0"/>
                </a:moveTo>
                <a:lnTo>
                  <a:pt x="2792157" y="0"/>
                </a:lnTo>
                <a:lnTo>
                  <a:pt x="2792157" y="4807649"/>
                </a:lnTo>
                <a:lnTo>
                  <a:pt x="0" y="4807649"/>
                </a:lnTo>
                <a:lnTo>
                  <a:pt x="0" y="0"/>
                </a:lnTo>
                <a:close/>
              </a:path>
            </a:pathLst>
          </a:custGeom>
          <a:blipFill>
            <a:blip r:embed="rId6"/>
            <a:stretch>
              <a:fillRect l="-470712" r="-88345" b="-33669"/>
            </a:stretch>
          </a:blipFill>
        </p:spPr>
      </p:sp>
      <p:sp>
        <p:nvSpPr>
          <p:cNvPr id="12" name="Freeform 12"/>
          <p:cNvSpPr/>
          <p:nvPr/>
        </p:nvSpPr>
        <p:spPr>
          <a:xfrm>
            <a:off x="797315" y="8369743"/>
            <a:ext cx="2703913" cy="1574253"/>
          </a:xfrm>
          <a:custGeom>
            <a:avLst/>
            <a:gdLst/>
            <a:ahLst/>
            <a:cxnLst/>
            <a:rect l="l" t="t" r="r" b="b"/>
            <a:pathLst>
              <a:path w="2703913" h="1574253">
                <a:moveTo>
                  <a:pt x="0" y="0"/>
                </a:moveTo>
                <a:lnTo>
                  <a:pt x="2703913" y="0"/>
                </a:lnTo>
                <a:lnTo>
                  <a:pt x="2703913" y="1574253"/>
                </a:lnTo>
                <a:lnTo>
                  <a:pt x="0" y="1574253"/>
                </a:lnTo>
                <a:lnTo>
                  <a:pt x="0" y="0"/>
                </a:lnTo>
                <a:close/>
              </a:path>
            </a:pathLst>
          </a:custGeom>
          <a:blipFill>
            <a:blip r:embed="rId6"/>
            <a:stretch>
              <a:fillRect l="-609902" r="-501" b="-326115"/>
            </a:stretch>
          </a:blipFill>
        </p:spPr>
      </p:sp>
      <p:sp>
        <p:nvSpPr>
          <p:cNvPr id="13" name="Freeform 13"/>
          <p:cNvSpPr/>
          <p:nvPr/>
        </p:nvSpPr>
        <p:spPr>
          <a:xfrm>
            <a:off x="3611621" y="8281283"/>
            <a:ext cx="2703913" cy="1680244"/>
          </a:xfrm>
          <a:custGeom>
            <a:avLst/>
            <a:gdLst/>
            <a:ahLst/>
            <a:cxnLst/>
            <a:rect l="l" t="t" r="r" b="b"/>
            <a:pathLst>
              <a:path w="2703913" h="1680244">
                <a:moveTo>
                  <a:pt x="0" y="0"/>
                </a:moveTo>
                <a:lnTo>
                  <a:pt x="2703913" y="0"/>
                </a:lnTo>
                <a:lnTo>
                  <a:pt x="2703913" y="1680244"/>
                </a:lnTo>
                <a:lnTo>
                  <a:pt x="0" y="1680244"/>
                </a:lnTo>
                <a:lnTo>
                  <a:pt x="0" y="0"/>
                </a:lnTo>
                <a:close/>
              </a:path>
            </a:pathLst>
          </a:custGeom>
          <a:blipFill>
            <a:blip r:embed="rId6"/>
            <a:stretch>
              <a:fillRect l="-609902" t="-97144" r="-501" b="-202090"/>
            </a:stretch>
          </a:blipFill>
        </p:spPr>
      </p:sp>
      <p:sp>
        <p:nvSpPr>
          <p:cNvPr id="14" name="Freeform 14"/>
          <p:cNvSpPr/>
          <p:nvPr/>
        </p:nvSpPr>
        <p:spPr>
          <a:xfrm>
            <a:off x="6290829" y="8338433"/>
            <a:ext cx="2703913" cy="1728261"/>
          </a:xfrm>
          <a:custGeom>
            <a:avLst/>
            <a:gdLst/>
            <a:ahLst/>
            <a:cxnLst/>
            <a:rect l="l" t="t" r="r" b="b"/>
            <a:pathLst>
              <a:path w="2703913" h="1728261">
                <a:moveTo>
                  <a:pt x="0" y="0"/>
                </a:moveTo>
                <a:lnTo>
                  <a:pt x="2703913" y="0"/>
                </a:lnTo>
                <a:lnTo>
                  <a:pt x="2703913" y="1728261"/>
                </a:lnTo>
                <a:lnTo>
                  <a:pt x="0" y="1728261"/>
                </a:lnTo>
                <a:lnTo>
                  <a:pt x="0" y="0"/>
                </a:lnTo>
                <a:close/>
              </a:path>
            </a:pathLst>
          </a:custGeom>
          <a:blipFill>
            <a:blip r:embed="rId6"/>
            <a:stretch>
              <a:fillRect l="-609902" t="-191344" r="-501" b="-96798"/>
            </a:stretch>
          </a:blipFill>
        </p:spPr>
      </p:sp>
      <p:sp>
        <p:nvSpPr>
          <p:cNvPr id="15" name="Freeform 15"/>
          <p:cNvSpPr/>
          <p:nvPr/>
        </p:nvSpPr>
        <p:spPr>
          <a:xfrm>
            <a:off x="9144000" y="8471783"/>
            <a:ext cx="2808450" cy="1472213"/>
          </a:xfrm>
          <a:custGeom>
            <a:avLst/>
            <a:gdLst/>
            <a:ahLst/>
            <a:cxnLst/>
            <a:rect l="l" t="t" r="r" b="b"/>
            <a:pathLst>
              <a:path w="2808450" h="1472213">
                <a:moveTo>
                  <a:pt x="0" y="0"/>
                </a:moveTo>
                <a:lnTo>
                  <a:pt x="2808450" y="0"/>
                </a:lnTo>
                <a:lnTo>
                  <a:pt x="2808450" y="1472213"/>
                </a:lnTo>
                <a:lnTo>
                  <a:pt x="0" y="1472213"/>
                </a:lnTo>
                <a:lnTo>
                  <a:pt x="0" y="0"/>
                </a:lnTo>
                <a:close/>
              </a:path>
            </a:pathLst>
          </a:custGeom>
          <a:blipFill>
            <a:blip r:embed="rId6"/>
            <a:stretch>
              <a:fillRect l="-229366" t="-329581" r="-315465"/>
            </a:stretch>
          </a:blipFill>
        </p:spPr>
      </p:sp>
      <p:sp>
        <p:nvSpPr>
          <p:cNvPr id="16" name="TextBox 16"/>
          <p:cNvSpPr txBox="1"/>
          <p:nvPr/>
        </p:nvSpPr>
        <p:spPr>
          <a:xfrm>
            <a:off x="2496696" y="2391567"/>
            <a:ext cx="13591383" cy="887180"/>
          </a:xfrm>
          <a:prstGeom prst="rect">
            <a:avLst/>
          </a:prstGeom>
        </p:spPr>
        <p:txBody>
          <a:bodyPr lIns="0" tIns="0" rIns="0" bIns="0" rtlCol="0" anchor="t">
            <a:spAutoFit/>
          </a:bodyPr>
          <a:lstStyle/>
          <a:p>
            <a:pPr algn="ctr">
              <a:lnSpc>
                <a:spcPts val="7275"/>
              </a:lnSpc>
              <a:spcBef>
                <a:spcPct val="0"/>
              </a:spcBef>
            </a:pPr>
            <a:r>
              <a:rPr lang="en-US" sz="5196" b="1">
                <a:solidFill>
                  <a:srgbClr val="010F48"/>
                </a:solidFill>
                <a:latin typeface="Anantason SemiExpanded Bold"/>
                <a:ea typeface="Anantason SemiExpanded Bold"/>
                <a:cs typeface="Anantason SemiExpanded Bold"/>
                <a:sym typeface="Anantason SemiExpanded Bold"/>
              </a:rPr>
              <a:t>PARTNERSHIP PERKS</a:t>
            </a:r>
          </a:p>
        </p:txBody>
      </p:sp>
      <p:sp>
        <p:nvSpPr>
          <p:cNvPr id="17" name="Freeform 17"/>
          <p:cNvSpPr/>
          <p:nvPr/>
        </p:nvSpPr>
        <p:spPr>
          <a:xfrm>
            <a:off x="12017417" y="8522194"/>
            <a:ext cx="2747409" cy="1472213"/>
          </a:xfrm>
          <a:custGeom>
            <a:avLst/>
            <a:gdLst/>
            <a:ahLst/>
            <a:cxnLst/>
            <a:rect l="l" t="t" r="r" b="b"/>
            <a:pathLst>
              <a:path w="2747409" h="1472213">
                <a:moveTo>
                  <a:pt x="0" y="0"/>
                </a:moveTo>
                <a:lnTo>
                  <a:pt x="2747409" y="0"/>
                </a:lnTo>
                <a:lnTo>
                  <a:pt x="2747409" y="1472212"/>
                </a:lnTo>
                <a:lnTo>
                  <a:pt x="0" y="1472212"/>
                </a:lnTo>
                <a:lnTo>
                  <a:pt x="0" y="0"/>
                </a:lnTo>
                <a:close/>
              </a:path>
            </a:pathLst>
          </a:custGeom>
          <a:blipFill>
            <a:blip r:embed="rId6"/>
            <a:stretch>
              <a:fillRect l="-330495" t="-329581" r="-228662"/>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8624796" y="15196"/>
            <a:ext cx="9484184" cy="8213304"/>
            <a:chOff x="0" y="0"/>
            <a:chExt cx="6350000" cy="5499100"/>
          </a:xfrm>
        </p:grpSpPr>
        <p:sp>
          <p:nvSpPr>
            <p:cNvPr id="12" name="Freeform 12"/>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2"/>
              <a:stretch>
                <a:fillRect l="-7733" r="-7733"/>
              </a:stretch>
            </a:blipFill>
          </p:spPr>
        </p:sp>
      </p:grpSp>
      <p:grpSp>
        <p:nvGrpSpPr>
          <p:cNvPr id="13" name="Group 13"/>
          <p:cNvGrpSpPr/>
          <p:nvPr/>
        </p:nvGrpSpPr>
        <p:grpSpPr>
          <a:xfrm rot="-1845706">
            <a:off x="10431865" y="-1796881"/>
            <a:ext cx="1114386" cy="14763443"/>
            <a:chOff x="0" y="0"/>
            <a:chExt cx="314096" cy="4161162"/>
          </a:xfrm>
        </p:grpSpPr>
        <p:sp>
          <p:nvSpPr>
            <p:cNvPr id="14" name="Freeform 14"/>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5" name="TextBox 15"/>
            <p:cNvSpPr txBox="1"/>
            <p:nvPr/>
          </p:nvSpPr>
          <p:spPr>
            <a:xfrm>
              <a:off x="0" y="-57150"/>
              <a:ext cx="314096" cy="4218312"/>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3500395" y="2519818"/>
            <a:ext cx="13529565" cy="11626970"/>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8" name="TextBox 1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927892" y="-2152254"/>
            <a:ext cx="5186295" cy="4538008"/>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1" name="TextBox 21"/>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9036642" y="7029882"/>
            <a:ext cx="3904831" cy="3307669"/>
            <a:chOff x="0" y="0"/>
            <a:chExt cx="812800" cy="688499"/>
          </a:xfrm>
        </p:grpSpPr>
        <p:sp>
          <p:nvSpPr>
            <p:cNvPr id="23" name="Freeform 23"/>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4" name="TextBox 24"/>
            <p:cNvSpPr txBox="1"/>
            <p:nvPr/>
          </p:nvSpPr>
          <p:spPr>
            <a:xfrm>
              <a:off x="127000" y="262510"/>
              <a:ext cx="558800" cy="376810"/>
            </a:xfrm>
            <a:prstGeom prst="rect">
              <a:avLst/>
            </a:prstGeom>
          </p:spPr>
          <p:txBody>
            <a:bodyPr lIns="50800" tIns="50800" rIns="50800" bIns="50800" rtlCol="0" anchor="ctr"/>
            <a:lstStyle/>
            <a:p>
              <a:pPr algn="ctr">
                <a:lnSpc>
                  <a:spcPts val="2659"/>
                </a:lnSpc>
              </a:pPr>
              <a:endParaRPr/>
            </a:p>
          </p:txBody>
        </p:sp>
      </p:grpSp>
      <p:sp>
        <p:nvSpPr>
          <p:cNvPr id="25" name="Freeform 25"/>
          <p:cNvSpPr/>
          <p:nvPr/>
        </p:nvSpPr>
        <p:spPr>
          <a:xfrm>
            <a:off x="3790946" y="9539806"/>
            <a:ext cx="564846" cy="564846"/>
          </a:xfrm>
          <a:custGeom>
            <a:avLst/>
            <a:gdLst/>
            <a:ahLst/>
            <a:cxnLst/>
            <a:rect l="l" t="t" r="r" b="b"/>
            <a:pathLst>
              <a:path w="564846" h="564846">
                <a:moveTo>
                  <a:pt x="0" y="0"/>
                </a:moveTo>
                <a:lnTo>
                  <a:pt x="564846" y="0"/>
                </a:lnTo>
                <a:lnTo>
                  <a:pt x="564846" y="564846"/>
                </a:lnTo>
                <a:lnTo>
                  <a:pt x="0" y="5648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9" name="TextBox 29"/>
          <p:cNvSpPr txBox="1"/>
          <p:nvPr/>
        </p:nvSpPr>
        <p:spPr>
          <a:xfrm>
            <a:off x="486687" y="471456"/>
            <a:ext cx="8040597" cy="547458"/>
          </a:xfrm>
          <a:prstGeom prst="rect">
            <a:avLst/>
          </a:prstGeom>
        </p:spPr>
        <p:txBody>
          <a:bodyPr wrap="square" lIns="0" tIns="0" rIns="0" bIns="0" rtlCol="0" anchor="t">
            <a:spAutoFit/>
          </a:bodyPr>
          <a:lstStyle/>
          <a:p>
            <a:pPr algn="l">
              <a:lnSpc>
                <a:spcPts val="3919"/>
              </a:lnSpc>
              <a:spcBef>
                <a:spcPct val="0"/>
              </a:spcBef>
            </a:pPr>
            <a:r>
              <a:rPr lang="en-US" sz="4800" b="1" dirty="0">
                <a:solidFill>
                  <a:srgbClr val="000000"/>
                </a:solidFill>
                <a:latin typeface="+mj-lt"/>
                <a:ea typeface="Poppins"/>
                <a:cs typeface="Poppins"/>
                <a:sym typeface="Poppins"/>
              </a:rPr>
              <a:t>OUR NETWORK PROVIDER</a:t>
            </a:r>
          </a:p>
        </p:txBody>
      </p:sp>
      <p:sp>
        <p:nvSpPr>
          <p:cNvPr id="30" name="TextBox 30"/>
          <p:cNvSpPr txBox="1"/>
          <p:nvPr/>
        </p:nvSpPr>
        <p:spPr>
          <a:xfrm>
            <a:off x="4506986" y="9524414"/>
            <a:ext cx="4989995" cy="475579"/>
          </a:xfrm>
          <a:prstGeom prst="rect">
            <a:avLst/>
          </a:prstGeom>
        </p:spPr>
        <p:txBody>
          <a:bodyPr lIns="0" tIns="0" rIns="0" bIns="0" rtlCol="0" anchor="t">
            <a:spAutoFit/>
          </a:bodyPr>
          <a:lstStyle/>
          <a:p>
            <a:pPr>
              <a:lnSpc>
                <a:spcPts val="3919"/>
              </a:lnSpc>
              <a:spcBef>
                <a:spcPct val="0"/>
              </a:spcBef>
            </a:pPr>
            <a:r>
              <a:rPr lang="en-US" sz="2799" dirty="0">
                <a:solidFill>
                  <a:srgbClr val="000000"/>
                </a:solidFill>
                <a:latin typeface="+mj-lt"/>
                <a:ea typeface="Poppins"/>
                <a:cs typeface="Poppins"/>
                <a:sym typeface="Poppins"/>
              </a:rPr>
              <a:t>www. amaphil.com.ph</a:t>
            </a:r>
          </a:p>
        </p:txBody>
      </p:sp>
      <p:pic>
        <p:nvPicPr>
          <p:cNvPr id="33" name="Picture 32">
            <a:extLst>
              <a:ext uri="{FF2B5EF4-FFF2-40B4-BE49-F238E27FC236}">
                <a16:creationId xmlns:a16="http://schemas.microsoft.com/office/drawing/2014/main" id="{C2623C7D-2E25-4EC5-BAC4-C374CEAB0FC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33078" y="980814"/>
            <a:ext cx="3033202" cy="1313591"/>
          </a:xfrm>
          <a:prstGeom prst="rect">
            <a:avLst/>
          </a:prstGeom>
        </p:spPr>
      </p:pic>
      <p:sp>
        <p:nvSpPr>
          <p:cNvPr id="34" name="Rectangle 33">
            <a:extLst>
              <a:ext uri="{FF2B5EF4-FFF2-40B4-BE49-F238E27FC236}">
                <a16:creationId xmlns:a16="http://schemas.microsoft.com/office/drawing/2014/main" id="{68E02C16-8F12-43B6-9D69-2DAA8B004DE3}"/>
              </a:ext>
            </a:extLst>
          </p:cNvPr>
          <p:cNvSpPr/>
          <p:nvPr/>
        </p:nvSpPr>
        <p:spPr>
          <a:xfrm>
            <a:off x="361793" y="3101442"/>
            <a:ext cx="8782207" cy="6093976"/>
          </a:xfrm>
          <a:prstGeom prst="rect">
            <a:avLst/>
          </a:prstGeom>
        </p:spPr>
        <p:txBody>
          <a:bodyPr wrap="square">
            <a:spAutoFit/>
          </a:bodyPr>
          <a:lstStyle/>
          <a:p>
            <a:pPr algn="just">
              <a:lnSpc>
                <a:spcPts val="3552"/>
              </a:lnSpc>
            </a:pPr>
            <a:r>
              <a:rPr lang="en-US" sz="3200" b="1" dirty="0">
                <a:solidFill>
                  <a:srgbClr val="000000"/>
                </a:solidFill>
                <a:latin typeface="+mj-lt"/>
                <a:ea typeface="Poppins"/>
                <a:cs typeface="Poppins"/>
                <a:sym typeface="Poppins"/>
              </a:rPr>
              <a:t>Nationwide hospital and clinic accreditation thru our network provider AMAPHIL</a:t>
            </a:r>
          </a:p>
          <a:p>
            <a:pPr algn="just">
              <a:lnSpc>
                <a:spcPts val="3552"/>
              </a:lnSpc>
            </a:pPr>
            <a:endParaRPr lang="en-US" sz="2400" b="1" dirty="0">
              <a:solidFill>
                <a:srgbClr val="000000"/>
              </a:solidFill>
              <a:latin typeface="+mj-lt"/>
              <a:ea typeface="Poppins"/>
              <a:cs typeface="Poppins"/>
              <a:sym typeface="Poppins"/>
            </a:endParaRPr>
          </a:p>
          <a:p>
            <a:pPr algn="just">
              <a:lnSpc>
                <a:spcPts val="3552"/>
              </a:lnSpc>
            </a:pPr>
            <a:r>
              <a:rPr lang="en-US" sz="3200" dirty="0">
                <a:solidFill>
                  <a:srgbClr val="000000"/>
                </a:solidFill>
                <a:latin typeface="+mj-lt"/>
                <a:ea typeface="Poppins"/>
                <a:cs typeface="Poppins"/>
                <a:sym typeface="Poppins"/>
              </a:rPr>
              <a:t>AMAPHIL, or Advanced Medical Access Philippines, Inc., is a technology-powered Third Party Administrator (TPA) that was founded in 2016 to manage self-funded corporate health plans. It connects members to a large network of accredited hospitals, clinics, and physicians, and provides technology-driven services like online consultations via the Doctor Anywhere app. AMAPHIL's goal is to provide cost-effective, high-quality healthcare solutions for companies and their employees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8624796" y="15196"/>
            <a:ext cx="9484184" cy="8213304"/>
            <a:chOff x="0" y="0"/>
            <a:chExt cx="6350000" cy="5499100"/>
          </a:xfrm>
        </p:grpSpPr>
        <p:sp>
          <p:nvSpPr>
            <p:cNvPr id="12" name="Freeform 12"/>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2"/>
              <a:stretch>
                <a:fillRect l="-7733" r="-7733"/>
              </a:stretch>
            </a:blipFill>
          </p:spPr>
        </p:sp>
      </p:grpSp>
      <p:grpSp>
        <p:nvGrpSpPr>
          <p:cNvPr id="13" name="Group 13"/>
          <p:cNvGrpSpPr/>
          <p:nvPr/>
        </p:nvGrpSpPr>
        <p:grpSpPr>
          <a:xfrm rot="-1845706">
            <a:off x="10431865" y="-1796881"/>
            <a:ext cx="1114386" cy="14763443"/>
            <a:chOff x="0" y="0"/>
            <a:chExt cx="314096" cy="4161162"/>
          </a:xfrm>
        </p:grpSpPr>
        <p:sp>
          <p:nvSpPr>
            <p:cNvPr id="14" name="Freeform 14"/>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5" name="TextBox 15"/>
            <p:cNvSpPr txBox="1"/>
            <p:nvPr/>
          </p:nvSpPr>
          <p:spPr>
            <a:xfrm>
              <a:off x="0" y="-57150"/>
              <a:ext cx="314096" cy="4218312"/>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3500395" y="2519818"/>
            <a:ext cx="13529565" cy="11626970"/>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8" name="TextBox 1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927892" y="-2152254"/>
            <a:ext cx="5186295" cy="4538008"/>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1" name="TextBox 21"/>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9036642" y="7029882"/>
            <a:ext cx="3904831" cy="3307669"/>
            <a:chOff x="0" y="0"/>
            <a:chExt cx="812800" cy="688499"/>
          </a:xfrm>
        </p:grpSpPr>
        <p:sp>
          <p:nvSpPr>
            <p:cNvPr id="23" name="Freeform 23"/>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4" name="TextBox 24"/>
            <p:cNvSpPr txBox="1"/>
            <p:nvPr/>
          </p:nvSpPr>
          <p:spPr>
            <a:xfrm>
              <a:off x="127000" y="262510"/>
              <a:ext cx="558800" cy="376810"/>
            </a:xfrm>
            <a:prstGeom prst="rect">
              <a:avLst/>
            </a:prstGeom>
          </p:spPr>
          <p:txBody>
            <a:bodyPr lIns="50800" tIns="50800" rIns="50800" bIns="50800" rtlCol="0" anchor="ctr"/>
            <a:lstStyle/>
            <a:p>
              <a:pPr algn="ctr">
                <a:lnSpc>
                  <a:spcPts val="2659"/>
                </a:lnSpc>
              </a:pPr>
              <a:endParaRPr/>
            </a:p>
          </p:txBody>
        </p:sp>
      </p:grpSp>
      <p:sp>
        <p:nvSpPr>
          <p:cNvPr id="25" name="Freeform 25"/>
          <p:cNvSpPr/>
          <p:nvPr/>
        </p:nvSpPr>
        <p:spPr>
          <a:xfrm>
            <a:off x="3790946" y="9539806"/>
            <a:ext cx="564846" cy="564846"/>
          </a:xfrm>
          <a:custGeom>
            <a:avLst/>
            <a:gdLst/>
            <a:ahLst/>
            <a:cxnLst/>
            <a:rect l="l" t="t" r="r" b="b"/>
            <a:pathLst>
              <a:path w="564846" h="564846">
                <a:moveTo>
                  <a:pt x="0" y="0"/>
                </a:moveTo>
                <a:lnTo>
                  <a:pt x="564846" y="0"/>
                </a:lnTo>
                <a:lnTo>
                  <a:pt x="564846" y="564846"/>
                </a:lnTo>
                <a:lnTo>
                  <a:pt x="0" y="5648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9" name="TextBox 29"/>
          <p:cNvSpPr txBox="1"/>
          <p:nvPr/>
        </p:nvSpPr>
        <p:spPr>
          <a:xfrm>
            <a:off x="486687" y="471456"/>
            <a:ext cx="8040597" cy="547458"/>
          </a:xfrm>
          <a:prstGeom prst="rect">
            <a:avLst/>
          </a:prstGeom>
        </p:spPr>
        <p:txBody>
          <a:bodyPr wrap="square" lIns="0" tIns="0" rIns="0" bIns="0" rtlCol="0" anchor="t">
            <a:spAutoFit/>
          </a:bodyPr>
          <a:lstStyle/>
          <a:p>
            <a:pPr algn="l">
              <a:lnSpc>
                <a:spcPts val="3919"/>
              </a:lnSpc>
              <a:spcBef>
                <a:spcPct val="0"/>
              </a:spcBef>
            </a:pPr>
            <a:r>
              <a:rPr lang="en-US" sz="4800" b="1" dirty="0">
                <a:solidFill>
                  <a:srgbClr val="000000"/>
                </a:solidFill>
                <a:latin typeface="+mj-lt"/>
                <a:ea typeface="Poppins"/>
                <a:cs typeface="Poppins"/>
                <a:sym typeface="Poppins"/>
              </a:rPr>
              <a:t>OUR NETWORK PROVIDER</a:t>
            </a:r>
          </a:p>
        </p:txBody>
      </p:sp>
      <p:sp>
        <p:nvSpPr>
          <p:cNvPr id="30" name="TextBox 30"/>
          <p:cNvSpPr txBox="1"/>
          <p:nvPr/>
        </p:nvSpPr>
        <p:spPr>
          <a:xfrm>
            <a:off x="4506986" y="9524414"/>
            <a:ext cx="4989995" cy="475579"/>
          </a:xfrm>
          <a:prstGeom prst="rect">
            <a:avLst/>
          </a:prstGeom>
        </p:spPr>
        <p:txBody>
          <a:bodyPr lIns="0" tIns="0" rIns="0" bIns="0" rtlCol="0" anchor="t">
            <a:spAutoFit/>
          </a:bodyPr>
          <a:lstStyle/>
          <a:p>
            <a:pPr>
              <a:lnSpc>
                <a:spcPts val="3919"/>
              </a:lnSpc>
              <a:spcBef>
                <a:spcPct val="0"/>
              </a:spcBef>
            </a:pPr>
            <a:r>
              <a:rPr lang="en-US" sz="2799" dirty="0">
                <a:solidFill>
                  <a:srgbClr val="000000"/>
                </a:solidFill>
                <a:latin typeface="+mj-lt"/>
                <a:ea typeface="Poppins"/>
                <a:cs typeface="Poppins"/>
                <a:sym typeface="Poppins"/>
              </a:rPr>
              <a:t>www. amaphil.com.ph</a:t>
            </a:r>
          </a:p>
        </p:txBody>
      </p:sp>
      <p:pic>
        <p:nvPicPr>
          <p:cNvPr id="33" name="Picture 32">
            <a:extLst>
              <a:ext uri="{FF2B5EF4-FFF2-40B4-BE49-F238E27FC236}">
                <a16:creationId xmlns:a16="http://schemas.microsoft.com/office/drawing/2014/main" id="{C2623C7D-2E25-4EC5-BAC4-C374CEAB0FC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33078" y="980814"/>
            <a:ext cx="3033202" cy="1313591"/>
          </a:xfrm>
          <a:prstGeom prst="rect">
            <a:avLst/>
          </a:prstGeom>
        </p:spPr>
      </p:pic>
      <p:sp>
        <p:nvSpPr>
          <p:cNvPr id="34" name="Rectangle 33">
            <a:extLst>
              <a:ext uri="{FF2B5EF4-FFF2-40B4-BE49-F238E27FC236}">
                <a16:creationId xmlns:a16="http://schemas.microsoft.com/office/drawing/2014/main" id="{68E02C16-8F12-43B6-9D69-2DAA8B004DE3}"/>
              </a:ext>
            </a:extLst>
          </p:cNvPr>
          <p:cNvSpPr/>
          <p:nvPr/>
        </p:nvSpPr>
        <p:spPr>
          <a:xfrm>
            <a:off x="313319" y="2314828"/>
            <a:ext cx="9620407" cy="6663363"/>
          </a:xfrm>
          <a:prstGeom prst="rect">
            <a:avLst/>
          </a:prstGeom>
        </p:spPr>
        <p:txBody>
          <a:bodyPr wrap="square">
            <a:spAutoFit/>
          </a:bodyPr>
          <a:lstStyle/>
          <a:p>
            <a:pPr algn="just">
              <a:lnSpc>
                <a:spcPts val="3552"/>
              </a:lnSpc>
            </a:pPr>
            <a:r>
              <a:rPr lang="en-US" sz="4000" b="1" dirty="0">
                <a:solidFill>
                  <a:srgbClr val="000000"/>
                </a:solidFill>
                <a:latin typeface="+mj-lt"/>
                <a:ea typeface="Poppins"/>
                <a:cs typeface="Poppins"/>
                <a:sym typeface="Poppins"/>
              </a:rPr>
              <a:t>Corporate Officers</a:t>
            </a:r>
          </a:p>
          <a:p>
            <a:pPr algn="just">
              <a:lnSpc>
                <a:spcPts val="3552"/>
              </a:lnSpc>
            </a:pPr>
            <a:endParaRPr lang="en-US" b="1" dirty="0">
              <a:solidFill>
                <a:srgbClr val="000000"/>
              </a:solidFill>
              <a:latin typeface="+mj-lt"/>
              <a:ea typeface="Poppins"/>
              <a:cs typeface="Poppins"/>
              <a:sym typeface="Poppins"/>
            </a:endParaRPr>
          </a:p>
          <a:p>
            <a:pPr algn="ctr"/>
            <a:r>
              <a:rPr lang="en-US" sz="3200" b="1" dirty="0"/>
              <a:t>Ms. Irene Cara </a:t>
            </a:r>
            <a:r>
              <a:rPr lang="en-US" sz="3200" b="1" dirty="0" err="1"/>
              <a:t>Gatus</a:t>
            </a:r>
            <a:r>
              <a:rPr lang="en-US" sz="3200" b="1" dirty="0"/>
              <a:t> </a:t>
            </a:r>
          </a:p>
          <a:p>
            <a:pPr algn="ctr"/>
            <a:r>
              <a:rPr lang="en-US" sz="3200" dirty="0"/>
              <a:t>Chairman </a:t>
            </a:r>
          </a:p>
          <a:p>
            <a:pPr algn="ctr"/>
            <a:endParaRPr lang="en-US" sz="1100" b="1" dirty="0"/>
          </a:p>
          <a:p>
            <a:pPr algn="ctr"/>
            <a:r>
              <a:rPr lang="en-US" sz="3200" b="1" dirty="0"/>
              <a:t>Ms. Mylene Benitez </a:t>
            </a:r>
          </a:p>
          <a:p>
            <a:pPr algn="ctr"/>
            <a:r>
              <a:rPr lang="en-US" sz="3200" dirty="0"/>
              <a:t>Treasurer </a:t>
            </a:r>
          </a:p>
          <a:p>
            <a:pPr algn="ctr"/>
            <a:endParaRPr lang="en-US" sz="1100" b="1" dirty="0"/>
          </a:p>
          <a:p>
            <a:pPr algn="ctr"/>
            <a:r>
              <a:rPr lang="en-US" sz="3200" b="1" dirty="0"/>
              <a:t>Ms. Angeles </a:t>
            </a:r>
            <a:r>
              <a:rPr lang="en-US" sz="3200" b="1" dirty="0" err="1"/>
              <a:t>Ongchangco</a:t>
            </a:r>
            <a:endParaRPr lang="en-US" sz="3200" b="1" dirty="0"/>
          </a:p>
          <a:p>
            <a:pPr algn="ctr"/>
            <a:r>
              <a:rPr lang="en-US" sz="3200" dirty="0"/>
              <a:t> Corp Secretary </a:t>
            </a:r>
          </a:p>
          <a:p>
            <a:pPr algn="ctr"/>
            <a:endParaRPr lang="en-US" sz="1100" b="1" dirty="0"/>
          </a:p>
          <a:p>
            <a:pPr algn="ctr"/>
            <a:r>
              <a:rPr lang="en-US" sz="3200" b="1" dirty="0"/>
              <a:t>Ms. </a:t>
            </a:r>
            <a:r>
              <a:rPr lang="en-US" sz="3200" b="1" dirty="0" err="1"/>
              <a:t>Mariane</a:t>
            </a:r>
            <a:r>
              <a:rPr lang="en-US" sz="3200" b="1" dirty="0"/>
              <a:t> </a:t>
            </a:r>
            <a:r>
              <a:rPr lang="en-US" sz="3200" b="1" dirty="0" err="1"/>
              <a:t>Odi</a:t>
            </a:r>
            <a:r>
              <a:rPr lang="en-US" sz="3200" b="1" dirty="0"/>
              <a:t> </a:t>
            </a:r>
          </a:p>
          <a:p>
            <a:pPr algn="ctr"/>
            <a:r>
              <a:rPr lang="en-US" sz="3200" dirty="0"/>
              <a:t>Board of Director </a:t>
            </a:r>
          </a:p>
          <a:p>
            <a:pPr algn="ctr"/>
            <a:endParaRPr lang="en-US" sz="1400" b="1" dirty="0"/>
          </a:p>
          <a:p>
            <a:pPr algn="ctr"/>
            <a:r>
              <a:rPr lang="en-US" sz="3200" b="1" dirty="0"/>
              <a:t>Atty. Ensign </a:t>
            </a:r>
            <a:r>
              <a:rPr lang="en-US" sz="3200" b="1" dirty="0" err="1"/>
              <a:t>Icamen</a:t>
            </a:r>
            <a:endParaRPr lang="en-US" sz="3200" b="1" dirty="0"/>
          </a:p>
          <a:p>
            <a:pPr algn="ctr"/>
            <a:r>
              <a:rPr lang="en-US" sz="3200" dirty="0"/>
              <a:t>Board of Director</a:t>
            </a:r>
            <a:endParaRPr lang="en-US" sz="2400" dirty="0">
              <a:solidFill>
                <a:srgbClr val="000000"/>
              </a:solidFill>
              <a:latin typeface="+mj-lt"/>
              <a:ea typeface="Poppins"/>
              <a:cs typeface="Poppins"/>
              <a:sym typeface="Poppins"/>
            </a:endParaRPr>
          </a:p>
        </p:txBody>
      </p:sp>
    </p:spTree>
    <p:extLst>
      <p:ext uri="{BB962C8B-B14F-4D97-AF65-F5344CB8AC3E}">
        <p14:creationId xmlns:p14="http://schemas.microsoft.com/office/powerpoint/2010/main" val="793894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fade">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xEl>
                                              <p:pRg st="2" end="2"/>
                                            </p:txEl>
                                          </p:spTgt>
                                        </p:tgtEl>
                                        <p:attrNameLst>
                                          <p:attrName>style.visibility</p:attrName>
                                        </p:attrNameLst>
                                      </p:cBhvr>
                                      <p:to>
                                        <p:strVal val="visible"/>
                                      </p:to>
                                    </p:set>
                                    <p:animEffect transition="in" filter="fade">
                                      <p:cBhvr>
                                        <p:cTn id="12" dur="500"/>
                                        <p:tgtEl>
                                          <p:spTgt spid="34">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4">
                                            <p:txEl>
                                              <p:pRg st="3" end="3"/>
                                            </p:txEl>
                                          </p:spTgt>
                                        </p:tgtEl>
                                        <p:attrNameLst>
                                          <p:attrName>style.visibility</p:attrName>
                                        </p:attrNameLst>
                                      </p:cBhvr>
                                      <p:to>
                                        <p:strVal val="visible"/>
                                      </p:to>
                                    </p:set>
                                    <p:animEffect transition="in" filter="fade">
                                      <p:cBhvr>
                                        <p:cTn id="15" dur="500"/>
                                        <p:tgtEl>
                                          <p:spTgt spid="3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4">
                                            <p:txEl>
                                              <p:pRg st="5" end="5"/>
                                            </p:txEl>
                                          </p:spTgt>
                                        </p:tgtEl>
                                        <p:attrNameLst>
                                          <p:attrName>style.visibility</p:attrName>
                                        </p:attrNameLst>
                                      </p:cBhvr>
                                      <p:to>
                                        <p:strVal val="visible"/>
                                      </p:to>
                                    </p:set>
                                    <p:animEffect transition="in" filter="fade">
                                      <p:cBhvr>
                                        <p:cTn id="20" dur="500"/>
                                        <p:tgtEl>
                                          <p:spTgt spid="34">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4">
                                            <p:txEl>
                                              <p:pRg st="6" end="6"/>
                                            </p:txEl>
                                          </p:spTgt>
                                        </p:tgtEl>
                                        <p:attrNameLst>
                                          <p:attrName>style.visibility</p:attrName>
                                        </p:attrNameLst>
                                      </p:cBhvr>
                                      <p:to>
                                        <p:strVal val="visible"/>
                                      </p:to>
                                    </p:set>
                                    <p:animEffect transition="in" filter="fade">
                                      <p:cBhvr>
                                        <p:cTn id="23" dur="500"/>
                                        <p:tgtEl>
                                          <p:spTgt spid="34">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4">
                                            <p:txEl>
                                              <p:pRg st="8" end="8"/>
                                            </p:txEl>
                                          </p:spTgt>
                                        </p:tgtEl>
                                        <p:attrNameLst>
                                          <p:attrName>style.visibility</p:attrName>
                                        </p:attrNameLst>
                                      </p:cBhvr>
                                      <p:to>
                                        <p:strVal val="visible"/>
                                      </p:to>
                                    </p:set>
                                    <p:animEffect transition="in" filter="fade">
                                      <p:cBhvr>
                                        <p:cTn id="28" dur="500"/>
                                        <p:tgtEl>
                                          <p:spTgt spid="34">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4">
                                            <p:txEl>
                                              <p:pRg st="9" end="9"/>
                                            </p:txEl>
                                          </p:spTgt>
                                        </p:tgtEl>
                                        <p:attrNameLst>
                                          <p:attrName>style.visibility</p:attrName>
                                        </p:attrNameLst>
                                      </p:cBhvr>
                                      <p:to>
                                        <p:strVal val="visible"/>
                                      </p:to>
                                    </p:set>
                                    <p:animEffect transition="in" filter="fade">
                                      <p:cBhvr>
                                        <p:cTn id="31" dur="500"/>
                                        <p:tgtEl>
                                          <p:spTgt spid="34">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4">
                                            <p:txEl>
                                              <p:pRg st="11" end="11"/>
                                            </p:txEl>
                                          </p:spTgt>
                                        </p:tgtEl>
                                        <p:attrNameLst>
                                          <p:attrName>style.visibility</p:attrName>
                                        </p:attrNameLst>
                                      </p:cBhvr>
                                      <p:to>
                                        <p:strVal val="visible"/>
                                      </p:to>
                                    </p:set>
                                    <p:animEffect transition="in" filter="fade">
                                      <p:cBhvr>
                                        <p:cTn id="36" dur="500"/>
                                        <p:tgtEl>
                                          <p:spTgt spid="34">
                                            <p:txEl>
                                              <p:pRg st="11" end="11"/>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4">
                                            <p:txEl>
                                              <p:pRg st="12" end="12"/>
                                            </p:txEl>
                                          </p:spTgt>
                                        </p:tgtEl>
                                        <p:attrNameLst>
                                          <p:attrName>style.visibility</p:attrName>
                                        </p:attrNameLst>
                                      </p:cBhvr>
                                      <p:to>
                                        <p:strVal val="visible"/>
                                      </p:to>
                                    </p:set>
                                    <p:animEffect transition="in" filter="fade">
                                      <p:cBhvr>
                                        <p:cTn id="39" dur="500"/>
                                        <p:tgtEl>
                                          <p:spTgt spid="34">
                                            <p:txEl>
                                              <p:pRg st="12" end="1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4">
                                            <p:txEl>
                                              <p:pRg st="14" end="14"/>
                                            </p:txEl>
                                          </p:spTgt>
                                        </p:tgtEl>
                                        <p:attrNameLst>
                                          <p:attrName>style.visibility</p:attrName>
                                        </p:attrNameLst>
                                      </p:cBhvr>
                                      <p:to>
                                        <p:strVal val="visible"/>
                                      </p:to>
                                    </p:set>
                                    <p:animEffect transition="in" filter="fade">
                                      <p:cBhvr>
                                        <p:cTn id="44" dur="500"/>
                                        <p:tgtEl>
                                          <p:spTgt spid="34">
                                            <p:txEl>
                                              <p:pRg st="14" end="14"/>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4">
                                            <p:txEl>
                                              <p:pRg st="15" end="15"/>
                                            </p:txEl>
                                          </p:spTgt>
                                        </p:tgtEl>
                                        <p:attrNameLst>
                                          <p:attrName>style.visibility</p:attrName>
                                        </p:attrNameLst>
                                      </p:cBhvr>
                                      <p:to>
                                        <p:strVal val="visible"/>
                                      </p:to>
                                    </p:set>
                                    <p:animEffect transition="in" filter="fade">
                                      <p:cBhvr>
                                        <p:cTn id="47" dur="500"/>
                                        <p:tgtEl>
                                          <p:spTgt spid="3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1174905" y="-2087854"/>
            <a:ext cx="9007144" cy="7740514"/>
            <a:chOff x="0" y="0"/>
            <a:chExt cx="812800" cy="698500"/>
          </a:xfrm>
        </p:grpSpPr>
        <p:sp>
          <p:nvSpPr>
            <p:cNvPr id="15" name="Freeform 1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6" name="TextBox 16"/>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301655" y="1529165"/>
            <a:ext cx="9352319" cy="8037149"/>
            <a:chOff x="0" y="0"/>
            <a:chExt cx="812800" cy="698500"/>
          </a:xfrm>
        </p:grpSpPr>
        <p:sp>
          <p:nvSpPr>
            <p:cNvPr id="18" name="Freeform 1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19" name="TextBox 19"/>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0729628" y="1728417"/>
            <a:ext cx="8569868" cy="7421120"/>
            <a:chOff x="18363" y="-54350"/>
            <a:chExt cx="4282440" cy="3708400"/>
          </a:xfrm>
          <a:solidFill>
            <a:srgbClr val="F68712"/>
          </a:solidFill>
        </p:grpSpPr>
        <p:sp>
          <p:nvSpPr>
            <p:cNvPr id="21" name="Freeform 21"/>
            <p:cNvSpPr/>
            <p:nvPr/>
          </p:nvSpPr>
          <p:spPr>
            <a:xfrm>
              <a:off x="18363" y="-5435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p:spPr>
          <p:txBody>
            <a:bodyPr/>
            <a:lstStyle/>
            <a:p>
              <a:endParaRPr lang="en-US" dirty="0"/>
            </a:p>
          </p:txBody>
        </p:sp>
      </p:grpSp>
      <p:sp>
        <p:nvSpPr>
          <p:cNvPr id="27" name="TextBox 26">
            <a:extLst>
              <a:ext uri="{FF2B5EF4-FFF2-40B4-BE49-F238E27FC236}">
                <a16:creationId xmlns:a16="http://schemas.microsoft.com/office/drawing/2014/main" id="{528EE092-1BB5-4887-83D3-E6A9D2263FDB}"/>
              </a:ext>
            </a:extLst>
          </p:cNvPr>
          <p:cNvSpPr txBox="1"/>
          <p:nvPr/>
        </p:nvSpPr>
        <p:spPr>
          <a:xfrm>
            <a:off x="156110" y="571500"/>
            <a:ext cx="12026900" cy="2416046"/>
          </a:xfrm>
          <a:prstGeom prst="rect">
            <a:avLst/>
          </a:prstGeom>
          <a:noFill/>
        </p:spPr>
        <p:txBody>
          <a:bodyPr wrap="square" rtlCol="0">
            <a:spAutoFit/>
          </a:bodyPr>
          <a:lstStyle/>
          <a:p>
            <a:r>
              <a:rPr lang="en-US" sz="11500" b="1" dirty="0">
                <a:solidFill>
                  <a:schemeClr val="accent6">
                    <a:lumMod val="75000"/>
                  </a:schemeClr>
                </a:solidFill>
                <a:latin typeface="+mj-lt"/>
                <a:cs typeface="Poppins" panose="020B0604020202020204" charset="0"/>
              </a:rPr>
              <a:t>Introducing:</a:t>
            </a:r>
          </a:p>
          <a:p>
            <a:endParaRPr lang="en-PH" sz="3600" b="1" u="sng" dirty="0">
              <a:solidFill>
                <a:schemeClr val="accent6">
                  <a:lumMod val="75000"/>
                </a:schemeClr>
              </a:solidFill>
              <a:latin typeface="+mj-lt"/>
              <a:cs typeface="Poppins" panose="020B0604020202020204" charset="0"/>
            </a:endParaRPr>
          </a:p>
        </p:txBody>
      </p:sp>
      <p:sp>
        <p:nvSpPr>
          <p:cNvPr id="28" name="TextBox 27">
            <a:extLst>
              <a:ext uri="{FF2B5EF4-FFF2-40B4-BE49-F238E27FC236}">
                <a16:creationId xmlns:a16="http://schemas.microsoft.com/office/drawing/2014/main" id="{B4A0F678-274F-4579-8B06-4AC844CCF1ED}"/>
              </a:ext>
            </a:extLst>
          </p:cNvPr>
          <p:cNvSpPr txBox="1"/>
          <p:nvPr/>
        </p:nvSpPr>
        <p:spPr>
          <a:xfrm>
            <a:off x="124734" y="2344222"/>
            <a:ext cx="21028168" cy="2646878"/>
          </a:xfrm>
          <a:prstGeom prst="rect">
            <a:avLst/>
          </a:prstGeom>
          <a:noFill/>
        </p:spPr>
        <p:txBody>
          <a:bodyPr wrap="square" rtlCol="0">
            <a:spAutoFit/>
          </a:bodyPr>
          <a:lstStyle/>
          <a:p>
            <a:r>
              <a:rPr lang="en-US" sz="16600" b="1" dirty="0">
                <a:ln>
                  <a:solidFill>
                    <a:schemeClr val="tx1"/>
                  </a:solidFill>
                </a:ln>
                <a:solidFill>
                  <a:schemeClr val="tx2">
                    <a:lumMod val="90000"/>
                    <a:lumOff val="10000"/>
                  </a:schemeClr>
                </a:solidFill>
                <a:latin typeface="Aharoni" panose="02010803020104030203" pitchFamily="2" charset="-79"/>
                <a:cs typeface="Aharoni" panose="02010803020104030203" pitchFamily="2" charset="-79"/>
              </a:rPr>
              <a:t>BUREAU HEALTH</a:t>
            </a:r>
          </a:p>
        </p:txBody>
      </p:sp>
      <p:pic>
        <p:nvPicPr>
          <p:cNvPr id="24" name="Picture 23">
            <a:extLst>
              <a:ext uri="{FF2B5EF4-FFF2-40B4-BE49-F238E27FC236}">
                <a16:creationId xmlns:a16="http://schemas.microsoft.com/office/drawing/2014/main" id="{EFD589AF-972E-46FC-9299-244A416D6D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8048277"/>
            <a:ext cx="2725919" cy="2725919"/>
          </a:xfrm>
          <a:prstGeom prst="rect">
            <a:avLst/>
          </a:prstGeom>
        </p:spPr>
      </p:pic>
      <p:sp>
        <p:nvSpPr>
          <p:cNvPr id="22" name="Rectangle 21">
            <a:extLst>
              <a:ext uri="{FF2B5EF4-FFF2-40B4-BE49-F238E27FC236}">
                <a16:creationId xmlns:a16="http://schemas.microsoft.com/office/drawing/2014/main" id="{2EE1DF5F-D0ED-41EC-963F-92230FDCD214}"/>
              </a:ext>
            </a:extLst>
          </p:cNvPr>
          <p:cNvSpPr/>
          <p:nvPr/>
        </p:nvSpPr>
        <p:spPr>
          <a:xfrm>
            <a:off x="314330" y="4964176"/>
            <a:ext cx="10391761" cy="3036344"/>
          </a:xfrm>
          <a:prstGeom prst="rect">
            <a:avLst/>
          </a:prstGeom>
        </p:spPr>
        <p:txBody>
          <a:bodyPr wrap="square">
            <a:spAutoFit/>
          </a:bodyPr>
          <a:lstStyle/>
          <a:p>
            <a:pPr algn="just">
              <a:lnSpc>
                <a:spcPct val="115000"/>
              </a:lnSpc>
              <a:spcAft>
                <a:spcPts val="1000"/>
              </a:spcAft>
            </a:pPr>
            <a:r>
              <a:rPr lang="en-US" sz="2800" b="1" dirty="0">
                <a:latin typeface="+mj-lt"/>
                <a:ea typeface="MS Mincho" panose="02020609040205080304" pitchFamily="49" charset="-128"/>
                <a:cs typeface="Times New Roman" panose="02020603050405020304" pitchFamily="18" charset="0"/>
              </a:rPr>
              <a:t>This is a specially tailored healthcare program for government employees—crafted to provide convenience and comprehensive health protection. It ensures that every public servant has support and access to quality medical care without the burden of escalating healthcare costs, aiding the nation’s dedicated workforce in leading healthier, more secure, and productive lives.</a:t>
            </a:r>
          </a:p>
        </p:txBody>
      </p:sp>
    </p:spTree>
    <p:extLst>
      <p:ext uri="{BB962C8B-B14F-4D97-AF65-F5344CB8AC3E}">
        <p14:creationId xmlns:p14="http://schemas.microsoft.com/office/powerpoint/2010/main" val="580004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494358" y="-1063420"/>
            <a:ext cx="10114712" cy="7740514"/>
            <a:chOff x="0" y="0"/>
            <a:chExt cx="912746" cy="698500"/>
          </a:xfrm>
        </p:grpSpPr>
        <p:sp>
          <p:nvSpPr>
            <p:cNvPr id="4" name="Freeform 4"/>
            <p:cNvSpPr/>
            <p:nvPr/>
          </p:nvSpPr>
          <p:spPr>
            <a:xfrm>
              <a:off x="0" y="0"/>
              <a:ext cx="912746" cy="698500"/>
            </a:xfrm>
            <a:custGeom>
              <a:avLst/>
              <a:gdLst/>
              <a:ahLst/>
              <a:cxnLst/>
              <a:rect l="l" t="t" r="r" b="b"/>
              <a:pathLst>
                <a:path w="912746" h="698500">
                  <a:moveTo>
                    <a:pt x="912746" y="349250"/>
                  </a:moveTo>
                  <a:lnTo>
                    <a:pt x="709546" y="698500"/>
                  </a:lnTo>
                  <a:lnTo>
                    <a:pt x="203200" y="698500"/>
                  </a:lnTo>
                  <a:lnTo>
                    <a:pt x="0" y="349250"/>
                  </a:lnTo>
                  <a:lnTo>
                    <a:pt x="203200" y="0"/>
                  </a:lnTo>
                  <a:lnTo>
                    <a:pt x="709546" y="0"/>
                  </a:lnTo>
                  <a:lnTo>
                    <a:pt x="912746" y="349250"/>
                  </a:lnTo>
                  <a:close/>
                </a:path>
              </a:pathLst>
            </a:custGeom>
            <a:solidFill>
              <a:srgbClr val="060644"/>
            </a:solidFill>
          </p:spPr>
        </p:sp>
        <p:sp>
          <p:nvSpPr>
            <p:cNvPr id="5" name="TextBox 5"/>
            <p:cNvSpPr txBox="1"/>
            <p:nvPr/>
          </p:nvSpPr>
          <p:spPr>
            <a:xfrm>
              <a:off x="114300" y="-57150"/>
              <a:ext cx="684146"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48089" y="3956739"/>
            <a:ext cx="6572265" cy="5750732"/>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566687" y="9580975"/>
            <a:ext cx="4528060" cy="1376402"/>
            <a:chOff x="0" y="0"/>
            <a:chExt cx="2297912" cy="698500"/>
          </a:xfrm>
        </p:grpSpPr>
        <p:sp>
          <p:nvSpPr>
            <p:cNvPr id="13" name="Freeform 1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4" name="TextBox 1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3419993" y="6698755"/>
            <a:ext cx="5550223" cy="4856445"/>
            <a:chOff x="0" y="0"/>
            <a:chExt cx="812800" cy="711200"/>
          </a:xfrm>
        </p:grpSpPr>
        <p:sp>
          <p:nvSpPr>
            <p:cNvPr id="16" name="Freeform 1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7" name="TextBox 17"/>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5077867" y="-784225"/>
            <a:ext cx="6088480" cy="1326059"/>
            <a:chOff x="0" y="0"/>
            <a:chExt cx="3207100" cy="698500"/>
          </a:xfrm>
        </p:grpSpPr>
        <p:sp>
          <p:nvSpPr>
            <p:cNvPr id="19" name="Freeform 19"/>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20" name="TextBox 20"/>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6744950" y="-1063420"/>
            <a:ext cx="3086100" cy="2700338"/>
            <a:chOff x="0" y="0"/>
            <a:chExt cx="812800" cy="711200"/>
          </a:xfrm>
        </p:grpSpPr>
        <p:sp>
          <p:nvSpPr>
            <p:cNvPr id="22" name="Freeform 2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3" name="TextBox 2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257649" y="4208920"/>
            <a:ext cx="6100430" cy="5246370"/>
            <a:chOff x="0" y="0"/>
            <a:chExt cx="6350000" cy="5461000"/>
          </a:xfrm>
        </p:grpSpPr>
        <p:sp>
          <p:nvSpPr>
            <p:cNvPr id="27" name="Freeform 27"/>
            <p:cNvSpPr/>
            <p:nvPr/>
          </p:nvSpPr>
          <p:spPr>
            <a:xfrm>
              <a:off x="59563" y="32385"/>
              <a:ext cx="6230874" cy="5396230"/>
            </a:xfrm>
            <a:custGeom>
              <a:avLst/>
              <a:gdLst/>
              <a:ahLst/>
              <a:cxnLst/>
              <a:rect l="l" t="t" r="r" b="b"/>
              <a:pathLst>
                <a:path w="6230874" h="5396230">
                  <a:moveTo>
                    <a:pt x="3115437" y="0"/>
                  </a:moveTo>
                  <a:lnTo>
                    <a:pt x="0" y="5396230"/>
                  </a:lnTo>
                  <a:lnTo>
                    <a:pt x="6230874" y="5396230"/>
                  </a:lnTo>
                  <a:close/>
                </a:path>
              </a:pathLst>
            </a:custGeom>
            <a:blipFill>
              <a:blip r:embed="rId2"/>
              <a:stretch>
                <a:fillRect l="-114209" t="-62968" r="-5074" b="-5727"/>
              </a:stretch>
            </a:blipFill>
          </p:spPr>
        </p:sp>
      </p:grpSp>
      <p:graphicFrame>
        <p:nvGraphicFramePr>
          <p:cNvPr id="30" name="Table 29">
            <a:extLst>
              <a:ext uri="{FF2B5EF4-FFF2-40B4-BE49-F238E27FC236}">
                <a16:creationId xmlns:a16="http://schemas.microsoft.com/office/drawing/2014/main" id="{A575DBB8-83DB-4F5D-8163-156EB8D50B13}"/>
              </a:ext>
            </a:extLst>
          </p:cNvPr>
          <p:cNvGraphicFramePr>
            <a:graphicFrameLocks noGrp="1"/>
          </p:cNvGraphicFramePr>
          <p:nvPr>
            <p:extLst>
              <p:ext uri="{D42A27DB-BD31-4B8C-83A1-F6EECF244321}">
                <p14:modId xmlns:p14="http://schemas.microsoft.com/office/powerpoint/2010/main" val="1814726842"/>
              </p:ext>
            </p:extLst>
          </p:nvPr>
        </p:nvGraphicFramePr>
        <p:xfrm>
          <a:off x="7025549" y="3171231"/>
          <a:ext cx="11096557" cy="2232118"/>
        </p:xfrm>
        <a:graphic>
          <a:graphicData uri="http://schemas.openxmlformats.org/drawingml/2006/table">
            <a:tbl>
              <a:tblPr firstRow="1" bandRow="1">
                <a:effectLst>
                  <a:outerShdw blurRad="152400" dist="317500" dir="5400000" sx="90000" sy="-19000" rotWithShape="0">
                    <a:prstClr val="black">
                      <a:alpha val="15000"/>
                    </a:prstClr>
                  </a:outerShdw>
                </a:effectLst>
                <a:tableStyleId>{0505E3EF-67EA-436B-97B2-0124C06EBD24}</a:tableStyleId>
              </a:tblPr>
              <a:tblGrid>
                <a:gridCol w="3426416">
                  <a:extLst>
                    <a:ext uri="{9D8B030D-6E8A-4147-A177-3AD203B41FA5}">
                      <a16:colId xmlns:a16="http://schemas.microsoft.com/office/drawing/2014/main" val="20000"/>
                    </a:ext>
                  </a:extLst>
                </a:gridCol>
                <a:gridCol w="2624824">
                  <a:extLst>
                    <a:ext uri="{9D8B030D-6E8A-4147-A177-3AD203B41FA5}">
                      <a16:colId xmlns:a16="http://schemas.microsoft.com/office/drawing/2014/main" val="20001"/>
                    </a:ext>
                  </a:extLst>
                </a:gridCol>
                <a:gridCol w="2671975">
                  <a:extLst>
                    <a:ext uri="{9D8B030D-6E8A-4147-A177-3AD203B41FA5}">
                      <a16:colId xmlns:a16="http://schemas.microsoft.com/office/drawing/2014/main" val="20002"/>
                    </a:ext>
                  </a:extLst>
                </a:gridCol>
                <a:gridCol w="2373342">
                  <a:extLst>
                    <a:ext uri="{9D8B030D-6E8A-4147-A177-3AD203B41FA5}">
                      <a16:colId xmlns:a16="http://schemas.microsoft.com/office/drawing/2014/main" val="20003"/>
                    </a:ext>
                  </a:extLst>
                </a:gridCol>
              </a:tblGrid>
              <a:tr h="1531078">
                <a:tc rowSpan="2">
                  <a:txBody>
                    <a:bodyPr/>
                    <a:lstStyle/>
                    <a:p>
                      <a:pPr algn="ctr"/>
                      <a:r>
                        <a:rPr lang="en-US" sz="3600" dirty="0">
                          <a:latin typeface="+mj-lt"/>
                        </a:rPr>
                        <a:t>EMPLOYEES</a:t>
                      </a:r>
                    </a:p>
                  </a:txBody>
                  <a:tcPr anchor="ctr">
                    <a:solidFill>
                      <a:srgbClr val="F68712"/>
                    </a:solidFill>
                  </a:tcPr>
                </a:tc>
                <a:tc>
                  <a:txBody>
                    <a:bodyPr/>
                    <a:lstStyle/>
                    <a:p>
                      <a:pPr algn="ctr"/>
                      <a:r>
                        <a:rPr lang="en-US" sz="3600" dirty="0">
                          <a:latin typeface="+mj-lt"/>
                        </a:rPr>
                        <a:t>ENTRY AGE</a:t>
                      </a:r>
                    </a:p>
                  </a:txBody>
                  <a:tcPr anchor="ctr">
                    <a:solidFill>
                      <a:srgbClr val="F68712"/>
                    </a:solidFill>
                  </a:tcPr>
                </a:tc>
                <a:tc>
                  <a:txBody>
                    <a:bodyPr/>
                    <a:lstStyle/>
                    <a:p>
                      <a:pPr algn="ctr"/>
                      <a:r>
                        <a:rPr lang="en-US" sz="3600" dirty="0">
                          <a:latin typeface="+mj-lt"/>
                        </a:rPr>
                        <a:t>LAST AGE ACCEPTANCE</a:t>
                      </a:r>
                    </a:p>
                  </a:txBody>
                  <a:tcPr anchor="ctr">
                    <a:solidFill>
                      <a:srgbClr val="F68712"/>
                    </a:solidFill>
                  </a:tcPr>
                </a:tc>
                <a:tc>
                  <a:txBody>
                    <a:bodyPr/>
                    <a:lstStyle/>
                    <a:p>
                      <a:pPr algn="ctr"/>
                      <a:r>
                        <a:rPr lang="en-US" sz="3600" dirty="0">
                          <a:latin typeface="+mj-lt"/>
                        </a:rPr>
                        <a:t>EXIT AGE</a:t>
                      </a:r>
                    </a:p>
                  </a:txBody>
                  <a:tcPr anchor="ctr">
                    <a:solidFill>
                      <a:srgbClr val="F68712"/>
                    </a:solidFill>
                  </a:tcPr>
                </a:tc>
                <a:extLst>
                  <a:ext uri="{0D108BD9-81ED-4DB2-BD59-A6C34878D82A}">
                    <a16:rowId xmlns:a16="http://schemas.microsoft.com/office/drawing/2014/main" val="10000"/>
                  </a:ext>
                </a:extLst>
              </a:tr>
              <a:tr h="456348">
                <a:tc vMerge="1">
                  <a:txBody>
                    <a:bodyPr/>
                    <a:lstStyle/>
                    <a:p>
                      <a:pPr algn="ctr"/>
                      <a:endParaRPr lang="en-US" sz="2400" dirty="0">
                        <a:latin typeface="Garamond" panose="02020404030301010803" pitchFamily="18" charset="0"/>
                      </a:endParaRPr>
                    </a:p>
                  </a:txBody>
                  <a:tcPr/>
                </a:tc>
                <a:tc>
                  <a:txBody>
                    <a:bodyPr/>
                    <a:lstStyle/>
                    <a:p>
                      <a:pPr algn="ctr"/>
                      <a:r>
                        <a:rPr lang="en-US" sz="4000" dirty="0">
                          <a:latin typeface="+mj-lt"/>
                        </a:rPr>
                        <a:t>18</a:t>
                      </a:r>
                    </a:p>
                  </a:txBody>
                  <a:tcPr anchor="ctr">
                    <a:solidFill>
                      <a:srgbClr val="F68712"/>
                    </a:solidFill>
                  </a:tcPr>
                </a:tc>
                <a:tc>
                  <a:txBody>
                    <a:bodyPr/>
                    <a:lstStyle/>
                    <a:p>
                      <a:pPr algn="ctr"/>
                      <a:r>
                        <a:rPr lang="en-US" sz="4000" dirty="0">
                          <a:latin typeface="+mj-lt"/>
                        </a:rPr>
                        <a:t>65</a:t>
                      </a:r>
                    </a:p>
                  </a:txBody>
                  <a:tcPr anchor="ctr">
                    <a:solidFill>
                      <a:srgbClr val="F68712"/>
                    </a:solidFill>
                  </a:tcPr>
                </a:tc>
                <a:tc>
                  <a:txBody>
                    <a:bodyPr/>
                    <a:lstStyle/>
                    <a:p>
                      <a:pPr algn="ctr"/>
                      <a:r>
                        <a:rPr lang="en-US" sz="4000" dirty="0">
                          <a:latin typeface="+mj-lt"/>
                        </a:rPr>
                        <a:t>66</a:t>
                      </a:r>
                    </a:p>
                  </a:txBody>
                  <a:tcPr anchor="ctr">
                    <a:solidFill>
                      <a:srgbClr val="F68712"/>
                    </a:solidFill>
                  </a:tcPr>
                </a:tc>
                <a:extLst>
                  <a:ext uri="{0D108BD9-81ED-4DB2-BD59-A6C34878D82A}">
                    <a16:rowId xmlns:a16="http://schemas.microsoft.com/office/drawing/2014/main" val="10001"/>
                  </a:ext>
                </a:extLst>
              </a:tr>
            </a:tbl>
          </a:graphicData>
        </a:graphic>
      </p:graphicFrame>
      <p:sp>
        <p:nvSpPr>
          <p:cNvPr id="31" name="TextBox 30">
            <a:extLst>
              <a:ext uri="{FF2B5EF4-FFF2-40B4-BE49-F238E27FC236}">
                <a16:creationId xmlns:a16="http://schemas.microsoft.com/office/drawing/2014/main" id="{5B07BB15-7FE4-4628-A565-C990D4F30E14}"/>
              </a:ext>
            </a:extLst>
          </p:cNvPr>
          <p:cNvSpPr txBox="1"/>
          <p:nvPr/>
        </p:nvSpPr>
        <p:spPr>
          <a:xfrm>
            <a:off x="7744749" y="1621663"/>
            <a:ext cx="10828732" cy="1323439"/>
          </a:xfrm>
          <a:prstGeom prst="rect">
            <a:avLst/>
          </a:prstGeom>
          <a:noFill/>
          <a:ln>
            <a:solidFill>
              <a:schemeClr val="bg1"/>
            </a:solidFill>
          </a:ln>
        </p:spPr>
        <p:txBody>
          <a:bodyPr wrap="square" rtlCol="0">
            <a:spAutoFit/>
          </a:bodyPr>
          <a:lstStyle/>
          <a:p>
            <a:r>
              <a:rPr lang="en-PH" sz="8000" b="1" dirty="0">
                <a:ln>
                  <a:solidFill>
                    <a:srgbClr val="203F39"/>
                  </a:solidFill>
                </a:ln>
                <a:latin typeface="+mj-lt"/>
              </a:rPr>
              <a:t>PRINCIPAL</a:t>
            </a:r>
            <a:endParaRPr lang="en-PH" sz="8800" b="1" dirty="0">
              <a:ln>
                <a:solidFill>
                  <a:srgbClr val="203F39"/>
                </a:solidFill>
              </a:ln>
              <a:latin typeface="+mj-lt"/>
            </a:endParaRPr>
          </a:p>
        </p:txBody>
      </p:sp>
      <p:sp>
        <p:nvSpPr>
          <p:cNvPr id="32" name="TextBox 31">
            <a:extLst>
              <a:ext uri="{FF2B5EF4-FFF2-40B4-BE49-F238E27FC236}">
                <a16:creationId xmlns:a16="http://schemas.microsoft.com/office/drawing/2014/main" id="{9F201AEB-CC3D-485C-92A7-D5C40458E6FA}"/>
              </a:ext>
            </a:extLst>
          </p:cNvPr>
          <p:cNvSpPr txBox="1"/>
          <p:nvPr/>
        </p:nvSpPr>
        <p:spPr>
          <a:xfrm>
            <a:off x="6969383" y="-132325"/>
            <a:ext cx="10828732" cy="1862048"/>
          </a:xfrm>
          <a:prstGeom prst="rect">
            <a:avLst/>
          </a:prstGeom>
          <a:noFill/>
          <a:ln>
            <a:solidFill>
              <a:schemeClr val="bg1"/>
            </a:solidFill>
          </a:ln>
        </p:spPr>
        <p:txBody>
          <a:bodyPr wrap="square" rtlCol="0">
            <a:spAutoFit/>
          </a:bodyPr>
          <a:lstStyle/>
          <a:p>
            <a:r>
              <a:rPr lang="en-PH" sz="11500" b="1" dirty="0">
                <a:ln>
                  <a:solidFill>
                    <a:srgbClr val="203F39"/>
                  </a:solidFill>
                </a:ln>
                <a:latin typeface="+mj-lt"/>
              </a:rPr>
              <a:t>ELEGIBILITY</a:t>
            </a:r>
            <a:endParaRPr lang="en-PH" sz="13800" b="1" dirty="0">
              <a:ln>
                <a:solidFill>
                  <a:srgbClr val="203F39"/>
                </a:solidFill>
              </a:ln>
              <a:latin typeface="+mj-lt"/>
            </a:endParaRPr>
          </a:p>
        </p:txBody>
      </p:sp>
      <p:graphicFrame>
        <p:nvGraphicFramePr>
          <p:cNvPr id="2" name="Table 1">
            <a:extLst>
              <a:ext uri="{FF2B5EF4-FFF2-40B4-BE49-F238E27FC236}">
                <a16:creationId xmlns:a16="http://schemas.microsoft.com/office/drawing/2014/main" id="{3DC3788A-865C-4DDD-BCB4-A27D751EBF76}"/>
              </a:ext>
            </a:extLst>
          </p:cNvPr>
          <p:cNvGraphicFramePr>
            <a:graphicFrameLocks noGrp="1"/>
          </p:cNvGraphicFramePr>
          <p:nvPr>
            <p:extLst>
              <p:ext uri="{D42A27DB-BD31-4B8C-83A1-F6EECF244321}">
                <p14:modId xmlns:p14="http://schemas.microsoft.com/office/powerpoint/2010/main" val="853002824"/>
              </p:ext>
            </p:extLst>
          </p:nvPr>
        </p:nvGraphicFramePr>
        <p:xfrm>
          <a:off x="7113858" y="6674543"/>
          <a:ext cx="11096557" cy="2933158"/>
        </p:xfrm>
        <a:graphic>
          <a:graphicData uri="http://schemas.openxmlformats.org/drawingml/2006/table">
            <a:tbl>
              <a:tblPr firstRow="1" bandRow="1">
                <a:effectLst>
                  <a:outerShdw blurRad="152400" dist="317500" dir="5400000" sx="90000" sy="-19000" rotWithShape="0">
                    <a:prstClr val="black">
                      <a:alpha val="15000"/>
                    </a:prstClr>
                  </a:outerShdw>
                </a:effectLst>
                <a:tableStyleId>{0505E3EF-67EA-436B-97B2-0124C06EBD24}</a:tableStyleId>
              </a:tblPr>
              <a:tblGrid>
                <a:gridCol w="3426416">
                  <a:extLst>
                    <a:ext uri="{9D8B030D-6E8A-4147-A177-3AD203B41FA5}">
                      <a16:colId xmlns:a16="http://schemas.microsoft.com/office/drawing/2014/main" val="415786042"/>
                    </a:ext>
                  </a:extLst>
                </a:gridCol>
                <a:gridCol w="2624824">
                  <a:extLst>
                    <a:ext uri="{9D8B030D-6E8A-4147-A177-3AD203B41FA5}">
                      <a16:colId xmlns:a16="http://schemas.microsoft.com/office/drawing/2014/main" val="1249221643"/>
                    </a:ext>
                  </a:extLst>
                </a:gridCol>
                <a:gridCol w="2671975">
                  <a:extLst>
                    <a:ext uri="{9D8B030D-6E8A-4147-A177-3AD203B41FA5}">
                      <a16:colId xmlns:a16="http://schemas.microsoft.com/office/drawing/2014/main" val="4148185160"/>
                    </a:ext>
                  </a:extLst>
                </a:gridCol>
                <a:gridCol w="2373342">
                  <a:extLst>
                    <a:ext uri="{9D8B030D-6E8A-4147-A177-3AD203B41FA5}">
                      <a16:colId xmlns:a16="http://schemas.microsoft.com/office/drawing/2014/main" val="3543190685"/>
                    </a:ext>
                  </a:extLst>
                </a:gridCol>
              </a:tblGrid>
              <a:tr h="1531078">
                <a:tc>
                  <a:txBody>
                    <a:bodyPr/>
                    <a:lstStyle/>
                    <a:p>
                      <a:pPr algn="ctr"/>
                      <a:endParaRPr lang="en-US" sz="3600" dirty="0">
                        <a:latin typeface="+mj-lt"/>
                      </a:endParaRPr>
                    </a:p>
                  </a:txBody>
                  <a:tcPr anchor="ctr">
                    <a:solidFill>
                      <a:srgbClr val="F68712"/>
                    </a:solidFill>
                  </a:tcPr>
                </a:tc>
                <a:tc>
                  <a:txBody>
                    <a:bodyPr/>
                    <a:lstStyle/>
                    <a:p>
                      <a:pPr algn="ctr"/>
                      <a:r>
                        <a:rPr lang="en-US" sz="3600" dirty="0">
                          <a:latin typeface="+mj-lt"/>
                        </a:rPr>
                        <a:t>ENTRY AGE</a:t>
                      </a:r>
                    </a:p>
                  </a:txBody>
                  <a:tcPr anchor="ctr">
                    <a:solidFill>
                      <a:srgbClr val="F68712"/>
                    </a:solidFill>
                  </a:tcPr>
                </a:tc>
                <a:tc>
                  <a:txBody>
                    <a:bodyPr/>
                    <a:lstStyle/>
                    <a:p>
                      <a:pPr algn="ctr"/>
                      <a:r>
                        <a:rPr lang="en-US" sz="3600" dirty="0">
                          <a:latin typeface="+mj-lt"/>
                        </a:rPr>
                        <a:t>LAST AGE ACCEPTANCE</a:t>
                      </a:r>
                    </a:p>
                  </a:txBody>
                  <a:tcPr anchor="ctr">
                    <a:solidFill>
                      <a:srgbClr val="F68712"/>
                    </a:solidFill>
                  </a:tcPr>
                </a:tc>
                <a:tc>
                  <a:txBody>
                    <a:bodyPr/>
                    <a:lstStyle/>
                    <a:p>
                      <a:pPr algn="ctr"/>
                      <a:r>
                        <a:rPr lang="en-US" sz="3600" dirty="0">
                          <a:latin typeface="+mj-lt"/>
                        </a:rPr>
                        <a:t>EXIT AGE</a:t>
                      </a:r>
                    </a:p>
                  </a:txBody>
                  <a:tcPr anchor="ctr">
                    <a:solidFill>
                      <a:srgbClr val="F68712"/>
                    </a:solidFill>
                  </a:tcPr>
                </a:tc>
                <a:extLst>
                  <a:ext uri="{0D108BD9-81ED-4DB2-BD59-A6C34878D82A}">
                    <a16:rowId xmlns:a16="http://schemas.microsoft.com/office/drawing/2014/main" val="2045980287"/>
                  </a:ext>
                </a:extLst>
              </a:tr>
              <a:tr h="350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mn-lt"/>
                          <a:ea typeface="+mn-ea"/>
                          <a:cs typeface="+mn-cs"/>
                        </a:rPr>
                        <a:t>Children</a:t>
                      </a:r>
                    </a:p>
                  </a:txBody>
                  <a:tcPr anchor="ctr">
                    <a:solidFill>
                      <a:srgbClr val="F68712"/>
                    </a:solidFill>
                  </a:tcPr>
                </a:tc>
                <a:tc>
                  <a:txBody>
                    <a:bodyPr/>
                    <a:lstStyle/>
                    <a:p>
                      <a:pPr algn="ctr"/>
                      <a:r>
                        <a:rPr lang="en-US" sz="4000" dirty="0">
                          <a:latin typeface="+mj-lt"/>
                        </a:rPr>
                        <a:t>5</a:t>
                      </a:r>
                    </a:p>
                  </a:txBody>
                  <a:tcPr anchor="ctr">
                    <a:solidFill>
                      <a:srgbClr val="F68712"/>
                    </a:solidFill>
                  </a:tcPr>
                </a:tc>
                <a:tc>
                  <a:txBody>
                    <a:bodyPr/>
                    <a:lstStyle/>
                    <a:p>
                      <a:pPr algn="ctr"/>
                      <a:r>
                        <a:rPr lang="en-US" sz="4000" dirty="0">
                          <a:latin typeface="+mj-lt"/>
                        </a:rPr>
                        <a:t>23</a:t>
                      </a:r>
                    </a:p>
                  </a:txBody>
                  <a:tcPr anchor="ctr">
                    <a:solidFill>
                      <a:srgbClr val="F68712"/>
                    </a:solidFill>
                  </a:tcPr>
                </a:tc>
                <a:tc>
                  <a:txBody>
                    <a:bodyPr/>
                    <a:lstStyle/>
                    <a:p>
                      <a:pPr algn="ctr"/>
                      <a:r>
                        <a:rPr lang="en-US" sz="4000" dirty="0">
                          <a:latin typeface="+mj-lt"/>
                        </a:rPr>
                        <a:t>24</a:t>
                      </a:r>
                    </a:p>
                  </a:txBody>
                  <a:tcPr anchor="ctr">
                    <a:solidFill>
                      <a:srgbClr val="F68712"/>
                    </a:solidFill>
                  </a:tcPr>
                </a:tc>
                <a:extLst>
                  <a:ext uri="{0D108BD9-81ED-4DB2-BD59-A6C34878D82A}">
                    <a16:rowId xmlns:a16="http://schemas.microsoft.com/office/drawing/2014/main" val="1649056569"/>
                  </a:ext>
                </a:extLst>
              </a:tr>
              <a:tr h="350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mn-lt"/>
                          <a:ea typeface="+mn-ea"/>
                          <a:cs typeface="+mn-cs"/>
                        </a:rPr>
                        <a:t>Spouse/Parents</a:t>
                      </a:r>
                    </a:p>
                  </a:txBody>
                  <a:tcPr anchor="ctr">
                    <a:solidFill>
                      <a:srgbClr val="F68712"/>
                    </a:solidFill>
                  </a:tcPr>
                </a:tc>
                <a:tc>
                  <a:txBody>
                    <a:bodyPr/>
                    <a:lstStyle/>
                    <a:p>
                      <a:pPr algn="ctr"/>
                      <a:r>
                        <a:rPr lang="en-US" sz="4000" dirty="0">
                          <a:latin typeface="+mj-lt"/>
                        </a:rPr>
                        <a:t>18</a:t>
                      </a:r>
                    </a:p>
                  </a:txBody>
                  <a:tcPr anchor="ctr">
                    <a:solidFill>
                      <a:srgbClr val="F68712"/>
                    </a:solidFill>
                  </a:tcPr>
                </a:tc>
                <a:tc>
                  <a:txBody>
                    <a:bodyPr/>
                    <a:lstStyle/>
                    <a:p>
                      <a:pPr algn="ctr"/>
                      <a:r>
                        <a:rPr lang="en-US" sz="4000" dirty="0">
                          <a:latin typeface="+mj-lt"/>
                        </a:rPr>
                        <a:t>60</a:t>
                      </a:r>
                    </a:p>
                  </a:txBody>
                  <a:tcPr anchor="ctr">
                    <a:solidFill>
                      <a:srgbClr val="F68712"/>
                    </a:solidFill>
                  </a:tcPr>
                </a:tc>
                <a:tc>
                  <a:txBody>
                    <a:bodyPr/>
                    <a:lstStyle/>
                    <a:p>
                      <a:pPr algn="ctr"/>
                      <a:r>
                        <a:rPr lang="en-US" sz="4000" dirty="0">
                          <a:latin typeface="+mj-lt"/>
                        </a:rPr>
                        <a:t>61</a:t>
                      </a:r>
                    </a:p>
                  </a:txBody>
                  <a:tcPr anchor="ctr">
                    <a:solidFill>
                      <a:srgbClr val="F68712"/>
                    </a:solidFill>
                  </a:tcPr>
                </a:tc>
                <a:extLst>
                  <a:ext uri="{0D108BD9-81ED-4DB2-BD59-A6C34878D82A}">
                    <a16:rowId xmlns:a16="http://schemas.microsoft.com/office/drawing/2014/main" val="2139682812"/>
                  </a:ext>
                </a:extLst>
              </a:tr>
            </a:tbl>
          </a:graphicData>
        </a:graphic>
      </p:graphicFrame>
      <p:sp>
        <p:nvSpPr>
          <p:cNvPr id="28" name="TextBox 27">
            <a:extLst>
              <a:ext uri="{FF2B5EF4-FFF2-40B4-BE49-F238E27FC236}">
                <a16:creationId xmlns:a16="http://schemas.microsoft.com/office/drawing/2014/main" id="{204FC43C-0FA9-487A-8706-690B2A2135EC}"/>
              </a:ext>
            </a:extLst>
          </p:cNvPr>
          <p:cNvSpPr txBox="1"/>
          <p:nvPr/>
        </p:nvSpPr>
        <p:spPr>
          <a:xfrm>
            <a:off x="7620354" y="5299625"/>
            <a:ext cx="10828732" cy="1323439"/>
          </a:xfrm>
          <a:prstGeom prst="rect">
            <a:avLst/>
          </a:prstGeom>
          <a:noFill/>
          <a:ln>
            <a:solidFill>
              <a:schemeClr val="bg1"/>
            </a:solidFill>
          </a:ln>
        </p:spPr>
        <p:txBody>
          <a:bodyPr wrap="square" rtlCol="0">
            <a:spAutoFit/>
          </a:bodyPr>
          <a:lstStyle/>
          <a:p>
            <a:r>
              <a:rPr lang="en-PH" sz="8000" b="1" dirty="0">
                <a:ln>
                  <a:solidFill>
                    <a:srgbClr val="203F39"/>
                  </a:solidFill>
                </a:ln>
                <a:latin typeface="+mj-lt"/>
              </a:rPr>
              <a:t>Dependents</a:t>
            </a:r>
            <a:endParaRPr lang="en-PH" sz="8800" b="1" dirty="0">
              <a:ln>
                <a:solidFill>
                  <a:srgbClr val="203F39"/>
                </a:solidFill>
              </a:ln>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2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10244" y="635715"/>
            <a:ext cx="12907044" cy="864211"/>
          </a:xfrm>
          <a:prstGeom prst="rect">
            <a:avLst/>
          </a:prstGeom>
        </p:spPr>
        <p:txBody>
          <a:bodyPr wrap="square" lIns="0" tIns="0" rIns="0" bIns="0" rtlCol="0" anchor="t">
            <a:spAutoFit/>
          </a:bodyPr>
          <a:lstStyle/>
          <a:p>
            <a:pPr algn="r">
              <a:lnSpc>
                <a:spcPts val="5674"/>
              </a:lnSpc>
              <a:spcBef>
                <a:spcPct val="0"/>
              </a:spcBef>
            </a:pPr>
            <a:r>
              <a:rPr lang="en-US" sz="8800" b="1" dirty="0">
                <a:solidFill>
                  <a:srgbClr val="000000"/>
                </a:solidFill>
                <a:latin typeface="Poppins"/>
                <a:ea typeface="Poppins"/>
                <a:cs typeface="Poppins"/>
                <a:sym typeface="Poppins"/>
              </a:rPr>
              <a:t>HEALTHCARE BENEFITS</a:t>
            </a:r>
          </a:p>
        </p:txBody>
      </p:sp>
      <p:grpSp>
        <p:nvGrpSpPr>
          <p:cNvPr id="11" name="Group 11"/>
          <p:cNvGrpSpPr/>
          <p:nvPr/>
        </p:nvGrpSpPr>
        <p:grpSpPr>
          <a:xfrm>
            <a:off x="-566687" y="9631318"/>
            <a:ext cx="4362442" cy="1326059"/>
            <a:chOff x="0" y="0"/>
            <a:chExt cx="2297912" cy="698500"/>
          </a:xfrm>
        </p:grpSpPr>
        <p:sp>
          <p:nvSpPr>
            <p:cNvPr id="12" name="Freeform 12"/>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3" name="TextBox 13"/>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3419993" y="6698755"/>
            <a:ext cx="5550223" cy="4856445"/>
            <a:chOff x="0" y="0"/>
            <a:chExt cx="812800" cy="711200"/>
          </a:xfrm>
        </p:grpSpPr>
        <p:sp>
          <p:nvSpPr>
            <p:cNvPr id="15" name="Freeform 15"/>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6" name="TextBox 16"/>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5077867" y="-784225"/>
            <a:ext cx="6088480" cy="1326059"/>
            <a:chOff x="0" y="0"/>
            <a:chExt cx="3207100" cy="698500"/>
          </a:xfrm>
        </p:grpSpPr>
        <p:sp>
          <p:nvSpPr>
            <p:cNvPr id="18" name="Freeform 18"/>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9" name="TextBox 19"/>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6744950" y="-1063420"/>
            <a:ext cx="3086100" cy="2700338"/>
            <a:chOff x="0" y="0"/>
            <a:chExt cx="812800" cy="711200"/>
          </a:xfrm>
        </p:grpSpPr>
        <p:sp>
          <p:nvSpPr>
            <p:cNvPr id="21" name="Freeform 21"/>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2" name="TextBox 22"/>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29" name="Freeform 29"/>
          <p:cNvSpPr/>
          <p:nvPr/>
        </p:nvSpPr>
        <p:spPr>
          <a:xfrm>
            <a:off x="1403865" y="2825873"/>
            <a:ext cx="1100738" cy="1050705"/>
          </a:xfrm>
          <a:custGeom>
            <a:avLst/>
            <a:gdLst/>
            <a:ahLst/>
            <a:cxnLst/>
            <a:rect l="l" t="t" r="r" b="b"/>
            <a:pathLst>
              <a:path w="1100738" h="1050705">
                <a:moveTo>
                  <a:pt x="0" y="0"/>
                </a:moveTo>
                <a:lnTo>
                  <a:pt x="1100738" y="0"/>
                </a:lnTo>
                <a:lnTo>
                  <a:pt x="1100738" y="1050705"/>
                </a:lnTo>
                <a:lnTo>
                  <a:pt x="0" y="105070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4" name="TextBox 33">
            <a:extLst>
              <a:ext uri="{FF2B5EF4-FFF2-40B4-BE49-F238E27FC236}">
                <a16:creationId xmlns:a16="http://schemas.microsoft.com/office/drawing/2014/main" id="{03D3129A-70BA-4DB7-B46E-95AEE3A1A9B1}"/>
              </a:ext>
            </a:extLst>
          </p:cNvPr>
          <p:cNvSpPr txBox="1"/>
          <p:nvPr/>
        </p:nvSpPr>
        <p:spPr>
          <a:xfrm>
            <a:off x="2504603" y="1809809"/>
            <a:ext cx="14458950" cy="8217634"/>
          </a:xfrm>
          <a:prstGeom prst="rect">
            <a:avLst/>
          </a:prstGeom>
          <a:noFill/>
          <a:ln>
            <a:solidFill>
              <a:schemeClr val="bg1"/>
            </a:solidFill>
          </a:ln>
        </p:spPr>
        <p:txBody>
          <a:bodyPr wrap="square" rtlCol="0">
            <a:spAutoFit/>
          </a:bodyPr>
          <a:lstStyle/>
          <a:p>
            <a:pPr marL="457200" indent="-457200">
              <a:buFont typeface="Wingdings" panose="05000000000000000000" pitchFamily="2" charset="2"/>
              <a:buChar char="Ø"/>
            </a:pPr>
            <a:r>
              <a:rPr lang="en-PH" sz="8800" dirty="0">
                <a:latin typeface="+mj-lt"/>
              </a:rPr>
              <a:t>In Patient</a:t>
            </a:r>
          </a:p>
          <a:p>
            <a:pPr marL="457200" indent="-457200">
              <a:buFont typeface="Wingdings" panose="05000000000000000000" pitchFamily="2" charset="2"/>
              <a:buChar char="Ø"/>
            </a:pPr>
            <a:r>
              <a:rPr lang="en-PH" sz="8800" dirty="0">
                <a:latin typeface="+mj-lt"/>
              </a:rPr>
              <a:t>Out Patient</a:t>
            </a:r>
          </a:p>
          <a:p>
            <a:pPr marL="457200" indent="-457200">
              <a:buFont typeface="Wingdings" panose="05000000000000000000" pitchFamily="2" charset="2"/>
              <a:buChar char="Ø"/>
            </a:pPr>
            <a:r>
              <a:rPr lang="en-PH" sz="8800" dirty="0">
                <a:latin typeface="+mj-lt"/>
              </a:rPr>
              <a:t>Emergency Care</a:t>
            </a:r>
          </a:p>
          <a:p>
            <a:pPr marL="457200" indent="-457200">
              <a:buFont typeface="Wingdings" panose="05000000000000000000" pitchFamily="2" charset="2"/>
              <a:buChar char="Ø"/>
            </a:pPr>
            <a:r>
              <a:rPr lang="en-PH" sz="8800" dirty="0">
                <a:latin typeface="+mj-lt"/>
              </a:rPr>
              <a:t>APE (Annual Physical Exam)</a:t>
            </a:r>
          </a:p>
          <a:p>
            <a:pPr marL="457200" indent="-457200">
              <a:buFont typeface="Wingdings" panose="05000000000000000000" pitchFamily="2" charset="2"/>
              <a:buChar char="Ø"/>
            </a:pPr>
            <a:r>
              <a:rPr lang="en-PH" sz="8800" dirty="0">
                <a:latin typeface="+mj-lt"/>
              </a:rPr>
              <a:t>Dental Care</a:t>
            </a:r>
          </a:p>
          <a:p>
            <a:pPr marL="457200" indent="-457200">
              <a:buFont typeface="Wingdings" panose="05000000000000000000" pitchFamily="2" charset="2"/>
              <a:buChar char="Ø"/>
            </a:pPr>
            <a:r>
              <a:rPr lang="en-PH" sz="8800" dirty="0">
                <a:latin typeface="+mj-lt"/>
              </a:rPr>
              <a:t>Financial Assistance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fade">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xEl>
                                              <p:pRg st="1" end="1"/>
                                            </p:txEl>
                                          </p:spTgt>
                                        </p:tgtEl>
                                        <p:attrNameLst>
                                          <p:attrName>style.visibility</p:attrName>
                                        </p:attrNameLst>
                                      </p:cBhvr>
                                      <p:to>
                                        <p:strVal val="visible"/>
                                      </p:to>
                                    </p:set>
                                    <p:animEffect transition="in" filter="fade">
                                      <p:cBhvr>
                                        <p:cTn id="12" dur="500"/>
                                        <p:tgtEl>
                                          <p:spTgt spid="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xEl>
                                              <p:pRg st="2" end="2"/>
                                            </p:txEl>
                                          </p:spTgt>
                                        </p:tgtEl>
                                        <p:attrNameLst>
                                          <p:attrName>style.visibility</p:attrName>
                                        </p:attrNameLst>
                                      </p:cBhvr>
                                      <p:to>
                                        <p:strVal val="visible"/>
                                      </p:to>
                                    </p:set>
                                    <p:animEffect transition="in" filter="fade">
                                      <p:cBhvr>
                                        <p:cTn id="17" dur="500"/>
                                        <p:tgtEl>
                                          <p:spTgt spid="3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xEl>
                                              <p:pRg st="3" end="3"/>
                                            </p:txEl>
                                          </p:spTgt>
                                        </p:tgtEl>
                                        <p:attrNameLst>
                                          <p:attrName>style.visibility</p:attrName>
                                        </p:attrNameLst>
                                      </p:cBhvr>
                                      <p:to>
                                        <p:strVal val="visible"/>
                                      </p:to>
                                    </p:set>
                                    <p:animEffect transition="in" filter="fade">
                                      <p:cBhvr>
                                        <p:cTn id="22" dur="500"/>
                                        <p:tgtEl>
                                          <p:spTgt spid="3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xEl>
                                              <p:pRg st="4" end="4"/>
                                            </p:txEl>
                                          </p:spTgt>
                                        </p:tgtEl>
                                        <p:attrNameLst>
                                          <p:attrName>style.visibility</p:attrName>
                                        </p:attrNameLst>
                                      </p:cBhvr>
                                      <p:to>
                                        <p:strVal val="visible"/>
                                      </p:to>
                                    </p:set>
                                    <p:animEffect transition="in" filter="fade">
                                      <p:cBhvr>
                                        <p:cTn id="27" dur="500"/>
                                        <p:tgtEl>
                                          <p:spTgt spid="3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xEl>
                                              <p:pRg st="5" end="5"/>
                                            </p:txEl>
                                          </p:spTgt>
                                        </p:tgtEl>
                                        <p:attrNameLst>
                                          <p:attrName>style.visibility</p:attrName>
                                        </p:attrNameLst>
                                      </p:cBhvr>
                                      <p:to>
                                        <p:strVal val="visible"/>
                                      </p:to>
                                    </p:set>
                                    <p:animEffect transition="in" filter="fade">
                                      <p:cBhvr>
                                        <p:cTn id="32" dur="500"/>
                                        <p:tgtEl>
                                          <p:spTgt spid="3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5450386" y="4351703"/>
            <a:ext cx="4815163" cy="2398912"/>
            <a:chOff x="0" y="0"/>
            <a:chExt cx="1402049" cy="698500"/>
          </a:xfrm>
        </p:grpSpPr>
        <p:sp>
          <p:nvSpPr>
            <p:cNvPr id="9" name="Freeform 9"/>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0" name="TextBox 10"/>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028700" y="2981879"/>
            <a:ext cx="4815163" cy="2398912"/>
            <a:chOff x="0" y="0"/>
            <a:chExt cx="1402049" cy="698500"/>
          </a:xfrm>
        </p:grpSpPr>
        <p:sp>
          <p:nvSpPr>
            <p:cNvPr id="12" name="Freeform 12"/>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3" name="TextBox 13"/>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4" name="Group 14"/>
          <p:cNvGrpSpPr/>
          <p:nvPr/>
        </p:nvGrpSpPr>
        <p:grpSpPr>
          <a:xfrm>
            <a:off x="1080233" y="5742741"/>
            <a:ext cx="4815163" cy="2398912"/>
            <a:chOff x="0" y="0"/>
            <a:chExt cx="1402049" cy="698500"/>
          </a:xfrm>
        </p:grpSpPr>
        <p:sp>
          <p:nvSpPr>
            <p:cNvPr id="15" name="Freeform 15"/>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6" name="TextBox 16"/>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3" name="Group 23"/>
          <p:cNvGrpSpPr/>
          <p:nvPr/>
        </p:nvGrpSpPr>
        <p:grpSpPr>
          <a:xfrm>
            <a:off x="11174905" y="-2087854"/>
            <a:ext cx="9007144" cy="7740514"/>
            <a:chOff x="0" y="0"/>
            <a:chExt cx="812800" cy="698500"/>
          </a:xfrm>
        </p:grpSpPr>
        <p:sp>
          <p:nvSpPr>
            <p:cNvPr id="24" name="Freeform 2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25" name="TextBox 25"/>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6" name="Group 26"/>
          <p:cNvGrpSpPr/>
          <p:nvPr/>
        </p:nvGrpSpPr>
        <p:grpSpPr>
          <a:xfrm>
            <a:off x="10427039" y="1636917"/>
            <a:ext cx="9101552" cy="7821646"/>
            <a:chOff x="0" y="0"/>
            <a:chExt cx="812800" cy="698500"/>
          </a:xfrm>
        </p:grpSpPr>
        <p:sp>
          <p:nvSpPr>
            <p:cNvPr id="27" name="Freeform 2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8" name="TextBox 2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9" name="Group 29"/>
          <p:cNvGrpSpPr/>
          <p:nvPr/>
        </p:nvGrpSpPr>
        <p:grpSpPr>
          <a:xfrm>
            <a:off x="10692881" y="1837180"/>
            <a:ext cx="8569868" cy="7421120"/>
            <a:chOff x="0" y="0"/>
            <a:chExt cx="4282440" cy="3708400"/>
          </a:xfrm>
          <a:solidFill>
            <a:srgbClr val="F68712"/>
          </a:solidFill>
        </p:grpSpPr>
        <p:sp>
          <p:nvSpPr>
            <p:cNvPr id="30" name="Freeform 30"/>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p:spPr>
        </p:sp>
      </p:grpSp>
      <p:grpSp>
        <p:nvGrpSpPr>
          <p:cNvPr id="31" name="Group 31"/>
          <p:cNvGrpSpPr/>
          <p:nvPr/>
        </p:nvGrpSpPr>
        <p:grpSpPr>
          <a:xfrm>
            <a:off x="10599045" y="6176334"/>
            <a:ext cx="4105631" cy="3528277"/>
            <a:chOff x="0" y="0"/>
            <a:chExt cx="812800" cy="69850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38" name="TextBox 38"/>
          <p:cNvSpPr txBox="1"/>
          <p:nvPr/>
        </p:nvSpPr>
        <p:spPr>
          <a:xfrm>
            <a:off x="1865789" y="3075625"/>
            <a:ext cx="3140985" cy="1026178"/>
          </a:xfrm>
          <a:prstGeom prst="rect">
            <a:avLst/>
          </a:prstGeom>
        </p:spPr>
        <p:txBody>
          <a:bodyPr wrap="square" lIns="0" tIns="0" rIns="0" bIns="0" rtlCol="0" anchor="t">
            <a:spAutoFit/>
          </a:bodyPr>
          <a:lstStyle/>
          <a:p>
            <a:pPr algn="ctr">
              <a:lnSpc>
                <a:spcPts val="4134"/>
              </a:lnSpc>
              <a:spcBef>
                <a:spcPct val="0"/>
              </a:spcBef>
            </a:pPr>
            <a:r>
              <a:rPr lang="en-US" sz="2953" b="1" dirty="0">
                <a:solidFill>
                  <a:srgbClr val="000000"/>
                </a:solidFill>
                <a:latin typeface="+mj-lt"/>
                <a:ea typeface="Poppins Bold"/>
                <a:cs typeface="Poppins Bold"/>
                <a:sym typeface="Poppins Bold"/>
              </a:rPr>
              <a:t>ANNUAL BENEFIT LIMIT</a:t>
            </a:r>
          </a:p>
        </p:txBody>
      </p:sp>
      <p:sp>
        <p:nvSpPr>
          <p:cNvPr id="39" name="TextBox 39"/>
          <p:cNvSpPr txBox="1"/>
          <p:nvPr/>
        </p:nvSpPr>
        <p:spPr>
          <a:xfrm>
            <a:off x="2392795" y="4563331"/>
            <a:ext cx="2780571" cy="355931"/>
          </a:xfrm>
          <a:prstGeom prst="rect">
            <a:avLst/>
          </a:prstGeom>
        </p:spPr>
        <p:txBody>
          <a:bodyPr wrap="square" lIns="0" tIns="0" rIns="0" bIns="0" rtlCol="0" anchor="t">
            <a:spAutoFit/>
          </a:bodyPr>
          <a:lstStyle/>
          <a:p>
            <a:pPr algn="just">
              <a:lnSpc>
                <a:spcPts val="1770"/>
              </a:lnSpc>
            </a:pPr>
            <a:r>
              <a:rPr lang="en-US" sz="5400" b="1" dirty="0">
                <a:solidFill>
                  <a:srgbClr val="000000"/>
                </a:solidFill>
                <a:latin typeface="+mj-lt"/>
                <a:ea typeface="Poppins"/>
                <a:cs typeface="Poppins"/>
                <a:sym typeface="Poppins"/>
              </a:rPr>
              <a:t>300,000</a:t>
            </a:r>
          </a:p>
        </p:txBody>
      </p:sp>
      <p:sp>
        <p:nvSpPr>
          <p:cNvPr id="40" name="TextBox 40"/>
          <p:cNvSpPr txBox="1"/>
          <p:nvPr/>
        </p:nvSpPr>
        <p:spPr>
          <a:xfrm>
            <a:off x="1865789" y="5887708"/>
            <a:ext cx="3140985" cy="494302"/>
          </a:xfrm>
          <a:prstGeom prst="rect">
            <a:avLst/>
          </a:prstGeom>
        </p:spPr>
        <p:txBody>
          <a:bodyPr lIns="0" tIns="0" rIns="0" bIns="0" rtlCol="0" anchor="t">
            <a:spAutoFit/>
          </a:bodyPr>
          <a:lstStyle/>
          <a:p>
            <a:pPr algn="ctr">
              <a:lnSpc>
                <a:spcPts val="4134"/>
              </a:lnSpc>
              <a:spcBef>
                <a:spcPct val="0"/>
              </a:spcBef>
            </a:pPr>
            <a:r>
              <a:rPr lang="en-US" sz="2953" b="1" dirty="0">
                <a:solidFill>
                  <a:srgbClr val="000000"/>
                </a:solidFill>
                <a:latin typeface="+mj-lt"/>
                <a:ea typeface="Poppins Bold"/>
                <a:cs typeface="Poppins Bold"/>
                <a:sym typeface="Poppins Bold"/>
              </a:rPr>
              <a:t>ROOM TYPE</a:t>
            </a:r>
          </a:p>
        </p:txBody>
      </p:sp>
      <p:sp>
        <p:nvSpPr>
          <p:cNvPr id="41" name="TextBox 41"/>
          <p:cNvSpPr txBox="1"/>
          <p:nvPr/>
        </p:nvSpPr>
        <p:spPr>
          <a:xfrm>
            <a:off x="1376401" y="6692739"/>
            <a:ext cx="5481526" cy="615553"/>
          </a:xfrm>
          <a:prstGeom prst="rect">
            <a:avLst/>
          </a:prstGeom>
        </p:spPr>
        <p:txBody>
          <a:bodyPr wrap="square" lIns="0" tIns="0" rIns="0" bIns="0" rtlCol="0" anchor="t">
            <a:spAutoFit/>
          </a:bodyPr>
          <a:lstStyle/>
          <a:p>
            <a:pPr algn="just"/>
            <a:r>
              <a:rPr lang="en-US" sz="4000" b="1" dirty="0">
                <a:solidFill>
                  <a:srgbClr val="000000"/>
                </a:solidFill>
                <a:latin typeface="+mj-lt"/>
                <a:ea typeface="Poppins"/>
                <a:cs typeface="Poppins"/>
                <a:sym typeface="Poppins"/>
              </a:rPr>
              <a:t>OPEN SEMI-PRIVATE</a:t>
            </a:r>
          </a:p>
        </p:txBody>
      </p:sp>
      <p:sp>
        <p:nvSpPr>
          <p:cNvPr id="42" name="TextBox 42"/>
          <p:cNvSpPr txBox="1"/>
          <p:nvPr/>
        </p:nvSpPr>
        <p:spPr>
          <a:xfrm>
            <a:off x="6287475" y="4445450"/>
            <a:ext cx="3140985" cy="1020087"/>
          </a:xfrm>
          <a:prstGeom prst="rect">
            <a:avLst/>
          </a:prstGeom>
        </p:spPr>
        <p:txBody>
          <a:bodyPr lIns="0" tIns="0" rIns="0" bIns="0" rtlCol="0" anchor="t">
            <a:spAutoFit/>
          </a:bodyPr>
          <a:lstStyle/>
          <a:p>
            <a:pPr algn="ctr">
              <a:lnSpc>
                <a:spcPts val="4134"/>
              </a:lnSpc>
              <a:spcBef>
                <a:spcPct val="0"/>
              </a:spcBef>
            </a:pPr>
            <a:r>
              <a:rPr lang="en-US" sz="2953" b="1" dirty="0">
                <a:solidFill>
                  <a:srgbClr val="000000"/>
                </a:solidFill>
                <a:latin typeface="+mj-lt"/>
                <a:ea typeface="Poppins Bold"/>
                <a:cs typeface="Poppins Bold"/>
                <a:sym typeface="Poppins Bold"/>
              </a:rPr>
              <a:t>MAXIMUM BENEFIT LIMIT</a:t>
            </a:r>
          </a:p>
        </p:txBody>
      </p:sp>
      <p:sp>
        <p:nvSpPr>
          <p:cNvPr id="43" name="TextBox 43"/>
          <p:cNvSpPr txBox="1"/>
          <p:nvPr/>
        </p:nvSpPr>
        <p:spPr>
          <a:xfrm>
            <a:off x="5961857" y="5559284"/>
            <a:ext cx="4355561" cy="984885"/>
          </a:xfrm>
          <a:prstGeom prst="rect">
            <a:avLst/>
          </a:prstGeom>
        </p:spPr>
        <p:txBody>
          <a:bodyPr wrap="square" lIns="0" tIns="0" rIns="0" bIns="0" rtlCol="0" anchor="t">
            <a:spAutoFit/>
          </a:bodyPr>
          <a:lstStyle/>
          <a:p>
            <a:r>
              <a:rPr lang="en-US" sz="3200" b="1" dirty="0"/>
              <a:t>70,000.00 per illness per                                                             confinement per year</a:t>
            </a:r>
            <a:endParaRPr lang="en-US" sz="2800" dirty="0">
              <a:solidFill>
                <a:srgbClr val="000000"/>
              </a:solidFill>
              <a:latin typeface="+mj-lt"/>
              <a:ea typeface="Poppins"/>
              <a:cs typeface="Poppins"/>
              <a:sym typeface="Poppins"/>
            </a:endParaRPr>
          </a:p>
        </p:txBody>
      </p:sp>
      <p:sp>
        <p:nvSpPr>
          <p:cNvPr id="44" name="TextBox 43">
            <a:extLst>
              <a:ext uri="{FF2B5EF4-FFF2-40B4-BE49-F238E27FC236}">
                <a16:creationId xmlns:a16="http://schemas.microsoft.com/office/drawing/2014/main" id="{5E55BD44-AD3B-45E5-9483-27AC669BEA80}"/>
              </a:ext>
            </a:extLst>
          </p:cNvPr>
          <p:cNvSpPr txBox="1"/>
          <p:nvPr/>
        </p:nvSpPr>
        <p:spPr>
          <a:xfrm>
            <a:off x="861397" y="909492"/>
            <a:ext cx="9432721" cy="1323439"/>
          </a:xfrm>
          <a:prstGeom prst="rect">
            <a:avLst/>
          </a:prstGeom>
          <a:noFill/>
          <a:ln>
            <a:noFill/>
          </a:ln>
        </p:spPr>
        <p:txBody>
          <a:bodyPr wrap="square" rtlCol="0">
            <a:spAutoFit/>
          </a:bodyPr>
          <a:lstStyle/>
          <a:p>
            <a:r>
              <a:rPr lang="en-US" sz="8000" b="1" dirty="0">
                <a:ln>
                  <a:solidFill>
                    <a:schemeClr val="tx1"/>
                  </a:solidFill>
                </a:ln>
                <a:latin typeface="+mj-lt"/>
              </a:rPr>
              <a:t>INPATIENT BENEFITS</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0800938" y="633765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81960" y="6407884"/>
            <a:ext cx="2725919" cy="272591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500"/>
                                        <p:tgtEl>
                                          <p:spTgt spid="4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fade">
                                      <p:cBhvr>
                                        <p:cTn id="24" dur="500"/>
                                        <p:tgtEl>
                                          <p:spTgt spid="4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500"/>
                                        <p:tgtEl>
                                          <p:spTgt spid="4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1" grpId="0"/>
      <p:bldP spid="42" grpId="0"/>
      <p:bldP spid="4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5181600" y="3967729"/>
            <a:ext cx="5456629" cy="3004571"/>
            <a:chOff x="0" y="0"/>
            <a:chExt cx="1402049" cy="698500"/>
          </a:xfrm>
        </p:grpSpPr>
        <p:sp>
          <p:nvSpPr>
            <p:cNvPr id="9" name="Freeform 9"/>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0" name="TextBox 10"/>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39314" y="2394210"/>
            <a:ext cx="5804549" cy="2986581"/>
            <a:chOff x="0" y="0"/>
            <a:chExt cx="1402049" cy="698500"/>
          </a:xfrm>
        </p:grpSpPr>
        <p:sp>
          <p:nvSpPr>
            <p:cNvPr id="12" name="Freeform 12"/>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3" name="TextBox 13"/>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4" name="Group 14"/>
          <p:cNvGrpSpPr/>
          <p:nvPr/>
        </p:nvGrpSpPr>
        <p:grpSpPr>
          <a:xfrm>
            <a:off x="228601" y="5742740"/>
            <a:ext cx="5666796" cy="2922779"/>
            <a:chOff x="0" y="0"/>
            <a:chExt cx="1402049" cy="698500"/>
          </a:xfrm>
        </p:grpSpPr>
        <p:sp>
          <p:nvSpPr>
            <p:cNvPr id="15" name="Freeform 15"/>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6" name="TextBox 16"/>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3" name="Group 23"/>
          <p:cNvGrpSpPr/>
          <p:nvPr/>
        </p:nvGrpSpPr>
        <p:grpSpPr>
          <a:xfrm>
            <a:off x="11174905" y="-2087854"/>
            <a:ext cx="9007144" cy="7740514"/>
            <a:chOff x="0" y="0"/>
            <a:chExt cx="812800" cy="698500"/>
          </a:xfrm>
        </p:grpSpPr>
        <p:sp>
          <p:nvSpPr>
            <p:cNvPr id="24" name="Freeform 2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25" name="TextBox 25"/>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6" name="Group 26"/>
          <p:cNvGrpSpPr/>
          <p:nvPr/>
        </p:nvGrpSpPr>
        <p:grpSpPr>
          <a:xfrm>
            <a:off x="10427039" y="1636917"/>
            <a:ext cx="9101552" cy="7821646"/>
            <a:chOff x="0" y="0"/>
            <a:chExt cx="812800" cy="698500"/>
          </a:xfrm>
        </p:grpSpPr>
        <p:sp>
          <p:nvSpPr>
            <p:cNvPr id="27" name="Freeform 2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8" name="TextBox 2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9" name="Group 29"/>
          <p:cNvGrpSpPr/>
          <p:nvPr/>
        </p:nvGrpSpPr>
        <p:grpSpPr>
          <a:xfrm>
            <a:off x="10692881" y="1837180"/>
            <a:ext cx="8569868" cy="7421120"/>
            <a:chOff x="0" y="0"/>
            <a:chExt cx="4282440" cy="3708400"/>
          </a:xfrm>
          <a:solidFill>
            <a:srgbClr val="F68712"/>
          </a:solidFill>
        </p:grpSpPr>
        <p:sp>
          <p:nvSpPr>
            <p:cNvPr id="30" name="Freeform 30"/>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p:spPr>
        </p:sp>
      </p:grpSp>
      <p:grpSp>
        <p:nvGrpSpPr>
          <p:cNvPr id="31" name="Group 31"/>
          <p:cNvGrpSpPr/>
          <p:nvPr/>
        </p:nvGrpSpPr>
        <p:grpSpPr>
          <a:xfrm>
            <a:off x="10599045" y="6176334"/>
            <a:ext cx="4105631" cy="3528277"/>
            <a:chOff x="0" y="0"/>
            <a:chExt cx="812800" cy="69850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4" name="Group 34"/>
          <p:cNvGrpSpPr/>
          <p:nvPr/>
        </p:nvGrpSpPr>
        <p:grpSpPr>
          <a:xfrm>
            <a:off x="10800938" y="6337657"/>
            <a:ext cx="3701846" cy="3205631"/>
            <a:chOff x="0" y="0"/>
            <a:chExt cx="4282440" cy="3708400"/>
          </a:xfrm>
          <a:solidFill>
            <a:schemeClr val="bg1"/>
          </a:solidFill>
        </p:grpSpPr>
        <p:sp>
          <p:nvSpPr>
            <p:cNvPr id="35" name="Freeform 3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sp>
        <p:nvSpPr>
          <p:cNvPr id="38" name="TextBox 38"/>
          <p:cNvSpPr txBox="1"/>
          <p:nvPr/>
        </p:nvSpPr>
        <p:spPr>
          <a:xfrm>
            <a:off x="752695" y="2669815"/>
            <a:ext cx="4421686" cy="1385379"/>
          </a:xfrm>
          <a:prstGeom prst="rect">
            <a:avLst/>
          </a:prstGeom>
        </p:spPr>
        <p:txBody>
          <a:bodyPr wrap="square" lIns="0" tIns="0" rIns="0" bIns="0" rtlCol="0" anchor="t">
            <a:spAutoFit/>
          </a:bodyPr>
          <a:lstStyle/>
          <a:p>
            <a:r>
              <a:rPr lang="en-US" sz="2000" b="1" dirty="0"/>
              <a:t>Face-to-Face Check-ups, Teleconsultations &amp; Laboratory Tests / Examinations to Affiliated AMAPHIL Hospitals/Clinics</a:t>
            </a:r>
          </a:p>
          <a:p>
            <a:pPr algn="ctr">
              <a:lnSpc>
                <a:spcPts val="4134"/>
              </a:lnSpc>
              <a:spcBef>
                <a:spcPct val="0"/>
              </a:spcBef>
            </a:pPr>
            <a:endParaRPr lang="en-US" sz="2000" b="1" dirty="0">
              <a:solidFill>
                <a:srgbClr val="000000"/>
              </a:solidFill>
              <a:latin typeface="+mj-lt"/>
              <a:ea typeface="Poppins Bold"/>
              <a:cs typeface="Poppins Bold"/>
              <a:sym typeface="Poppins Bold"/>
            </a:endParaRPr>
          </a:p>
        </p:txBody>
      </p:sp>
      <p:sp>
        <p:nvSpPr>
          <p:cNvPr id="39" name="TextBox 39"/>
          <p:cNvSpPr txBox="1"/>
          <p:nvPr/>
        </p:nvSpPr>
        <p:spPr>
          <a:xfrm>
            <a:off x="510165" y="4309115"/>
            <a:ext cx="5134053" cy="355931"/>
          </a:xfrm>
          <a:prstGeom prst="rect">
            <a:avLst/>
          </a:prstGeom>
        </p:spPr>
        <p:txBody>
          <a:bodyPr wrap="square" lIns="0" tIns="0" rIns="0" bIns="0" rtlCol="0" anchor="t">
            <a:spAutoFit/>
          </a:bodyPr>
          <a:lstStyle/>
          <a:p>
            <a:pPr algn="just">
              <a:lnSpc>
                <a:spcPts val="1770"/>
              </a:lnSpc>
            </a:pPr>
            <a:r>
              <a:rPr lang="en-US" sz="5400" b="1" dirty="0">
                <a:solidFill>
                  <a:srgbClr val="000000"/>
                </a:solidFill>
                <a:latin typeface="+mj-lt"/>
                <a:ea typeface="Poppins"/>
                <a:cs typeface="Poppins"/>
                <a:sym typeface="Poppins"/>
              </a:rPr>
              <a:t>4,000 per quarter</a:t>
            </a:r>
          </a:p>
        </p:txBody>
      </p:sp>
      <p:sp>
        <p:nvSpPr>
          <p:cNvPr id="40" name="TextBox 40"/>
          <p:cNvSpPr txBox="1"/>
          <p:nvPr/>
        </p:nvSpPr>
        <p:spPr>
          <a:xfrm>
            <a:off x="1229128" y="5969790"/>
            <a:ext cx="3801012" cy="525785"/>
          </a:xfrm>
          <a:prstGeom prst="rect">
            <a:avLst/>
          </a:prstGeom>
        </p:spPr>
        <p:txBody>
          <a:bodyPr wrap="square" lIns="0" tIns="0" rIns="0" bIns="0" rtlCol="0" anchor="t">
            <a:spAutoFit/>
          </a:bodyPr>
          <a:lstStyle/>
          <a:p>
            <a:pPr algn="ctr">
              <a:lnSpc>
                <a:spcPts val="4134"/>
              </a:lnSpc>
              <a:spcBef>
                <a:spcPct val="0"/>
              </a:spcBef>
            </a:pPr>
            <a:r>
              <a:rPr lang="en-US" sz="3600" b="1" dirty="0">
                <a:solidFill>
                  <a:srgbClr val="000000"/>
                </a:solidFill>
                <a:latin typeface="+mj-lt"/>
                <a:ea typeface="Poppins Bold"/>
                <a:cs typeface="Poppins Bold"/>
                <a:sym typeface="Poppins Bold"/>
              </a:rPr>
              <a:t>PHYSICAL THERAPY</a:t>
            </a:r>
          </a:p>
        </p:txBody>
      </p:sp>
      <p:sp>
        <p:nvSpPr>
          <p:cNvPr id="42" name="TextBox 42"/>
          <p:cNvSpPr txBox="1"/>
          <p:nvPr/>
        </p:nvSpPr>
        <p:spPr>
          <a:xfrm>
            <a:off x="6292891" y="4000818"/>
            <a:ext cx="3140985" cy="1020087"/>
          </a:xfrm>
          <a:prstGeom prst="rect">
            <a:avLst/>
          </a:prstGeom>
        </p:spPr>
        <p:txBody>
          <a:bodyPr lIns="0" tIns="0" rIns="0" bIns="0" rtlCol="0" anchor="t">
            <a:spAutoFit/>
          </a:bodyPr>
          <a:lstStyle/>
          <a:p>
            <a:pPr algn="ctr">
              <a:lnSpc>
                <a:spcPts val="4134"/>
              </a:lnSpc>
              <a:spcBef>
                <a:spcPct val="0"/>
              </a:spcBef>
            </a:pPr>
            <a:r>
              <a:rPr lang="en-US" sz="2953" b="1" dirty="0">
                <a:solidFill>
                  <a:srgbClr val="000000"/>
                </a:solidFill>
                <a:latin typeface="+mj-lt"/>
                <a:ea typeface="Poppins Bold"/>
                <a:cs typeface="Poppins Bold"/>
                <a:sym typeface="Poppins Bold"/>
              </a:rPr>
              <a:t>MENTAL HEALTH CONSULTATION</a:t>
            </a:r>
          </a:p>
        </p:txBody>
      </p:sp>
      <p:sp>
        <p:nvSpPr>
          <p:cNvPr id="43" name="TextBox 43"/>
          <p:cNvSpPr txBox="1"/>
          <p:nvPr/>
        </p:nvSpPr>
        <p:spPr>
          <a:xfrm>
            <a:off x="5873281" y="5111139"/>
            <a:ext cx="4493770" cy="1292662"/>
          </a:xfrm>
          <a:prstGeom prst="rect">
            <a:avLst/>
          </a:prstGeom>
        </p:spPr>
        <p:txBody>
          <a:bodyPr wrap="square" lIns="0" tIns="0" rIns="0" bIns="0" rtlCol="0" anchor="t">
            <a:spAutoFit/>
          </a:bodyPr>
          <a:lstStyle/>
          <a:p>
            <a:r>
              <a:rPr lang="en-US" sz="2800" b="1" dirty="0"/>
              <a:t>1,500 consultation assistance per year to AMAPHIL-accredited psychiatrist.</a:t>
            </a:r>
          </a:p>
        </p:txBody>
      </p:sp>
      <p:sp>
        <p:nvSpPr>
          <p:cNvPr id="44" name="TextBox 43">
            <a:extLst>
              <a:ext uri="{FF2B5EF4-FFF2-40B4-BE49-F238E27FC236}">
                <a16:creationId xmlns:a16="http://schemas.microsoft.com/office/drawing/2014/main" id="{5E55BD44-AD3B-45E5-9483-27AC669BEA80}"/>
              </a:ext>
            </a:extLst>
          </p:cNvPr>
          <p:cNvSpPr txBox="1"/>
          <p:nvPr/>
        </p:nvSpPr>
        <p:spPr>
          <a:xfrm>
            <a:off x="861397" y="909492"/>
            <a:ext cx="10178814" cy="1323439"/>
          </a:xfrm>
          <a:prstGeom prst="rect">
            <a:avLst/>
          </a:prstGeom>
          <a:noFill/>
          <a:ln>
            <a:noFill/>
          </a:ln>
        </p:spPr>
        <p:txBody>
          <a:bodyPr wrap="square" rtlCol="0">
            <a:spAutoFit/>
          </a:bodyPr>
          <a:lstStyle/>
          <a:p>
            <a:r>
              <a:rPr lang="en-US" sz="8000" b="1" dirty="0">
                <a:ln>
                  <a:solidFill>
                    <a:schemeClr val="tx1"/>
                  </a:solidFill>
                </a:ln>
                <a:latin typeface="+mj-lt"/>
              </a:rPr>
              <a:t>OUT-PATIENT BENEFITS</a:t>
            </a:r>
          </a:p>
        </p:txBody>
      </p:sp>
      <p:sp>
        <p:nvSpPr>
          <p:cNvPr id="45" name="TextBox 43">
            <a:extLst>
              <a:ext uri="{FF2B5EF4-FFF2-40B4-BE49-F238E27FC236}">
                <a16:creationId xmlns:a16="http://schemas.microsoft.com/office/drawing/2014/main" id="{EE3DCF61-7021-4AC6-BF71-16079D239B9D}"/>
              </a:ext>
            </a:extLst>
          </p:cNvPr>
          <p:cNvSpPr txBox="1"/>
          <p:nvPr/>
        </p:nvSpPr>
        <p:spPr>
          <a:xfrm>
            <a:off x="1157519" y="6659536"/>
            <a:ext cx="4385200" cy="1292662"/>
          </a:xfrm>
          <a:prstGeom prst="rect">
            <a:avLst/>
          </a:prstGeom>
        </p:spPr>
        <p:txBody>
          <a:bodyPr wrap="square" lIns="0" tIns="0" rIns="0" bIns="0" rtlCol="0" anchor="t">
            <a:spAutoFit/>
          </a:bodyPr>
          <a:lstStyle/>
          <a:p>
            <a:r>
              <a:rPr lang="en-US" sz="2800" b="1" dirty="0"/>
              <a:t>1,500 assistance per year to AMAPHIL-accredited PT centers or rehab doctors.</a:t>
            </a:r>
          </a:p>
        </p:txBody>
      </p:sp>
      <p:pic>
        <p:nvPicPr>
          <p:cNvPr id="37" name="Picture 36">
            <a:extLst>
              <a:ext uri="{FF2B5EF4-FFF2-40B4-BE49-F238E27FC236}">
                <a16:creationId xmlns:a16="http://schemas.microsoft.com/office/drawing/2014/main" id="{93BB29CF-1E14-4F3F-9B5C-7C82686BCB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81960" y="6407884"/>
            <a:ext cx="2725919" cy="2725919"/>
          </a:xfrm>
          <a:prstGeom prst="rect">
            <a:avLst/>
          </a:prstGeom>
        </p:spPr>
      </p:pic>
    </p:spTree>
    <p:extLst>
      <p:ext uri="{BB962C8B-B14F-4D97-AF65-F5344CB8AC3E}">
        <p14:creationId xmlns:p14="http://schemas.microsoft.com/office/powerpoint/2010/main" val="3454235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500"/>
                                        <p:tgtEl>
                                          <p:spTgt spid="4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fade">
                                      <p:cBhvr>
                                        <p:cTn id="24" dur="500"/>
                                        <p:tgtEl>
                                          <p:spTgt spid="4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500"/>
                                        <p:tgtEl>
                                          <p:spTgt spid="4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2" grpId="0"/>
      <p:bldP spid="43" grpId="0"/>
      <p:bldP spid="4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sp>
        <p:nvSpPr>
          <p:cNvPr id="16" name="TextBox 16"/>
          <p:cNvSpPr txBox="1"/>
          <p:nvPr/>
        </p:nvSpPr>
        <p:spPr>
          <a:xfrm>
            <a:off x="914400" y="1349748"/>
            <a:ext cx="11330673" cy="910506"/>
          </a:xfrm>
          <a:prstGeom prst="rect">
            <a:avLst/>
          </a:prstGeom>
        </p:spPr>
        <p:txBody>
          <a:bodyPr lIns="0" tIns="0" rIns="0" bIns="0" rtlCol="0" anchor="t">
            <a:spAutoFit/>
          </a:bodyPr>
          <a:lstStyle/>
          <a:p>
            <a:pPr algn="l">
              <a:lnSpc>
                <a:spcPts val="7050"/>
              </a:lnSpc>
              <a:spcBef>
                <a:spcPct val="0"/>
              </a:spcBef>
            </a:pPr>
            <a:r>
              <a:rPr lang="en-US" sz="6600" b="1" dirty="0">
                <a:solidFill>
                  <a:srgbClr val="000000"/>
                </a:solidFill>
                <a:latin typeface="+mj-lt"/>
                <a:ea typeface="Poppins Bold"/>
                <a:cs typeface="Poppins Bold"/>
                <a:sym typeface="Poppins Bold"/>
              </a:rPr>
              <a:t>EMERGENCY CARE</a:t>
            </a:r>
          </a:p>
        </p:txBody>
      </p:sp>
      <p:sp>
        <p:nvSpPr>
          <p:cNvPr id="23" name="TextBox 22">
            <a:extLst>
              <a:ext uri="{FF2B5EF4-FFF2-40B4-BE49-F238E27FC236}">
                <a16:creationId xmlns:a16="http://schemas.microsoft.com/office/drawing/2014/main" id="{DBAF4020-F01C-41B0-A5C9-C6357C3EB5D4}"/>
              </a:ext>
            </a:extLst>
          </p:cNvPr>
          <p:cNvSpPr txBox="1"/>
          <p:nvPr/>
        </p:nvSpPr>
        <p:spPr>
          <a:xfrm>
            <a:off x="228600" y="2985072"/>
            <a:ext cx="10287000" cy="7418121"/>
          </a:xfrm>
          <a:prstGeom prst="rect">
            <a:avLst/>
          </a:prstGeom>
          <a:noFill/>
        </p:spPr>
        <p:txBody>
          <a:bodyPr wrap="square" rtlCol="0">
            <a:spAutoFit/>
          </a:bodyPr>
          <a:lstStyle/>
          <a:p>
            <a:pPr marL="69850" marR="0">
              <a:lnSpc>
                <a:spcPts val="2500"/>
              </a:lnSpc>
              <a:spcBef>
                <a:spcPts val="60"/>
              </a:spcBef>
              <a:spcAft>
                <a:spcPts val="0"/>
              </a:spcAft>
            </a:pPr>
            <a:r>
              <a:rPr lang="en-US" sz="4400" b="1" dirty="0">
                <a:latin typeface="+mj-lt"/>
                <a:ea typeface="Arial MT"/>
                <a:cs typeface="Arial MT"/>
              </a:rPr>
              <a:t>In</a:t>
            </a:r>
            <a:r>
              <a:rPr lang="en-US" sz="4400" b="1" spc="-10" dirty="0">
                <a:latin typeface="+mj-lt"/>
                <a:ea typeface="Arial MT"/>
                <a:cs typeface="Arial MT"/>
              </a:rPr>
              <a:t> </a:t>
            </a:r>
            <a:r>
              <a:rPr lang="en-US" sz="4400" b="1" dirty="0">
                <a:latin typeface="+mj-lt"/>
                <a:ea typeface="Arial MT"/>
                <a:cs typeface="Arial MT"/>
              </a:rPr>
              <a:t>Affiliated</a:t>
            </a:r>
            <a:r>
              <a:rPr lang="en-US" sz="4400" b="1" spc="-10" dirty="0">
                <a:latin typeface="+mj-lt"/>
                <a:ea typeface="Arial MT"/>
                <a:cs typeface="Arial MT"/>
              </a:rPr>
              <a:t> Hospitals:</a:t>
            </a:r>
          </a:p>
          <a:p>
            <a:pPr marL="69850" marR="0">
              <a:lnSpc>
                <a:spcPts val="3000"/>
              </a:lnSpc>
              <a:spcBef>
                <a:spcPts val="60"/>
              </a:spcBef>
              <a:spcAft>
                <a:spcPts val="0"/>
              </a:spcAft>
            </a:pPr>
            <a:endParaRPr lang="en-US" sz="3600" b="1" spc="-10" dirty="0">
              <a:latin typeface="+mj-lt"/>
              <a:ea typeface="Arial MT"/>
              <a:cs typeface="Arial MT"/>
            </a:endParaRPr>
          </a:p>
          <a:p>
            <a:pPr marL="355600" marR="0" indent="-285750">
              <a:lnSpc>
                <a:spcPts val="3000"/>
              </a:lnSpc>
              <a:spcBef>
                <a:spcPts val="60"/>
              </a:spcBef>
              <a:spcAft>
                <a:spcPts val="0"/>
              </a:spcAft>
              <a:buFont typeface="Arial" panose="020B0604020202020204" pitchFamily="34" charset="0"/>
              <a:buChar char="•"/>
            </a:pPr>
            <a:r>
              <a:rPr lang="en-US" sz="3600" b="1" dirty="0">
                <a:latin typeface="+mj-lt"/>
                <a:ea typeface="Arial MT"/>
                <a:cs typeface="Arial MT"/>
              </a:rPr>
              <a:t>Physician's</a:t>
            </a:r>
            <a:r>
              <a:rPr lang="en-US" sz="3600" b="1" spc="285" dirty="0">
                <a:latin typeface="+mj-lt"/>
                <a:ea typeface="Arial MT"/>
                <a:cs typeface="Arial MT"/>
              </a:rPr>
              <a:t> </a:t>
            </a:r>
            <a:r>
              <a:rPr lang="en-US" sz="3600" b="1" spc="-10" dirty="0">
                <a:latin typeface="+mj-lt"/>
                <a:ea typeface="Arial MT"/>
                <a:cs typeface="Arial MT"/>
              </a:rPr>
              <a:t>services</a:t>
            </a:r>
          </a:p>
          <a:p>
            <a:pPr marL="355600" marR="0" indent="-285750">
              <a:lnSpc>
                <a:spcPts val="3000"/>
              </a:lnSpc>
              <a:spcBef>
                <a:spcPts val="60"/>
              </a:spcBef>
              <a:spcAft>
                <a:spcPts val="0"/>
              </a:spcAft>
              <a:buFont typeface="Arial" panose="020B0604020202020204" pitchFamily="34" charset="0"/>
              <a:buChar char="•"/>
            </a:pPr>
            <a:endParaRPr lang="en-US" sz="3600" b="1" spc="-10" dirty="0">
              <a:latin typeface="+mj-lt"/>
              <a:ea typeface="Arial MT"/>
              <a:cs typeface="Arial MT"/>
            </a:endParaRPr>
          </a:p>
          <a:p>
            <a:pPr marL="355600" marR="0" indent="-285750">
              <a:lnSpc>
                <a:spcPts val="3000"/>
              </a:lnSpc>
              <a:spcBef>
                <a:spcPts val="60"/>
              </a:spcBef>
              <a:spcAft>
                <a:spcPts val="0"/>
              </a:spcAft>
              <a:buFont typeface="Arial" panose="020B0604020202020204" pitchFamily="34" charset="0"/>
              <a:buChar char="•"/>
            </a:pPr>
            <a:r>
              <a:rPr lang="en-US" sz="3600" b="1" dirty="0">
                <a:latin typeface="+mj-lt"/>
                <a:ea typeface="Arial MT"/>
                <a:cs typeface="Arial MT"/>
              </a:rPr>
              <a:t>Emergency</a:t>
            </a:r>
            <a:r>
              <a:rPr lang="en-US" sz="3600" b="1" spc="-5" dirty="0">
                <a:latin typeface="+mj-lt"/>
                <a:ea typeface="Arial MT"/>
                <a:cs typeface="Arial MT"/>
              </a:rPr>
              <a:t> </a:t>
            </a:r>
            <a:r>
              <a:rPr lang="en-US" sz="3600" b="1" dirty="0">
                <a:latin typeface="+mj-lt"/>
                <a:ea typeface="Arial MT"/>
                <a:cs typeface="Arial MT"/>
              </a:rPr>
              <a:t>Room</a:t>
            </a:r>
            <a:r>
              <a:rPr lang="en-US" sz="3600" b="1" spc="-15" dirty="0">
                <a:latin typeface="+mj-lt"/>
                <a:ea typeface="Arial MT"/>
                <a:cs typeface="Arial MT"/>
              </a:rPr>
              <a:t> </a:t>
            </a:r>
            <a:r>
              <a:rPr lang="en-US" sz="3600" b="1" spc="-20" dirty="0">
                <a:latin typeface="+mj-lt"/>
                <a:ea typeface="Arial MT"/>
                <a:cs typeface="Arial MT"/>
              </a:rPr>
              <a:t>Fees</a:t>
            </a:r>
          </a:p>
          <a:p>
            <a:pPr marL="355600" marR="0" indent="-285750">
              <a:lnSpc>
                <a:spcPts val="3000"/>
              </a:lnSpc>
              <a:spcBef>
                <a:spcPts val="60"/>
              </a:spcBef>
              <a:spcAft>
                <a:spcPts val="0"/>
              </a:spcAft>
              <a:buFont typeface="Arial" panose="020B0604020202020204" pitchFamily="34" charset="0"/>
              <a:buChar char="•"/>
            </a:pPr>
            <a:endParaRPr lang="en-US" sz="3600" b="1" spc="-20" dirty="0">
              <a:latin typeface="+mj-lt"/>
              <a:ea typeface="Arial MT"/>
              <a:cs typeface="Arial MT"/>
            </a:endParaRPr>
          </a:p>
          <a:p>
            <a:pPr marL="355600" marR="0" indent="-285750">
              <a:lnSpc>
                <a:spcPts val="3000"/>
              </a:lnSpc>
              <a:spcBef>
                <a:spcPts val="65"/>
              </a:spcBef>
              <a:spcAft>
                <a:spcPts val="0"/>
              </a:spcAft>
              <a:buFont typeface="Arial" panose="020B0604020202020204" pitchFamily="34" charset="0"/>
              <a:buChar char="•"/>
            </a:pPr>
            <a:r>
              <a:rPr lang="en-US" sz="3600" b="1" dirty="0">
                <a:latin typeface="+mj-lt"/>
                <a:ea typeface="Arial MT"/>
                <a:cs typeface="Arial MT"/>
              </a:rPr>
              <a:t>Medicines</a:t>
            </a:r>
            <a:r>
              <a:rPr lang="en-US" sz="3600" b="1" spc="-20" dirty="0">
                <a:latin typeface="+mj-lt"/>
                <a:ea typeface="Arial MT"/>
                <a:cs typeface="Arial MT"/>
              </a:rPr>
              <a:t> </a:t>
            </a:r>
            <a:r>
              <a:rPr lang="en-US" sz="3600" b="1" dirty="0">
                <a:latin typeface="+mj-lt"/>
                <a:ea typeface="Arial MT"/>
                <a:cs typeface="Arial MT"/>
              </a:rPr>
              <a:t>used</a:t>
            </a:r>
            <a:r>
              <a:rPr lang="en-US" sz="3600" b="1" spc="-30" dirty="0">
                <a:latin typeface="+mj-lt"/>
                <a:ea typeface="Arial MT"/>
                <a:cs typeface="Arial MT"/>
              </a:rPr>
              <a:t> </a:t>
            </a:r>
            <a:r>
              <a:rPr lang="en-US" sz="3600" b="1" dirty="0">
                <a:latin typeface="+mj-lt"/>
                <a:ea typeface="Arial MT"/>
                <a:cs typeface="Arial MT"/>
              </a:rPr>
              <a:t>for</a:t>
            </a:r>
            <a:r>
              <a:rPr lang="en-US" sz="3600" b="1" spc="-20" dirty="0">
                <a:latin typeface="+mj-lt"/>
                <a:ea typeface="Arial MT"/>
                <a:cs typeface="Arial MT"/>
              </a:rPr>
              <a:t> </a:t>
            </a:r>
            <a:r>
              <a:rPr lang="en-US" sz="3600" b="1" dirty="0">
                <a:latin typeface="+mj-lt"/>
                <a:ea typeface="Arial MT"/>
                <a:cs typeface="Arial MT"/>
              </a:rPr>
              <a:t>immediate</a:t>
            </a:r>
            <a:r>
              <a:rPr lang="en-US" sz="3600" b="1" spc="-10" dirty="0">
                <a:latin typeface="+mj-lt"/>
                <a:ea typeface="Arial MT"/>
                <a:cs typeface="Arial MT"/>
              </a:rPr>
              <a:t> </a:t>
            </a:r>
            <a:r>
              <a:rPr lang="en-US" sz="3600" b="1" dirty="0">
                <a:latin typeface="+mj-lt"/>
                <a:ea typeface="Arial MT"/>
                <a:cs typeface="Arial MT"/>
              </a:rPr>
              <a:t>relief</a:t>
            </a:r>
            <a:r>
              <a:rPr lang="en-US" sz="3600" b="1" spc="-30" dirty="0">
                <a:latin typeface="+mj-lt"/>
                <a:ea typeface="Arial MT"/>
                <a:cs typeface="Arial MT"/>
              </a:rPr>
              <a:t> </a:t>
            </a:r>
            <a:r>
              <a:rPr lang="en-US" sz="3600" b="1" dirty="0">
                <a:latin typeface="+mj-lt"/>
                <a:ea typeface="Arial MT"/>
                <a:cs typeface="Arial MT"/>
              </a:rPr>
              <a:t>during</a:t>
            </a:r>
            <a:r>
              <a:rPr lang="en-US" sz="3600" b="1" spc="-30" dirty="0">
                <a:latin typeface="+mj-lt"/>
                <a:ea typeface="Arial MT"/>
                <a:cs typeface="Arial MT"/>
              </a:rPr>
              <a:t> </a:t>
            </a:r>
            <a:r>
              <a:rPr lang="en-US" sz="3600" b="1" spc="-10" dirty="0">
                <a:latin typeface="+mj-lt"/>
                <a:ea typeface="Arial MT"/>
                <a:cs typeface="Arial MT"/>
              </a:rPr>
              <a:t>treatment</a:t>
            </a:r>
          </a:p>
          <a:p>
            <a:pPr marL="355600" marR="0" indent="-285750">
              <a:lnSpc>
                <a:spcPts val="3000"/>
              </a:lnSpc>
              <a:spcBef>
                <a:spcPts val="65"/>
              </a:spcBef>
              <a:spcAft>
                <a:spcPts val="0"/>
              </a:spcAft>
              <a:buFont typeface="Arial" panose="020B0604020202020204" pitchFamily="34" charset="0"/>
              <a:buChar char="•"/>
            </a:pPr>
            <a:endParaRPr lang="en-US" sz="3600" b="1" spc="-10" dirty="0">
              <a:latin typeface="+mj-lt"/>
              <a:ea typeface="Arial MT"/>
              <a:cs typeface="Arial MT"/>
            </a:endParaRPr>
          </a:p>
          <a:p>
            <a:pPr marL="355600" marR="0" indent="-285750">
              <a:lnSpc>
                <a:spcPts val="3000"/>
              </a:lnSpc>
              <a:spcBef>
                <a:spcPts val="50"/>
              </a:spcBef>
              <a:spcAft>
                <a:spcPts val="0"/>
              </a:spcAft>
              <a:buFont typeface="Arial" panose="020B0604020202020204" pitchFamily="34" charset="0"/>
              <a:buChar char="•"/>
            </a:pPr>
            <a:r>
              <a:rPr lang="en-US" sz="3600" b="1" dirty="0">
                <a:latin typeface="+mj-lt"/>
                <a:ea typeface="Arial MT"/>
                <a:cs typeface="Arial MT"/>
              </a:rPr>
              <a:t>Oxygen,</a:t>
            </a:r>
            <a:r>
              <a:rPr lang="en-US" sz="3600" b="1" spc="-10" dirty="0">
                <a:latin typeface="+mj-lt"/>
                <a:ea typeface="Arial MT"/>
                <a:cs typeface="Arial MT"/>
              </a:rPr>
              <a:t> </a:t>
            </a:r>
            <a:r>
              <a:rPr lang="en-US" sz="3600" b="1" dirty="0">
                <a:latin typeface="+mj-lt"/>
                <a:ea typeface="Arial MT"/>
                <a:cs typeface="Arial MT"/>
              </a:rPr>
              <a:t>intravenous</a:t>
            </a:r>
            <a:r>
              <a:rPr lang="en-US" sz="3600" b="1" spc="-5" dirty="0">
                <a:latin typeface="+mj-lt"/>
                <a:ea typeface="Arial MT"/>
                <a:cs typeface="Arial MT"/>
              </a:rPr>
              <a:t> </a:t>
            </a:r>
            <a:r>
              <a:rPr lang="en-US" sz="3600" b="1" dirty="0">
                <a:latin typeface="+mj-lt"/>
                <a:ea typeface="Arial MT"/>
                <a:cs typeface="Arial MT"/>
              </a:rPr>
              <a:t>fluids</a:t>
            </a:r>
            <a:r>
              <a:rPr lang="en-US" sz="3600" b="1" spc="-35" dirty="0">
                <a:latin typeface="+mj-lt"/>
                <a:ea typeface="Arial MT"/>
                <a:cs typeface="Arial MT"/>
              </a:rPr>
              <a:t> </a:t>
            </a:r>
            <a:r>
              <a:rPr lang="en-US" sz="3600" b="1" dirty="0">
                <a:latin typeface="+mj-lt"/>
                <a:ea typeface="Arial MT"/>
                <a:cs typeface="Arial MT"/>
              </a:rPr>
              <a:t>and</a:t>
            </a:r>
            <a:r>
              <a:rPr lang="en-US" sz="3600" b="1" spc="-15" dirty="0">
                <a:latin typeface="+mj-lt"/>
                <a:ea typeface="Arial MT"/>
                <a:cs typeface="Arial MT"/>
              </a:rPr>
              <a:t> </a:t>
            </a:r>
            <a:r>
              <a:rPr lang="en-US" sz="3600" b="1" dirty="0">
                <a:latin typeface="+mj-lt"/>
                <a:ea typeface="Arial MT"/>
                <a:cs typeface="Arial MT"/>
              </a:rPr>
              <a:t>blood</a:t>
            </a:r>
            <a:r>
              <a:rPr lang="en-US" sz="3600" b="1" spc="-10" dirty="0">
                <a:latin typeface="+mj-lt"/>
                <a:ea typeface="Arial MT"/>
                <a:cs typeface="Arial MT"/>
              </a:rPr>
              <a:t> products</a:t>
            </a:r>
          </a:p>
          <a:p>
            <a:pPr marL="355600" marR="0" indent="-285750">
              <a:lnSpc>
                <a:spcPts val="3000"/>
              </a:lnSpc>
              <a:spcBef>
                <a:spcPts val="50"/>
              </a:spcBef>
              <a:spcAft>
                <a:spcPts val="0"/>
              </a:spcAft>
              <a:buFont typeface="Arial" panose="020B0604020202020204" pitchFamily="34" charset="0"/>
              <a:buChar char="•"/>
            </a:pPr>
            <a:endParaRPr lang="en-US" sz="3600" b="1" spc="-10" dirty="0">
              <a:latin typeface="+mj-lt"/>
              <a:ea typeface="Arial MT"/>
              <a:cs typeface="Arial MT"/>
            </a:endParaRPr>
          </a:p>
          <a:p>
            <a:pPr marL="355600" lvl="0" indent="-285750" defTabSz="914400">
              <a:lnSpc>
                <a:spcPts val="3000"/>
              </a:lnSpc>
              <a:spcBef>
                <a:spcPts val="50"/>
              </a:spcBef>
              <a:buFont typeface="Arial" panose="020B0604020202020204" pitchFamily="34" charset="0"/>
              <a:buChar char="•"/>
              <a:defRPr/>
            </a:pPr>
            <a:r>
              <a:rPr lang="en-US" sz="3600" b="1" dirty="0">
                <a:latin typeface="+mj-lt"/>
                <a:ea typeface="Arial MT"/>
                <a:cs typeface="Arial MT"/>
              </a:rPr>
              <a:t>Dressings,</a:t>
            </a:r>
            <a:r>
              <a:rPr lang="en-US" sz="3600" b="1" spc="-20" dirty="0">
                <a:latin typeface="+mj-lt"/>
                <a:ea typeface="Arial MT"/>
                <a:cs typeface="Arial MT"/>
              </a:rPr>
              <a:t> </a:t>
            </a:r>
            <a:r>
              <a:rPr lang="en-US" sz="3600" b="1" dirty="0">
                <a:latin typeface="+mj-lt"/>
                <a:ea typeface="Arial MT"/>
                <a:cs typeface="Arial MT"/>
              </a:rPr>
              <a:t>conventional</a:t>
            </a:r>
            <a:r>
              <a:rPr lang="en-US" sz="3600" b="1" spc="-15" dirty="0">
                <a:latin typeface="+mj-lt"/>
                <a:ea typeface="Arial MT"/>
                <a:cs typeface="Arial MT"/>
              </a:rPr>
              <a:t> </a:t>
            </a:r>
            <a:r>
              <a:rPr lang="en-US" sz="3600" b="1" dirty="0">
                <a:latin typeface="+mj-lt"/>
                <a:ea typeface="Arial MT"/>
                <a:cs typeface="Arial MT"/>
              </a:rPr>
              <a:t>casts</a:t>
            </a:r>
            <a:r>
              <a:rPr lang="en-US" sz="3600" b="1" spc="-20" dirty="0">
                <a:latin typeface="+mj-lt"/>
                <a:ea typeface="Arial MT"/>
                <a:cs typeface="Arial MT"/>
              </a:rPr>
              <a:t> </a:t>
            </a:r>
            <a:r>
              <a:rPr lang="en-US" sz="3600" b="1" dirty="0">
                <a:latin typeface="+mj-lt"/>
                <a:ea typeface="Arial MT"/>
                <a:cs typeface="Arial MT"/>
              </a:rPr>
              <a:t>(plaster</a:t>
            </a:r>
            <a:r>
              <a:rPr lang="en-US" sz="3600" b="1" spc="-15" dirty="0">
                <a:latin typeface="+mj-lt"/>
                <a:ea typeface="Arial MT"/>
                <a:cs typeface="Arial MT"/>
              </a:rPr>
              <a:t> </a:t>
            </a:r>
            <a:r>
              <a:rPr lang="en-US" sz="3600" b="1" dirty="0">
                <a:latin typeface="+mj-lt"/>
                <a:ea typeface="Arial MT"/>
                <a:cs typeface="Arial MT"/>
              </a:rPr>
              <a:t>of</a:t>
            </a:r>
            <a:r>
              <a:rPr lang="en-US" sz="3600" b="1" spc="-20" dirty="0">
                <a:latin typeface="+mj-lt"/>
                <a:ea typeface="Arial MT"/>
                <a:cs typeface="Arial MT"/>
              </a:rPr>
              <a:t> </a:t>
            </a:r>
            <a:r>
              <a:rPr lang="en-US" sz="3600" b="1" dirty="0">
                <a:latin typeface="+mj-lt"/>
                <a:ea typeface="Arial MT"/>
                <a:cs typeface="Arial MT"/>
              </a:rPr>
              <a:t>Paris)</a:t>
            </a:r>
            <a:r>
              <a:rPr lang="en-US" sz="3600" b="1" spc="-15" dirty="0">
                <a:latin typeface="+mj-lt"/>
                <a:ea typeface="Arial MT"/>
                <a:cs typeface="Arial MT"/>
              </a:rPr>
              <a:t> </a:t>
            </a:r>
            <a:r>
              <a:rPr lang="en-US" sz="3600" b="1" dirty="0">
                <a:latin typeface="+mj-lt"/>
                <a:ea typeface="Arial MT"/>
                <a:cs typeface="Arial MT"/>
              </a:rPr>
              <a:t>and</a:t>
            </a:r>
            <a:r>
              <a:rPr lang="en-US" sz="3600" b="1" spc="-20" dirty="0">
                <a:latin typeface="+mj-lt"/>
                <a:ea typeface="Arial MT"/>
                <a:cs typeface="Arial MT"/>
              </a:rPr>
              <a:t> </a:t>
            </a:r>
            <a:r>
              <a:rPr lang="en-US" sz="3600" b="1" spc="-10" dirty="0">
                <a:latin typeface="+mj-lt"/>
                <a:ea typeface="Arial MT"/>
                <a:cs typeface="Arial MT"/>
              </a:rPr>
              <a:t>sutures</a:t>
            </a:r>
          </a:p>
          <a:p>
            <a:pPr marL="355600" lvl="0" indent="-285750" defTabSz="914400">
              <a:lnSpc>
                <a:spcPts val="3000"/>
              </a:lnSpc>
              <a:spcBef>
                <a:spcPts val="50"/>
              </a:spcBef>
              <a:buFont typeface="Arial" panose="020B0604020202020204" pitchFamily="34" charset="0"/>
              <a:buChar char="•"/>
              <a:defRPr/>
            </a:pPr>
            <a:endParaRPr lang="en-US" sz="3600" b="1" spc="-10" dirty="0">
              <a:latin typeface="+mj-lt"/>
              <a:ea typeface="Arial MT"/>
              <a:cs typeface="Arial MT"/>
            </a:endParaRPr>
          </a:p>
          <a:p>
            <a:pPr marL="355600" lvl="0" indent="-285750" defTabSz="914400">
              <a:lnSpc>
                <a:spcPts val="3000"/>
              </a:lnSpc>
              <a:spcBef>
                <a:spcPts val="50"/>
              </a:spcBef>
              <a:buFont typeface="Arial" panose="020B0604020202020204" pitchFamily="34" charset="0"/>
              <a:buChar char="•"/>
              <a:defRPr/>
            </a:pPr>
            <a:r>
              <a:rPr lang="en-US" sz="3600" b="1" dirty="0">
                <a:latin typeface="+mj-lt"/>
                <a:ea typeface="Arial MT"/>
                <a:cs typeface="Arial MT"/>
              </a:rPr>
              <a:t>X-ray, laboratory , and diagnostic examinations, and other medical services related to the emergency treatment of the </a:t>
            </a:r>
            <a:r>
              <a:rPr lang="en-US" sz="3600" b="1" spc="-10" dirty="0">
                <a:latin typeface="+mj-lt"/>
                <a:ea typeface="Arial MT"/>
                <a:cs typeface="Arial MT"/>
              </a:rPr>
              <a:t>patient.</a:t>
            </a:r>
            <a:endParaRPr lang="en-US" sz="3600" b="1" dirty="0">
              <a:latin typeface="+mj-lt"/>
              <a:ea typeface="Arial MT"/>
              <a:cs typeface="Arial MT"/>
            </a:endParaRPr>
          </a:p>
          <a:p>
            <a:pPr marL="69850" lvl="0" defTabSz="914400">
              <a:lnSpc>
                <a:spcPts val="2500"/>
              </a:lnSpc>
              <a:spcBef>
                <a:spcPts val="50"/>
              </a:spcBef>
              <a:defRPr/>
            </a:pPr>
            <a:endParaRPr lang="en-US" sz="3600" b="1" dirty="0">
              <a:latin typeface="+mj-lt"/>
              <a:ea typeface="Arial MT"/>
              <a:cs typeface="Arial MT"/>
            </a:endParaRPr>
          </a:p>
          <a:p>
            <a:pPr>
              <a:lnSpc>
                <a:spcPts val="2500"/>
              </a:lnSpc>
            </a:pPr>
            <a:endParaRPr lang="en-US" sz="3600" dirty="0">
              <a:latin typeface="+mj-lt"/>
            </a:endParaRPr>
          </a:p>
        </p:txBody>
      </p:sp>
      <p:pic>
        <p:nvPicPr>
          <p:cNvPr id="1026" name="Picture 2" descr="Emergency Icons in SVG, PNG, AI to Download">
            <a:extLst>
              <a:ext uri="{FF2B5EF4-FFF2-40B4-BE49-F238E27FC236}">
                <a16:creationId xmlns:a16="http://schemas.microsoft.com/office/drawing/2014/main" id="{DEB73918-3DA9-44C9-B64A-C5FCBF4682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2264" y="727091"/>
            <a:ext cx="8441495" cy="84414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xEl>
                                              <p:pRg st="2" end="2"/>
                                            </p:txEl>
                                          </p:spTgt>
                                        </p:tgtEl>
                                        <p:attrNameLst>
                                          <p:attrName>style.visibility</p:attrName>
                                        </p:attrNameLst>
                                      </p:cBhvr>
                                      <p:to>
                                        <p:strVal val="visible"/>
                                      </p:to>
                                    </p:set>
                                    <p:animEffect transition="in" filter="fade">
                                      <p:cBhvr>
                                        <p:cTn id="12" dur="500"/>
                                        <p:tgtEl>
                                          <p:spTgt spid="2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xEl>
                                              <p:pRg st="4" end="4"/>
                                            </p:txEl>
                                          </p:spTgt>
                                        </p:tgtEl>
                                        <p:attrNameLst>
                                          <p:attrName>style.visibility</p:attrName>
                                        </p:attrNameLst>
                                      </p:cBhvr>
                                      <p:to>
                                        <p:strVal val="visible"/>
                                      </p:to>
                                    </p:set>
                                    <p:animEffect transition="in" filter="fade">
                                      <p:cBhvr>
                                        <p:cTn id="17" dur="500"/>
                                        <p:tgtEl>
                                          <p:spTgt spid="2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xEl>
                                              <p:pRg st="6" end="6"/>
                                            </p:txEl>
                                          </p:spTgt>
                                        </p:tgtEl>
                                        <p:attrNameLst>
                                          <p:attrName>style.visibility</p:attrName>
                                        </p:attrNameLst>
                                      </p:cBhvr>
                                      <p:to>
                                        <p:strVal val="visible"/>
                                      </p:to>
                                    </p:set>
                                    <p:animEffect transition="in" filter="fade">
                                      <p:cBhvr>
                                        <p:cTn id="22" dur="500"/>
                                        <p:tgtEl>
                                          <p:spTgt spid="2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xEl>
                                              <p:pRg st="8" end="8"/>
                                            </p:txEl>
                                          </p:spTgt>
                                        </p:tgtEl>
                                        <p:attrNameLst>
                                          <p:attrName>style.visibility</p:attrName>
                                        </p:attrNameLst>
                                      </p:cBhvr>
                                      <p:to>
                                        <p:strVal val="visible"/>
                                      </p:to>
                                    </p:set>
                                    <p:animEffect transition="in" filter="fade">
                                      <p:cBhvr>
                                        <p:cTn id="27" dur="500"/>
                                        <p:tgtEl>
                                          <p:spTgt spid="2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
                                            <p:txEl>
                                              <p:pRg st="10" end="10"/>
                                            </p:txEl>
                                          </p:spTgt>
                                        </p:tgtEl>
                                        <p:attrNameLst>
                                          <p:attrName>style.visibility</p:attrName>
                                        </p:attrNameLst>
                                      </p:cBhvr>
                                      <p:to>
                                        <p:strVal val="visible"/>
                                      </p:to>
                                    </p:set>
                                    <p:animEffect transition="in" filter="fade">
                                      <p:cBhvr>
                                        <p:cTn id="32" dur="500"/>
                                        <p:tgtEl>
                                          <p:spTgt spid="23">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
                                            <p:txEl>
                                              <p:pRg st="12" end="12"/>
                                            </p:txEl>
                                          </p:spTgt>
                                        </p:tgtEl>
                                        <p:attrNameLst>
                                          <p:attrName>style.visibility</p:attrName>
                                        </p:attrNameLst>
                                      </p:cBhvr>
                                      <p:to>
                                        <p:strVal val="visible"/>
                                      </p:to>
                                    </p:set>
                                    <p:animEffect transition="in" filter="fade">
                                      <p:cBhvr>
                                        <p:cTn id="37" dur="500"/>
                                        <p:tgtEl>
                                          <p:spTgt spid="2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sp>
        <p:nvSpPr>
          <p:cNvPr id="16" name="TextBox 16"/>
          <p:cNvSpPr txBox="1"/>
          <p:nvPr/>
        </p:nvSpPr>
        <p:spPr>
          <a:xfrm>
            <a:off x="914401" y="1083335"/>
            <a:ext cx="6629400" cy="910506"/>
          </a:xfrm>
          <a:prstGeom prst="rect">
            <a:avLst/>
          </a:prstGeom>
        </p:spPr>
        <p:txBody>
          <a:bodyPr wrap="square" lIns="0" tIns="0" rIns="0" bIns="0" rtlCol="0" anchor="t">
            <a:spAutoFit/>
          </a:bodyPr>
          <a:lstStyle/>
          <a:p>
            <a:pPr algn="l">
              <a:lnSpc>
                <a:spcPts val="7050"/>
              </a:lnSpc>
              <a:spcBef>
                <a:spcPct val="0"/>
              </a:spcBef>
            </a:pPr>
            <a:r>
              <a:rPr lang="en-US" sz="6600" b="1" dirty="0">
                <a:solidFill>
                  <a:srgbClr val="000000"/>
                </a:solidFill>
                <a:latin typeface="+mj-lt"/>
                <a:ea typeface="Poppins Bold"/>
                <a:cs typeface="Poppins Bold"/>
                <a:sym typeface="Poppins Bold"/>
              </a:rPr>
              <a:t>EMERGENCY CARE</a:t>
            </a:r>
          </a:p>
        </p:txBody>
      </p:sp>
      <p:sp>
        <p:nvSpPr>
          <p:cNvPr id="23" name="TextBox 22">
            <a:extLst>
              <a:ext uri="{FF2B5EF4-FFF2-40B4-BE49-F238E27FC236}">
                <a16:creationId xmlns:a16="http://schemas.microsoft.com/office/drawing/2014/main" id="{DBAF4020-F01C-41B0-A5C9-C6357C3EB5D4}"/>
              </a:ext>
            </a:extLst>
          </p:cNvPr>
          <p:cNvSpPr txBox="1"/>
          <p:nvPr/>
        </p:nvSpPr>
        <p:spPr>
          <a:xfrm>
            <a:off x="2639" y="2411484"/>
            <a:ext cx="18540961" cy="8463855"/>
          </a:xfrm>
          <a:prstGeom prst="rect">
            <a:avLst/>
          </a:prstGeom>
          <a:noFill/>
        </p:spPr>
        <p:txBody>
          <a:bodyPr wrap="square" rtlCol="0">
            <a:spAutoFit/>
          </a:bodyPr>
          <a:lstStyle/>
          <a:p>
            <a:r>
              <a:rPr lang="en-US" sz="3600" dirty="0">
                <a:latin typeface="+mj-lt"/>
              </a:rPr>
              <a:t>Emergency treatment in non-affiliated </a:t>
            </a:r>
          </a:p>
          <a:p>
            <a:r>
              <a:rPr lang="en-US" sz="3600" dirty="0">
                <a:latin typeface="+mj-lt"/>
              </a:rPr>
              <a:t>hospitals/clinics- </a:t>
            </a:r>
            <a:r>
              <a:rPr lang="en-US" sz="3600" b="1" dirty="0">
                <a:latin typeface="+mj-lt"/>
              </a:rPr>
              <a:t>80%</a:t>
            </a:r>
            <a:r>
              <a:rPr lang="en-US" sz="3600" dirty="0">
                <a:latin typeface="+mj-lt"/>
              </a:rPr>
              <a:t> reimbursement based </a:t>
            </a:r>
          </a:p>
          <a:p>
            <a:r>
              <a:rPr lang="en-US" sz="3600" dirty="0">
                <a:latin typeface="+mj-lt"/>
              </a:rPr>
              <a:t>on AMAPHIL RUV</a:t>
            </a:r>
          </a:p>
          <a:p>
            <a:endParaRPr lang="en-US" sz="3600" dirty="0">
              <a:latin typeface="+mj-lt"/>
            </a:endParaRPr>
          </a:p>
          <a:p>
            <a:endParaRPr lang="en-US" sz="3600" dirty="0">
              <a:latin typeface="+mj-lt"/>
            </a:endParaRPr>
          </a:p>
          <a:p>
            <a:r>
              <a:rPr lang="en-US" sz="3600" dirty="0">
                <a:latin typeface="+mj-lt"/>
              </a:rPr>
              <a:t>Emergency treatment in affiliated </a:t>
            </a:r>
          </a:p>
          <a:p>
            <a:r>
              <a:rPr lang="en-US" sz="3600" dirty="0">
                <a:latin typeface="+mj-lt"/>
              </a:rPr>
              <a:t>hospitals/clinics- </a:t>
            </a:r>
            <a:r>
              <a:rPr lang="en-US" sz="3600" b="1" dirty="0">
                <a:latin typeface="+mj-lt"/>
              </a:rPr>
              <a:t>100%</a:t>
            </a:r>
            <a:r>
              <a:rPr lang="en-US" sz="3600" dirty="0">
                <a:latin typeface="+mj-lt"/>
              </a:rPr>
              <a:t> reimbursement based </a:t>
            </a:r>
          </a:p>
          <a:p>
            <a:r>
              <a:rPr lang="en-US" sz="3600" dirty="0">
                <a:latin typeface="+mj-lt"/>
              </a:rPr>
              <a:t>on AMAPHIL RUV</a:t>
            </a:r>
          </a:p>
          <a:p>
            <a:endParaRPr lang="en-US" sz="3600" dirty="0">
              <a:latin typeface="+mj-lt"/>
            </a:endParaRPr>
          </a:p>
          <a:p>
            <a:endParaRPr lang="en-US" sz="3600" dirty="0">
              <a:latin typeface="+mj-lt"/>
            </a:endParaRPr>
          </a:p>
          <a:p>
            <a:r>
              <a:rPr lang="en-US" sz="3600" dirty="0">
                <a:latin typeface="+mj-lt"/>
              </a:rPr>
              <a:t>Emergency treatment in areas without affiliated</a:t>
            </a:r>
          </a:p>
          <a:p>
            <a:r>
              <a:rPr lang="en-US" sz="3600" dirty="0">
                <a:latin typeface="+mj-lt"/>
              </a:rPr>
              <a:t>hospitals/clinics (within a 15 km radius)  </a:t>
            </a:r>
          </a:p>
          <a:p>
            <a:r>
              <a:rPr lang="en-US" sz="3600" b="1" dirty="0">
                <a:latin typeface="+mj-lt"/>
              </a:rPr>
              <a:t>100% </a:t>
            </a:r>
            <a:r>
              <a:rPr lang="en-US" sz="3600" dirty="0">
                <a:latin typeface="+mj-lt"/>
              </a:rPr>
              <a:t>reimbursement based on AMAPHIL RUV</a:t>
            </a:r>
          </a:p>
          <a:p>
            <a:endParaRPr lang="en-US" sz="2000" dirty="0">
              <a:latin typeface="+mj-lt"/>
            </a:endParaRPr>
          </a:p>
          <a:p>
            <a:r>
              <a:rPr lang="en-US" sz="2000" b="1" dirty="0">
                <a:solidFill>
                  <a:srgbClr val="FF0000"/>
                </a:solidFill>
                <a:latin typeface="+mj-lt"/>
              </a:rPr>
              <a:t>NOTE: Subject to plan limits</a:t>
            </a:r>
          </a:p>
          <a:p>
            <a:endParaRPr lang="en-US" sz="3600" dirty="0">
              <a:latin typeface="+mj-lt"/>
            </a:endParaRPr>
          </a:p>
        </p:txBody>
      </p:sp>
      <p:pic>
        <p:nvPicPr>
          <p:cNvPr id="17" name="Picture 2" descr="Emergency Icons in SVG, PNG, AI to Download">
            <a:extLst>
              <a:ext uri="{FF2B5EF4-FFF2-40B4-BE49-F238E27FC236}">
                <a16:creationId xmlns:a16="http://schemas.microsoft.com/office/drawing/2014/main" id="{8E30B59A-D77C-4BE6-ACC7-33C1436393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2264" y="727091"/>
            <a:ext cx="8441495" cy="8441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0288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500"/>
                                        <p:tgtEl>
                                          <p:spTgt spid="2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3">
                                            <p:txEl>
                                              <p:pRg st="1" end="1"/>
                                            </p:txEl>
                                          </p:spTgt>
                                        </p:tgtEl>
                                        <p:attrNameLst>
                                          <p:attrName>style.visibility</p:attrName>
                                        </p:attrNameLst>
                                      </p:cBhvr>
                                      <p:to>
                                        <p:strVal val="visible"/>
                                      </p:to>
                                    </p:set>
                                    <p:animEffect transition="in" filter="fade">
                                      <p:cBhvr>
                                        <p:cTn id="10" dur="500"/>
                                        <p:tgtEl>
                                          <p:spTgt spid="2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xEl>
                                              <p:pRg st="2" end="2"/>
                                            </p:txEl>
                                          </p:spTgt>
                                        </p:tgtEl>
                                        <p:attrNameLst>
                                          <p:attrName>style.visibility</p:attrName>
                                        </p:attrNameLst>
                                      </p:cBhvr>
                                      <p:to>
                                        <p:strVal val="visible"/>
                                      </p:to>
                                    </p:set>
                                    <p:animEffect transition="in" filter="fade">
                                      <p:cBhvr>
                                        <p:cTn id="13" dur="500"/>
                                        <p:tgtEl>
                                          <p:spTgt spid="2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3">
                                            <p:txEl>
                                              <p:pRg st="5" end="5"/>
                                            </p:txEl>
                                          </p:spTgt>
                                        </p:tgtEl>
                                        <p:attrNameLst>
                                          <p:attrName>style.visibility</p:attrName>
                                        </p:attrNameLst>
                                      </p:cBhvr>
                                      <p:to>
                                        <p:strVal val="visible"/>
                                      </p:to>
                                    </p:set>
                                    <p:animEffect transition="in" filter="fade">
                                      <p:cBhvr>
                                        <p:cTn id="18" dur="500"/>
                                        <p:tgtEl>
                                          <p:spTgt spid="2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3">
                                            <p:txEl>
                                              <p:pRg st="6" end="6"/>
                                            </p:txEl>
                                          </p:spTgt>
                                        </p:tgtEl>
                                        <p:attrNameLst>
                                          <p:attrName>style.visibility</p:attrName>
                                        </p:attrNameLst>
                                      </p:cBhvr>
                                      <p:to>
                                        <p:strVal val="visible"/>
                                      </p:to>
                                    </p:set>
                                    <p:animEffect transition="in" filter="fade">
                                      <p:cBhvr>
                                        <p:cTn id="21" dur="500"/>
                                        <p:tgtEl>
                                          <p:spTgt spid="2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3">
                                            <p:txEl>
                                              <p:pRg st="7" end="7"/>
                                            </p:txEl>
                                          </p:spTgt>
                                        </p:tgtEl>
                                        <p:attrNameLst>
                                          <p:attrName>style.visibility</p:attrName>
                                        </p:attrNameLst>
                                      </p:cBhvr>
                                      <p:to>
                                        <p:strVal val="visible"/>
                                      </p:to>
                                    </p:set>
                                    <p:animEffect transition="in" filter="fade">
                                      <p:cBhvr>
                                        <p:cTn id="24" dur="500"/>
                                        <p:tgtEl>
                                          <p:spTgt spid="23">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3">
                                            <p:txEl>
                                              <p:pRg st="10" end="10"/>
                                            </p:txEl>
                                          </p:spTgt>
                                        </p:tgtEl>
                                        <p:attrNameLst>
                                          <p:attrName>style.visibility</p:attrName>
                                        </p:attrNameLst>
                                      </p:cBhvr>
                                      <p:to>
                                        <p:strVal val="visible"/>
                                      </p:to>
                                    </p:set>
                                    <p:animEffect transition="in" filter="fade">
                                      <p:cBhvr>
                                        <p:cTn id="29" dur="500"/>
                                        <p:tgtEl>
                                          <p:spTgt spid="23">
                                            <p:txEl>
                                              <p:pRg st="10" end="10"/>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3">
                                            <p:txEl>
                                              <p:pRg st="11" end="11"/>
                                            </p:txEl>
                                          </p:spTgt>
                                        </p:tgtEl>
                                        <p:attrNameLst>
                                          <p:attrName>style.visibility</p:attrName>
                                        </p:attrNameLst>
                                      </p:cBhvr>
                                      <p:to>
                                        <p:strVal val="visible"/>
                                      </p:to>
                                    </p:set>
                                    <p:animEffect transition="in" filter="fade">
                                      <p:cBhvr>
                                        <p:cTn id="32" dur="500"/>
                                        <p:tgtEl>
                                          <p:spTgt spid="23">
                                            <p:txEl>
                                              <p:pRg st="11" end="1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23">
                                            <p:txEl>
                                              <p:pRg st="12" end="12"/>
                                            </p:txEl>
                                          </p:spTgt>
                                        </p:tgtEl>
                                        <p:attrNameLst>
                                          <p:attrName>style.visibility</p:attrName>
                                        </p:attrNameLst>
                                      </p:cBhvr>
                                      <p:to>
                                        <p:strVal val="visible"/>
                                      </p:to>
                                    </p:set>
                                    <p:animEffect transition="in" filter="fade">
                                      <p:cBhvr>
                                        <p:cTn id="35" dur="500"/>
                                        <p:tgtEl>
                                          <p:spTgt spid="23">
                                            <p:txEl>
                                              <p:pRg st="12" end="1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3">
                                            <p:txEl>
                                              <p:pRg st="14" end="14"/>
                                            </p:txEl>
                                          </p:spTgt>
                                        </p:tgtEl>
                                        <p:attrNameLst>
                                          <p:attrName>style.visibility</p:attrName>
                                        </p:attrNameLst>
                                      </p:cBhvr>
                                      <p:to>
                                        <p:strVal val="visible"/>
                                      </p:to>
                                    </p:set>
                                    <p:animEffect transition="in" filter="fade">
                                      <p:cBhvr>
                                        <p:cTn id="40" dur="500"/>
                                        <p:tgtEl>
                                          <p:spTgt spid="2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5077867" y="-784225"/>
            <a:ext cx="6088480" cy="1326059"/>
            <a:chOff x="0" y="0"/>
            <a:chExt cx="3207100" cy="698500"/>
          </a:xfrm>
        </p:grpSpPr>
        <p:sp>
          <p:nvSpPr>
            <p:cNvPr id="10" name="Freeform 10"/>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1" name="TextBox 11"/>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44950" y="-1063420"/>
            <a:ext cx="3086100" cy="2700338"/>
            <a:chOff x="0" y="0"/>
            <a:chExt cx="812800" cy="711200"/>
          </a:xfrm>
        </p:grpSpPr>
        <p:sp>
          <p:nvSpPr>
            <p:cNvPr id="13" name="Freeform 1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4" name="TextBox 14"/>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2946297" y="286749"/>
            <a:ext cx="10704902" cy="884858"/>
          </a:xfrm>
          <a:prstGeom prst="rect">
            <a:avLst/>
          </a:prstGeom>
        </p:spPr>
        <p:txBody>
          <a:bodyPr lIns="0" tIns="0" rIns="0" bIns="0" rtlCol="0" anchor="t">
            <a:spAutoFit/>
          </a:bodyPr>
          <a:lstStyle/>
          <a:p>
            <a:pPr algn="r">
              <a:lnSpc>
                <a:spcPts val="6898"/>
              </a:lnSpc>
              <a:spcBef>
                <a:spcPct val="0"/>
              </a:spcBef>
            </a:pPr>
            <a:r>
              <a:rPr lang="en-US" sz="6000" b="1" dirty="0">
                <a:solidFill>
                  <a:srgbClr val="000000"/>
                </a:solidFill>
                <a:latin typeface="Poppins Bold"/>
                <a:ea typeface="Poppins Bold"/>
                <a:cs typeface="Poppins Bold"/>
                <a:sym typeface="Poppins Bold"/>
              </a:rPr>
              <a:t>ANNUAL PHYSICAL EXAM</a:t>
            </a:r>
          </a:p>
        </p:txBody>
      </p:sp>
      <p:sp>
        <p:nvSpPr>
          <p:cNvPr id="46" name="Freeform 10">
            <a:extLst>
              <a:ext uri="{FF2B5EF4-FFF2-40B4-BE49-F238E27FC236}">
                <a16:creationId xmlns:a16="http://schemas.microsoft.com/office/drawing/2014/main" id="{07E66B71-B7EA-41EC-9F2A-F76452F60932}"/>
              </a:ext>
            </a:extLst>
          </p:cNvPr>
          <p:cNvSpPr/>
          <p:nvPr/>
        </p:nvSpPr>
        <p:spPr>
          <a:xfrm>
            <a:off x="304800" y="17651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a:t>Physical Examination</a:t>
            </a:r>
          </a:p>
        </p:txBody>
      </p:sp>
      <p:sp>
        <p:nvSpPr>
          <p:cNvPr id="49" name="Freeform 10">
            <a:extLst>
              <a:ext uri="{FF2B5EF4-FFF2-40B4-BE49-F238E27FC236}">
                <a16:creationId xmlns:a16="http://schemas.microsoft.com/office/drawing/2014/main" id="{173C7550-566C-4AB4-8651-28A0DA5E209C}"/>
              </a:ext>
            </a:extLst>
          </p:cNvPr>
          <p:cNvSpPr/>
          <p:nvPr/>
        </p:nvSpPr>
        <p:spPr>
          <a:xfrm>
            <a:off x="387328" y="32129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a:t>Complete Blood Count</a:t>
            </a:r>
          </a:p>
        </p:txBody>
      </p:sp>
      <p:sp>
        <p:nvSpPr>
          <p:cNvPr id="50" name="Freeform 10">
            <a:extLst>
              <a:ext uri="{FF2B5EF4-FFF2-40B4-BE49-F238E27FC236}">
                <a16:creationId xmlns:a16="http://schemas.microsoft.com/office/drawing/2014/main" id="{C72B9FB4-EEAA-4F6F-A049-BAAAA1A593BA}"/>
              </a:ext>
            </a:extLst>
          </p:cNvPr>
          <p:cNvSpPr/>
          <p:nvPr/>
        </p:nvSpPr>
        <p:spPr>
          <a:xfrm>
            <a:off x="406378" y="46607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a:t>Urinalysis</a:t>
            </a:r>
          </a:p>
        </p:txBody>
      </p:sp>
      <p:sp>
        <p:nvSpPr>
          <p:cNvPr id="51" name="Freeform 10">
            <a:extLst>
              <a:ext uri="{FF2B5EF4-FFF2-40B4-BE49-F238E27FC236}">
                <a16:creationId xmlns:a16="http://schemas.microsoft.com/office/drawing/2014/main" id="{728E1E9D-4F4A-4CE9-94CA-C0A76706D33D}"/>
              </a:ext>
            </a:extLst>
          </p:cNvPr>
          <p:cNvSpPr/>
          <p:nvPr/>
        </p:nvSpPr>
        <p:spPr>
          <a:xfrm>
            <a:off x="406378" y="61085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err="1"/>
              <a:t>Fecalysis</a:t>
            </a:r>
            <a:endParaRPr lang="en-US" sz="7200" b="1" dirty="0"/>
          </a:p>
        </p:txBody>
      </p:sp>
      <p:sp>
        <p:nvSpPr>
          <p:cNvPr id="52" name="Freeform 10">
            <a:extLst>
              <a:ext uri="{FF2B5EF4-FFF2-40B4-BE49-F238E27FC236}">
                <a16:creationId xmlns:a16="http://schemas.microsoft.com/office/drawing/2014/main" id="{FBA0B63C-0835-477D-A478-287B88859E83}"/>
              </a:ext>
            </a:extLst>
          </p:cNvPr>
          <p:cNvSpPr/>
          <p:nvPr/>
        </p:nvSpPr>
        <p:spPr>
          <a:xfrm>
            <a:off x="349228" y="7556379"/>
            <a:ext cx="12431089" cy="1326062"/>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7200" b="1" dirty="0"/>
              <a:t>Chest X-ray</a:t>
            </a:r>
          </a:p>
        </p:txBody>
      </p:sp>
      <p:pic>
        <p:nvPicPr>
          <p:cNvPr id="1026" name="Picture 2" descr="Examination - Free medical icons">
            <a:extLst>
              <a:ext uri="{FF2B5EF4-FFF2-40B4-BE49-F238E27FC236}">
                <a16:creationId xmlns:a16="http://schemas.microsoft.com/office/drawing/2014/main" id="{F7442293-6709-40F2-B28D-06175E30BB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15800" y="1705559"/>
            <a:ext cx="6661777" cy="666177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C256174-88D6-4A8C-844B-71F4E7F7C1EC}"/>
              </a:ext>
            </a:extLst>
          </p:cNvPr>
          <p:cNvSpPr/>
          <p:nvPr/>
        </p:nvSpPr>
        <p:spPr>
          <a:xfrm>
            <a:off x="4116314" y="9095264"/>
            <a:ext cx="13409686" cy="1191736"/>
          </a:xfrm>
          <a:prstGeom prst="rect">
            <a:avLst/>
          </a:prstGeom>
        </p:spPr>
        <p:txBody>
          <a:bodyPr wrap="square">
            <a:spAutoFit/>
          </a:bodyPr>
          <a:lstStyle/>
          <a:p>
            <a:pPr>
              <a:lnSpc>
                <a:spcPct val="115000"/>
              </a:lnSpc>
              <a:spcAft>
                <a:spcPts val="1000"/>
              </a:spcAft>
            </a:pPr>
            <a:r>
              <a:rPr lang="en-US" sz="3200" dirty="0">
                <a:latin typeface="+mj-lt"/>
                <a:ea typeface="MS Mincho" panose="02020609040205080304" pitchFamily="49" charset="-128"/>
                <a:cs typeface="Times New Roman" panose="02020603050405020304" pitchFamily="18" charset="0"/>
              </a:rPr>
              <a:t>Can be availed at AMAPHIL accredited clinics with APE arrangements, or </a:t>
            </a:r>
            <a:r>
              <a:rPr lang="en-US" sz="3200" b="1" dirty="0">
                <a:latin typeface="+mj-lt"/>
                <a:ea typeface="MS Mincho" panose="02020609040205080304" pitchFamily="49" charset="-128"/>
                <a:cs typeface="Times New Roman" panose="02020603050405020304" pitchFamily="18" charset="0"/>
              </a:rPr>
              <a:t>APE assistance of up to ₱650</a:t>
            </a:r>
            <a:r>
              <a:rPr lang="en-US" sz="3200" dirty="0">
                <a:latin typeface="+mj-lt"/>
                <a:ea typeface="MS Mincho" panose="02020609040205080304" pitchFamily="49" charset="-128"/>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5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fade">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5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500"/>
                                        <p:tgtEl>
                                          <p:spTgt spid="5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fade">
                                      <p:cBhvr>
                                        <p:cTn id="32" dur="500"/>
                                        <p:tgtEl>
                                          <p:spTgt spid="5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fade">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6" grpId="0" animBg="1"/>
      <p:bldP spid="49" grpId="0" animBg="1"/>
      <p:bldP spid="50" grpId="0" animBg="1"/>
      <p:bldP spid="51" grpId="0" animBg="1"/>
      <p:bldP spid="52" grpId="0" animBg="1"/>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5077867" y="-784225"/>
            <a:ext cx="6088480" cy="1326059"/>
            <a:chOff x="0" y="0"/>
            <a:chExt cx="3207100" cy="698500"/>
          </a:xfrm>
        </p:grpSpPr>
        <p:sp>
          <p:nvSpPr>
            <p:cNvPr id="10" name="Freeform 10"/>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1" name="TextBox 11"/>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44950" y="-1063420"/>
            <a:ext cx="3086100" cy="2700338"/>
            <a:chOff x="0" y="0"/>
            <a:chExt cx="812800" cy="711200"/>
          </a:xfrm>
        </p:grpSpPr>
        <p:sp>
          <p:nvSpPr>
            <p:cNvPr id="13" name="Freeform 1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4" name="TextBox 14"/>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21" name="Rectangle 20">
            <a:extLst>
              <a:ext uri="{FF2B5EF4-FFF2-40B4-BE49-F238E27FC236}">
                <a16:creationId xmlns:a16="http://schemas.microsoft.com/office/drawing/2014/main" id="{9B487B4B-D3FE-4ABF-92FD-55637749B2D1}"/>
              </a:ext>
            </a:extLst>
          </p:cNvPr>
          <p:cNvSpPr/>
          <p:nvPr/>
        </p:nvSpPr>
        <p:spPr>
          <a:xfrm>
            <a:off x="4813592" y="130217"/>
            <a:ext cx="6929846" cy="923330"/>
          </a:xfrm>
          <a:prstGeom prst="rect">
            <a:avLst/>
          </a:prstGeom>
        </p:spPr>
        <p:txBody>
          <a:bodyPr wrap="none">
            <a:spAutoFit/>
          </a:bodyPr>
          <a:lstStyle/>
          <a:p>
            <a:pPr marL="38100" marR="0">
              <a:lnSpc>
                <a:spcPct val="100000"/>
              </a:lnSpc>
              <a:spcBef>
                <a:spcPts val="0"/>
              </a:spcBef>
              <a:spcAft>
                <a:spcPts val="0"/>
              </a:spcAft>
            </a:pPr>
            <a:r>
              <a:rPr lang="en-US" sz="5400" b="1" dirty="0">
                <a:latin typeface="+mj-lt"/>
                <a:ea typeface="Arial MT" panose="020B0604020202020204" charset="0"/>
                <a:cs typeface="Arial MT" panose="020B0604020202020204" charset="0"/>
              </a:rPr>
              <a:t>FINANCIAL ASSISTANCE</a:t>
            </a:r>
            <a:endParaRPr lang="en-US" sz="8000" b="1" dirty="0">
              <a:latin typeface="+mj-lt"/>
              <a:ea typeface="Arial MT" panose="020B0604020202020204" charset="0"/>
              <a:cs typeface="Arial MT" panose="020B0604020202020204" charset="0"/>
            </a:endParaRPr>
          </a:p>
        </p:txBody>
      </p:sp>
      <p:sp>
        <p:nvSpPr>
          <p:cNvPr id="22" name="Rectangle 21">
            <a:extLst>
              <a:ext uri="{FF2B5EF4-FFF2-40B4-BE49-F238E27FC236}">
                <a16:creationId xmlns:a16="http://schemas.microsoft.com/office/drawing/2014/main" id="{42FA95D5-0E8A-44C1-9A71-DB068735E337}"/>
              </a:ext>
            </a:extLst>
          </p:cNvPr>
          <p:cNvSpPr/>
          <p:nvPr/>
        </p:nvSpPr>
        <p:spPr>
          <a:xfrm>
            <a:off x="259179" y="1574106"/>
            <a:ext cx="18059400" cy="3046988"/>
          </a:xfrm>
          <a:prstGeom prst="rect">
            <a:avLst/>
          </a:prstGeom>
        </p:spPr>
        <p:txBody>
          <a:bodyPr wrap="square">
            <a:spAutoFit/>
          </a:bodyPr>
          <a:lstStyle/>
          <a:p>
            <a:pPr marL="571500" marR="0" indent="-571500">
              <a:lnSpc>
                <a:spcPct val="100000"/>
              </a:lnSpc>
              <a:spcBef>
                <a:spcPts val="0"/>
              </a:spcBef>
              <a:spcAft>
                <a:spcPts val="0"/>
              </a:spcAft>
              <a:buFont typeface="Wingdings" panose="05000000000000000000" pitchFamily="2" charset="2"/>
              <a:buChar char="v"/>
            </a:pPr>
            <a:r>
              <a:rPr lang="en-US" sz="4800" b="1" dirty="0">
                <a:latin typeface="+mj-lt"/>
                <a:ea typeface="Arial MT" panose="020B0604020202020204" charset="0"/>
                <a:cs typeface="Arial MT" panose="020B0604020202020204" charset="0"/>
              </a:rPr>
              <a:t>Accidental Death and Disablement                                    -     100,000</a:t>
            </a:r>
          </a:p>
          <a:p>
            <a:pPr marR="0">
              <a:lnSpc>
                <a:spcPct val="100000"/>
              </a:lnSpc>
              <a:spcBef>
                <a:spcPts val="0"/>
              </a:spcBef>
              <a:spcAft>
                <a:spcPts val="0"/>
              </a:spcAft>
            </a:pPr>
            <a:endParaRPr lang="en-US" sz="2400" b="1" dirty="0">
              <a:latin typeface="+mj-lt"/>
              <a:ea typeface="Arial MT" panose="020B0604020202020204" charset="0"/>
              <a:cs typeface="Arial MT" panose="020B0604020202020204" charset="0"/>
            </a:endParaRPr>
          </a:p>
          <a:p>
            <a:pPr marL="571500" marR="0" indent="-571500">
              <a:lnSpc>
                <a:spcPct val="100000"/>
              </a:lnSpc>
              <a:spcBef>
                <a:spcPts val="0"/>
              </a:spcBef>
              <a:spcAft>
                <a:spcPts val="0"/>
              </a:spcAft>
              <a:buFont typeface="Wingdings" panose="05000000000000000000" pitchFamily="2" charset="2"/>
              <a:buChar char="v"/>
            </a:pPr>
            <a:r>
              <a:rPr lang="en-US" sz="4800" b="1" dirty="0">
                <a:latin typeface="+mj-lt"/>
                <a:ea typeface="Arial MT" panose="020B0604020202020204" charset="0"/>
                <a:cs typeface="Arial MT" panose="020B0604020202020204" charset="0"/>
              </a:rPr>
              <a:t>Burial Expense                                                                         -         5,000       </a:t>
            </a:r>
          </a:p>
          <a:p>
            <a:pPr marR="0">
              <a:lnSpc>
                <a:spcPct val="100000"/>
              </a:lnSpc>
              <a:spcBef>
                <a:spcPts val="0"/>
              </a:spcBef>
              <a:spcAft>
                <a:spcPts val="0"/>
              </a:spcAft>
            </a:pPr>
            <a:endParaRPr lang="en-US" sz="2400" b="1" dirty="0">
              <a:latin typeface="+mj-lt"/>
              <a:ea typeface="Arial MT" panose="020B0604020202020204" charset="0"/>
              <a:cs typeface="Arial MT" panose="020B0604020202020204" charset="0"/>
            </a:endParaRPr>
          </a:p>
          <a:p>
            <a:pPr marL="571500" marR="0" indent="-571500">
              <a:lnSpc>
                <a:spcPct val="100000"/>
              </a:lnSpc>
              <a:spcBef>
                <a:spcPts val="0"/>
              </a:spcBef>
              <a:spcAft>
                <a:spcPts val="0"/>
              </a:spcAft>
              <a:buFont typeface="Wingdings" panose="05000000000000000000" pitchFamily="2" charset="2"/>
              <a:buChar char="v"/>
            </a:pPr>
            <a:r>
              <a:rPr lang="en-US" sz="4800" b="1" dirty="0">
                <a:latin typeface="+mj-lt"/>
                <a:ea typeface="Arial MT" panose="020B0604020202020204" charset="0"/>
                <a:cs typeface="Arial MT" panose="020B0604020202020204" charset="0"/>
              </a:rPr>
              <a:t>Unprovoked murder and assault                                         -       50,000</a:t>
            </a:r>
            <a:endParaRPr lang="en-US" sz="3200" b="1" dirty="0">
              <a:latin typeface="+mj-lt"/>
              <a:ea typeface="Arial MT" panose="020B0604020202020204" charset="0"/>
              <a:cs typeface="Arial MT" panose="020B0604020202020204" charset="0"/>
            </a:endParaRPr>
          </a:p>
        </p:txBody>
      </p:sp>
      <p:pic>
        <p:nvPicPr>
          <p:cNvPr id="23" name="Picture 2" descr="Money Receiving Philippine Peso Color Icon SVG Vector &amp; PNG Free Download |  UXWing">
            <a:extLst>
              <a:ext uri="{FF2B5EF4-FFF2-40B4-BE49-F238E27FC236}">
                <a16:creationId xmlns:a16="http://schemas.microsoft.com/office/drawing/2014/main" id="{D2821A2A-2BEA-4A3B-847C-10BA504B09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25600" y="7141022"/>
            <a:ext cx="3158850" cy="3007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2665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xEl>
                                              <p:pRg st="0" end="0"/>
                                            </p:txEl>
                                          </p:spTgt>
                                        </p:tgtEl>
                                        <p:attrNameLst>
                                          <p:attrName>style.visibility</p:attrName>
                                        </p:attrNameLst>
                                      </p:cBhvr>
                                      <p:to>
                                        <p:strVal val="visible"/>
                                      </p:to>
                                    </p:set>
                                    <p:animEffect transition="in" filter="fade">
                                      <p:cBhvr>
                                        <p:cTn id="12" dur="500"/>
                                        <p:tgtEl>
                                          <p:spTgt spid="2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xEl>
                                              <p:pRg st="2" end="2"/>
                                            </p:txEl>
                                          </p:spTgt>
                                        </p:tgtEl>
                                        <p:attrNameLst>
                                          <p:attrName>style.visibility</p:attrName>
                                        </p:attrNameLst>
                                      </p:cBhvr>
                                      <p:to>
                                        <p:strVal val="visible"/>
                                      </p:to>
                                    </p:set>
                                    <p:animEffect transition="in" filter="fade">
                                      <p:cBhvr>
                                        <p:cTn id="17" dur="500"/>
                                        <p:tgtEl>
                                          <p:spTgt spid="2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
                                            <p:txEl>
                                              <p:pRg st="4" end="4"/>
                                            </p:txEl>
                                          </p:spTgt>
                                        </p:tgtEl>
                                        <p:attrNameLst>
                                          <p:attrName>style.visibility</p:attrName>
                                        </p:attrNameLst>
                                      </p:cBhvr>
                                      <p:to>
                                        <p:strVal val="visible"/>
                                      </p:to>
                                    </p:set>
                                    <p:animEffect transition="in" filter="fade">
                                      <p:cBhvr>
                                        <p:cTn id="22" dur="500"/>
                                        <p:tgtEl>
                                          <p:spTgt spid="2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Dental care - Free medical icons">
            <a:extLst>
              <a:ext uri="{FF2B5EF4-FFF2-40B4-BE49-F238E27FC236}">
                <a16:creationId xmlns:a16="http://schemas.microsoft.com/office/drawing/2014/main" id="{89F1F21C-ACBB-4EB0-9F4E-6F5C7B9D2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82600" y="2781300"/>
            <a:ext cx="5159946" cy="515994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3419993" y="6698755"/>
            <a:ext cx="5550223" cy="4856445"/>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5077867" y="-784225"/>
            <a:ext cx="6088480" cy="1326059"/>
            <a:chOff x="0" y="0"/>
            <a:chExt cx="3207100" cy="698500"/>
          </a:xfrm>
        </p:grpSpPr>
        <p:sp>
          <p:nvSpPr>
            <p:cNvPr id="17" name="Freeform 17"/>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8" name="TextBox 18"/>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744950" y="-1063420"/>
            <a:ext cx="3086100" cy="2700338"/>
            <a:chOff x="0" y="0"/>
            <a:chExt cx="812800" cy="711200"/>
          </a:xfrm>
        </p:grpSpPr>
        <p:sp>
          <p:nvSpPr>
            <p:cNvPr id="20" name="Freeform 2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1" name="TextBox 21"/>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53" name="TextBox 52">
            <a:extLst>
              <a:ext uri="{FF2B5EF4-FFF2-40B4-BE49-F238E27FC236}">
                <a16:creationId xmlns:a16="http://schemas.microsoft.com/office/drawing/2014/main" id="{FB1AA43F-D7F5-4BF1-8B09-18CC78E0BDE1}"/>
              </a:ext>
            </a:extLst>
          </p:cNvPr>
          <p:cNvSpPr txBox="1"/>
          <p:nvPr/>
        </p:nvSpPr>
        <p:spPr>
          <a:xfrm>
            <a:off x="383221" y="-115297"/>
            <a:ext cx="13359347" cy="7909858"/>
          </a:xfrm>
          <a:prstGeom prst="rect">
            <a:avLst/>
          </a:prstGeom>
          <a:noFill/>
        </p:spPr>
        <p:txBody>
          <a:bodyPr wrap="square" rtlCol="0">
            <a:spAutoFit/>
          </a:bodyPr>
          <a:lstStyle/>
          <a:p>
            <a:r>
              <a:rPr lang="en-US" sz="6000" b="1" dirty="0"/>
              <a:t>DENTAL CARE BENEFITS</a:t>
            </a:r>
          </a:p>
          <a:p>
            <a:endParaRPr lang="en-US" sz="3200" b="1" dirty="0"/>
          </a:p>
          <a:p>
            <a:r>
              <a:rPr lang="en-US" sz="3200" dirty="0"/>
              <a:t>a.	Free &amp; unlimited consultation &amp; dental examinations</a:t>
            </a:r>
          </a:p>
          <a:p>
            <a:pPr marL="457200" indent="-457200">
              <a:buAutoNum type="alphaLcPeriod" startAt="2"/>
            </a:pPr>
            <a:r>
              <a:rPr lang="en-US" sz="3200" dirty="0"/>
              <a:t>     Simple tooth extraction, except surgery for impaction </a:t>
            </a:r>
          </a:p>
          <a:p>
            <a:r>
              <a:rPr lang="en-US" sz="3200" dirty="0"/>
              <a:t>          (unlimited/maximum of 3 teeth per day)</a:t>
            </a:r>
          </a:p>
          <a:p>
            <a:r>
              <a:rPr lang="en-US" sz="3200" dirty="0"/>
              <a:t>c.	Temporary fillings (up to 3 times a year)</a:t>
            </a:r>
          </a:p>
          <a:p>
            <a:pPr marL="457200" indent="-457200">
              <a:buAutoNum type="alphaLcPeriod" startAt="4"/>
            </a:pPr>
            <a:r>
              <a:rPr lang="en-US" sz="3200" dirty="0"/>
              <a:t>     Twice a year oral prophylaxis (mild to moderate) which can be availed of </a:t>
            </a:r>
          </a:p>
          <a:p>
            <a:r>
              <a:rPr lang="en-US" sz="3200" dirty="0"/>
              <a:t>          after active membership (premium paid)/ succeeding may be availed of</a:t>
            </a:r>
          </a:p>
          <a:p>
            <a:r>
              <a:rPr lang="en-US" sz="3200" dirty="0"/>
              <a:t>          six (6) months thereafter</a:t>
            </a:r>
          </a:p>
          <a:p>
            <a:r>
              <a:rPr lang="en-US" sz="3200" dirty="0"/>
              <a:t>e.	Adjustment of dentures</a:t>
            </a:r>
          </a:p>
          <a:p>
            <a:r>
              <a:rPr lang="en-US" sz="3200" dirty="0"/>
              <a:t>f.	</a:t>
            </a:r>
            <a:r>
              <a:rPr lang="en-US" sz="3200" dirty="0" err="1"/>
              <a:t>Recementation</a:t>
            </a:r>
            <a:r>
              <a:rPr lang="en-US" sz="3200" dirty="0"/>
              <a:t> of jacket crown inlays and </a:t>
            </a:r>
            <a:r>
              <a:rPr lang="en-US" sz="3200" dirty="0" err="1"/>
              <a:t>onlays</a:t>
            </a:r>
            <a:endParaRPr lang="en-US" sz="3200" dirty="0"/>
          </a:p>
          <a:p>
            <a:r>
              <a:rPr lang="en-US" sz="3200" dirty="0"/>
              <a:t>g.	Treatment of dental related pain excluding cost of prescribed medicines</a:t>
            </a:r>
          </a:p>
          <a:p>
            <a:r>
              <a:rPr lang="en-US" sz="3200" dirty="0"/>
              <a:t>h.	Emergency desensitization of hypersensitive teeth</a:t>
            </a:r>
          </a:p>
          <a:p>
            <a:r>
              <a:rPr lang="en-US" sz="3200" dirty="0" err="1"/>
              <a:t>i</a:t>
            </a:r>
            <a:r>
              <a:rPr lang="en-US" sz="3200" dirty="0"/>
              <a:t>.	Annual dental examination (within the dentist’s dental clinic only)</a:t>
            </a:r>
          </a:p>
          <a:p>
            <a:r>
              <a:rPr lang="en-US" sz="3200" dirty="0"/>
              <a:t>j.	Orthodontic and aesthetic </a:t>
            </a:r>
            <a:r>
              <a:rPr lang="en-US" sz="3200"/>
              <a:t>dental consultation</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animEffect transition="in" filter="fade">
                                      <p:cBhvr>
                                        <p:cTn id="7" dur="500"/>
                                        <p:tgtEl>
                                          <p:spTgt spid="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3">
                                            <p:txEl>
                                              <p:pRg st="2" end="2"/>
                                            </p:txEl>
                                          </p:spTgt>
                                        </p:tgtEl>
                                        <p:attrNameLst>
                                          <p:attrName>style.visibility</p:attrName>
                                        </p:attrNameLst>
                                      </p:cBhvr>
                                      <p:to>
                                        <p:strVal val="visible"/>
                                      </p:to>
                                    </p:set>
                                    <p:animEffect transition="in" filter="fade">
                                      <p:cBhvr>
                                        <p:cTn id="12" dur="500"/>
                                        <p:tgtEl>
                                          <p:spTgt spid="5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3">
                                            <p:txEl>
                                              <p:pRg st="3" end="3"/>
                                            </p:txEl>
                                          </p:spTgt>
                                        </p:tgtEl>
                                        <p:attrNameLst>
                                          <p:attrName>style.visibility</p:attrName>
                                        </p:attrNameLst>
                                      </p:cBhvr>
                                      <p:to>
                                        <p:strVal val="visible"/>
                                      </p:to>
                                    </p:set>
                                    <p:animEffect transition="in" filter="fade">
                                      <p:cBhvr>
                                        <p:cTn id="17" dur="500"/>
                                        <p:tgtEl>
                                          <p:spTgt spid="5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3">
                                            <p:txEl>
                                              <p:pRg st="4" end="4"/>
                                            </p:txEl>
                                          </p:spTgt>
                                        </p:tgtEl>
                                        <p:attrNameLst>
                                          <p:attrName>style.visibility</p:attrName>
                                        </p:attrNameLst>
                                      </p:cBhvr>
                                      <p:to>
                                        <p:strVal val="visible"/>
                                      </p:to>
                                    </p:set>
                                    <p:animEffect transition="in" filter="fade">
                                      <p:cBhvr>
                                        <p:cTn id="22" dur="500"/>
                                        <p:tgtEl>
                                          <p:spTgt spid="5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3">
                                            <p:txEl>
                                              <p:pRg st="5" end="5"/>
                                            </p:txEl>
                                          </p:spTgt>
                                        </p:tgtEl>
                                        <p:attrNameLst>
                                          <p:attrName>style.visibility</p:attrName>
                                        </p:attrNameLst>
                                      </p:cBhvr>
                                      <p:to>
                                        <p:strVal val="visible"/>
                                      </p:to>
                                    </p:set>
                                    <p:animEffect transition="in" filter="fade">
                                      <p:cBhvr>
                                        <p:cTn id="27" dur="500"/>
                                        <p:tgtEl>
                                          <p:spTgt spid="5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3">
                                            <p:txEl>
                                              <p:pRg st="6" end="6"/>
                                            </p:txEl>
                                          </p:spTgt>
                                        </p:tgtEl>
                                        <p:attrNameLst>
                                          <p:attrName>style.visibility</p:attrName>
                                        </p:attrNameLst>
                                      </p:cBhvr>
                                      <p:to>
                                        <p:strVal val="visible"/>
                                      </p:to>
                                    </p:set>
                                    <p:animEffect transition="in" filter="fade">
                                      <p:cBhvr>
                                        <p:cTn id="32" dur="500"/>
                                        <p:tgtEl>
                                          <p:spTgt spid="5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3">
                                            <p:txEl>
                                              <p:pRg st="7" end="7"/>
                                            </p:txEl>
                                          </p:spTgt>
                                        </p:tgtEl>
                                        <p:attrNameLst>
                                          <p:attrName>style.visibility</p:attrName>
                                        </p:attrNameLst>
                                      </p:cBhvr>
                                      <p:to>
                                        <p:strVal val="visible"/>
                                      </p:to>
                                    </p:set>
                                    <p:animEffect transition="in" filter="fade">
                                      <p:cBhvr>
                                        <p:cTn id="37" dur="500"/>
                                        <p:tgtEl>
                                          <p:spTgt spid="5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3">
                                            <p:txEl>
                                              <p:pRg st="8" end="8"/>
                                            </p:txEl>
                                          </p:spTgt>
                                        </p:tgtEl>
                                        <p:attrNameLst>
                                          <p:attrName>style.visibility</p:attrName>
                                        </p:attrNameLst>
                                      </p:cBhvr>
                                      <p:to>
                                        <p:strVal val="visible"/>
                                      </p:to>
                                    </p:set>
                                    <p:animEffect transition="in" filter="fade">
                                      <p:cBhvr>
                                        <p:cTn id="42" dur="500"/>
                                        <p:tgtEl>
                                          <p:spTgt spid="5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3">
                                            <p:txEl>
                                              <p:pRg st="9" end="9"/>
                                            </p:txEl>
                                          </p:spTgt>
                                        </p:tgtEl>
                                        <p:attrNameLst>
                                          <p:attrName>style.visibility</p:attrName>
                                        </p:attrNameLst>
                                      </p:cBhvr>
                                      <p:to>
                                        <p:strVal val="visible"/>
                                      </p:to>
                                    </p:set>
                                    <p:animEffect transition="in" filter="fade">
                                      <p:cBhvr>
                                        <p:cTn id="47" dur="500"/>
                                        <p:tgtEl>
                                          <p:spTgt spid="5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3">
                                            <p:txEl>
                                              <p:pRg st="10" end="10"/>
                                            </p:txEl>
                                          </p:spTgt>
                                        </p:tgtEl>
                                        <p:attrNameLst>
                                          <p:attrName>style.visibility</p:attrName>
                                        </p:attrNameLst>
                                      </p:cBhvr>
                                      <p:to>
                                        <p:strVal val="visible"/>
                                      </p:to>
                                    </p:set>
                                    <p:animEffect transition="in" filter="fade">
                                      <p:cBhvr>
                                        <p:cTn id="52" dur="500"/>
                                        <p:tgtEl>
                                          <p:spTgt spid="5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3">
                                            <p:txEl>
                                              <p:pRg st="11" end="11"/>
                                            </p:txEl>
                                          </p:spTgt>
                                        </p:tgtEl>
                                        <p:attrNameLst>
                                          <p:attrName>style.visibility</p:attrName>
                                        </p:attrNameLst>
                                      </p:cBhvr>
                                      <p:to>
                                        <p:strVal val="visible"/>
                                      </p:to>
                                    </p:set>
                                    <p:animEffect transition="in" filter="fade">
                                      <p:cBhvr>
                                        <p:cTn id="57" dur="500"/>
                                        <p:tgtEl>
                                          <p:spTgt spid="5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3">
                                            <p:txEl>
                                              <p:pRg st="12" end="12"/>
                                            </p:txEl>
                                          </p:spTgt>
                                        </p:tgtEl>
                                        <p:attrNameLst>
                                          <p:attrName>style.visibility</p:attrName>
                                        </p:attrNameLst>
                                      </p:cBhvr>
                                      <p:to>
                                        <p:strVal val="visible"/>
                                      </p:to>
                                    </p:set>
                                    <p:animEffect transition="in" filter="fade">
                                      <p:cBhvr>
                                        <p:cTn id="62" dur="500"/>
                                        <p:tgtEl>
                                          <p:spTgt spid="53">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3">
                                            <p:txEl>
                                              <p:pRg st="13" end="13"/>
                                            </p:txEl>
                                          </p:spTgt>
                                        </p:tgtEl>
                                        <p:attrNameLst>
                                          <p:attrName>style.visibility</p:attrName>
                                        </p:attrNameLst>
                                      </p:cBhvr>
                                      <p:to>
                                        <p:strVal val="visible"/>
                                      </p:to>
                                    </p:set>
                                    <p:animEffect transition="in" filter="fade">
                                      <p:cBhvr>
                                        <p:cTn id="67" dur="500"/>
                                        <p:tgtEl>
                                          <p:spTgt spid="53">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53">
                                            <p:txEl>
                                              <p:pRg st="14" end="14"/>
                                            </p:txEl>
                                          </p:spTgt>
                                        </p:tgtEl>
                                        <p:attrNameLst>
                                          <p:attrName>style.visibility</p:attrName>
                                        </p:attrNameLst>
                                      </p:cBhvr>
                                      <p:to>
                                        <p:strVal val="visible"/>
                                      </p:to>
                                    </p:set>
                                    <p:animEffect transition="in" filter="fade">
                                      <p:cBhvr>
                                        <p:cTn id="72" dur="500"/>
                                        <p:tgtEl>
                                          <p:spTgt spid="5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736143" y="1275299"/>
            <a:ext cx="14003173" cy="1346331"/>
          </a:xfrm>
          <a:prstGeom prst="rect">
            <a:avLst/>
          </a:prstGeom>
        </p:spPr>
        <p:txBody>
          <a:bodyPr wrap="square" lIns="0" tIns="0" rIns="0" bIns="0" rtlCol="0" anchor="t">
            <a:spAutoFit/>
          </a:bodyPr>
          <a:lstStyle/>
          <a:p>
            <a:pPr algn="r">
              <a:lnSpc>
                <a:spcPts val="10883"/>
              </a:lnSpc>
              <a:spcBef>
                <a:spcPct val="0"/>
              </a:spcBef>
            </a:pPr>
            <a:r>
              <a:rPr lang="en-US" sz="8800" b="1" dirty="0">
                <a:solidFill>
                  <a:srgbClr val="000000"/>
                </a:solidFill>
                <a:latin typeface="+mj-lt"/>
                <a:ea typeface="Poppins Bold"/>
                <a:cs typeface="Poppins Bold"/>
                <a:sym typeface="Poppins Bold"/>
              </a:rPr>
              <a:t>PRE EXISTING CONDITION</a:t>
            </a:r>
          </a:p>
        </p:txBody>
      </p:sp>
      <p:grpSp>
        <p:nvGrpSpPr>
          <p:cNvPr id="4" name="Group 4"/>
          <p:cNvGrpSpPr/>
          <p:nvPr/>
        </p:nvGrpSpPr>
        <p:grpSpPr>
          <a:xfrm>
            <a:off x="15077867" y="-784225"/>
            <a:ext cx="6088480" cy="1326059"/>
            <a:chOff x="0" y="0"/>
            <a:chExt cx="3207100" cy="698500"/>
          </a:xfrm>
        </p:grpSpPr>
        <p:sp>
          <p:nvSpPr>
            <p:cNvPr id="5" name="Freeform 5"/>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6" name="TextBox 6"/>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744950" y="-1063420"/>
            <a:ext cx="3086100" cy="2700338"/>
            <a:chOff x="0" y="0"/>
            <a:chExt cx="812800" cy="711200"/>
          </a:xfrm>
        </p:grpSpPr>
        <p:sp>
          <p:nvSpPr>
            <p:cNvPr id="8" name="Freeform 8"/>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9" name="TextBox 9"/>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048089" y="3956739"/>
            <a:ext cx="6572265" cy="5750732"/>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4188235" y="1098680"/>
            <a:ext cx="10311405" cy="8903872"/>
            <a:chOff x="0" y="0"/>
            <a:chExt cx="803260" cy="693613"/>
          </a:xfrm>
        </p:grpSpPr>
        <p:sp>
          <p:nvSpPr>
            <p:cNvPr id="17" name="Freeform 17"/>
            <p:cNvSpPr/>
            <p:nvPr/>
          </p:nvSpPr>
          <p:spPr>
            <a:xfrm>
              <a:off x="0" y="0"/>
              <a:ext cx="803260" cy="693613"/>
            </a:xfrm>
            <a:custGeom>
              <a:avLst/>
              <a:gdLst/>
              <a:ahLst/>
              <a:cxnLst/>
              <a:rect l="l" t="t" r="r" b="b"/>
              <a:pathLst>
                <a:path w="803260" h="693613">
                  <a:moveTo>
                    <a:pt x="401630" y="693613"/>
                  </a:moveTo>
                  <a:lnTo>
                    <a:pt x="803260" y="0"/>
                  </a:lnTo>
                  <a:lnTo>
                    <a:pt x="0" y="0"/>
                  </a:lnTo>
                  <a:lnTo>
                    <a:pt x="401630" y="693613"/>
                  </a:lnTo>
                  <a:close/>
                </a:path>
              </a:pathLst>
            </a:custGeom>
            <a:solidFill>
              <a:srgbClr val="FFFFFF"/>
            </a:solidFill>
          </p:spPr>
        </p:sp>
        <p:sp>
          <p:nvSpPr>
            <p:cNvPr id="18" name="TextBox 18"/>
            <p:cNvSpPr txBox="1"/>
            <p:nvPr/>
          </p:nvSpPr>
          <p:spPr>
            <a:xfrm>
              <a:off x="125509" y="-7606"/>
              <a:ext cx="552241" cy="37918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566687" y="9580975"/>
            <a:ext cx="4528060" cy="1376402"/>
            <a:chOff x="0" y="0"/>
            <a:chExt cx="2297912" cy="698500"/>
          </a:xfrm>
        </p:grpSpPr>
        <p:sp>
          <p:nvSpPr>
            <p:cNvPr id="20" name="Freeform 2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21" name="TextBox 2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3341799" y="6677094"/>
            <a:ext cx="5550223" cy="4856445"/>
            <a:chOff x="0" y="0"/>
            <a:chExt cx="812800" cy="711200"/>
          </a:xfrm>
        </p:grpSpPr>
        <p:sp>
          <p:nvSpPr>
            <p:cNvPr id="23" name="Freeform 2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4" name="TextBox 2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3785367" y="1268752"/>
            <a:ext cx="9628133" cy="8337963"/>
            <a:chOff x="0" y="0"/>
            <a:chExt cx="6350000" cy="5499100"/>
          </a:xfrm>
          <a:solidFill>
            <a:srgbClr val="060644"/>
          </a:solidFill>
        </p:grpSpPr>
        <p:sp>
          <p:nvSpPr>
            <p:cNvPr id="26" name="Freeform 26"/>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grpFill/>
          </p:spPr>
        </p:sp>
      </p:grpSp>
      <p:grpSp>
        <p:nvGrpSpPr>
          <p:cNvPr id="27" name="Group 27"/>
          <p:cNvGrpSpPr/>
          <p:nvPr/>
        </p:nvGrpSpPr>
        <p:grpSpPr>
          <a:xfrm>
            <a:off x="1257649" y="4208920"/>
            <a:ext cx="6100430" cy="5246370"/>
            <a:chOff x="0" y="0"/>
            <a:chExt cx="6350000" cy="5461000"/>
          </a:xfrm>
          <a:solidFill>
            <a:srgbClr val="F68712"/>
          </a:solidFill>
        </p:grpSpPr>
        <p:sp>
          <p:nvSpPr>
            <p:cNvPr id="28" name="Freeform 28"/>
            <p:cNvSpPr/>
            <p:nvPr/>
          </p:nvSpPr>
          <p:spPr>
            <a:xfrm>
              <a:off x="59563" y="32385"/>
              <a:ext cx="6230874" cy="5396230"/>
            </a:xfrm>
            <a:custGeom>
              <a:avLst/>
              <a:gdLst/>
              <a:ahLst/>
              <a:cxnLst/>
              <a:rect l="l" t="t" r="r" b="b"/>
              <a:pathLst>
                <a:path w="6230874" h="5396230">
                  <a:moveTo>
                    <a:pt x="3115437" y="0"/>
                  </a:moveTo>
                  <a:lnTo>
                    <a:pt x="0" y="5396230"/>
                  </a:lnTo>
                  <a:lnTo>
                    <a:pt x="6230874" y="5396230"/>
                  </a:lnTo>
                  <a:close/>
                </a:path>
              </a:pathLst>
            </a:custGeom>
            <a:grpFill/>
          </p:spPr>
        </p:sp>
      </p:grpSp>
      <p:sp>
        <p:nvSpPr>
          <p:cNvPr id="36" name="Rectangle 35">
            <a:extLst>
              <a:ext uri="{FF2B5EF4-FFF2-40B4-BE49-F238E27FC236}">
                <a16:creationId xmlns:a16="http://schemas.microsoft.com/office/drawing/2014/main" id="{77EAAA9B-E2E7-40CA-B6AD-9030C01AAADA}"/>
              </a:ext>
            </a:extLst>
          </p:cNvPr>
          <p:cNvSpPr/>
          <p:nvPr/>
        </p:nvSpPr>
        <p:spPr>
          <a:xfrm>
            <a:off x="6736054" y="2792397"/>
            <a:ext cx="11435512" cy="6001643"/>
          </a:xfrm>
          <a:prstGeom prst="rect">
            <a:avLst/>
          </a:prstGeom>
        </p:spPr>
        <p:txBody>
          <a:bodyPr wrap="square">
            <a:spAutoFit/>
          </a:bodyPr>
          <a:lstStyle/>
          <a:p>
            <a:r>
              <a:rPr lang="en-US" sz="3200" b="1" dirty="0"/>
              <a:t>Illnesses, injuries, or medical conditions that existed prior to enrollment—such as hypertension, diabetes, asthma, tumors, or arthritis—are not covered unless specified under the plan after a designated waiting period, typically six (6) to twelve (12) months. Related complications or recurrences within the waiting period are likewise excluded.</a:t>
            </a:r>
          </a:p>
          <a:p>
            <a:endParaRPr lang="en-US" sz="3200" b="1" dirty="0"/>
          </a:p>
          <a:p>
            <a:r>
              <a:rPr lang="en-US" sz="3200" b="1" dirty="0"/>
              <a:t>However, the PEC exclusion is waived if at least 70% of eligible employees, with a minimum group size </a:t>
            </a:r>
            <a:r>
              <a:rPr lang="en-US" sz="3200" b="1"/>
              <a:t>of </a:t>
            </a:r>
            <a:r>
              <a:rPr lang="en-US" sz="3200" b="1" dirty="0">
                <a:solidFill>
                  <a:srgbClr val="FF0000"/>
                </a:solidFill>
              </a:rPr>
              <a:t>3</a:t>
            </a:r>
            <a:r>
              <a:rPr lang="en-US" sz="3200" b="1">
                <a:solidFill>
                  <a:srgbClr val="FF0000"/>
                </a:solidFill>
              </a:rPr>
              <a:t>0 </a:t>
            </a:r>
            <a:r>
              <a:rPr lang="en-US" sz="3200" b="1" dirty="0">
                <a:solidFill>
                  <a:srgbClr val="FF0000"/>
                </a:solidFill>
              </a:rPr>
              <a:t>members</a:t>
            </a:r>
            <a:r>
              <a:rPr lang="en-US" sz="3200" b="1" dirty="0"/>
              <a:t>, are enrolled under the plan. If this threshold is not met, pre-existing conditions will be covered after six (6) months of continuous membership.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xEl>
                                              <p:pRg st="0" end="0"/>
                                            </p:txEl>
                                          </p:spTgt>
                                        </p:tgtEl>
                                        <p:attrNameLst>
                                          <p:attrName>style.visibility</p:attrName>
                                        </p:attrNameLst>
                                      </p:cBhvr>
                                      <p:to>
                                        <p:strVal val="visible"/>
                                      </p:to>
                                    </p:set>
                                    <p:animEffect transition="in" filter="fade">
                                      <p:cBhvr>
                                        <p:cTn id="12" dur="500"/>
                                        <p:tgtEl>
                                          <p:spTgt spid="3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xEl>
                                              <p:pRg st="2" end="2"/>
                                            </p:txEl>
                                          </p:spTgt>
                                        </p:tgtEl>
                                        <p:attrNameLst>
                                          <p:attrName>style.visibility</p:attrName>
                                        </p:attrNameLst>
                                      </p:cBhvr>
                                      <p:to>
                                        <p:strVal val="visible"/>
                                      </p:to>
                                    </p:set>
                                    <p:animEffect transition="in" filter="fade">
                                      <p:cBhvr>
                                        <p:cTn id="17" dur="500"/>
                                        <p:tgtEl>
                                          <p:spTgt spid="3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5077867" y="-784225"/>
            <a:ext cx="6088480" cy="1326059"/>
            <a:chOff x="0" y="0"/>
            <a:chExt cx="3207100" cy="698500"/>
          </a:xfrm>
        </p:grpSpPr>
        <p:sp>
          <p:nvSpPr>
            <p:cNvPr id="10" name="Freeform 10"/>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1" name="TextBox 11"/>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44950" y="-1063420"/>
            <a:ext cx="3086100" cy="2700338"/>
            <a:chOff x="0" y="0"/>
            <a:chExt cx="812800" cy="711200"/>
          </a:xfrm>
        </p:grpSpPr>
        <p:sp>
          <p:nvSpPr>
            <p:cNvPr id="13" name="Freeform 1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4" name="TextBox 14"/>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990600" y="3698881"/>
            <a:ext cx="17297400" cy="3496855"/>
          </a:xfrm>
          <a:prstGeom prst="rect">
            <a:avLst/>
          </a:prstGeom>
        </p:spPr>
        <p:txBody>
          <a:bodyPr wrap="square" lIns="0" tIns="0" rIns="0" bIns="0" rtlCol="0" anchor="t">
            <a:spAutoFit/>
          </a:bodyPr>
          <a:lstStyle/>
          <a:p>
            <a:pPr algn="just">
              <a:lnSpc>
                <a:spcPts val="3476"/>
              </a:lnSpc>
            </a:pPr>
            <a:r>
              <a:rPr lang="en-US" sz="13800" b="1" dirty="0">
                <a:solidFill>
                  <a:srgbClr val="000000"/>
                </a:solidFill>
                <a:latin typeface="+mj-lt"/>
                <a:ea typeface="Poppins"/>
                <a:cs typeface="Poppins"/>
                <a:sym typeface="Poppins"/>
              </a:rPr>
              <a:t>Principal - 7,000</a:t>
            </a:r>
          </a:p>
          <a:p>
            <a:pPr algn="just">
              <a:lnSpc>
                <a:spcPts val="3476"/>
              </a:lnSpc>
            </a:pPr>
            <a:endParaRPr lang="en-US" sz="13800" b="1" dirty="0">
              <a:solidFill>
                <a:srgbClr val="000000"/>
              </a:solidFill>
              <a:latin typeface="+mj-lt"/>
              <a:ea typeface="Poppins"/>
              <a:cs typeface="Poppins"/>
              <a:sym typeface="Poppins"/>
            </a:endParaRPr>
          </a:p>
          <a:p>
            <a:pPr algn="just">
              <a:lnSpc>
                <a:spcPts val="3476"/>
              </a:lnSpc>
            </a:pPr>
            <a:endParaRPr lang="en-US" sz="13800" b="1" dirty="0">
              <a:solidFill>
                <a:srgbClr val="000000"/>
              </a:solidFill>
              <a:latin typeface="+mj-lt"/>
              <a:ea typeface="Poppins"/>
              <a:cs typeface="Poppins"/>
              <a:sym typeface="Poppins"/>
            </a:endParaRPr>
          </a:p>
          <a:p>
            <a:pPr algn="just">
              <a:lnSpc>
                <a:spcPts val="3476"/>
              </a:lnSpc>
            </a:pPr>
            <a:endParaRPr lang="en-US" sz="13800" b="1" dirty="0">
              <a:solidFill>
                <a:srgbClr val="000000"/>
              </a:solidFill>
              <a:latin typeface="+mj-lt"/>
              <a:ea typeface="Poppins"/>
              <a:cs typeface="Poppins"/>
              <a:sym typeface="Poppins"/>
            </a:endParaRPr>
          </a:p>
          <a:p>
            <a:pPr algn="just">
              <a:lnSpc>
                <a:spcPts val="3476"/>
              </a:lnSpc>
            </a:pPr>
            <a:endParaRPr lang="en-US" sz="13800" b="1" dirty="0">
              <a:solidFill>
                <a:srgbClr val="000000"/>
              </a:solidFill>
              <a:latin typeface="+mj-lt"/>
              <a:ea typeface="Poppins"/>
              <a:cs typeface="Poppins"/>
              <a:sym typeface="Poppins"/>
            </a:endParaRPr>
          </a:p>
          <a:p>
            <a:pPr algn="just">
              <a:lnSpc>
                <a:spcPts val="3476"/>
              </a:lnSpc>
            </a:pPr>
            <a:endParaRPr lang="en-US" sz="13800" b="1" dirty="0">
              <a:solidFill>
                <a:srgbClr val="000000"/>
              </a:solidFill>
              <a:latin typeface="+mj-lt"/>
              <a:ea typeface="Poppins"/>
              <a:cs typeface="Poppins"/>
              <a:sym typeface="Poppins"/>
            </a:endParaRPr>
          </a:p>
          <a:p>
            <a:pPr algn="just">
              <a:lnSpc>
                <a:spcPts val="3476"/>
              </a:lnSpc>
            </a:pPr>
            <a:r>
              <a:rPr lang="en-US" sz="13800" b="1" dirty="0">
                <a:solidFill>
                  <a:srgbClr val="000000"/>
                </a:solidFill>
                <a:latin typeface="+mj-lt"/>
                <a:ea typeface="Poppins"/>
                <a:cs typeface="Poppins"/>
                <a:sym typeface="Poppins"/>
              </a:rPr>
              <a:t>Dependents – 8,400</a:t>
            </a:r>
          </a:p>
        </p:txBody>
      </p:sp>
      <p:sp>
        <p:nvSpPr>
          <p:cNvPr id="15" name="TextBox 3">
            <a:extLst>
              <a:ext uri="{FF2B5EF4-FFF2-40B4-BE49-F238E27FC236}">
                <a16:creationId xmlns:a16="http://schemas.microsoft.com/office/drawing/2014/main" id="{FD6EF06F-38A5-4A02-B802-797CE05B55BE}"/>
              </a:ext>
            </a:extLst>
          </p:cNvPr>
          <p:cNvSpPr txBox="1"/>
          <p:nvPr/>
        </p:nvSpPr>
        <p:spPr>
          <a:xfrm>
            <a:off x="-506060" y="963752"/>
            <a:ext cx="14003173" cy="1346331"/>
          </a:xfrm>
          <a:prstGeom prst="rect">
            <a:avLst/>
          </a:prstGeom>
        </p:spPr>
        <p:txBody>
          <a:bodyPr wrap="square" lIns="0" tIns="0" rIns="0" bIns="0" rtlCol="0" anchor="t">
            <a:spAutoFit/>
          </a:bodyPr>
          <a:lstStyle/>
          <a:p>
            <a:pPr algn="r">
              <a:lnSpc>
                <a:spcPts val="10883"/>
              </a:lnSpc>
              <a:spcBef>
                <a:spcPct val="0"/>
              </a:spcBef>
            </a:pPr>
            <a:r>
              <a:rPr lang="en-US" sz="8800" b="1" dirty="0">
                <a:solidFill>
                  <a:srgbClr val="000000"/>
                </a:solidFill>
                <a:latin typeface="+mj-lt"/>
                <a:ea typeface="Poppins Bold"/>
                <a:cs typeface="Poppins Bold"/>
                <a:sym typeface="Poppins Bold"/>
              </a:rPr>
              <a:t>PREMIUM PER YEAR</a:t>
            </a:r>
          </a:p>
        </p:txBody>
      </p:sp>
      <p:pic>
        <p:nvPicPr>
          <p:cNvPr id="2052" name="Picture 4" descr="What does Premium Means in Finance? | Fincash.com">
            <a:extLst>
              <a:ext uri="{FF2B5EF4-FFF2-40B4-BE49-F238E27FC236}">
                <a16:creationId xmlns:a16="http://schemas.microsoft.com/office/drawing/2014/main" id="{0D1E3427-CAF2-408A-A6EF-B0E4C3BC10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966244">
            <a:off x="12437358" y="6397028"/>
            <a:ext cx="5715000" cy="381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xEl>
                                              <p:pRg st="0" end="0"/>
                                            </p:txEl>
                                          </p:spTgt>
                                        </p:tgtEl>
                                        <p:attrNameLst>
                                          <p:attrName>style.visibility</p:attrName>
                                        </p:attrNameLst>
                                      </p:cBhvr>
                                      <p:to>
                                        <p:strVal val="visible"/>
                                      </p:to>
                                    </p:set>
                                    <p:animEffect transition="in" filter="fade">
                                      <p:cBhvr>
                                        <p:cTn id="17" dur="500"/>
                                        <p:tgtEl>
                                          <p:spTgt spid="1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xEl>
                                              <p:pRg st="6" end="6"/>
                                            </p:txEl>
                                          </p:spTgt>
                                        </p:tgtEl>
                                        <p:attrNameLst>
                                          <p:attrName>style.visibility</p:attrName>
                                        </p:attrNameLst>
                                      </p:cBhvr>
                                      <p:to>
                                        <p:strVal val="visible"/>
                                      </p:to>
                                    </p:set>
                                    <p:animEffect transition="in" filter="fade">
                                      <p:cBhvr>
                                        <p:cTn id="22" dur="500"/>
                                        <p:tgtEl>
                                          <p:spTgt spid="1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5450386" y="4351703"/>
            <a:ext cx="4815163" cy="2398912"/>
            <a:chOff x="0" y="0"/>
            <a:chExt cx="1402049" cy="698500"/>
          </a:xfrm>
        </p:grpSpPr>
        <p:sp>
          <p:nvSpPr>
            <p:cNvPr id="9" name="Freeform 9"/>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0" name="TextBox 10"/>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028700" y="2981879"/>
            <a:ext cx="4815163" cy="2398912"/>
            <a:chOff x="0" y="0"/>
            <a:chExt cx="1402049" cy="698500"/>
          </a:xfrm>
        </p:grpSpPr>
        <p:sp>
          <p:nvSpPr>
            <p:cNvPr id="12" name="Freeform 12"/>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3" name="TextBox 13"/>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4" name="Group 14"/>
          <p:cNvGrpSpPr/>
          <p:nvPr/>
        </p:nvGrpSpPr>
        <p:grpSpPr>
          <a:xfrm>
            <a:off x="1080233" y="5742741"/>
            <a:ext cx="4815163" cy="2398912"/>
            <a:chOff x="0" y="0"/>
            <a:chExt cx="1402049" cy="698500"/>
          </a:xfrm>
        </p:grpSpPr>
        <p:sp>
          <p:nvSpPr>
            <p:cNvPr id="15" name="Freeform 15"/>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6" name="TextBox 16"/>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3" name="Group 23"/>
          <p:cNvGrpSpPr/>
          <p:nvPr/>
        </p:nvGrpSpPr>
        <p:grpSpPr>
          <a:xfrm>
            <a:off x="11174905" y="-2087854"/>
            <a:ext cx="9007144" cy="7740514"/>
            <a:chOff x="0" y="0"/>
            <a:chExt cx="812800" cy="698500"/>
          </a:xfrm>
        </p:grpSpPr>
        <p:sp>
          <p:nvSpPr>
            <p:cNvPr id="24" name="Freeform 2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25" name="TextBox 25"/>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6" name="Group 26"/>
          <p:cNvGrpSpPr/>
          <p:nvPr/>
        </p:nvGrpSpPr>
        <p:grpSpPr>
          <a:xfrm>
            <a:off x="10427039" y="1636917"/>
            <a:ext cx="9101552" cy="7821646"/>
            <a:chOff x="0" y="0"/>
            <a:chExt cx="812800" cy="698500"/>
          </a:xfrm>
        </p:grpSpPr>
        <p:sp>
          <p:nvSpPr>
            <p:cNvPr id="27" name="Freeform 2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8" name="TextBox 2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9" name="Group 29"/>
          <p:cNvGrpSpPr/>
          <p:nvPr/>
        </p:nvGrpSpPr>
        <p:grpSpPr>
          <a:xfrm>
            <a:off x="10692881" y="1837180"/>
            <a:ext cx="8569868" cy="7421120"/>
            <a:chOff x="0" y="0"/>
            <a:chExt cx="4282440" cy="3708400"/>
          </a:xfrm>
          <a:solidFill>
            <a:srgbClr val="F68712"/>
          </a:solidFill>
        </p:grpSpPr>
        <p:sp>
          <p:nvSpPr>
            <p:cNvPr id="30" name="Freeform 30"/>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p:spPr>
        </p:sp>
      </p:grpSp>
      <p:grpSp>
        <p:nvGrpSpPr>
          <p:cNvPr id="31" name="Group 31"/>
          <p:cNvGrpSpPr/>
          <p:nvPr/>
        </p:nvGrpSpPr>
        <p:grpSpPr>
          <a:xfrm>
            <a:off x="10599045" y="6176334"/>
            <a:ext cx="4105631" cy="3528277"/>
            <a:chOff x="0" y="0"/>
            <a:chExt cx="812800" cy="69850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38" name="TextBox 38"/>
          <p:cNvSpPr txBox="1"/>
          <p:nvPr/>
        </p:nvSpPr>
        <p:spPr>
          <a:xfrm>
            <a:off x="1865789" y="3075625"/>
            <a:ext cx="3140985" cy="1026178"/>
          </a:xfrm>
          <a:prstGeom prst="rect">
            <a:avLst/>
          </a:prstGeom>
        </p:spPr>
        <p:txBody>
          <a:bodyPr wrap="square" lIns="0" tIns="0" rIns="0" bIns="0" rtlCol="0" anchor="t">
            <a:spAutoFit/>
          </a:bodyPr>
          <a:lstStyle/>
          <a:p>
            <a:pPr algn="ctr">
              <a:lnSpc>
                <a:spcPts val="4134"/>
              </a:lnSpc>
              <a:spcBef>
                <a:spcPct val="0"/>
              </a:spcBef>
            </a:pPr>
            <a:r>
              <a:rPr lang="en-US" sz="2953" b="1" dirty="0">
                <a:solidFill>
                  <a:srgbClr val="000000"/>
                </a:solidFill>
                <a:latin typeface="+mj-lt"/>
                <a:ea typeface="Poppins Bold"/>
                <a:cs typeface="Poppins Bold"/>
                <a:sym typeface="Poppins Bold"/>
              </a:rPr>
              <a:t>ANNUAL BENEFIT LIMIT</a:t>
            </a:r>
          </a:p>
        </p:txBody>
      </p:sp>
      <p:sp>
        <p:nvSpPr>
          <p:cNvPr id="39" name="TextBox 39"/>
          <p:cNvSpPr txBox="1"/>
          <p:nvPr/>
        </p:nvSpPr>
        <p:spPr>
          <a:xfrm>
            <a:off x="2392795" y="4563331"/>
            <a:ext cx="2780571" cy="355931"/>
          </a:xfrm>
          <a:prstGeom prst="rect">
            <a:avLst/>
          </a:prstGeom>
        </p:spPr>
        <p:txBody>
          <a:bodyPr wrap="square" lIns="0" tIns="0" rIns="0" bIns="0" rtlCol="0" anchor="t">
            <a:spAutoFit/>
          </a:bodyPr>
          <a:lstStyle/>
          <a:p>
            <a:pPr algn="just">
              <a:lnSpc>
                <a:spcPts val="1770"/>
              </a:lnSpc>
            </a:pPr>
            <a:r>
              <a:rPr lang="en-US" sz="5400" b="1" dirty="0">
                <a:solidFill>
                  <a:srgbClr val="000000"/>
                </a:solidFill>
                <a:latin typeface="+mj-lt"/>
                <a:ea typeface="Poppins"/>
                <a:cs typeface="Poppins"/>
                <a:sym typeface="Poppins"/>
              </a:rPr>
              <a:t>200,000</a:t>
            </a:r>
          </a:p>
        </p:txBody>
      </p:sp>
      <p:sp>
        <p:nvSpPr>
          <p:cNvPr id="40" name="TextBox 40"/>
          <p:cNvSpPr txBox="1"/>
          <p:nvPr/>
        </p:nvSpPr>
        <p:spPr>
          <a:xfrm>
            <a:off x="1865789" y="5887708"/>
            <a:ext cx="3140985" cy="494302"/>
          </a:xfrm>
          <a:prstGeom prst="rect">
            <a:avLst/>
          </a:prstGeom>
        </p:spPr>
        <p:txBody>
          <a:bodyPr lIns="0" tIns="0" rIns="0" bIns="0" rtlCol="0" anchor="t">
            <a:spAutoFit/>
          </a:bodyPr>
          <a:lstStyle/>
          <a:p>
            <a:pPr algn="ctr">
              <a:lnSpc>
                <a:spcPts val="4134"/>
              </a:lnSpc>
              <a:spcBef>
                <a:spcPct val="0"/>
              </a:spcBef>
            </a:pPr>
            <a:r>
              <a:rPr lang="en-US" sz="2953" b="1" dirty="0">
                <a:solidFill>
                  <a:srgbClr val="000000"/>
                </a:solidFill>
                <a:latin typeface="+mj-lt"/>
                <a:ea typeface="Poppins Bold"/>
                <a:cs typeface="Poppins Bold"/>
                <a:sym typeface="Poppins Bold"/>
              </a:rPr>
              <a:t>ROOM TYPE</a:t>
            </a:r>
          </a:p>
        </p:txBody>
      </p:sp>
      <p:sp>
        <p:nvSpPr>
          <p:cNvPr id="41" name="TextBox 41"/>
          <p:cNvSpPr txBox="1"/>
          <p:nvPr/>
        </p:nvSpPr>
        <p:spPr>
          <a:xfrm>
            <a:off x="2768546" y="6659159"/>
            <a:ext cx="1357619" cy="615553"/>
          </a:xfrm>
          <a:prstGeom prst="rect">
            <a:avLst/>
          </a:prstGeom>
        </p:spPr>
        <p:txBody>
          <a:bodyPr wrap="square" lIns="0" tIns="0" rIns="0" bIns="0" rtlCol="0" anchor="t">
            <a:spAutoFit/>
          </a:bodyPr>
          <a:lstStyle/>
          <a:p>
            <a:pPr algn="just"/>
            <a:r>
              <a:rPr lang="en-US" sz="4000" b="1" dirty="0">
                <a:solidFill>
                  <a:srgbClr val="000000"/>
                </a:solidFill>
                <a:latin typeface="+mj-lt"/>
                <a:ea typeface="Poppins"/>
                <a:cs typeface="Poppins"/>
                <a:sym typeface="Poppins"/>
              </a:rPr>
              <a:t>WARD</a:t>
            </a:r>
          </a:p>
        </p:txBody>
      </p:sp>
      <p:sp>
        <p:nvSpPr>
          <p:cNvPr id="42" name="TextBox 42"/>
          <p:cNvSpPr txBox="1"/>
          <p:nvPr/>
        </p:nvSpPr>
        <p:spPr>
          <a:xfrm>
            <a:off x="6287475" y="4445450"/>
            <a:ext cx="3140985" cy="1020087"/>
          </a:xfrm>
          <a:prstGeom prst="rect">
            <a:avLst/>
          </a:prstGeom>
        </p:spPr>
        <p:txBody>
          <a:bodyPr lIns="0" tIns="0" rIns="0" bIns="0" rtlCol="0" anchor="t">
            <a:spAutoFit/>
          </a:bodyPr>
          <a:lstStyle/>
          <a:p>
            <a:pPr algn="ctr">
              <a:lnSpc>
                <a:spcPts val="4134"/>
              </a:lnSpc>
              <a:spcBef>
                <a:spcPct val="0"/>
              </a:spcBef>
            </a:pPr>
            <a:r>
              <a:rPr lang="en-US" sz="2953" b="1" dirty="0">
                <a:solidFill>
                  <a:srgbClr val="000000"/>
                </a:solidFill>
                <a:latin typeface="+mj-lt"/>
                <a:ea typeface="Poppins Bold"/>
                <a:cs typeface="Poppins Bold"/>
                <a:sym typeface="Poppins Bold"/>
              </a:rPr>
              <a:t>MAXIMUM BENEFIT LIMIT</a:t>
            </a:r>
          </a:p>
        </p:txBody>
      </p:sp>
      <p:sp>
        <p:nvSpPr>
          <p:cNvPr id="43" name="TextBox 43"/>
          <p:cNvSpPr txBox="1"/>
          <p:nvPr/>
        </p:nvSpPr>
        <p:spPr>
          <a:xfrm>
            <a:off x="5961857" y="5559284"/>
            <a:ext cx="4355561" cy="984885"/>
          </a:xfrm>
          <a:prstGeom prst="rect">
            <a:avLst/>
          </a:prstGeom>
        </p:spPr>
        <p:txBody>
          <a:bodyPr wrap="square" lIns="0" tIns="0" rIns="0" bIns="0" rtlCol="0" anchor="t">
            <a:spAutoFit/>
          </a:bodyPr>
          <a:lstStyle/>
          <a:p>
            <a:r>
              <a:rPr lang="en-US" sz="3200" b="1" dirty="0"/>
              <a:t>45,000.00 per illness per                                                             confinement per year</a:t>
            </a:r>
            <a:endParaRPr lang="en-US" sz="2800" dirty="0">
              <a:solidFill>
                <a:srgbClr val="000000"/>
              </a:solidFill>
              <a:latin typeface="+mj-lt"/>
              <a:ea typeface="Poppins"/>
              <a:cs typeface="Poppins"/>
              <a:sym typeface="Poppins"/>
            </a:endParaRPr>
          </a:p>
        </p:txBody>
      </p:sp>
      <p:sp>
        <p:nvSpPr>
          <p:cNvPr id="44" name="TextBox 43">
            <a:extLst>
              <a:ext uri="{FF2B5EF4-FFF2-40B4-BE49-F238E27FC236}">
                <a16:creationId xmlns:a16="http://schemas.microsoft.com/office/drawing/2014/main" id="{5E55BD44-AD3B-45E5-9483-27AC669BEA80}"/>
              </a:ext>
            </a:extLst>
          </p:cNvPr>
          <p:cNvSpPr txBox="1"/>
          <p:nvPr/>
        </p:nvSpPr>
        <p:spPr>
          <a:xfrm>
            <a:off x="861397" y="909492"/>
            <a:ext cx="9432721" cy="1323439"/>
          </a:xfrm>
          <a:prstGeom prst="rect">
            <a:avLst/>
          </a:prstGeom>
          <a:noFill/>
          <a:ln>
            <a:noFill/>
          </a:ln>
        </p:spPr>
        <p:txBody>
          <a:bodyPr wrap="square" rtlCol="0">
            <a:spAutoFit/>
          </a:bodyPr>
          <a:lstStyle/>
          <a:p>
            <a:r>
              <a:rPr lang="en-US" sz="8000" b="1" dirty="0">
                <a:ln>
                  <a:solidFill>
                    <a:schemeClr val="tx1"/>
                  </a:solidFill>
                </a:ln>
                <a:latin typeface="+mj-lt"/>
              </a:rPr>
              <a:t>INPATIENT BENEFITS</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0800938" y="633765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81960" y="6407884"/>
            <a:ext cx="2725919" cy="2725919"/>
          </a:xfrm>
          <a:prstGeom prst="rect">
            <a:avLst/>
          </a:prstGeom>
        </p:spPr>
      </p:pic>
    </p:spTree>
    <p:extLst>
      <p:ext uri="{BB962C8B-B14F-4D97-AF65-F5344CB8AC3E}">
        <p14:creationId xmlns:p14="http://schemas.microsoft.com/office/powerpoint/2010/main" val="3508407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500"/>
                                        <p:tgtEl>
                                          <p:spTgt spid="4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fade">
                                      <p:cBhvr>
                                        <p:cTn id="24" dur="500"/>
                                        <p:tgtEl>
                                          <p:spTgt spid="4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500"/>
                                        <p:tgtEl>
                                          <p:spTgt spid="4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1" grpId="0"/>
      <p:bldP spid="42" grpId="0"/>
      <p:bldP spid="4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5181600" y="3967729"/>
            <a:ext cx="5456629" cy="3004571"/>
            <a:chOff x="0" y="0"/>
            <a:chExt cx="1402049" cy="698500"/>
          </a:xfrm>
        </p:grpSpPr>
        <p:sp>
          <p:nvSpPr>
            <p:cNvPr id="9" name="Freeform 9"/>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0" name="TextBox 10"/>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39314" y="2394210"/>
            <a:ext cx="5804549" cy="2986581"/>
            <a:chOff x="0" y="0"/>
            <a:chExt cx="1402049" cy="698500"/>
          </a:xfrm>
        </p:grpSpPr>
        <p:sp>
          <p:nvSpPr>
            <p:cNvPr id="12" name="Freeform 12"/>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3" name="TextBox 13"/>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4" name="Group 14"/>
          <p:cNvGrpSpPr/>
          <p:nvPr/>
        </p:nvGrpSpPr>
        <p:grpSpPr>
          <a:xfrm>
            <a:off x="228601" y="5742740"/>
            <a:ext cx="5666796" cy="2922779"/>
            <a:chOff x="0" y="0"/>
            <a:chExt cx="1402049" cy="698500"/>
          </a:xfrm>
        </p:grpSpPr>
        <p:sp>
          <p:nvSpPr>
            <p:cNvPr id="15" name="Freeform 15"/>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6" name="TextBox 16"/>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3" name="Group 23"/>
          <p:cNvGrpSpPr/>
          <p:nvPr/>
        </p:nvGrpSpPr>
        <p:grpSpPr>
          <a:xfrm>
            <a:off x="11174905" y="-2087854"/>
            <a:ext cx="9007144" cy="7740514"/>
            <a:chOff x="0" y="0"/>
            <a:chExt cx="812800" cy="698500"/>
          </a:xfrm>
        </p:grpSpPr>
        <p:sp>
          <p:nvSpPr>
            <p:cNvPr id="24" name="Freeform 2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25" name="TextBox 25"/>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6" name="Group 26"/>
          <p:cNvGrpSpPr/>
          <p:nvPr/>
        </p:nvGrpSpPr>
        <p:grpSpPr>
          <a:xfrm>
            <a:off x="10427039" y="1636917"/>
            <a:ext cx="9101552" cy="7821646"/>
            <a:chOff x="0" y="0"/>
            <a:chExt cx="812800" cy="698500"/>
          </a:xfrm>
        </p:grpSpPr>
        <p:sp>
          <p:nvSpPr>
            <p:cNvPr id="27" name="Freeform 2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8" name="TextBox 2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9" name="Group 29"/>
          <p:cNvGrpSpPr/>
          <p:nvPr/>
        </p:nvGrpSpPr>
        <p:grpSpPr>
          <a:xfrm>
            <a:off x="10692881" y="1837180"/>
            <a:ext cx="8569868" cy="7421120"/>
            <a:chOff x="0" y="0"/>
            <a:chExt cx="4282440" cy="3708400"/>
          </a:xfrm>
          <a:solidFill>
            <a:srgbClr val="F68712"/>
          </a:solidFill>
        </p:grpSpPr>
        <p:sp>
          <p:nvSpPr>
            <p:cNvPr id="30" name="Freeform 30"/>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p:spPr>
        </p:sp>
      </p:grpSp>
      <p:grpSp>
        <p:nvGrpSpPr>
          <p:cNvPr id="31" name="Group 31"/>
          <p:cNvGrpSpPr/>
          <p:nvPr/>
        </p:nvGrpSpPr>
        <p:grpSpPr>
          <a:xfrm>
            <a:off x="10599045" y="6176334"/>
            <a:ext cx="4105631" cy="3528277"/>
            <a:chOff x="0" y="0"/>
            <a:chExt cx="812800" cy="69850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4" name="Group 34"/>
          <p:cNvGrpSpPr/>
          <p:nvPr/>
        </p:nvGrpSpPr>
        <p:grpSpPr>
          <a:xfrm>
            <a:off x="10800938" y="6337657"/>
            <a:ext cx="3701846" cy="3205631"/>
            <a:chOff x="0" y="0"/>
            <a:chExt cx="4282440" cy="3708400"/>
          </a:xfrm>
          <a:solidFill>
            <a:schemeClr val="bg1"/>
          </a:solidFill>
        </p:grpSpPr>
        <p:sp>
          <p:nvSpPr>
            <p:cNvPr id="35" name="Freeform 3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sp>
        <p:nvSpPr>
          <p:cNvPr id="38" name="TextBox 38"/>
          <p:cNvSpPr txBox="1"/>
          <p:nvPr/>
        </p:nvSpPr>
        <p:spPr>
          <a:xfrm>
            <a:off x="752695" y="2669815"/>
            <a:ext cx="4421686" cy="1385379"/>
          </a:xfrm>
          <a:prstGeom prst="rect">
            <a:avLst/>
          </a:prstGeom>
        </p:spPr>
        <p:txBody>
          <a:bodyPr wrap="square" lIns="0" tIns="0" rIns="0" bIns="0" rtlCol="0" anchor="t">
            <a:spAutoFit/>
          </a:bodyPr>
          <a:lstStyle/>
          <a:p>
            <a:r>
              <a:rPr lang="en-US" sz="2000" b="1" dirty="0"/>
              <a:t>Face-to-Face Check-ups, Teleconsultations &amp; Laboratory Tests / Examinations to Affiliated AMAPHIL Hospitals/Clinics</a:t>
            </a:r>
          </a:p>
          <a:p>
            <a:pPr algn="ctr">
              <a:lnSpc>
                <a:spcPts val="4134"/>
              </a:lnSpc>
              <a:spcBef>
                <a:spcPct val="0"/>
              </a:spcBef>
            </a:pPr>
            <a:endParaRPr lang="en-US" sz="2000" b="1" dirty="0">
              <a:solidFill>
                <a:srgbClr val="000000"/>
              </a:solidFill>
              <a:latin typeface="+mj-lt"/>
              <a:ea typeface="Poppins Bold"/>
              <a:cs typeface="Poppins Bold"/>
              <a:sym typeface="Poppins Bold"/>
            </a:endParaRPr>
          </a:p>
        </p:txBody>
      </p:sp>
      <p:sp>
        <p:nvSpPr>
          <p:cNvPr id="39" name="TextBox 39"/>
          <p:cNvSpPr txBox="1"/>
          <p:nvPr/>
        </p:nvSpPr>
        <p:spPr>
          <a:xfrm>
            <a:off x="510165" y="4309115"/>
            <a:ext cx="5134053" cy="355931"/>
          </a:xfrm>
          <a:prstGeom prst="rect">
            <a:avLst/>
          </a:prstGeom>
        </p:spPr>
        <p:txBody>
          <a:bodyPr wrap="square" lIns="0" tIns="0" rIns="0" bIns="0" rtlCol="0" anchor="t">
            <a:spAutoFit/>
          </a:bodyPr>
          <a:lstStyle/>
          <a:p>
            <a:pPr algn="just">
              <a:lnSpc>
                <a:spcPts val="1770"/>
              </a:lnSpc>
            </a:pPr>
            <a:r>
              <a:rPr lang="en-US" sz="5400" b="1" dirty="0">
                <a:solidFill>
                  <a:srgbClr val="000000"/>
                </a:solidFill>
                <a:latin typeface="+mj-lt"/>
                <a:ea typeface="Poppins"/>
                <a:cs typeface="Poppins"/>
                <a:sym typeface="Poppins"/>
              </a:rPr>
              <a:t>3,500 per quarter</a:t>
            </a:r>
          </a:p>
        </p:txBody>
      </p:sp>
      <p:sp>
        <p:nvSpPr>
          <p:cNvPr id="40" name="TextBox 40"/>
          <p:cNvSpPr txBox="1"/>
          <p:nvPr/>
        </p:nvSpPr>
        <p:spPr>
          <a:xfrm>
            <a:off x="1229128" y="5969790"/>
            <a:ext cx="3801012" cy="525785"/>
          </a:xfrm>
          <a:prstGeom prst="rect">
            <a:avLst/>
          </a:prstGeom>
        </p:spPr>
        <p:txBody>
          <a:bodyPr wrap="square" lIns="0" tIns="0" rIns="0" bIns="0" rtlCol="0" anchor="t">
            <a:spAutoFit/>
          </a:bodyPr>
          <a:lstStyle/>
          <a:p>
            <a:pPr algn="ctr">
              <a:lnSpc>
                <a:spcPts val="4134"/>
              </a:lnSpc>
              <a:spcBef>
                <a:spcPct val="0"/>
              </a:spcBef>
            </a:pPr>
            <a:r>
              <a:rPr lang="en-US" sz="3600" b="1" dirty="0">
                <a:solidFill>
                  <a:srgbClr val="000000"/>
                </a:solidFill>
                <a:latin typeface="+mj-lt"/>
                <a:ea typeface="Poppins Bold"/>
                <a:cs typeface="Poppins Bold"/>
                <a:sym typeface="Poppins Bold"/>
              </a:rPr>
              <a:t>PHYSICAL THERAPY</a:t>
            </a:r>
          </a:p>
        </p:txBody>
      </p:sp>
      <p:sp>
        <p:nvSpPr>
          <p:cNvPr id="42" name="TextBox 42"/>
          <p:cNvSpPr txBox="1"/>
          <p:nvPr/>
        </p:nvSpPr>
        <p:spPr>
          <a:xfrm>
            <a:off x="6292891" y="4000818"/>
            <a:ext cx="3140985" cy="1020087"/>
          </a:xfrm>
          <a:prstGeom prst="rect">
            <a:avLst/>
          </a:prstGeom>
        </p:spPr>
        <p:txBody>
          <a:bodyPr lIns="0" tIns="0" rIns="0" bIns="0" rtlCol="0" anchor="t">
            <a:spAutoFit/>
          </a:bodyPr>
          <a:lstStyle/>
          <a:p>
            <a:pPr algn="ctr">
              <a:lnSpc>
                <a:spcPts val="4134"/>
              </a:lnSpc>
              <a:spcBef>
                <a:spcPct val="0"/>
              </a:spcBef>
            </a:pPr>
            <a:r>
              <a:rPr lang="en-US" sz="2953" b="1" dirty="0">
                <a:solidFill>
                  <a:srgbClr val="000000"/>
                </a:solidFill>
                <a:latin typeface="+mj-lt"/>
                <a:ea typeface="Poppins Bold"/>
                <a:cs typeface="Poppins Bold"/>
                <a:sym typeface="Poppins Bold"/>
              </a:rPr>
              <a:t>MENTAL HEALTH CONSULTATION</a:t>
            </a:r>
          </a:p>
        </p:txBody>
      </p:sp>
      <p:sp>
        <p:nvSpPr>
          <p:cNvPr id="43" name="TextBox 43"/>
          <p:cNvSpPr txBox="1"/>
          <p:nvPr/>
        </p:nvSpPr>
        <p:spPr>
          <a:xfrm>
            <a:off x="5873281" y="5111139"/>
            <a:ext cx="4493770" cy="1292662"/>
          </a:xfrm>
          <a:prstGeom prst="rect">
            <a:avLst/>
          </a:prstGeom>
        </p:spPr>
        <p:txBody>
          <a:bodyPr wrap="square" lIns="0" tIns="0" rIns="0" bIns="0" rtlCol="0" anchor="t">
            <a:spAutoFit/>
          </a:bodyPr>
          <a:lstStyle/>
          <a:p>
            <a:r>
              <a:rPr lang="en-US" sz="2800" b="1" dirty="0"/>
              <a:t>1,500 consultation assistance per year to AMAPHIL-accredited psychiatrist.</a:t>
            </a:r>
          </a:p>
        </p:txBody>
      </p:sp>
      <p:sp>
        <p:nvSpPr>
          <p:cNvPr id="44" name="TextBox 43">
            <a:extLst>
              <a:ext uri="{FF2B5EF4-FFF2-40B4-BE49-F238E27FC236}">
                <a16:creationId xmlns:a16="http://schemas.microsoft.com/office/drawing/2014/main" id="{5E55BD44-AD3B-45E5-9483-27AC669BEA80}"/>
              </a:ext>
            </a:extLst>
          </p:cNvPr>
          <p:cNvSpPr txBox="1"/>
          <p:nvPr/>
        </p:nvSpPr>
        <p:spPr>
          <a:xfrm>
            <a:off x="861397" y="909492"/>
            <a:ext cx="10178814" cy="1323439"/>
          </a:xfrm>
          <a:prstGeom prst="rect">
            <a:avLst/>
          </a:prstGeom>
          <a:noFill/>
          <a:ln>
            <a:noFill/>
          </a:ln>
        </p:spPr>
        <p:txBody>
          <a:bodyPr wrap="square" rtlCol="0">
            <a:spAutoFit/>
          </a:bodyPr>
          <a:lstStyle/>
          <a:p>
            <a:r>
              <a:rPr lang="en-US" sz="8000" b="1" dirty="0">
                <a:ln>
                  <a:solidFill>
                    <a:schemeClr val="tx1"/>
                  </a:solidFill>
                </a:ln>
                <a:latin typeface="+mj-lt"/>
              </a:rPr>
              <a:t>OUT-PATIENT BENEFITS</a:t>
            </a:r>
          </a:p>
        </p:txBody>
      </p:sp>
      <p:sp>
        <p:nvSpPr>
          <p:cNvPr id="45" name="TextBox 43">
            <a:extLst>
              <a:ext uri="{FF2B5EF4-FFF2-40B4-BE49-F238E27FC236}">
                <a16:creationId xmlns:a16="http://schemas.microsoft.com/office/drawing/2014/main" id="{EE3DCF61-7021-4AC6-BF71-16079D239B9D}"/>
              </a:ext>
            </a:extLst>
          </p:cNvPr>
          <p:cNvSpPr txBox="1"/>
          <p:nvPr/>
        </p:nvSpPr>
        <p:spPr>
          <a:xfrm>
            <a:off x="1157519" y="6659536"/>
            <a:ext cx="4385200" cy="1292662"/>
          </a:xfrm>
          <a:prstGeom prst="rect">
            <a:avLst/>
          </a:prstGeom>
        </p:spPr>
        <p:txBody>
          <a:bodyPr wrap="square" lIns="0" tIns="0" rIns="0" bIns="0" rtlCol="0" anchor="t">
            <a:spAutoFit/>
          </a:bodyPr>
          <a:lstStyle/>
          <a:p>
            <a:r>
              <a:rPr lang="en-US" sz="2800" b="1" dirty="0"/>
              <a:t>1,500  assistance per year to AMAPHIL-accredited PT centers or rehab doctors.</a:t>
            </a:r>
          </a:p>
        </p:txBody>
      </p:sp>
      <p:pic>
        <p:nvPicPr>
          <p:cNvPr id="37" name="Picture 36">
            <a:extLst>
              <a:ext uri="{FF2B5EF4-FFF2-40B4-BE49-F238E27FC236}">
                <a16:creationId xmlns:a16="http://schemas.microsoft.com/office/drawing/2014/main" id="{93BB29CF-1E14-4F3F-9B5C-7C82686BCB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81960" y="6407884"/>
            <a:ext cx="2725919" cy="2725919"/>
          </a:xfrm>
          <a:prstGeom prst="rect">
            <a:avLst/>
          </a:prstGeom>
        </p:spPr>
      </p:pic>
    </p:spTree>
    <p:extLst>
      <p:ext uri="{BB962C8B-B14F-4D97-AF65-F5344CB8AC3E}">
        <p14:creationId xmlns:p14="http://schemas.microsoft.com/office/powerpoint/2010/main" val="2906916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500"/>
                                        <p:tgtEl>
                                          <p:spTgt spid="4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fade">
                                      <p:cBhvr>
                                        <p:cTn id="24" dur="500"/>
                                        <p:tgtEl>
                                          <p:spTgt spid="4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500"/>
                                        <p:tgtEl>
                                          <p:spTgt spid="4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2" grpId="0"/>
      <p:bldP spid="43" grpId="0"/>
      <p:bldP spid="4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5077867" y="-784225"/>
            <a:ext cx="6088480" cy="1326059"/>
            <a:chOff x="0" y="0"/>
            <a:chExt cx="3207100" cy="698500"/>
          </a:xfrm>
        </p:grpSpPr>
        <p:sp>
          <p:nvSpPr>
            <p:cNvPr id="10" name="Freeform 10"/>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1" name="TextBox 11"/>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44950" y="-1063420"/>
            <a:ext cx="3086100" cy="2700338"/>
            <a:chOff x="0" y="0"/>
            <a:chExt cx="812800" cy="711200"/>
          </a:xfrm>
        </p:grpSpPr>
        <p:sp>
          <p:nvSpPr>
            <p:cNvPr id="13" name="Freeform 1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4" name="TextBox 14"/>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258097" y="3921076"/>
            <a:ext cx="17297400" cy="4040530"/>
          </a:xfrm>
          <a:prstGeom prst="rect">
            <a:avLst/>
          </a:prstGeom>
        </p:spPr>
        <p:txBody>
          <a:bodyPr wrap="square" lIns="0" tIns="0" rIns="0" bIns="0" rtlCol="0" anchor="t">
            <a:spAutoFit/>
          </a:bodyPr>
          <a:lstStyle/>
          <a:p>
            <a:pPr algn="just">
              <a:lnSpc>
                <a:spcPts val="3476"/>
              </a:lnSpc>
            </a:pPr>
            <a:r>
              <a:rPr lang="en-US" sz="16600" b="1" dirty="0">
                <a:solidFill>
                  <a:srgbClr val="000000"/>
                </a:solidFill>
                <a:latin typeface="+mj-lt"/>
                <a:ea typeface="Poppins"/>
                <a:cs typeface="Poppins"/>
                <a:sym typeface="Poppins"/>
              </a:rPr>
              <a:t>Principal - 5,000</a:t>
            </a:r>
          </a:p>
          <a:p>
            <a:pPr algn="just">
              <a:lnSpc>
                <a:spcPts val="3476"/>
              </a:lnSpc>
            </a:pPr>
            <a:endParaRPr lang="en-US" sz="16600" b="1" dirty="0">
              <a:solidFill>
                <a:srgbClr val="000000"/>
              </a:solidFill>
              <a:latin typeface="+mj-lt"/>
              <a:ea typeface="Poppins"/>
              <a:cs typeface="Poppins"/>
              <a:sym typeface="Poppins"/>
            </a:endParaRPr>
          </a:p>
          <a:p>
            <a:pPr algn="just">
              <a:lnSpc>
                <a:spcPts val="3476"/>
              </a:lnSpc>
            </a:pPr>
            <a:endParaRPr lang="en-US" sz="16600" b="1" dirty="0">
              <a:solidFill>
                <a:srgbClr val="000000"/>
              </a:solidFill>
              <a:latin typeface="+mj-lt"/>
              <a:ea typeface="Poppins"/>
              <a:cs typeface="Poppins"/>
              <a:sym typeface="Poppins"/>
            </a:endParaRPr>
          </a:p>
          <a:p>
            <a:pPr algn="just">
              <a:lnSpc>
                <a:spcPts val="3476"/>
              </a:lnSpc>
            </a:pPr>
            <a:endParaRPr lang="en-US" sz="16600" b="1" dirty="0">
              <a:solidFill>
                <a:srgbClr val="000000"/>
              </a:solidFill>
              <a:latin typeface="+mj-lt"/>
              <a:ea typeface="Poppins"/>
              <a:cs typeface="Poppins"/>
              <a:sym typeface="Poppins"/>
            </a:endParaRPr>
          </a:p>
          <a:p>
            <a:pPr algn="just">
              <a:lnSpc>
                <a:spcPts val="3476"/>
              </a:lnSpc>
            </a:pPr>
            <a:endParaRPr lang="en-US" sz="16600" b="1" dirty="0">
              <a:solidFill>
                <a:srgbClr val="000000"/>
              </a:solidFill>
              <a:latin typeface="+mj-lt"/>
              <a:ea typeface="Poppins"/>
              <a:cs typeface="Poppins"/>
              <a:sym typeface="Poppins"/>
            </a:endParaRPr>
          </a:p>
          <a:p>
            <a:pPr algn="just">
              <a:lnSpc>
                <a:spcPts val="3476"/>
              </a:lnSpc>
            </a:pPr>
            <a:endParaRPr lang="en-US" sz="16600" b="1" dirty="0">
              <a:solidFill>
                <a:srgbClr val="000000"/>
              </a:solidFill>
              <a:latin typeface="+mj-lt"/>
              <a:ea typeface="Poppins"/>
              <a:cs typeface="Poppins"/>
              <a:sym typeface="Poppins"/>
            </a:endParaRPr>
          </a:p>
          <a:p>
            <a:pPr algn="just">
              <a:lnSpc>
                <a:spcPts val="3476"/>
              </a:lnSpc>
            </a:pPr>
            <a:endParaRPr lang="en-US" sz="16600" b="1" dirty="0">
              <a:solidFill>
                <a:srgbClr val="000000"/>
              </a:solidFill>
              <a:latin typeface="+mj-lt"/>
              <a:ea typeface="Poppins"/>
              <a:cs typeface="Poppins"/>
              <a:sym typeface="Poppins"/>
            </a:endParaRPr>
          </a:p>
          <a:p>
            <a:pPr algn="just">
              <a:lnSpc>
                <a:spcPts val="3476"/>
              </a:lnSpc>
            </a:pPr>
            <a:r>
              <a:rPr lang="en-US" sz="16600" b="1" dirty="0">
                <a:solidFill>
                  <a:srgbClr val="000000"/>
                </a:solidFill>
                <a:latin typeface="+mj-lt"/>
                <a:ea typeface="Poppins"/>
                <a:cs typeface="Poppins"/>
                <a:sym typeface="Poppins"/>
              </a:rPr>
              <a:t>Dependent – 6,000</a:t>
            </a:r>
          </a:p>
        </p:txBody>
      </p:sp>
      <p:sp>
        <p:nvSpPr>
          <p:cNvPr id="15" name="TextBox 3">
            <a:extLst>
              <a:ext uri="{FF2B5EF4-FFF2-40B4-BE49-F238E27FC236}">
                <a16:creationId xmlns:a16="http://schemas.microsoft.com/office/drawing/2014/main" id="{FD6EF06F-38A5-4A02-B802-797CE05B55BE}"/>
              </a:ext>
            </a:extLst>
          </p:cNvPr>
          <p:cNvSpPr txBox="1"/>
          <p:nvPr/>
        </p:nvSpPr>
        <p:spPr>
          <a:xfrm>
            <a:off x="258097" y="587507"/>
            <a:ext cx="16584260" cy="1515543"/>
          </a:xfrm>
          <a:prstGeom prst="rect">
            <a:avLst/>
          </a:prstGeom>
        </p:spPr>
        <p:txBody>
          <a:bodyPr wrap="square" lIns="0" tIns="0" rIns="0" bIns="0" rtlCol="0" anchor="t">
            <a:spAutoFit/>
          </a:bodyPr>
          <a:lstStyle/>
          <a:p>
            <a:pPr algn="r">
              <a:lnSpc>
                <a:spcPts val="10883"/>
              </a:lnSpc>
              <a:spcBef>
                <a:spcPct val="0"/>
              </a:spcBef>
            </a:pPr>
            <a:r>
              <a:rPr lang="en-US" sz="13800" b="1" dirty="0">
                <a:solidFill>
                  <a:srgbClr val="000000"/>
                </a:solidFill>
                <a:latin typeface="+mj-lt"/>
                <a:ea typeface="Poppins Bold"/>
                <a:cs typeface="Poppins Bold"/>
                <a:sym typeface="Poppins Bold"/>
              </a:rPr>
              <a:t>PREMIUM PER YEAR</a:t>
            </a:r>
          </a:p>
        </p:txBody>
      </p:sp>
      <p:pic>
        <p:nvPicPr>
          <p:cNvPr id="2052" name="Picture 4" descr="What does Premium Means in Finance? | Fincash.com">
            <a:extLst>
              <a:ext uri="{FF2B5EF4-FFF2-40B4-BE49-F238E27FC236}">
                <a16:creationId xmlns:a16="http://schemas.microsoft.com/office/drawing/2014/main" id="{0D1E3427-CAF2-408A-A6EF-B0E4C3BC10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966244">
            <a:off x="12797586" y="6726168"/>
            <a:ext cx="5715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6104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fade">
                                      <p:cBhvr>
                                        <p:cTn id="12" dur="500"/>
                                        <p:tgtEl>
                                          <p:spTgt spid="1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xEl>
                                              <p:pRg st="7" end="7"/>
                                            </p:txEl>
                                          </p:spTgt>
                                        </p:tgtEl>
                                        <p:attrNameLst>
                                          <p:attrName>style.visibility</p:attrName>
                                        </p:attrNameLst>
                                      </p:cBhvr>
                                      <p:to>
                                        <p:strVal val="visible"/>
                                      </p:to>
                                    </p:set>
                                    <p:animEffect transition="in" filter="fade">
                                      <p:cBhvr>
                                        <p:cTn id="17" dur="500"/>
                                        <p:tgtEl>
                                          <p:spTgt spid="1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GENERAL EXCLUSIONS</a:t>
            </a:r>
          </a:p>
        </p:txBody>
      </p:sp>
      <p:pic>
        <p:nvPicPr>
          <p:cNvPr id="1026" name="Picture 2" descr="What are Project Exclusions? | Learn more - Key Consulting">
            <a:extLst>
              <a:ext uri="{FF2B5EF4-FFF2-40B4-BE49-F238E27FC236}">
                <a16:creationId xmlns:a16="http://schemas.microsoft.com/office/drawing/2014/main" id="{AEF52C94-6AA0-450A-90AB-5B4EF4DD0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a:extLst>
              <a:ext uri="{FF2B5EF4-FFF2-40B4-BE49-F238E27FC236}">
                <a16:creationId xmlns:a16="http://schemas.microsoft.com/office/drawing/2014/main" id="{5F7C0197-D7DA-4E39-A3F3-CE5E3B5F9E79}"/>
              </a:ext>
            </a:extLst>
          </p:cNvPr>
          <p:cNvSpPr/>
          <p:nvPr/>
        </p:nvSpPr>
        <p:spPr>
          <a:xfrm>
            <a:off x="163228" y="1969793"/>
            <a:ext cx="11844696" cy="9233297"/>
          </a:xfrm>
          <a:prstGeom prst="rect">
            <a:avLst/>
          </a:prstGeom>
        </p:spPr>
        <p:txBody>
          <a:bodyPr wrap="square">
            <a:spAutoFit/>
          </a:bodyPr>
          <a:lstStyle/>
          <a:p>
            <a:r>
              <a:rPr lang="en-US" sz="2700" b="1" dirty="0">
                <a:latin typeface="+mj-lt"/>
              </a:rPr>
              <a:t>1. Non-Medically Necessary or Cosmetic Procedures</a:t>
            </a:r>
            <a:endParaRPr lang="en-US" sz="2700" dirty="0">
              <a:latin typeface="+mj-lt"/>
            </a:endParaRPr>
          </a:p>
          <a:p>
            <a:r>
              <a:rPr lang="en-US" sz="2700" dirty="0">
                <a:latin typeface="+mj-lt"/>
              </a:rPr>
              <a:t>Plastic or reconstructive surgery for cosmetic purposes (e.g., nose lift, liposuction, facelift). Treatment for obesity, weight reduction, or body contouring. Hair loss treatments, skin whitening, or tattoo removal. Corrective eye surgery for refractive errors (LASIK, etc.).</a:t>
            </a:r>
          </a:p>
          <a:p>
            <a:endParaRPr lang="en-US" sz="2700" dirty="0">
              <a:latin typeface="+mj-lt"/>
            </a:endParaRPr>
          </a:p>
          <a:p>
            <a:r>
              <a:rPr lang="en-US" sz="2700" b="1" dirty="0">
                <a:latin typeface="+mj-lt"/>
              </a:rPr>
              <a:t>2. Dental Services Beyond Coverage</a:t>
            </a:r>
            <a:endParaRPr lang="en-US" sz="2700" dirty="0">
              <a:latin typeface="+mj-lt"/>
            </a:endParaRPr>
          </a:p>
          <a:p>
            <a:pPr lvl="0"/>
            <a:r>
              <a:rPr lang="en-US" sz="2700" dirty="0">
                <a:latin typeface="+mj-lt"/>
              </a:rPr>
              <a:t>Orthodontic braces and retainers. Cosmetic dental procedures (veneers, bleaching). Dentures and prosthetics unless specifically included in the plan.</a:t>
            </a:r>
          </a:p>
          <a:p>
            <a:pPr lvl="0"/>
            <a:endParaRPr lang="en-US" sz="2700" dirty="0">
              <a:latin typeface="+mj-lt"/>
            </a:endParaRPr>
          </a:p>
          <a:p>
            <a:r>
              <a:rPr lang="en-US" sz="2700" b="1" dirty="0">
                <a:latin typeface="+mj-lt"/>
              </a:rPr>
              <a:t>3. Congenital, Genetic, or Developmental Conditions</a:t>
            </a:r>
            <a:endParaRPr lang="en-US" sz="2700" dirty="0">
              <a:latin typeface="+mj-lt"/>
            </a:endParaRPr>
          </a:p>
          <a:p>
            <a:pPr lvl="0"/>
            <a:r>
              <a:rPr lang="en-US" sz="2700" dirty="0">
                <a:latin typeface="+mj-lt"/>
              </a:rPr>
              <a:t>Congenital or hereditary diseases (unless included in special plans). Learning disabilities, speech therapy, or developmental therapy. Genetic testing and counseling.</a:t>
            </a:r>
          </a:p>
          <a:p>
            <a:pPr lvl="0"/>
            <a:endParaRPr lang="en-US" sz="2700" dirty="0">
              <a:latin typeface="+mj-lt"/>
            </a:endParaRPr>
          </a:p>
          <a:p>
            <a:r>
              <a:rPr lang="en-US" sz="2700" b="1" dirty="0">
                <a:latin typeface="+mj-lt"/>
              </a:rPr>
              <a:t>4. Maternity and Reproductive Services</a:t>
            </a:r>
            <a:endParaRPr lang="en-US" sz="2700" dirty="0">
              <a:latin typeface="+mj-lt"/>
            </a:endParaRPr>
          </a:p>
          <a:p>
            <a:pPr lvl="0"/>
            <a:r>
              <a:rPr lang="en-US" sz="2700" dirty="0">
                <a:latin typeface="+mj-lt"/>
              </a:rPr>
              <a:t>Normal pregnancy, childbirth, and postpartum care (unless maternity coverage is explicitly added). Fertility treatment, artificial insemination, in-vitro fertilization (IVF). Contraceptives, family planning procedures, or voluntary sterilization. Circumcision, except if medically necessary (e.g., infection).</a:t>
            </a:r>
          </a:p>
          <a:p>
            <a:pPr marL="285750" indent="-285750">
              <a:buFont typeface="Arial" panose="020B0604020202020204" pitchFamily="34" charset="0"/>
              <a:buChar char="•"/>
            </a:pPr>
            <a:endParaRPr lang="en-US" sz="2700" dirty="0">
              <a:latin typeface="+mj-lt"/>
            </a:endParaRPr>
          </a:p>
          <a:p>
            <a:pPr marL="285750" indent="-285750">
              <a:buFont typeface="Arial" panose="020B0604020202020204" pitchFamily="34" charset="0"/>
              <a:buChar char="•"/>
            </a:pPr>
            <a:endParaRPr lang="en-US" sz="2700"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Effect transition="in" filter="fade">
                                      <p:cBhvr>
                                        <p:cTn id="7" dur="500"/>
                                        <p:tgtEl>
                                          <p:spTgt spid="3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5">
                                            <p:txEl>
                                              <p:pRg st="1" end="1"/>
                                            </p:txEl>
                                          </p:spTgt>
                                        </p:tgtEl>
                                        <p:attrNameLst>
                                          <p:attrName>style.visibility</p:attrName>
                                        </p:attrNameLst>
                                      </p:cBhvr>
                                      <p:to>
                                        <p:strVal val="visible"/>
                                      </p:to>
                                    </p:set>
                                    <p:animEffect transition="in" filter="fade">
                                      <p:cBhvr>
                                        <p:cTn id="10" dur="500"/>
                                        <p:tgtEl>
                                          <p:spTgt spid="3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5">
                                            <p:txEl>
                                              <p:pRg st="3" end="3"/>
                                            </p:txEl>
                                          </p:spTgt>
                                        </p:tgtEl>
                                        <p:attrNameLst>
                                          <p:attrName>style.visibility</p:attrName>
                                        </p:attrNameLst>
                                      </p:cBhvr>
                                      <p:to>
                                        <p:strVal val="visible"/>
                                      </p:to>
                                    </p:set>
                                    <p:animEffect transition="in" filter="fade">
                                      <p:cBhvr>
                                        <p:cTn id="15" dur="500"/>
                                        <p:tgtEl>
                                          <p:spTgt spid="35">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5">
                                            <p:txEl>
                                              <p:pRg st="4" end="4"/>
                                            </p:txEl>
                                          </p:spTgt>
                                        </p:tgtEl>
                                        <p:attrNameLst>
                                          <p:attrName>style.visibility</p:attrName>
                                        </p:attrNameLst>
                                      </p:cBhvr>
                                      <p:to>
                                        <p:strVal val="visible"/>
                                      </p:to>
                                    </p:set>
                                    <p:animEffect transition="in" filter="fade">
                                      <p:cBhvr>
                                        <p:cTn id="18" dur="500"/>
                                        <p:tgtEl>
                                          <p:spTgt spid="35">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5">
                                            <p:txEl>
                                              <p:pRg st="6" end="6"/>
                                            </p:txEl>
                                          </p:spTgt>
                                        </p:tgtEl>
                                        <p:attrNameLst>
                                          <p:attrName>style.visibility</p:attrName>
                                        </p:attrNameLst>
                                      </p:cBhvr>
                                      <p:to>
                                        <p:strVal val="visible"/>
                                      </p:to>
                                    </p:set>
                                    <p:animEffect transition="in" filter="fade">
                                      <p:cBhvr>
                                        <p:cTn id="23" dur="500"/>
                                        <p:tgtEl>
                                          <p:spTgt spid="35">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5">
                                            <p:txEl>
                                              <p:pRg st="7" end="7"/>
                                            </p:txEl>
                                          </p:spTgt>
                                        </p:tgtEl>
                                        <p:attrNameLst>
                                          <p:attrName>style.visibility</p:attrName>
                                        </p:attrNameLst>
                                      </p:cBhvr>
                                      <p:to>
                                        <p:strVal val="visible"/>
                                      </p:to>
                                    </p:set>
                                    <p:animEffect transition="in" filter="fade">
                                      <p:cBhvr>
                                        <p:cTn id="26" dur="500"/>
                                        <p:tgtEl>
                                          <p:spTgt spid="35">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5">
                                            <p:txEl>
                                              <p:pRg st="9" end="9"/>
                                            </p:txEl>
                                          </p:spTgt>
                                        </p:tgtEl>
                                        <p:attrNameLst>
                                          <p:attrName>style.visibility</p:attrName>
                                        </p:attrNameLst>
                                      </p:cBhvr>
                                      <p:to>
                                        <p:strVal val="visible"/>
                                      </p:to>
                                    </p:set>
                                    <p:animEffect transition="in" filter="fade">
                                      <p:cBhvr>
                                        <p:cTn id="31" dur="500"/>
                                        <p:tgtEl>
                                          <p:spTgt spid="35">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5">
                                            <p:txEl>
                                              <p:pRg st="10" end="10"/>
                                            </p:txEl>
                                          </p:spTgt>
                                        </p:tgtEl>
                                        <p:attrNameLst>
                                          <p:attrName>style.visibility</p:attrName>
                                        </p:attrNameLst>
                                      </p:cBhvr>
                                      <p:to>
                                        <p:strVal val="visible"/>
                                      </p:to>
                                    </p:set>
                                    <p:animEffect transition="in" filter="fade">
                                      <p:cBhvr>
                                        <p:cTn id="34" dur="500"/>
                                        <p:tgtEl>
                                          <p:spTgt spid="3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GENERAL EXCLUSIONS</a:t>
            </a:r>
          </a:p>
        </p:txBody>
      </p:sp>
      <p:pic>
        <p:nvPicPr>
          <p:cNvPr id="1026" name="Picture 2" descr="What are Project Exclusions? | Learn more - Key Consulting">
            <a:extLst>
              <a:ext uri="{FF2B5EF4-FFF2-40B4-BE49-F238E27FC236}">
                <a16:creationId xmlns:a16="http://schemas.microsoft.com/office/drawing/2014/main" id="{AEF52C94-6AA0-450A-90AB-5B4EF4DD0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3">
            <a:extLst>
              <a:ext uri="{FF2B5EF4-FFF2-40B4-BE49-F238E27FC236}">
                <a16:creationId xmlns:a16="http://schemas.microsoft.com/office/drawing/2014/main" id="{BECDD442-BE09-42CE-A1C8-40B58AACB2A1}"/>
              </a:ext>
            </a:extLst>
          </p:cNvPr>
          <p:cNvSpPr/>
          <p:nvPr/>
        </p:nvSpPr>
        <p:spPr>
          <a:xfrm>
            <a:off x="144953" y="2016762"/>
            <a:ext cx="11254880" cy="8586966"/>
          </a:xfrm>
          <a:prstGeom prst="rect">
            <a:avLst/>
          </a:prstGeom>
        </p:spPr>
        <p:txBody>
          <a:bodyPr wrap="square">
            <a:spAutoFit/>
          </a:bodyPr>
          <a:lstStyle/>
          <a:p>
            <a:r>
              <a:rPr lang="en-US" sz="2400" b="1" dirty="0">
                <a:latin typeface="+mj-lt"/>
              </a:rPr>
              <a:t>5. Mental Health, Psychiatric, and Psychological Disorders</a:t>
            </a:r>
            <a:endParaRPr lang="en-US" sz="2400" dirty="0">
              <a:latin typeface="+mj-lt"/>
            </a:endParaRPr>
          </a:p>
          <a:p>
            <a:pPr lvl="0"/>
            <a:r>
              <a:rPr lang="en-US" sz="2400" dirty="0">
                <a:latin typeface="+mj-lt"/>
              </a:rPr>
              <a:t>Psychiatric evaluation, psychotherapy, counseling, and mental health admissions (except if explicitly covered).</a:t>
            </a:r>
          </a:p>
          <a:p>
            <a:pPr lvl="0"/>
            <a:r>
              <a:rPr lang="en-US" sz="2400" dirty="0">
                <a:latin typeface="+mj-lt"/>
              </a:rPr>
              <a:t>Drug or alcohol rehabilitation, detoxification programs.</a:t>
            </a:r>
          </a:p>
          <a:p>
            <a:pPr lvl="0"/>
            <a:endParaRPr lang="en-US" sz="2400" dirty="0">
              <a:latin typeface="+mj-lt"/>
            </a:endParaRPr>
          </a:p>
          <a:p>
            <a:r>
              <a:rPr lang="en-US" sz="2400" b="1" dirty="0">
                <a:latin typeface="+mj-lt"/>
              </a:rPr>
              <a:t>7. Occupational or Work-Related Injuries</a:t>
            </a:r>
            <a:endParaRPr lang="en-US" sz="2400" dirty="0">
              <a:latin typeface="+mj-lt"/>
            </a:endParaRPr>
          </a:p>
          <a:p>
            <a:pPr lvl="0"/>
            <a:r>
              <a:rPr lang="en-US" sz="2400" dirty="0">
                <a:latin typeface="+mj-lt"/>
              </a:rPr>
              <a:t>Work-related accidents covered by the Employees Compensation Commission (ECC) or PhilHealth. Injuries from employment hazards or while performing job duties.</a:t>
            </a:r>
          </a:p>
          <a:p>
            <a:pPr lvl="0"/>
            <a:endParaRPr lang="en-US" sz="2400" dirty="0">
              <a:latin typeface="+mj-lt"/>
            </a:endParaRPr>
          </a:p>
          <a:p>
            <a:r>
              <a:rPr lang="en-US" sz="2400" b="1" dirty="0">
                <a:latin typeface="+mj-lt"/>
              </a:rPr>
              <a:t>8. Self-Inflicted Injuries or Illegal Acts</a:t>
            </a:r>
            <a:endParaRPr lang="en-US" sz="2400" dirty="0">
              <a:latin typeface="+mj-lt"/>
            </a:endParaRPr>
          </a:p>
          <a:p>
            <a:r>
              <a:rPr lang="en-US" sz="2400" dirty="0">
                <a:latin typeface="+mj-lt"/>
              </a:rPr>
              <a:t>Suicide or attempted suicide. Self-inflicted harm. Injuries due to participation in criminal acts or resistance to lawful arrest.</a:t>
            </a:r>
          </a:p>
          <a:p>
            <a:endParaRPr lang="en-US" sz="2400" dirty="0">
              <a:latin typeface="+mj-lt"/>
            </a:endParaRPr>
          </a:p>
          <a:p>
            <a:r>
              <a:rPr lang="en-US" sz="2400" b="1" dirty="0">
                <a:latin typeface="+mj-lt"/>
              </a:rPr>
              <a:t>9. High-Risk or Hazardous Activities</a:t>
            </a:r>
            <a:endParaRPr lang="en-US" sz="2400" dirty="0">
              <a:latin typeface="+mj-lt"/>
            </a:endParaRPr>
          </a:p>
          <a:p>
            <a:pPr lvl="0"/>
            <a:r>
              <a:rPr lang="en-US" sz="2400" dirty="0">
                <a:latin typeface="+mj-lt"/>
              </a:rPr>
              <a:t>Injuries from extreme sports or activities (e.g., scuba diving, skydiving, racing, mountaineering, martial arts competitions). Accidents while under the influence of drugs or alcohol.</a:t>
            </a:r>
          </a:p>
          <a:p>
            <a:pPr lvl="0"/>
            <a:endParaRPr lang="en-US" sz="2400" dirty="0">
              <a:latin typeface="+mj-lt"/>
            </a:endParaRPr>
          </a:p>
          <a:p>
            <a:r>
              <a:rPr lang="en-US" sz="2400" b="1" dirty="0">
                <a:latin typeface="+mj-lt"/>
              </a:rPr>
              <a:t>10. Non-Prescription or Alternative Treatments</a:t>
            </a:r>
            <a:endParaRPr lang="en-US" sz="2400" dirty="0">
              <a:latin typeface="+mj-lt"/>
            </a:endParaRPr>
          </a:p>
          <a:p>
            <a:pPr lvl="0"/>
            <a:r>
              <a:rPr lang="en-US" sz="2400" dirty="0">
                <a:latin typeface="+mj-lt"/>
              </a:rPr>
              <a:t>Vitamins, supplements, herbal or alternative medicines (e.g., acupuncture, chiropractic care, traditional healers).</a:t>
            </a:r>
          </a:p>
          <a:p>
            <a:pPr lvl="0"/>
            <a:r>
              <a:rPr lang="en-US" sz="2400" dirty="0">
                <a:latin typeface="+mj-lt"/>
              </a:rPr>
              <a:t>Experimental or investigational treatments not approved by DOH or FDA.</a:t>
            </a:r>
          </a:p>
          <a:p>
            <a:endParaRPr lang="en-US" sz="2400" dirty="0">
              <a:latin typeface="+mj-lt"/>
            </a:endParaRPr>
          </a:p>
        </p:txBody>
      </p:sp>
    </p:spTree>
    <p:extLst>
      <p:ext uri="{BB962C8B-B14F-4D97-AF65-F5344CB8AC3E}">
        <p14:creationId xmlns:p14="http://schemas.microsoft.com/office/powerpoint/2010/main" val="366346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500"/>
                                        <p:tgtEl>
                                          <p:spTgt spid="2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4">
                                            <p:txEl>
                                              <p:pRg st="1" end="1"/>
                                            </p:txEl>
                                          </p:spTgt>
                                        </p:tgtEl>
                                        <p:attrNameLst>
                                          <p:attrName>style.visibility</p:attrName>
                                        </p:attrNameLst>
                                      </p:cBhvr>
                                      <p:to>
                                        <p:strVal val="visible"/>
                                      </p:to>
                                    </p:set>
                                    <p:animEffect transition="in" filter="fade">
                                      <p:cBhvr>
                                        <p:cTn id="10" dur="500"/>
                                        <p:tgtEl>
                                          <p:spTgt spid="2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xEl>
                                              <p:pRg st="2" end="2"/>
                                            </p:txEl>
                                          </p:spTgt>
                                        </p:tgtEl>
                                        <p:attrNameLst>
                                          <p:attrName>style.visibility</p:attrName>
                                        </p:attrNameLst>
                                      </p:cBhvr>
                                      <p:to>
                                        <p:strVal val="visible"/>
                                      </p:to>
                                    </p:set>
                                    <p:animEffect transition="in" filter="fade">
                                      <p:cBhvr>
                                        <p:cTn id="13" dur="500"/>
                                        <p:tgtEl>
                                          <p:spTgt spid="2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4">
                                            <p:txEl>
                                              <p:pRg st="4" end="4"/>
                                            </p:txEl>
                                          </p:spTgt>
                                        </p:tgtEl>
                                        <p:attrNameLst>
                                          <p:attrName>style.visibility</p:attrName>
                                        </p:attrNameLst>
                                      </p:cBhvr>
                                      <p:to>
                                        <p:strVal val="visible"/>
                                      </p:to>
                                    </p:set>
                                    <p:animEffect transition="in" filter="fade">
                                      <p:cBhvr>
                                        <p:cTn id="18" dur="500"/>
                                        <p:tgtEl>
                                          <p:spTgt spid="24">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4">
                                            <p:txEl>
                                              <p:pRg st="5" end="5"/>
                                            </p:txEl>
                                          </p:spTgt>
                                        </p:tgtEl>
                                        <p:attrNameLst>
                                          <p:attrName>style.visibility</p:attrName>
                                        </p:attrNameLst>
                                      </p:cBhvr>
                                      <p:to>
                                        <p:strVal val="visible"/>
                                      </p:to>
                                    </p:set>
                                    <p:animEffect transition="in" filter="fade">
                                      <p:cBhvr>
                                        <p:cTn id="21" dur="500"/>
                                        <p:tgtEl>
                                          <p:spTgt spid="24">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4">
                                            <p:txEl>
                                              <p:pRg st="7" end="7"/>
                                            </p:txEl>
                                          </p:spTgt>
                                        </p:tgtEl>
                                        <p:attrNameLst>
                                          <p:attrName>style.visibility</p:attrName>
                                        </p:attrNameLst>
                                      </p:cBhvr>
                                      <p:to>
                                        <p:strVal val="visible"/>
                                      </p:to>
                                    </p:set>
                                    <p:animEffect transition="in" filter="fade">
                                      <p:cBhvr>
                                        <p:cTn id="26" dur="500"/>
                                        <p:tgtEl>
                                          <p:spTgt spid="24">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xEl>
                                              <p:pRg st="8" end="8"/>
                                            </p:txEl>
                                          </p:spTgt>
                                        </p:tgtEl>
                                        <p:attrNameLst>
                                          <p:attrName>style.visibility</p:attrName>
                                        </p:attrNameLst>
                                      </p:cBhvr>
                                      <p:to>
                                        <p:strVal val="visible"/>
                                      </p:to>
                                    </p:set>
                                    <p:animEffect transition="in" filter="fade">
                                      <p:cBhvr>
                                        <p:cTn id="29" dur="500"/>
                                        <p:tgtEl>
                                          <p:spTgt spid="24">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4">
                                            <p:txEl>
                                              <p:pRg st="10" end="10"/>
                                            </p:txEl>
                                          </p:spTgt>
                                        </p:tgtEl>
                                        <p:attrNameLst>
                                          <p:attrName>style.visibility</p:attrName>
                                        </p:attrNameLst>
                                      </p:cBhvr>
                                      <p:to>
                                        <p:strVal val="visible"/>
                                      </p:to>
                                    </p:set>
                                    <p:animEffect transition="in" filter="fade">
                                      <p:cBhvr>
                                        <p:cTn id="34" dur="500"/>
                                        <p:tgtEl>
                                          <p:spTgt spid="24">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xEl>
                                              <p:pRg st="11" end="11"/>
                                            </p:txEl>
                                          </p:spTgt>
                                        </p:tgtEl>
                                        <p:attrNameLst>
                                          <p:attrName>style.visibility</p:attrName>
                                        </p:attrNameLst>
                                      </p:cBhvr>
                                      <p:to>
                                        <p:strVal val="visible"/>
                                      </p:to>
                                    </p:set>
                                    <p:animEffect transition="in" filter="fade">
                                      <p:cBhvr>
                                        <p:cTn id="37" dur="500"/>
                                        <p:tgtEl>
                                          <p:spTgt spid="24">
                                            <p:txEl>
                                              <p:pRg st="11"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
                                            <p:txEl>
                                              <p:pRg st="13" end="13"/>
                                            </p:txEl>
                                          </p:spTgt>
                                        </p:tgtEl>
                                        <p:attrNameLst>
                                          <p:attrName>style.visibility</p:attrName>
                                        </p:attrNameLst>
                                      </p:cBhvr>
                                      <p:to>
                                        <p:strVal val="visible"/>
                                      </p:to>
                                    </p:set>
                                    <p:animEffect transition="in" filter="fade">
                                      <p:cBhvr>
                                        <p:cTn id="42" dur="500"/>
                                        <p:tgtEl>
                                          <p:spTgt spid="24">
                                            <p:txEl>
                                              <p:pRg st="13" end="13"/>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24">
                                            <p:txEl>
                                              <p:pRg st="14" end="14"/>
                                            </p:txEl>
                                          </p:spTgt>
                                        </p:tgtEl>
                                        <p:attrNameLst>
                                          <p:attrName>style.visibility</p:attrName>
                                        </p:attrNameLst>
                                      </p:cBhvr>
                                      <p:to>
                                        <p:strVal val="visible"/>
                                      </p:to>
                                    </p:set>
                                    <p:animEffect transition="in" filter="fade">
                                      <p:cBhvr>
                                        <p:cTn id="45" dur="500"/>
                                        <p:tgtEl>
                                          <p:spTgt spid="24">
                                            <p:txEl>
                                              <p:pRg st="14" end="14"/>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24">
                                            <p:txEl>
                                              <p:pRg st="15" end="15"/>
                                            </p:txEl>
                                          </p:spTgt>
                                        </p:tgtEl>
                                        <p:attrNameLst>
                                          <p:attrName>style.visibility</p:attrName>
                                        </p:attrNameLst>
                                      </p:cBhvr>
                                      <p:to>
                                        <p:strVal val="visible"/>
                                      </p:to>
                                    </p:set>
                                    <p:animEffect transition="in" filter="fade">
                                      <p:cBhvr>
                                        <p:cTn id="48" dur="500"/>
                                        <p:tgtEl>
                                          <p:spTgt spid="2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GENERAL EXCLUSIONS</a:t>
            </a:r>
          </a:p>
        </p:txBody>
      </p:sp>
      <p:pic>
        <p:nvPicPr>
          <p:cNvPr id="1026" name="Picture 2" descr="What are Project Exclusions? | Learn more - Key Consulting">
            <a:extLst>
              <a:ext uri="{FF2B5EF4-FFF2-40B4-BE49-F238E27FC236}">
                <a16:creationId xmlns:a16="http://schemas.microsoft.com/office/drawing/2014/main" id="{AEF52C94-6AA0-450A-90AB-5B4EF4DD0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A8656E6F-0F8D-4167-ADC4-25CE3CF47584}"/>
              </a:ext>
            </a:extLst>
          </p:cNvPr>
          <p:cNvSpPr/>
          <p:nvPr/>
        </p:nvSpPr>
        <p:spPr>
          <a:xfrm>
            <a:off x="86813" y="2442534"/>
            <a:ext cx="11466484" cy="7848302"/>
          </a:xfrm>
          <a:prstGeom prst="rect">
            <a:avLst/>
          </a:prstGeom>
        </p:spPr>
        <p:txBody>
          <a:bodyPr wrap="square">
            <a:spAutoFit/>
          </a:bodyPr>
          <a:lstStyle/>
          <a:p>
            <a:r>
              <a:rPr lang="en-US" sz="2800" b="1" dirty="0">
                <a:latin typeface="+mj-lt"/>
              </a:rPr>
              <a:t>11. Non-Covered Diagnostic and Administrative Costs</a:t>
            </a:r>
            <a:endParaRPr lang="en-US" sz="2800" dirty="0">
              <a:latin typeface="+mj-lt"/>
            </a:endParaRPr>
          </a:p>
          <a:p>
            <a:pPr lvl="0"/>
            <a:r>
              <a:rPr lang="en-US" sz="2800" dirty="0">
                <a:latin typeface="+mj-lt"/>
              </a:rPr>
              <a:t>Executive check-ups are not listed in the APE coverage. Medical certificates, fit-to-work, travel clearance, or police report requirements. Medical supplies not medically necessary (e.g., personal comfort items, toiletries).</a:t>
            </a:r>
          </a:p>
          <a:p>
            <a:pPr lvl="0"/>
            <a:endParaRPr lang="en-US" sz="2800" dirty="0">
              <a:latin typeface="+mj-lt"/>
            </a:endParaRPr>
          </a:p>
          <a:p>
            <a:r>
              <a:rPr lang="en-US" sz="2800" b="1" dirty="0">
                <a:latin typeface="+mj-lt"/>
              </a:rPr>
              <a:t>12. Organ Transplants and Special Treatments</a:t>
            </a:r>
            <a:endParaRPr lang="en-US" sz="2800" dirty="0">
              <a:latin typeface="+mj-lt"/>
            </a:endParaRPr>
          </a:p>
          <a:p>
            <a:pPr lvl="0"/>
            <a:r>
              <a:rPr lang="en-US" sz="2800" dirty="0">
                <a:latin typeface="+mj-lt"/>
              </a:rPr>
              <a:t>Organ donor expenses. Dialysis, chemotherapy, radiation, or immunotherapy unless specifically included.</a:t>
            </a:r>
          </a:p>
          <a:p>
            <a:pPr lvl="0"/>
            <a:r>
              <a:rPr lang="en-US" sz="2800" dirty="0">
                <a:latin typeface="+mj-lt"/>
              </a:rPr>
              <a:t>Experimental surgical or medical procedures.</a:t>
            </a:r>
          </a:p>
          <a:p>
            <a:pPr lvl="0"/>
            <a:endParaRPr lang="en-US" sz="2800" dirty="0">
              <a:latin typeface="+mj-lt"/>
            </a:endParaRPr>
          </a:p>
          <a:p>
            <a:r>
              <a:rPr lang="en-US" sz="2800" b="1" dirty="0">
                <a:latin typeface="+mj-lt"/>
              </a:rPr>
              <a:t>13. Conditions Covered by Government or Other Insurance</a:t>
            </a:r>
            <a:endParaRPr lang="en-US" sz="2800" dirty="0">
              <a:latin typeface="+mj-lt"/>
            </a:endParaRPr>
          </a:p>
          <a:p>
            <a:r>
              <a:rPr lang="en-US" sz="2800" dirty="0">
                <a:latin typeface="+mj-lt"/>
              </a:rPr>
              <a:t>Treatments or conditions already covered by PhilHealth, SSS, or ECC benefits.</a:t>
            </a:r>
          </a:p>
          <a:p>
            <a:endParaRPr lang="en-US" sz="2800" dirty="0">
              <a:latin typeface="+mj-lt"/>
            </a:endParaRPr>
          </a:p>
          <a:p>
            <a:r>
              <a:rPr lang="en-US" sz="2800" b="1" dirty="0">
                <a:latin typeface="+mj-lt"/>
              </a:rPr>
              <a:t>14. Out-of-Network Services</a:t>
            </a:r>
            <a:endParaRPr lang="en-US" sz="2800" dirty="0">
              <a:latin typeface="+mj-lt"/>
            </a:endParaRPr>
          </a:p>
          <a:p>
            <a:pPr lvl="0"/>
            <a:r>
              <a:rPr lang="en-US" sz="2800" dirty="0">
                <a:latin typeface="+mj-lt"/>
              </a:rPr>
              <a:t>Consultations or treatments done outside affiliated hospitals/clinics (except for reimbursable emergencies). Overseas medical expenses (unless global coverage is stated).</a:t>
            </a:r>
          </a:p>
          <a:p>
            <a:pPr marL="285750" indent="-285750">
              <a:buFont typeface="Arial" panose="020B0604020202020204" pitchFamily="34" charset="0"/>
              <a:buChar char="•"/>
            </a:pPr>
            <a:endParaRPr lang="en-US" sz="2800" dirty="0">
              <a:latin typeface="+mj-lt"/>
            </a:endParaRPr>
          </a:p>
        </p:txBody>
      </p:sp>
    </p:spTree>
    <p:extLst>
      <p:ext uri="{BB962C8B-B14F-4D97-AF65-F5344CB8AC3E}">
        <p14:creationId xmlns:p14="http://schemas.microsoft.com/office/powerpoint/2010/main" val="1317063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5">
                                            <p:txEl>
                                              <p:pRg st="1" end="1"/>
                                            </p:txEl>
                                          </p:spTgt>
                                        </p:tgtEl>
                                        <p:attrNameLst>
                                          <p:attrName>style.visibility</p:attrName>
                                        </p:attrNameLst>
                                      </p:cBhvr>
                                      <p:to>
                                        <p:strVal val="visible"/>
                                      </p:to>
                                    </p:set>
                                    <p:animEffect transition="in" filter="fade">
                                      <p:cBhvr>
                                        <p:cTn id="10" dur="500"/>
                                        <p:tgtEl>
                                          <p:spTgt spid="2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
                                            <p:txEl>
                                              <p:pRg st="3" end="3"/>
                                            </p:txEl>
                                          </p:spTgt>
                                        </p:tgtEl>
                                        <p:attrNameLst>
                                          <p:attrName>style.visibility</p:attrName>
                                        </p:attrNameLst>
                                      </p:cBhvr>
                                      <p:to>
                                        <p:strVal val="visible"/>
                                      </p:to>
                                    </p:set>
                                    <p:animEffect transition="in" filter="fade">
                                      <p:cBhvr>
                                        <p:cTn id="15" dur="500"/>
                                        <p:tgtEl>
                                          <p:spTgt spid="25">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5">
                                            <p:txEl>
                                              <p:pRg st="4" end="4"/>
                                            </p:txEl>
                                          </p:spTgt>
                                        </p:tgtEl>
                                        <p:attrNameLst>
                                          <p:attrName>style.visibility</p:attrName>
                                        </p:attrNameLst>
                                      </p:cBhvr>
                                      <p:to>
                                        <p:strVal val="visible"/>
                                      </p:to>
                                    </p:set>
                                    <p:animEffect transition="in" filter="fade">
                                      <p:cBhvr>
                                        <p:cTn id="18" dur="500"/>
                                        <p:tgtEl>
                                          <p:spTgt spid="25">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5">
                                            <p:txEl>
                                              <p:pRg st="5" end="5"/>
                                            </p:txEl>
                                          </p:spTgt>
                                        </p:tgtEl>
                                        <p:attrNameLst>
                                          <p:attrName>style.visibility</p:attrName>
                                        </p:attrNameLst>
                                      </p:cBhvr>
                                      <p:to>
                                        <p:strVal val="visible"/>
                                      </p:to>
                                    </p:set>
                                    <p:animEffect transition="in" filter="fade">
                                      <p:cBhvr>
                                        <p:cTn id="21" dur="500"/>
                                        <p:tgtEl>
                                          <p:spTgt spid="25">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5">
                                            <p:txEl>
                                              <p:pRg st="7" end="7"/>
                                            </p:txEl>
                                          </p:spTgt>
                                        </p:tgtEl>
                                        <p:attrNameLst>
                                          <p:attrName>style.visibility</p:attrName>
                                        </p:attrNameLst>
                                      </p:cBhvr>
                                      <p:to>
                                        <p:strVal val="visible"/>
                                      </p:to>
                                    </p:set>
                                    <p:animEffect transition="in" filter="fade">
                                      <p:cBhvr>
                                        <p:cTn id="26" dur="500"/>
                                        <p:tgtEl>
                                          <p:spTgt spid="25">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5">
                                            <p:txEl>
                                              <p:pRg st="8" end="8"/>
                                            </p:txEl>
                                          </p:spTgt>
                                        </p:tgtEl>
                                        <p:attrNameLst>
                                          <p:attrName>style.visibility</p:attrName>
                                        </p:attrNameLst>
                                      </p:cBhvr>
                                      <p:to>
                                        <p:strVal val="visible"/>
                                      </p:to>
                                    </p:set>
                                    <p:animEffect transition="in" filter="fade">
                                      <p:cBhvr>
                                        <p:cTn id="29" dur="500"/>
                                        <p:tgtEl>
                                          <p:spTgt spid="25">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5">
                                            <p:txEl>
                                              <p:pRg st="10" end="10"/>
                                            </p:txEl>
                                          </p:spTgt>
                                        </p:tgtEl>
                                        <p:attrNameLst>
                                          <p:attrName>style.visibility</p:attrName>
                                        </p:attrNameLst>
                                      </p:cBhvr>
                                      <p:to>
                                        <p:strVal val="visible"/>
                                      </p:to>
                                    </p:set>
                                    <p:animEffect transition="in" filter="fade">
                                      <p:cBhvr>
                                        <p:cTn id="34" dur="500"/>
                                        <p:tgtEl>
                                          <p:spTgt spid="25">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5">
                                            <p:txEl>
                                              <p:pRg st="11" end="11"/>
                                            </p:txEl>
                                          </p:spTgt>
                                        </p:tgtEl>
                                        <p:attrNameLst>
                                          <p:attrName>style.visibility</p:attrName>
                                        </p:attrNameLst>
                                      </p:cBhvr>
                                      <p:to>
                                        <p:strVal val="visible"/>
                                      </p:to>
                                    </p:set>
                                    <p:animEffect transition="in" filter="fade">
                                      <p:cBhvr>
                                        <p:cTn id="37" dur="500"/>
                                        <p:tgtEl>
                                          <p:spTgt spid="2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pic>
        <p:nvPicPr>
          <p:cNvPr id="15" name="Picture 14">
            <a:extLst>
              <a:ext uri="{FF2B5EF4-FFF2-40B4-BE49-F238E27FC236}">
                <a16:creationId xmlns:a16="http://schemas.microsoft.com/office/drawing/2014/main" id="{0F5DBF4C-EE10-4666-BD80-8A69A7EC48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5978" y="31294"/>
            <a:ext cx="12307163" cy="10224412"/>
          </a:xfrm>
          <a:prstGeom prst="rect">
            <a:avLst/>
          </a:prstGeom>
        </p:spPr>
      </p:pic>
    </p:spTree>
    <p:extLst>
      <p:ext uri="{BB962C8B-B14F-4D97-AF65-F5344CB8AC3E}">
        <p14:creationId xmlns:p14="http://schemas.microsoft.com/office/powerpoint/2010/main" val="7533738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1" name="Group 20">
            <a:extLst>
              <a:ext uri="{FF2B5EF4-FFF2-40B4-BE49-F238E27FC236}">
                <a16:creationId xmlns:a16="http://schemas.microsoft.com/office/drawing/2014/main" id="{0F77015A-65FC-4003-AE0E-176022605039}"/>
              </a:ext>
            </a:extLst>
          </p:cNvPr>
          <p:cNvGrpSpPr>
            <a:grpSpLocks/>
          </p:cNvGrpSpPr>
          <p:nvPr/>
        </p:nvGrpSpPr>
        <p:grpSpPr>
          <a:xfrm>
            <a:off x="10629842" y="629692"/>
            <a:ext cx="7572900" cy="7985670"/>
            <a:chOff x="0" y="0"/>
            <a:chExt cx="4741037" cy="4586274"/>
          </a:xfrm>
        </p:grpSpPr>
        <p:pic>
          <p:nvPicPr>
            <p:cNvPr id="22" name="Image 53">
              <a:extLst>
                <a:ext uri="{FF2B5EF4-FFF2-40B4-BE49-F238E27FC236}">
                  <a16:creationId xmlns:a16="http://schemas.microsoft.com/office/drawing/2014/main" id="{420A87C8-F2E4-4627-BBC3-4AE79526A079}"/>
                </a:ext>
              </a:extLst>
            </p:cNvPr>
            <p:cNvPicPr/>
            <p:nvPr/>
          </p:nvPicPr>
          <p:blipFill>
            <a:blip r:embed="rId2" cstate="print"/>
            <a:stretch>
              <a:fillRect/>
            </a:stretch>
          </p:blipFill>
          <p:spPr>
            <a:xfrm>
              <a:off x="0" y="50"/>
              <a:ext cx="4722605" cy="4586224"/>
            </a:xfrm>
            <a:prstGeom prst="rect">
              <a:avLst/>
            </a:prstGeom>
          </p:spPr>
        </p:pic>
        <p:pic>
          <p:nvPicPr>
            <p:cNvPr id="24" name="Image 54">
              <a:extLst>
                <a:ext uri="{FF2B5EF4-FFF2-40B4-BE49-F238E27FC236}">
                  <a16:creationId xmlns:a16="http://schemas.microsoft.com/office/drawing/2014/main" id="{DB2082CF-B58D-4DBC-B9AD-77E776E09433}"/>
                </a:ext>
              </a:extLst>
            </p:cNvPr>
            <p:cNvPicPr/>
            <p:nvPr/>
          </p:nvPicPr>
          <p:blipFill>
            <a:blip r:embed="rId3" cstate="print"/>
            <a:stretch>
              <a:fillRect/>
            </a:stretch>
          </p:blipFill>
          <p:spPr>
            <a:xfrm>
              <a:off x="2369820" y="0"/>
              <a:ext cx="2371217" cy="4569714"/>
            </a:xfrm>
            <a:prstGeom prst="rect">
              <a:avLst/>
            </a:prstGeom>
          </p:spPr>
        </p:pic>
      </p:grpSp>
      <p:sp>
        <p:nvSpPr>
          <p:cNvPr id="25" name="Rectangle 24">
            <a:extLst>
              <a:ext uri="{FF2B5EF4-FFF2-40B4-BE49-F238E27FC236}">
                <a16:creationId xmlns:a16="http://schemas.microsoft.com/office/drawing/2014/main" id="{1C3DA8DB-11AB-4725-8880-BF648B612822}"/>
              </a:ext>
            </a:extLst>
          </p:cNvPr>
          <p:cNvSpPr/>
          <p:nvPr/>
        </p:nvSpPr>
        <p:spPr>
          <a:xfrm>
            <a:off x="104308" y="1637662"/>
            <a:ext cx="10792292" cy="7663636"/>
          </a:xfrm>
          <a:prstGeom prst="rect">
            <a:avLst/>
          </a:prstGeom>
        </p:spPr>
        <p:txBody>
          <a:bodyPr wrap="square">
            <a:spAutoFit/>
          </a:bodyPr>
          <a:lstStyle/>
          <a:p>
            <a:pPr algn="ctr" defTabSz="457200"/>
            <a:r>
              <a:rPr lang="en-US" sz="2800" b="1" dirty="0">
                <a:solidFill>
                  <a:prstClr val="black"/>
                </a:solidFill>
                <a:latin typeface="+mj-lt"/>
              </a:rPr>
              <a:t>	</a:t>
            </a:r>
            <a:r>
              <a:rPr lang="en-US" sz="4800" b="1" dirty="0">
                <a:solidFill>
                  <a:prstClr val="black"/>
                </a:solidFill>
                <a:latin typeface="+mj-lt"/>
              </a:rPr>
              <a:t>Member’s Mobile Application:</a:t>
            </a:r>
          </a:p>
          <a:p>
            <a:pPr defTabSz="457200"/>
            <a:endParaRPr lang="en-US" sz="2800" b="1" dirty="0">
              <a:solidFill>
                <a:prstClr val="black"/>
              </a:solidFill>
              <a:latin typeface="+mj-lt"/>
            </a:endParaRPr>
          </a:p>
          <a:p>
            <a:pPr defTabSz="457200"/>
            <a:r>
              <a:rPr lang="en-US" sz="2800" b="1" dirty="0">
                <a:solidFill>
                  <a:prstClr val="black"/>
                </a:solidFill>
                <a:latin typeface="+mj-lt"/>
              </a:rPr>
              <a:t>Through AMAPHIL’s mobile application, your employees may access</a:t>
            </a:r>
          </a:p>
          <a:p>
            <a:pPr defTabSz="457200"/>
            <a:r>
              <a:rPr lang="en-US" sz="2800" b="1" dirty="0">
                <a:solidFill>
                  <a:prstClr val="black"/>
                </a:solidFill>
                <a:latin typeface="+mj-lt"/>
              </a:rPr>
              <a:t> the following at their fingertips:</a:t>
            </a:r>
          </a:p>
          <a:p>
            <a:pPr defTabSz="457200"/>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Request for LOA prior to </a:t>
            </a:r>
            <a:r>
              <a:rPr lang="en-US" sz="2800" b="1" dirty="0" err="1">
                <a:solidFill>
                  <a:prstClr val="black"/>
                </a:solidFill>
                <a:latin typeface="+mj-lt"/>
              </a:rPr>
              <a:t>availment</a:t>
            </a:r>
            <a:r>
              <a:rPr lang="en-US" sz="2800" b="1" dirty="0">
                <a:solidFill>
                  <a:prstClr val="black"/>
                </a:solidFill>
                <a:latin typeface="+mj-lt"/>
              </a:rPr>
              <a:t>;</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File for reimbursement;</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Review the list of benefits, exclusions and </a:t>
            </a:r>
            <a:r>
              <a:rPr lang="en-US" sz="2800" b="1" dirty="0" err="1">
                <a:solidFill>
                  <a:prstClr val="black"/>
                </a:solidFill>
                <a:latin typeface="+mj-lt"/>
              </a:rPr>
              <a:t>availment</a:t>
            </a:r>
            <a:r>
              <a:rPr lang="en-US" sz="2800" b="1" dirty="0">
                <a:solidFill>
                  <a:prstClr val="black"/>
                </a:solidFill>
                <a:latin typeface="+mj-lt"/>
              </a:rPr>
              <a:t> history;</a:t>
            </a:r>
          </a:p>
          <a:p>
            <a:pPr defTabSz="457200"/>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View the latest list of providers;</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See the reason for declined services;</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Members can easily press Customer Service button in the Mobile   </a:t>
            </a:r>
          </a:p>
          <a:p>
            <a:pPr defTabSz="457200"/>
            <a:r>
              <a:rPr lang="en-US" sz="2800" b="1" dirty="0">
                <a:solidFill>
                  <a:prstClr val="black"/>
                </a:solidFill>
                <a:latin typeface="+mj-lt"/>
              </a:rPr>
              <a:t>     App and just wait for the AMAPHIL call.</a:t>
            </a:r>
          </a:p>
        </p:txBody>
      </p:sp>
    </p:spTree>
    <p:extLst>
      <p:ext uri="{BB962C8B-B14F-4D97-AF65-F5344CB8AC3E}">
        <p14:creationId xmlns:p14="http://schemas.microsoft.com/office/powerpoint/2010/main" val="2414458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xEl>
                                              <p:pRg st="2" end="2"/>
                                            </p:txEl>
                                          </p:spTgt>
                                        </p:tgtEl>
                                        <p:attrNameLst>
                                          <p:attrName>style.visibility</p:attrName>
                                        </p:attrNameLst>
                                      </p:cBhvr>
                                      <p:to>
                                        <p:strVal val="visible"/>
                                      </p:to>
                                    </p:set>
                                    <p:animEffect transition="in" filter="fade">
                                      <p:cBhvr>
                                        <p:cTn id="17" dur="500"/>
                                        <p:tgtEl>
                                          <p:spTgt spid="25">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5">
                                            <p:txEl>
                                              <p:pRg st="3" end="3"/>
                                            </p:txEl>
                                          </p:spTgt>
                                        </p:tgtEl>
                                        <p:attrNameLst>
                                          <p:attrName>style.visibility</p:attrName>
                                        </p:attrNameLst>
                                      </p:cBhvr>
                                      <p:to>
                                        <p:strVal val="visible"/>
                                      </p:to>
                                    </p:set>
                                    <p:animEffect transition="in" filter="fade">
                                      <p:cBhvr>
                                        <p:cTn id="20" dur="500"/>
                                        <p:tgtEl>
                                          <p:spTgt spid="2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5">
                                            <p:txEl>
                                              <p:pRg st="5" end="5"/>
                                            </p:txEl>
                                          </p:spTgt>
                                        </p:tgtEl>
                                        <p:attrNameLst>
                                          <p:attrName>style.visibility</p:attrName>
                                        </p:attrNameLst>
                                      </p:cBhvr>
                                      <p:to>
                                        <p:strVal val="visible"/>
                                      </p:to>
                                    </p:set>
                                    <p:animEffect transition="in" filter="fade">
                                      <p:cBhvr>
                                        <p:cTn id="25" dur="500"/>
                                        <p:tgtEl>
                                          <p:spTgt spid="25">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5">
                                            <p:txEl>
                                              <p:pRg st="7" end="7"/>
                                            </p:txEl>
                                          </p:spTgt>
                                        </p:tgtEl>
                                        <p:attrNameLst>
                                          <p:attrName>style.visibility</p:attrName>
                                        </p:attrNameLst>
                                      </p:cBhvr>
                                      <p:to>
                                        <p:strVal val="visible"/>
                                      </p:to>
                                    </p:set>
                                    <p:animEffect transition="in" filter="fade">
                                      <p:cBhvr>
                                        <p:cTn id="30" dur="500"/>
                                        <p:tgtEl>
                                          <p:spTgt spid="25">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5">
                                            <p:txEl>
                                              <p:pRg st="9" end="9"/>
                                            </p:txEl>
                                          </p:spTgt>
                                        </p:tgtEl>
                                        <p:attrNameLst>
                                          <p:attrName>style.visibility</p:attrName>
                                        </p:attrNameLst>
                                      </p:cBhvr>
                                      <p:to>
                                        <p:strVal val="visible"/>
                                      </p:to>
                                    </p:set>
                                    <p:animEffect transition="in" filter="fade">
                                      <p:cBhvr>
                                        <p:cTn id="35" dur="500"/>
                                        <p:tgtEl>
                                          <p:spTgt spid="25">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5">
                                            <p:txEl>
                                              <p:pRg st="11" end="11"/>
                                            </p:txEl>
                                          </p:spTgt>
                                        </p:tgtEl>
                                        <p:attrNameLst>
                                          <p:attrName>style.visibility</p:attrName>
                                        </p:attrNameLst>
                                      </p:cBhvr>
                                      <p:to>
                                        <p:strVal val="visible"/>
                                      </p:to>
                                    </p:set>
                                    <p:animEffect transition="in" filter="fade">
                                      <p:cBhvr>
                                        <p:cTn id="40" dur="500"/>
                                        <p:tgtEl>
                                          <p:spTgt spid="25">
                                            <p:txEl>
                                              <p:pRg st="11" end="1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5">
                                            <p:txEl>
                                              <p:pRg st="13" end="13"/>
                                            </p:txEl>
                                          </p:spTgt>
                                        </p:tgtEl>
                                        <p:attrNameLst>
                                          <p:attrName>style.visibility</p:attrName>
                                        </p:attrNameLst>
                                      </p:cBhvr>
                                      <p:to>
                                        <p:strVal val="visible"/>
                                      </p:to>
                                    </p:set>
                                    <p:animEffect transition="in" filter="fade">
                                      <p:cBhvr>
                                        <p:cTn id="45" dur="500"/>
                                        <p:tgtEl>
                                          <p:spTgt spid="25">
                                            <p:txEl>
                                              <p:pRg st="13" end="1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5">
                                            <p:txEl>
                                              <p:pRg st="15" end="15"/>
                                            </p:txEl>
                                          </p:spTgt>
                                        </p:tgtEl>
                                        <p:attrNameLst>
                                          <p:attrName>style.visibility</p:attrName>
                                        </p:attrNameLst>
                                      </p:cBhvr>
                                      <p:to>
                                        <p:strVal val="visible"/>
                                      </p:to>
                                    </p:set>
                                    <p:animEffect transition="in" filter="fade">
                                      <p:cBhvr>
                                        <p:cTn id="50" dur="500"/>
                                        <p:tgtEl>
                                          <p:spTgt spid="25">
                                            <p:txEl>
                                              <p:pRg st="15" end="15"/>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xEl>
                                              <p:pRg st="16" end="16"/>
                                            </p:txEl>
                                          </p:spTgt>
                                        </p:tgtEl>
                                        <p:attrNameLst>
                                          <p:attrName>style.visibility</p:attrName>
                                        </p:attrNameLst>
                                      </p:cBhvr>
                                      <p:to>
                                        <p:strVal val="visible"/>
                                      </p:to>
                                    </p:set>
                                    <p:animEffect transition="in" filter="fade">
                                      <p:cBhvr>
                                        <p:cTn id="53" dur="500"/>
                                        <p:tgtEl>
                                          <p:spTgt spid="25">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pic>
        <p:nvPicPr>
          <p:cNvPr id="18" name="Image 58">
            <a:extLst>
              <a:ext uri="{FF2B5EF4-FFF2-40B4-BE49-F238E27FC236}">
                <a16:creationId xmlns:a16="http://schemas.microsoft.com/office/drawing/2014/main" id="{752E82DD-FD13-4872-82F7-C50CDEBFE462}"/>
              </a:ext>
            </a:extLst>
          </p:cNvPr>
          <p:cNvPicPr/>
          <p:nvPr/>
        </p:nvPicPr>
        <p:blipFill>
          <a:blip r:embed="rId2" cstate="print"/>
          <a:stretch>
            <a:fillRect/>
          </a:stretch>
        </p:blipFill>
        <p:spPr>
          <a:xfrm>
            <a:off x="0" y="961892"/>
            <a:ext cx="7391400" cy="9325107"/>
          </a:xfrm>
          <a:prstGeom prst="rect">
            <a:avLst/>
          </a:prstGeom>
        </p:spPr>
      </p:pic>
      <p:sp>
        <p:nvSpPr>
          <p:cNvPr id="19" name="Rectangle 18">
            <a:extLst>
              <a:ext uri="{FF2B5EF4-FFF2-40B4-BE49-F238E27FC236}">
                <a16:creationId xmlns:a16="http://schemas.microsoft.com/office/drawing/2014/main" id="{18822DB5-66A3-437D-A639-1E896F52522C}"/>
              </a:ext>
            </a:extLst>
          </p:cNvPr>
          <p:cNvSpPr/>
          <p:nvPr/>
        </p:nvSpPr>
        <p:spPr>
          <a:xfrm>
            <a:off x="7372350" y="663030"/>
            <a:ext cx="10523444" cy="8402300"/>
          </a:xfrm>
          <a:prstGeom prst="rect">
            <a:avLst/>
          </a:prstGeom>
        </p:spPr>
        <p:txBody>
          <a:bodyPr wrap="square">
            <a:spAutoFit/>
          </a:bodyPr>
          <a:lstStyle/>
          <a:p>
            <a:r>
              <a:rPr lang="en-US" sz="5400" b="1" dirty="0"/>
              <a:t>Members have immediate access to over 1,700 hospitals and clinics, and more than 51,000 doctors nationwide. Hence, there is no need to go through a tedious and expensive process of hospital and clinic affiliation.</a:t>
            </a:r>
          </a:p>
          <a:p>
            <a:endParaRPr lang="en-US" sz="5400" b="1" dirty="0"/>
          </a:p>
          <a:p>
            <a:r>
              <a:rPr lang="en-US" sz="5400" b="1" dirty="0"/>
              <a:t>Reduced patient wait times by using the AMAPHIL Mobile Application.</a:t>
            </a:r>
          </a:p>
        </p:txBody>
      </p:sp>
    </p:spTree>
    <p:extLst>
      <p:ext uri="{BB962C8B-B14F-4D97-AF65-F5344CB8AC3E}">
        <p14:creationId xmlns:p14="http://schemas.microsoft.com/office/powerpoint/2010/main" val="3388401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xEl>
                                              <p:pRg st="2" end="2"/>
                                            </p:txEl>
                                          </p:spTgt>
                                        </p:tgtEl>
                                        <p:attrNameLst>
                                          <p:attrName>style.visibility</p:attrName>
                                        </p:attrNameLst>
                                      </p:cBhvr>
                                      <p:to>
                                        <p:strVal val="visible"/>
                                      </p:to>
                                    </p:set>
                                    <p:animEffect transition="in" filter="fade">
                                      <p:cBhvr>
                                        <p:cTn id="12" dur="500"/>
                                        <p:tgtEl>
                                          <p:spTgt spid="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sp>
        <p:nvSpPr>
          <p:cNvPr id="22" name="Rectangle 21">
            <a:extLst>
              <a:ext uri="{FF2B5EF4-FFF2-40B4-BE49-F238E27FC236}">
                <a16:creationId xmlns:a16="http://schemas.microsoft.com/office/drawing/2014/main" id="{7734330D-6BDE-463E-AD42-C7A7EF0370DA}"/>
              </a:ext>
            </a:extLst>
          </p:cNvPr>
          <p:cNvSpPr/>
          <p:nvPr/>
        </p:nvSpPr>
        <p:spPr>
          <a:xfrm>
            <a:off x="1079897" y="2547041"/>
            <a:ext cx="7461786" cy="2646878"/>
          </a:xfrm>
          <a:prstGeom prst="rect">
            <a:avLst/>
          </a:prstGeom>
        </p:spPr>
        <p:txBody>
          <a:bodyPr wrap="square">
            <a:spAutoFit/>
          </a:bodyPr>
          <a:lstStyle/>
          <a:p>
            <a:pPr lvl="0"/>
            <a:r>
              <a:rPr lang="en-US" sz="3600" b="1" dirty="0"/>
              <a:t>No Internet or Smartphone?</a:t>
            </a:r>
          </a:p>
          <a:p>
            <a:r>
              <a:rPr lang="en-US" b="1" dirty="0"/>
              <a:t> </a:t>
            </a:r>
          </a:p>
          <a:p>
            <a:pPr lvl="0"/>
            <a:endParaRPr lang="en-US" b="1" dirty="0"/>
          </a:p>
          <a:p>
            <a:pPr lvl="0"/>
            <a:endParaRPr lang="en-US" b="1" dirty="0"/>
          </a:p>
          <a:p>
            <a:pPr lvl="0"/>
            <a:r>
              <a:rPr lang="en-US" sz="4400" b="1" dirty="0"/>
              <a:t>AMAPHIL Physical Card</a:t>
            </a:r>
          </a:p>
          <a:p>
            <a:r>
              <a:rPr lang="en-US" b="1" dirty="0"/>
              <a:t> </a:t>
            </a:r>
          </a:p>
          <a:p>
            <a:r>
              <a:rPr lang="en-US" sz="1400" b="1" dirty="0">
                <a:latin typeface="Arial MT"/>
                <a:ea typeface="Arial MT"/>
                <a:cs typeface="Arial MT"/>
              </a:rPr>
              <a:t> </a:t>
            </a:r>
            <a:endParaRPr lang="en-US" sz="2000" b="1" dirty="0">
              <a:effectLst/>
              <a:latin typeface="Arial MT"/>
              <a:ea typeface="Arial MT"/>
              <a:cs typeface="Arial MT"/>
            </a:endParaRPr>
          </a:p>
        </p:txBody>
      </p:sp>
      <p:pic>
        <p:nvPicPr>
          <p:cNvPr id="14" name="Picture 13">
            <a:extLst>
              <a:ext uri="{FF2B5EF4-FFF2-40B4-BE49-F238E27FC236}">
                <a16:creationId xmlns:a16="http://schemas.microsoft.com/office/drawing/2014/main" id="{ABB808A2-B933-4A54-9B4D-57135753CEA6}"/>
              </a:ext>
            </a:extLst>
          </p:cNvPr>
          <p:cNvPicPr>
            <a:picLocks noChangeAspect="1"/>
          </p:cNvPicPr>
          <p:nvPr/>
        </p:nvPicPr>
        <p:blipFill>
          <a:blip r:embed="rId2"/>
          <a:stretch>
            <a:fillRect/>
          </a:stretch>
        </p:blipFill>
        <p:spPr>
          <a:xfrm>
            <a:off x="7467600" y="663030"/>
            <a:ext cx="10406603" cy="7474969"/>
          </a:xfrm>
          <a:prstGeom prst="rect">
            <a:avLst/>
          </a:prstGeom>
        </p:spPr>
      </p:pic>
    </p:spTree>
    <p:extLst>
      <p:ext uri="{BB962C8B-B14F-4D97-AF65-F5344CB8AC3E}">
        <p14:creationId xmlns:p14="http://schemas.microsoft.com/office/powerpoint/2010/main" val="290764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nodeType="withEffect">
                                  <p:stCondLst>
                                    <p:cond delay="0"/>
                                  </p:stCondLst>
                                  <p:childTnLst>
                                    <p:set>
                                      <p:cBhvr>
                                        <p:cTn id="14" dur="1" fill="hold">
                                          <p:stCondLst>
                                            <p:cond delay="0"/>
                                          </p:stCondLst>
                                        </p:cTn>
                                        <p:tgtEl>
                                          <p:spTgt spid="22">
                                            <p:txEl>
                                              <p:pRg st="4" end="4"/>
                                            </p:txEl>
                                          </p:spTgt>
                                        </p:tgtEl>
                                        <p:attrNameLst>
                                          <p:attrName>style.visibility</p:attrName>
                                        </p:attrNameLst>
                                      </p:cBhvr>
                                      <p:to>
                                        <p:strVal val="visible"/>
                                      </p:to>
                                    </p:set>
                                    <p:animEffect transition="in" filter="fade">
                                      <p:cBhvr>
                                        <p:cTn id="15" dur="500"/>
                                        <p:tgtEl>
                                          <p:spTgt spid="2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74EE942-EB67-464D-A4F4-54C5B3EC307F}"/>
              </a:ext>
            </a:extLst>
          </p:cNvPr>
          <p:cNvPicPr>
            <a:picLocks noChangeAspect="1"/>
          </p:cNvPicPr>
          <p:nvPr/>
        </p:nvPicPr>
        <p:blipFill>
          <a:blip r:embed="rId2"/>
          <a:stretch>
            <a:fillRect/>
          </a:stretch>
        </p:blipFill>
        <p:spPr>
          <a:xfrm>
            <a:off x="4482" y="0"/>
            <a:ext cx="18250714" cy="10287000"/>
          </a:xfrm>
          <a:prstGeom prst="rect">
            <a:avLst/>
          </a:prstGeom>
        </p:spPr>
      </p:pic>
    </p:spTree>
    <p:extLst>
      <p:ext uri="{BB962C8B-B14F-4D97-AF65-F5344CB8AC3E}">
        <p14:creationId xmlns:p14="http://schemas.microsoft.com/office/powerpoint/2010/main" val="11248856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8683897" y="-77494"/>
            <a:ext cx="9544044" cy="8265142"/>
            <a:chOff x="0" y="0"/>
            <a:chExt cx="6350000" cy="5499100"/>
          </a:xfrm>
        </p:grpSpPr>
        <p:sp>
          <p:nvSpPr>
            <p:cNvPr id="10" name="Freeform 10"/>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2"/>
              <a:stretch>
                <a:fillRect l="-29105" r="-876"/>
              </a:stretch>
            </a:blipFill>
          </p:spPr>
        </p:sp>
      </p:grpSp>
      <p:grpSp>
        <p:nvGrpSpPr>
          <p:cNvPr id="11" name="Group 11"/>
          <p:cNvGrpSpPr/>
          <p:nvPr/>
        </p:nvGrpSpPr>
        <p:grpSpPr>
          <a:xfrm rot="-1845706">
            <a:off x="10502371" y="-1901008"/>
            <a:ext cx="1121419" cy="14856622"/>
            <a:chOff x="0" y="0"/>
            <a:chExt cx="314096" cy="4161162"/>
          </a:xfrm>
        </p:grpSpPr>
        <p:sp>
          <p:nvSpPr>
            <p:cNvPr id="12" name="Freeform 12"/>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3" name="TextBox 13"/>
            <p:cNvSpPr txBox="1"/>
            <p:nvPr/>
          </p:nvSpPr>
          <p:spPr>
            <a:xfrm>
              <a:off x="0" y="-57150"/>
              <a:ext cx="314096" cy="4218312"/>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3590269" y="2442936"/>
            <a:ext cx="13614956" cy="11700353"/>
            <a:chOff x="0" y="0"/>
            <a:chExt cx="812800" cy="698500"/>
          </a:xfrm>
        </p:grpSpPr>
        <p:sp>
          <p:nvSpPr>
            <p:cNvPr id="15" name="Freeform 1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6" name="TextBox 16"/>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7039398" y="-2258624"/>
            <a:ext cx="5219028" cy="4566650"/>
            <a:chOff x="0" y="0"/>
            <a:chExt cx="812800" cy="711200"/>
          </a:xfrm>
        </p:grpSpPr>
        <p:sp>
          <p:nvSpPr>
            <p:cNvPr id="18" name="Freeform 18"/>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9" name="TextBox 19"/>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8372383" y="6450294"/>
            <a:ext cx="4772521" cy="4042664"/>
            <a:chOff x="0" y="0"/>
            <a:chExt cx="812800" cy="688499"/>
          </a:xfrm>
        </p:grpSpPr>
        <p:sp>
          <p:nvSpPr>
            <p:cNvPr id="21" name="Freeform 21"/>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2" name="TextBox 22"/>
            <p:cNvSpPr txBox="1"/>
            <p:nvPr/>
          </p:nvSpPr>
          <p:spPr>
            <a:xfrm>
              <a:off x="127000" y="262510"/>
              <a:ext cx="558800" cy="37681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1263007" y="7467350"/>
            <a:ext cx="8253282" cy="1850341"/>
          </a:xfrm>
          <a:prstGeom prst="rect">
            <a:avLst/>
          </a:prstGeom>
        </p:spPr>
        <p:txBody>
          <a:bodyPr lIns="0" tIns="0" rIns="0" bIns="0" rtlCol="0" anchor="t">
            <a:spAutoFit/>
          </a:bodyPr>
          <a:lstStyle/>
          <a:p>
            <a:pPr algn="l">
              <a:lnSpc>
                <a:spcPts val="14312"/>
              </a:lnSpc>
              <a:spcBef>
                <a:spcPct val="0"/>
              </a:spcBef>
            </a:pPr>
            <a:r>
              <a:rPr lang="en-US" sz="10223" b="1" dirty="0">
                <a:solidFill>
                  <a:srgbClr val="060644"/>
                </a:solidFill>
                <a:latin typeface="Poppins Bold"/>
                <a:ea typeface="Poppins Bold"/>
                <a:cs typeface="Poppins Bold"/>
                <a:sym typeface="Poppins Bold"/>
              </a:rPr>
              <a:t>THANK YOU!</a:t>
            </a:r>
          </a:p>
        </p:txBody>
      </p:sp>
      <p:pic>
        <p:nvPicPr>
          <p:cNvPr id="29" name="Picture 28">
            <a:extLst>
              <a:ext uri="{FF2B5EF4-FFF2-40B4-BE49-F238E27FC236}">
                <a16:creationId xmlns:a16="http://schemas.microsoft.com/office/drawing/2014/main" id="{C6946659-EA1C-41D3-B74F-8338A78F47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220" y="-1054546"/>
            <a:ext cx="9753600" cy="9753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400</TotalTime>
  <Words>2059</Words>
  <Application>Microsoft Office PowerPoint</Application>
  <PresentationFormat>Custom</PresentationFormat>
  <Paragraphs>315</Paragraphs>
  <Slides>39</Slides>
  <Notes>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39</vt:i4>
      </vt:variant>
    </vt:vector>
  </HeadingPairs>
  <TitlesOfParts>
    <vt:vector size="54" baseType="lpstr">
      <vt:lpstr>Calibri</vt:lpstr>
      <vt:lpstr>Prachason Neue SemiExpanded</vt:lpstr>
      <vt:lpstr>Prachason Neue SemiExpanded Bold</vt:lpstr>
      <vt:lpstr>Aharoni</vt:lpstr>
      <vt:lpstr>Poppins</vt:lpstr>
      <vt:lpstr>Anantason SemiExpanded Bold</vt:lpstr>
      <vt:lpstr>Wingdings</vt:lpstr>
      <vt:lpstr>Anantason SemiExpanded Italics</vt:lpstr>
      <vt:lpstr>Prachason Neue SemiExpanded Italics</vt:lpstr>
      <vt:lpstr>Open Sans Bold</vt:lpstr>
      <vt:lpstr>Arial MT</vt:lpstr>
      <vt:lpstr>Open Sans Italics</vt:lpstr>
      <vt:lpstr>Arial</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Admin</cp:lastModifiedBy>
  <cp:revision>92</cp:revision>
  <dcterms:created xsi:type="dcterms:W3CDTF">2006-08-16T00:00:00Z</dcterms:created>
  <dcterms:modified xsi:type="dcterms:W3CDTF">2026-02-27T00:35:56Z</dcterms:modified>
  <dc:identifier>DAG1ugVYjfw</dc:identifier>
</cp:coreProperties>
</file>