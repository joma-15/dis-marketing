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4"/>
  </p:notesMasterIdLst>
  <p:sldIdLst>
    <p:sldId id="377" r:id="rId2"/>
    <p:sldId id="257" r:id="rId3"/>
    <p:sldId id="378" r:id="rId4"/>
    <p:sldId id="379" r:id="rId5"/>
    <p:sldId id="380" r:id="rId6"/>
    <p:sldId id="381" r:id="rId7"/>
    <p:sldId id="382" r:id="rId8"/>
    <p:sldId id="383" r:id="rId9"/>
    <p:sldId id="264" r:id="rId10"/>
    <p:sldId id="265" r:id="rId11"/>
    <p:sldId id="384" r:id="rId12"/>
    <p:sldId id="385" r:id="rId13"/>
    <p:sldId id="268" r:id="rId14"/>
    <p:sldId id="256" r:id="rId15"/>
    <p:sldId id="368" r:id="rId16"/>
    <p:sldId id="349" r:id="rId17"/>
    <p:sldId id="353" r:id="rId18"/>
    <p:sldId id="369" r:id="rId19"/>
    <p:sldId id="259" r:id="rId20"/>
    <p:sldId id="260" r:id="rId21"/>
    <p:sldId id="354" r:id="rId22"/>
    <p:sldId id="342" r:id="rId23"/>
    <p:sldId id="261" r:id="rId24"/>
    <p:sldId id="343" r:id="rId25"/>
    <p:sldId id="359" r:id="rId26"/>
    <p:sldId id="263" r:id="rId27"/>
    <p:sldId id="386" r:id="rId28"/>
    <p:sldId id="387" r:id="rId29"/>
    <p:sldId id="388" r:id="rId30"/>
    <p:sldId id="262" r:id="rId31"/>
    <p:sldId id="361" r:id="rId32"/>
    <p:sldId id="360" r:id="rId33"/>
    <p:sldId id="266" r:id="rId34"/>
    <p:sldId id="269" r:id="rId35"/>
    <p:sldId id="344" r:id="rId36"/>
    <p:sldId id="345" r:id="rId37"/>
    <p:sldId id="370" r:id="rId38"/>
    <p:sldId id="346" r:id="rId39"/>
    <p:sldId id="347" r:id="rId40"/>
    <p:sldId id="348" r:id="rId41"/>
    <p:sldId id="376" r:id="rId42"/>
    <p:sldId id="270" r:id="rId43"/>
  </p:sldIdLst>
  <p:sldSz cx="18288000" cy="10287000"/>
  <p:notesSz cx="6858000" cy="9144000"/>
  <p:embeddedFontLst>
    <p:embeddedFont>
      <p:font typeface="Aharoni" panose="02010803020104030203" pitchFamily="2" charset="-79"/>
      <p:bold r:id="rId45"/>
    </p:embeddedFont>
    <p:embeddedFont>
      <p:font typeface="Anantason SemiExpanded Bold" panose="020B0604020202020204" charset="0"/>
      <p:regular r:id="rId46"/>
    </p:embeddedFont>
    <p:embeddedFont>
      <p:font typeface="Anantason SemiExpanded Italics" panose="020B0604020202020204" charset="0"/>
      <p:regular r:id="rId47"/>
    </p:embeddedFont>
    <p:embeddedFont>
      <p:font typeface="Arial MT" panose="020B0604020202020204" charset="0"/>
      <p:bold r:id="rId48"/>
      <p:italic r:id="rId49"/>
      <p:boldItalic r:id="rId50"/>
    </p:embeddedFont>
    <p:embeddedFont>
      <p:font typeface="Calibri" panose="020F0502020204030204" pitchFamily="34" charset="0"/>
      <p:regular r:id="rId51"/>
      <p:bold r:id="rId52"/>
      <p:italic r:id="rId53"/>
      <p:boldItalic r:id="rId54"/>
    </p:embeddedFont>
    <p:embeddedFont>
      <p:font typeface="Cambria" panose="02040503050406030204" pitchFamily="18" charset="0"/>
      <p:regular r:id="rId55"/>
      <p:bold r:id="rId56"/>
      <p:italic r:id="rId57"/>
      <p:boldItalic r:id="rId58"/>
    </p:embeddedFont>
    <p:embeddedFont>
      <p:font typeface="MS Mincho" panose="02020609040205080304" pitchFamily="49" charset="-128"/>
      <p:regular r:id="rId59"/>
    </p:embeddedFont>
    <p:embeddedFont>
      <p:font typeface="Open Sans Bold" panose="020B0604020202020204" charset="0"/>
      <p:regular r:id="rId60"/>
    </p:embeddedFont>
    <p:embeddedFont>
      <p:font typeface="Open Sans Italics" panose="020B0604020202020204" charset="0"/>
      <p:regular r:id="rId61"/>
    </p:embeddedFont>
    <p:embeddedFont>
      <p:font typeface="Poppins" panose="020B0604020202020204" charset="0"/>
      <p:regular r:id="rId62"/>
    </p:embeddedFont>
    <p:embeddedFont>
      <p:font typeface="Poppins Bold" panose="020B0604020202020204" charset="0"/>
      <p:regular r:id="rId63"/>
    </p:embeddedFont>
    <p:embeddedFont>
      <p:font typeface="Prachason Neue SemiExpanded" panose="020B0604020202020204" charset="0"/>
      <p:regular r:id="rId64"/>
    </p:embeddedFont>
    <p:embeddedFont>
      <p:font typeface="Prachason Neue SemiExpanded Bold" panose="020B0604020202020204" charset="0"/>
      <p:regular r:id="rId65"/>
    </p:embeddedFont>
    <p:embeddedFont>
      <p:font typeface="Prachason Neue SemiExpanded Italics" panose="020B0604020202020204" charset="0"/>
      <p:regular r:id="rId6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6C0A"/>
    <a:srgbClr val="FFCC00"/>
    <a:srgbClr val="FF9900"/>
    <a:srgbClr val="996633"/>
    <a:srgbClr val="F68712"/>
    <a:srgbClr val="06064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1" d="100"/>
          <a:sy n="71" d="100"/>
        </p:scale>
        <p:origin x="714" y="60"/>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50" Type="http://schemas.openxmlformats.org/officeDocument/2006/relationships/font" Target="fonts/font6.fntdata"/><Relationship Id="rId55" Type="http://schemas.openxmlformats.org/officeDocument/2006/relationships/font" Target="fonts/font11.fntdata"/><Relationship Id="rId63" Type="http://schemas.openxmlformats.org/officeDocument/2006/relationships/font" Target="fonts/font19.fntdata"/><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3" Type="http://schemas.openxmlformats.org/officeDocument/2006/relationships/font" Target="fonts/font9.fntdata"/><Relationship Id="rId58" Type="http://schemas.openxmlformats.org/officeDocument/2006/relationships/font" Target="fonts/font14.fntdata"/><Relationship Id="rId66" Type="http://schemas.openxmlformats.org/officeDocument/2006/relationships/font" Target="fonts/font2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5.fntdata"/><Relationship Id="rId57" Type="http://schemas.openxmlformats.org/officeDocument/2006/relationships/font" Target="fonts/font13.fntdata"/><Relationship Id="rId61" Type="http://schemas.openxmlformats.org/officeDocument/2006/relationships/font" Target="fonts/font1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font" Target="fonts/font8.fntdata"/><Relationship Id="rId60" Type="http://schemas.openxmlformats.org/officeDocument/2006/relationships/font" Target="fonts/font16.fntdata"/><Relationship Id="rId65" Type="http://schemas.openxmlformats.org/officeDocument/2006/relationships/font" Target="fonts/font2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56" Type="http://schemas.openxmlformats.org/officeDocument/2006/relationships/font" Target="fonts/font12.fntdata"/><Relationship Id="rId64" Type="http://schemas.openxmlformats.org/officeDocument/2006/relationships/font" Target="fonts/font20.fntdata"/><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59" Type="http://schemas.openxmlformats.org/officeDocument/2006/relationships/font" Target="fonts/font15.fntdata"/><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0.fntdata"/><Relationship Id="rId62" Type="http://schemas.openxmlformats.org/officeDocument/2006/relationships/font" Target="fonts/font18.fntdata"/><Relationship Id="rId7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20621A-F3B4-4F29-B2AF-23881ABB3334}" type="datetimeFigureOut">
              <a:rPr lang="en-PH" smtClean="0"/>
              <a:t>22/01/2026</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302C50-C792-4FD5-AC65-3F2ECABF63FA}" type="slidenum">
              <a:rPr lang="en-PH" smtClean="0"/>
              <a:t>‹#›</a:t>
            </a:fld>
            <a:endParaRPr lang="en-PH"/>
          </a:p>
        </p:txBody>
      </p:sp>
    </p:spTree>
    <p:extLst>
      <p:ext uri="{BB962C8B-B14F-4D97-AF65-F5344CB8AC3E}">
        <p14:creationId xmlns:p14="http://schemas.microsoft.com/office/powerpoint/2010/main" val="807987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4214E93-671E-4CCD-9DA3-6B549C10719A}" type="slidenum">
              <a:rPr lang="en-PH" smtClean="0"/>
              <a:t>4</a:t>
            </a:fld>
            <a:endParaRPr lang="en-PH"/>
          </a:p>
        </p:txBody>
      </p:sp>
    </p:spTree>
    <p:extLst>
      <p:ext uri="{BB962C8B-B14F-4D97-AF65-F5344CB8AC3E}">
        <p14:creationId xmlns:p14="http://schemas.microsoft.com/office/powerpoint/2010/main" val="26511614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sv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12.sv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7.jpeg"/><Relationship Id="rId7"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9.svg"/><Relationship Id="rId10" Type="http://schemas.openxmlformats.org/officeDocument/2006/relationships/image" Target="../media/image10.png"/><Relationship Id="rId4" Type="http://schemas.openxmlformats.org/officeDocument/2006/relationships/image" Target="../media/image8.png"/><Relationship Id="rId9"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18.svg"/></Relationships>
</file>

<file path=ppt/slides/_rels/slide6.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19.png"/><Relationship Id="rId7" Type="http://schemas.openxmlformats.org/officeDocument/2006/relationships/image" Target="../media/image22.png"/><Relationship Id="rId12" Type="http://schemas.openxmlformats.org/officeDocument/2006/relationships/image" Target="../media/image27.png"/><Relationship Id="rId17" Type="http://schemas.openxmlformats.org/officeDocument/2006/relationships/image" Target="../media/image32.png"/><Relationship Id="rId2" Type="http://schemas.openxmlformats.org/officeDocument/2006/relationships/image" Target="../media/image1.jpeg"/><Relationship Id="rId16"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4.png"/><Relationship Id="rId15" Type="http://schemas.openxmlformats.org/officeDocument/2006/relationships/image" Target="../media/image30.png"/><Relationship Id="rId10" Type="http://schemas.openxmlformats.org/officeDocument/2006/relationships/image" Target="../media/image25.png"/><Relationship Id="rId4" Type="http://schemas.openxmlformats.org/officeDocument/2006/relationships/image" Target="../media/image20.svg"/><Relationship Id="rId9" Type="http://schemas.openxmlformats.org/officeDocument/2006/relationships/image" Target="../media/image24.png"/><Relationship Id="rId14" Type="http://schemas.openxmlformats.org/officeDocument/2006/relationships/image" Target="../media/image29.png"/></Relationships>
</file>

<file path=ppt/slides/_rels/slide7.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19.png"/><Relationship Id="rId7" Type="http://schemas.openxmlformats.org/officeDocument/2006/relationships/image" Target="../media/image3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4.png"/><Relationship Id="rId10" Type="http://schemas.openxmlformats.org/officeDocument/2006/relationships/image" Target="../media/image37.png"/><Relationship Id="rId4" Type="http://schemas.openxmlformats.org/officeDocument/2006/relationships/image" Target="../media/image20.svg"/><Relationship Id="rId9" Type="http://schemas.openxmlformats.org/officeDocument/2006/relationships/image" Target="../media/image36.png"/></Relationships>
</file>

<file path=ppt/slides/_rels/slide8.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37.png"/><Relationship Id="rId3" Type="http://schemas.openxmlformats.org/officeDocument/2006/relationships/image" Target="../media/image19.png"/><Relationship Id="rId7" Type="http://schemas.openxmlformats.org/officeDocument/2006/relationships/image" Target="../media/image39.png"/><Relationship Id="rId12" Type="http://schemas.openxmlformats.org/officeDocument/2006/relationships/image" Target="../media/image4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4.png"/><Relationship Id="rId10" Type="http://schemas.openxmlformats.org/officeDocument/2006/relationships/image" Target="../media/image42.png"/><Relationship Id="rId4" Type="http://schemas.openxmlformats.org/officeDocument/2006/relationships/image" Target="../media/image20.svg"/><Relationship Id="rId9" Type="http://schemas.openxmlformats.org/officeDocument/2006/relationships/image" Target="../media/image41.png"/></Relationships>
</file>

<file path=ppt/slides/_rels/slide9.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52.png"/><Relationship Id="rId18" Type="http://schemas.openxmlformats.org/officeDocument/2006/relationships/image" Target="../media/image57.png"/><Relationship Id="rId3" Type="http://schemas.openxmlformats.org/officeDocument/2006/relationships/image" Target="../media/image19.png"/><Relationship Id="rId21" Type="http://schemas.openxmlformats.org/officeDocument/2006/relationships/image" Target="../media/image60.png"/><Relationship Id="rId7" Type="http://schemas.openxmlformats.org/officeDocument/2006/relationships/image" Target="../media/image46.png"/><Relationship Id="rId12" Type="http://schemas.openxmlformats.org/officeDocument/2006/relationships/image" Target="../media/image51.png"/><Relationship Id="rId17" Type="http://schemas.openxmlformats.org/officeDocument/2006/relationships/image" Target="../media/image56.png"/><Relationship Id="rId2" Type="http://schemas.openxmlformats.org/officeDocument/2006/relationships/image" Target="../media/image1.jpeg"/><Relationship Id="rId16" Type="http://schemas.openxmlformats.org/officeDocument/2006/relationships/image" Target="../media/image55.png"/><Relationship Id="rId20" Type="http://schemas.openxmlformats.org/officeDocument/2006/relationships/image" Target="../media/image59.png"/><Relationship Id="rId1" Type="http://schemas.openxmlformats.org/officeDocument/2006/relationships/slideLayout" Target="../slideLayouts/slideLayout7.x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4.png"/><Relationship Id="rId15" Type="http://schemas.openxmlformats.org/officeDocument/2006/relationships/image" Target="../media/image54.png"/><Relationship Id="rId10" Type="http://schemas.openxmlformats.org/officeDocument/2006/relationships/image" Target="../media/image49.png"/><Relationship Id="rId19" Type="http://schemas.openxmlformats.org/officeDocument/2006/relationships/image" Target="../media/image58.png"/><Relationship Id="rId4" Type="http://schemas.openxmlformats.org/officeDocument/2006/relationships/image" Target="../media/image20.svg"/><Relationship Id="rId9" Type="http://schemas.openxmlformats.org/officeDocument/2006/relationships/image" Target="../media/image48.png"/><Relationship Id="rId14" Type="http://schemas.openxmlformats.org/officeDocument/2006/relationships/image" Target="../media/image53.png"/><Relationship Id="rId22" Type="http://schemas.openxmlformats.org/officeDocument/2006/relationships/image" Target="../media/image37.png"/></Relationships>
</file>

<file path=ppt/slides/_rels/slide1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64.svg"/><Relationship Id="rId5" Type="http://schemas.openxmlformats.org/officeDocument/2006/relationships/image" Target="../media/image63.png"/><Relationship Id="rId4" Type="http://schemas.openxmlformats.org/officeDocument/2006/relationships/image" Target="../media/image62.svg"/></Relationships>
</file>

<file path=ppt/slides/_rels/slide1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7.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66.svg"/></Relationships>
</file>

<file path=ppt/slides/_rels/slide12.xml.rels><?xml version="1.0" encoding="UTF-8" standalone="yes"?>
<Relationships xmlns="http://schemas.openxmlformats.org/package/2006/relationships"><Relationship Id="rId8" Type="http://schemas.openxmlformats.org/officeDocument/2006/relationships/image" Target="../media/image70.jpeg"/><Relationship Id="rId3" Type="http://schemas.openxmlformats.org/officeDocument/2006/relationships/image" Target="../media/image61.png"/><Relationship Id="rId7" Type="http://schemas.openxmlformats.org/officeDocument/2006/relationships/image" Target="../media/image69.jpeg"/><Relationship Id="rId12" Type="http://schemas.openxmlformats.org/officeDocument/2006/relationships/image" Target="../media/image74.jpe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68.jpeg"/><Relationship Id="rId11" Type="http://schemas.openxmlformats.org/officeDocument/2006/relationships/image" Target="../media/image73.jpeg"/><Relationship Id="rId5" Type="http://schemas.openxmlformats.org/officeDocument/2006/relationships/image" Target="../media/image67.jpeg"/><Relationship Id="rId10" Type="http://schemas.openxmlformats.org/officeDocument/2006/relationships/image" Target="../media/image72.jpeg"/><Relationship Id="rId4" Type="http://schemas.openxmlformats.org/officeDocument/2006/relationships/image" Target="../media/image62.svg"/><Relationship Id="rId9" Type="http://schemas.openxmlformats.org/officeDocument/2006/relationships/image" Target="../media/image71.jpeg"/></Relationships>
</file>

<file path=ppt/slides/_rels/slide1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62.svg"/></Relationships>
</file>

<file path=ppt/slides/_rels/slide1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jpeg"/><Relationship Id="rId1" Type="http://schemas.openxmlformats.org/officeDocument/2006/relationships/slideLayout" Target="../slideLayouts/slideLayout7.xml"/><Relationship Id="rId5" Type="http://schemas.openxmlformats.org/officeDocument/2006/relationships/image" Target="../media/image80.png"/><Relationship Id="rId4" Type="http://schemas.openxmlformats.org/officeDocument/2006/relationships/image" Target="../media/image79.svg"/></Relationships>
</file>

<file path=ppt/slides/_rels/slide1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jpeg"/><Relationship Id="rId1" Type="http://schemas.openxmlformats.org/officeDocument/2006/relationships/slideLayout" Target="../slideLayouts/slideLayout7.xml"/><Relationship Id="rId5" Type="http://schemas.openxmlformats.org/officeDocument/2006/relationships/image" Target="../media/image80.png"/><Relationship Id="rId4" Type="http://schemas.openxmlformats.org/officeDocument/2006/relationships/image" Target="../media/image79.svg"/></Relationships>
</file>

<file path=ppt/slides/_rels/slide16.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5.png"/><Relationship Id="rId1" Type="http://schemas.openxmlformats.org/officeDocument/2006/relationships/slideLayout" Target="../slideLayouts/slideLayout7.xml"/><Relationship Id="rId5" Type="http://schemas.openxmlformats.org/officeDocument/2006/relationships/image" Target="../media/image86.png"/><Relationship Id="rId4" Type="http://schemas.openxmlformats.org/officeDocument/2006/relationships/image" Target="../media/image88.png"/></Relationships>
</file>

<file path=ppt/slides/_rels/slide29.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7.xml"/><Relationship Id="rId5" Type="http://schemas.openxmlformats.org/officeDocument/2006/relationships/image" Target="../media/image90.png"/><Relationship Id="rId4" Type="http://schemas.openxmlformats.org/officeDocument/2006/relationships/image" Target="../media/image8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94.jp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image" Target="../media/image95.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97.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970000">
            <a:off x="-705701" y="-5150088"/>
            <a:ext cx="19699402" cy="20587176"/>
          </a:xfrm>
          <a:custGeom>
            <a:avLst/>
            <a:gdLst/>
            <a:ahLst/>
            <a:cxnLst/>
            <a:rect l="l" t="t" r="r" b="b"/>
            <a:pathLst>
              <a:path w="19699402" h="20587176">
                <a:moveTo>
                  <a:pt x="7822296" y="0"/>
                </a:moveTo>
                <a:lnTo>
                  <a:pt x="19699402" y="13906304"/>
                </a:lnTo>
                <a:lnTo>
                  <a:pt x="11877106" y="20587176"/>
                </a:lnTo>
                <a:lnTo>
                  <a:pt x="0" y="6680872"/>
                </a:lnTo>
                <a:lnTo>
                  <a:pt x="7822296" y="0"/>
                </a:lnTo>
                <a:close/>
              </a:path>
            </a:pathLst>
          </a:custGeom>
          <a:blipFill>
            <a:blip r:embed="rId2"/>
            <a:stretch>
              <a:fillRect l="-29935" t="-960" r="-29935" b="-960"/>
            </a:stretch>
          </a:blipFill>
        </p:spPr>
      </p:sp>
      <p:sp>
        <p:nvSpPr>
          <p:cNvPr id="3" name="Freeform 3"/>
          <p:cNvSpPr/>
          <p:nvPr/>
        </p:nvSpPr>
        <p:spPr>
          <a:xfrm flipH="1">
            <a:off x="10080249" y="1528865"/>
            <a:ext cx="8780085" cy="8758135"/>
          </a:xfrm>
          <a:custGeom>
            <a:avLst/>
            <a:gdLst/>
            <a:ahLst/>
            <a:cxnLst/>
            <a:rect l="l" t="t" r="r" b="b"/>
            <a:pathLst>
              <a:path w="8780085" h="8758135">
                <a:moveTo>
                  <a:pt x="8780085" y="0"/>
                </a:moveTo>
                <a:lnTo>
                  <a:pt x="0" y="0"/>
                </a:lnTo>
                <a:lnTo>
                  <a:pt x="0" y="8758135"/>
                </a:lnTo>
                <a:lnTo>
                  <a:pt x="8780085" y="8758135"/>
                </a:lnTo>
                <a:lnTo>
                  <a:pt x="8780085"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005720" y="687712"/>
            <a:ext cx="5785700" cy="1543050"/>
            <a:chOff x="0" y="0"/>
            <a:chExt cx="1523806" cy="406400"/>
          </a:xfrm>
        </p:grpSpPr>
        <p:sp>
          <p:nvSpPr>
            <p:cNvPr id="5" name="Freeform 5"/>
            <p:cNvSpPr/>
            <p:nvPr/>
          </p:nvSpPr>
          <p:spPr>
            <a:xfrm>
              <a:off x="0" y="0"/>
              <a:ext cx="1523806" cy="406400"/>
            </a:xfrm>
            <a:custGeom>
              <a:avLst/>
              <a:gdLst/>
              <a:ahLst/>
              <a:cxnLst/>
              <a:rect l="l" t="t" r="r" b="b"/>
              <a:pathLst>
                <a:path w="1523806" h="406400">
                  <a:moveTo>
                    <a:pt x="1320606" y="0"/>
                  </a:moveTo>
                  <a:cubicBezTo>
                    <a:pt x="1432830" y="0"/>
                    <a:pt x="1523806" y="90976"/>
                    <a:pt x="1523806" y="203200"/>
                  </a:cubicBezTo>
                  <a:cubicBezTo>
                    <a:pt x="1523806" y="315424"/>
                    <a:pt x="1432830" y="406400"/>
                    <a:pt x="1320606" y="406400"/>
                  </a:cubicBezTo>
                  <a:lnTo>
                    <a:pt x="203200" y="406400"/>
                  </a:lnTo>
                  <a:cubicBezTo>
                    <a:pt x="90976" y="406400"/>
                    <a:pt x="0" y="315424"/>
                    <a:pt x="0" y="203200"/>
                  </a:cubicBezTo>
                  <a:cubicBezTo>
                    <a:pt x="0" y="90976"/>
                    <a:pt x="90976" y="0"/>
                    <a:pt x="203200" y="0"/>
                  </a:cubicBezTo>
                  <a:close/>
                </a:path>
              </a:pathLst>
            </a:custGeom>
            <a:solidFill>
              <a:srgbClr val="021048"/>
            </a:solidFill>
          </p:spPr>
        </p:sp>
        <p:sp>
          <p:nvSpPr>
            <p:cNvPr id="6" name="TextBox 6"/>
            <p:cNvSpPr txBox="1"/>
            <p:nvPr/>
          </p:nvSpPr>
          <p:spPr>
            <a:xfrm>
              <a:off x="0" y="-38100"/>
              <a:ext cx="1523806" cy="444500"/>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10080249" y="1748133"/>
            <a:ext cx="7160426" cy="7160426"/>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1048"/>
            </a:solidFill>
          </p:spPr>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0481770" y="2072322"/>
            <a:ext cx="6434715" cy="6434715"/>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9202" t="-2072" r="-7704" b="-14834"/>
              </a:stretch>
            </a:blipFill>
          </p:spPr>
        </p:sp>
      </p:grpSp>
      <p:grpSp>
        <p:nvGrpSpPr>
          <p:cNvPr id="12" name="Group 12"/>
          <p:cNvGrpSpPr/>
          <p:nvPr/>
        </p:nvGrpSpPr>
        <p:grpSpPr>
          <a:xfrm>
            <a:off x="1750071" y="7404805"/>
            <a:ext cx="6059818" cy="1102232"/>
            <a:chOff x="0" y="0"/>
            <a:chExt cx="8079757" cy="1469643"/>
          </a:xfrm>
        </p:grpSpPr>
        <p:grpSp>
          <p:nvGrpSpPr>
            <p:cNvPr id="13" name="Group 13"/>
            <p:cNvGrpSpPr/>
            <p:nvPr/>
          </p:nvGrpSpPr>
          <p:grpSpPr>
            <a:xfrm>
              <a:off x="0" y="0"/>
              <a:ext cx="8079757" cy="1469643"/>
              <a:chOff x="0" y="0"/>
              <a:chExt cx="2234293" cy="406400"/>
            </a:xfrm>
          </p:grpSpPr>
          <p:sp>
            <p:nvSpPr>
              <p:cNvPr id="14" name="Freeform 14"/>
              <p:cNvSpPr/>
              <p:nvPr/>
            </p:nvSpPr>
            <p:spPr>
              <a:xfrm>
                <a:off x="0" y="0"/>
                <a:ext cx="2234293" cy="406400"/>
              </a:xfrm>
              <a:custGeom>
                <a:avLst/>
                <a:gdLst/>
                <a:ahLst/>
                <a:cxnLst/>
                <a:rect l="l" t="t" r="r" b="b"/>
                <a:pathLst>
                  <a:path w="2234293" h="406400">
                    <a:moveTo>
                      <a:pt x="2031093" y="0"/>
                    </a:moveTo>
                    <a:cubicBezTo>
                      <a:pt x="2143317" y="0"/>
                      <a:pt x="2234293" y="90976"/>
                      <a:pt x="2234293" y="203200"/>
                    </a:cubicBezTo>
                    <a:cubicBezTo>
                      <a:pt x="2234293" y="315424"/>
                      <a:pt x="2143317" y="406400"/>
                      <a:pt x="2031093"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38100" cap="sq">
                <a:solidFill>
                  <a:srgbClr val="010F48"/>
                </a:solidFill>
                <a:prstDash val="solid"/>
                <a:miter/>
              </a:ln>
            </p:spPr>
          </p:sp>
          <p:sp>
            <p:nvSpPr>
              <p:cNvPr id="15" name="TextBox 15"/>
              <p:cNvSpPr txBox="1"/>
              <p:nvPr/>
            </p:nvSpPr>
            <p:spPr>
              <a:xfrm>
                <a:off x="0" y="-38100"/>
                <a:ext cx="2234293" cy="444500"/>
              </a:xfrm>
              <a:prstGeom prst="rect">
                <a:avLst/>
              </a:prstGeom>
            </p:spPr>
            <p:txBody>
              <a:bodyPr lIns="50800" tIns="50800" rIns="50800" bIns="50800" rtlCol="0" anchor="ctr"/>
              <a:lstStyle/>
              <a:p>
                <a:pPr algn="ctr">
                  <a:lnSpc>
                    <a:spcPts val="2659"/>
                  </a:lnSpc>
                  <a:spcBef>
                    <a:spcPct val="0"/>
                  </a:spcBef>
                </a:pPr>
                <a:endParaRPr/>
              </a:p>
            </p:txBody>
          </p:sp>
        </p:grpSp>
        <p:grpSp>
          <p:nvGrpSpPr>
            <p:cNvPr id="16" name="Group 16"/>
            <p:cNvGrpSpPr/>
            <p:nvPr/>
          </p:nvGrpSpPr>
          <p:grpSpPr>
            <a:xfrm>
              <a:off x="171315" y="156683"/>
              <a:ext cx="7737127" cy="1156277"/>
              <a:chOff x="0" y="0"/>
              <a:chExt cx="2719391" cy="406400"/>
            </a:xfrm>
          </p:grpSpPr>
          <p:sp>
            <p:nvSpPr>
              <p:cNvPr id="17" name="Freeform 17"/>
              <p:cNvSpPr/>
              <p:nvPr/>
            </p:nvSpPr>
            <p:spPr>
              <a:xfrm>
                <a:off x="0" y="0"/>
                <a:ext cx="2719391" cy="406400"/>
              </a:xfrm>
              <a:custGeom>
                <a:avLst/>
                <a:gdLst/>
                <a:ahLst/>
                <a:cxnLst/>
                <a:rect l="l" t="t" r="r" b="b"/>
                <a:pathLst>
                  <a:path w="2719391" h="406400">
                    <a:moveTo>
                      <a:pt x="2516191" y="0"/>
                    </a:moveTo>
                    <a:cubicBezTo>
                      <a:pt x="2628415" y="0"/>
                      <a:pt x="2719391" y="90976"/>
                      <a:pt x="2719391" y="203200"/>
                    </a:cubicBezTo>
                    <a:cubicBezTo>
                      <a:pt x="2719391" y="315424"/>
                      <a:pt x="2628415" y="406400"/>
                      <a:pt x="2516191" y="406400"/>
                    </a:cubicBezTo>
                    <a:lnTo>
                      <a:pt x="203200" y="406400"/>
                    </a:lnTo>
                    <a:cubicBezTo>
                      <a:pt x="90976" y="406400"/>
                      <a:pt x="0" y="315424"/>
                      <a:pt x="0" y="203200"/>
                    </a:cubicBezTo>
                    <a:cubicBezTo>
                      <a:pt x="0" y="90976"/>
                      <a:pt x="90976" y="0"/>
                      <a:pt x="203200" y="0"/>
                    </a:cubicBezTo>
                    <a:close/>
                  </a:path>
                </a:pathLst>
              </a:custGeom>
              <a:solidFill>
                <a:srgbClr val="010F48"/>
              </a:solidFill>
            </p:spPr>
          </p:sp>
          <p:sp>
            <p:nvSpPr>
              <p:cNvPr id="18" name="TextBox 18"/>
              <p:cNvSpPr txBox="1"/>
              <p:nvPr/>
            </p:nvSpPr>
            <p:spPr>
              <a:xfrm>
                <a:off x="0" y="-38100"/>
                <a:ext cx="2719391" cy="444500"/>
              </a:xfrm>
              <a:prstGeom prst="rect">
                <a:avLst/>
              </a:prstGeom>
            </p:spPr>
            <p:txBody>
              <a:bodyPr lIns="50800" tIns="50800" rIns="50800" bIns="50800" rtlCol="0" anchor="ctr"/>
              <a:lstStyle/>
              <a:p>
                <a:pPr algn="ctr">
                  <a:lnSpc>
                    <a:spcPts val="2659"/>
                  </a:lnSpc>
                  <a:spcBef>
                    <a:spcPct val="0"/>
                  </a:spcBef>
                </a:pPr>
                <a:endParaRPr/>
              </a:p>
            </p:txBody>
          </p:sp>
        </p:grpSp>
        <p:sp>
          <p:nvSpPr>
            <p:cNvPr id="19" name="Freeform 19"/>
            <p:cNvSpPr/>
            <p:nvPr/>
          </p:nvSpPr>
          <p:spPr>
            <a:xfrm>
              <a:off x="375800" y="272124"/>
              <a:ext cx="925395" cy="925395"/>
            </a:xfrm>
            <a:custGeom>
              <a:avLst/>
              <a:gdLst/>
              <a:ahLst/>
              <a:cxnLst/>
              <a:rect l="l" t="t" r="r" b="b"/>
              <a:pathLst>
                <a:path w="925395" h="925395">
                  <a:moveTo>
                    <a:pt x="0" y="0"/>
                  </a:moveTo>
                  <a:lnTo>
                    <a:pt x="925395" y="0"/>
                  </a:lnTo>
                  <a:lnTo>
                    <a:pt x="925395" y="925395"/>
                  </a:lnTo>
                  <a:lnTo>
                    <a:pt x="0" y="92539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0" name="TextBox 20"/>
            <p:cNvSpPr txBox="1"/>
            <p:nvPr/>
          </p:nvSpPr>
          <p:spPr>
            <a:xfrm>
              <a:off x="1510073" y="372871"/>
              <a:ext cx="6398369" cy="590550"/>
            </a:xfrm>
            <a:prstGeom prst="rect">
              <a:avLst/>
            </a:prstGeom>
          </p:spPr>
          <p:txBody>
            <a:bodyPr lIns="0" tIns="0" rIns="0" bIns="0" rtlCol="0" anchor="t">
              <a:spAutoFit/>
            </a:bodyPr>
            <a:lstStyle/>
            <a:p>
              <a:pPr algn="l">
                <a:lnSpc>
                  <a:spcPts val="2760"/>
                </a:lnSpc>
              </a:pPr>
              <a:r>
                <a:rPr lang="en-US" sz="2300" spc="-23">
                  <a:solidFill>
                    <a:srgbClr val="FFFFFF"/>
                  </a:solidFill>
                  <a:latin typeface="Prachason Neue SemiExpanded"/>
                  <a:ea typeface="Prachason Neue SemiExpanded"/>
                  <a:cs typeface="Prachason Neue SemiExpanded"/>
                  <a:sym typeface="Prachason Neue SemiExpanded"/>
                </a:rPr>
                <a:t>www.rmc2consultancycorp.com</a:t>
              </a:r>
            </a:p>
          </p:txBody>
        </p:sp>
      </p:grpSp>
      <p:sp>
        <p:nvSpPr>
          <p:cNvPr id="21" name="TextBox 21"/>
          <p:cNvSpPr txBox="1"/>
          <p:nvPr/>
        </p:nvSpPr>
        <p:spPr>
          <a:xfrm>
            <a:off x="417130" y="2978133"/>
            <a:ext cx="9051549" cy="1957803"/>
          </a:xfrm>
          <a:prstGeom prst="rect">
            <a:avLst/>
          </a:prstGeom>
        </p:spPr>
        <p:txBody>
          <a:bodyPr lIns="0" tIns="0" rIns="0" bIns="0" rtlCol="0" anchor="t">
            <a:spAutoFit/>
          </a:bodyPr>
          <a:lstStyle/>
          <a:p>
            <a:pPr algn="ctr">
              <a:lnSpc>
                <a:spcPts val="15989"/>
              </a:lnSpc>
              <a:spcBef>
                <a:spcPct val="0"/>
              </a:spcBef>
            </a:pPr>
            <a:r>
              <a:rPr lang="en-US" sz="11421" b="1" dirty="0">
                <a:solidFill>
                  <a:srgbClr val="010F48"/>
                </a:solidFill>
                <a:latin typeface="Anantason SemiExpanded Bold"/>
                <a:ea typeface="Anantason SemiExpanded Bold"/>
                <a:cs typeface="Anantason SemiExpanded Bold"/>
                <a:sym typeface="Anantason SemiExpanded Bold"/>
              </a:rPr>
              <a:t>RMC2</a:t>
            </a:r>
          </a:p>
        </p:txBody>
      </p:sp>
      <p:sp>
        <p:nvSpPr>
          <p:cNvPr id="22" name="TextBox 22"/>
          <p:cNvSpPr txBox="1"/>
          <p:nvPr/>
        </p:nvSpPr>
        <p:spPr>
          <a:xfrm>
            <a:off x="281647" y="4489893"/>
            <a:ext cx="9520840" cy="1111244"/>
          </a:xfrm>
          <a:prstGeom prst="rect">
            <a:avLst/>
          </a:prstGeom>
        </p:spPr>
        <p:txBody>
          <a:bodyPr lIns="0" tIns="0" rIns="0" bIns="0" rtlCol="0" anchor="t">
            <a:spAutoFit/>
          </a:bodyPr>
          <a:lstStyle/>
          <a:p>
            <a:pPr algn="l">
              <a:lnSpc>
                <a:spcPts val="9100"/>
              </a:lnSpc>
              <a:spcBef>
                <a:spcPct val="0"/>
              </a:spcBef>
            </a:pPr>
            <a:r>
              <a:rPr lang="en-US" sz="6500" b="1">
                <a:solidFill>
                  <a:srgbClr val="FF7E30"/>
                </a:solidFill>
                <a:latin typeface="Anantason SemiExpanded Bold"/>
                <a:ea typeface="Anantason SemiExpanded Bold"/>
                <a:cs typeface="Anantason SemiExpanded Bold"/>
                <a:sym typeface="Anantason SemiExpanded Bold"/>
              </a:rPr>
              <a:t>CONSULTANCY CORP</a:t>
            </a:r>
          </a:p>
        </p:txBody>
      </p:sp>
      <p:sp>
        <p:nvSpPr>
          <p:cNvPr id="23" name="TextBox 23"/>
          <p:cNvSpPr txBox="1"/>
          <p:nvPr/>
        </p:nvSpPr>
        <p:spPr>
          <a:xfrm>
            <a:off x="909001" y="5784108"/>
            <a:ext cx="8067807" cy="752475"/>
          </a:xfrm>
          <a:prstGeom prst="rect">
            <a:avLst/>
          </a:prstGeom>
        </p:spPr>
        <p:txBody>
          <a:bodyPr lIns="0" tIns="0" rIns="0" bIns="0" rtlCol="0" anchor="t">
            <a:spAutoFit/>
          </a:bodyPr>
          <a:lstStyle/>
          <a:p>
            <a:pPr algn="just">
              <a:lnSpc>
                <a:spcPts val="2515"/>
              </a:lnSpc>
            </a:pPr>
            <a:r>
              <a:rPr lang="en-US" sz="2096" i="1" spc="-20">
                <a:solidFill>
                  <a:srgbClr val="010F48"/>
                </a:solidFill>
                <a:latin typeface="Prachason Neue SemiExpanded Italics"/>
                <a:ea typeface="Prachason Neue SemiExpanded Italics"/>
                <a:cs typeface="Prachason Neue SemiExpanded Italics"/>
                <a:sym typeface="Prachason Neue SemiExpanded Italics"/>
              </a:rPr>
              <a:t>Your trusted partner in Health, Life and Non-Life Coverage</a:t>
            </a:r>
          </a:p>
          <a:p>
            <a:pPr algn="just">
              <a:lnSpc>
                <a:spcPts val="2515"/>
              </a:lnSpc>
            </a:pPr>
            <a:endParaRPr lang="en-US" sz="2096" i="1" spc="-20">
              <a:solidFill>
                <a:srgbClr val="010F48"/>
              </a:solidFill>
              <a:latin typeface="Prachason Neue SemiExpanded Italics"/>
              <a:ea typeface="Prachason Neue SemiExpanded Italics"/>
              <a:cs typeface="Prachason Neue SemiExpanded Italics"/>
              <a:sym typeface="Prachason Neue SemiExpanded Italics"/>
            </a:endParaRPr>
          </a:p>
        </p:txBody>
      </p:sp>
      <p:sp>
        <p:nvSpPr>
          <p:cNvPr id="24" name="TextBox 24"/>
          <p:cNvSpPr txBox="1"/>
          <p:nvPr/>
        </p:nvSpPr>
        <p:spPr>
          <a:xfrm>
            <a:off x="118218" y="1082658"/>
            <a:ext cx="4311974" cy="619125"/>
          </a:xfrm>
          <a:prstGeom prst="rect">
            <a:avLst/>
          </a:prstGeom>
        </p:spPr>
        <p:txBody>
          <a:bodyPr lIns="0" tIns="0" rIns="0" bIns="0" rtlCol="0" anchor="t">
            <a:spAutoFit/>
          </a:bodyPr>
          <a:lstStyle/>
          <a:p>
            <a:pPr algn="ctr">
              <a:lnSpc>
                <a:spcPts val="3599"/>
              </a:lnSpc>
            </a:pPr>
            <a:r>
              <a:rPr lang="en-US" sz="2999" b="1" spc="-29">
                <a:solidFill>
                  <a:srgbClr val="FFFFFF"/>
                </a:solidFill>
                <a:latin typeface="Prachason Neue SemiExpanded Bold"/>
                <a:ea typeface="Prachason Neue SemiExpanded Bold"/>
                <a:cs typeface="Prachason Neue SemiExpanded Bold"/>
                <a:sym typeface="Prachason Neue SemiExpanded Bold"/>
              </a:rPr>
              <a:t>COMPANY PROFILE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flipV="1">
            <a:off x="0" y="0"/>
            <a:ext cx="7029213" cy="7118190"/>
          </a:xfrm>
          <a:custGeom>
            <a:avLst/>
            <a:gdLst/>
            <a:ahLst/>
            <a:cxnLst/>
            <a:rect l="l" t="t" r="r" b="b"/>
            <a:pathLst>
              <a:path w="7029213" h="7118190">
                <a:moveTo>
                  <a:pt x="0" y="7118190"/>
                </a:moveTo>
                <a:lnTo>
                  <a:pt x="7029213" y="7118190"/>
                </a:lnTo>
                <a:lnTo>
                  <a:pt x="7029213" y="0"/>
                </a:lnTo>
                <a:lnTo>
                  <a:pt x="0" y="0"/>
                </a:lnTo>
                <a:lnTo>
                  <a:pt x="0" y="711819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028700" y="1748133"/>
            <a:ext cx="7160426" cy="7160426"/>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352889" y="2072322"/>
            <a:ext cx="6512047" cy="6512047"/>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t="-6149" b="-22421"/>
              </a:stretch>
            </a:blipFill>
          </p:spPr>
        </p:sp>
      </p:grpSp>
      <p:sp>
        <p:nvSpPr>
          <p:cNvPr id="9" name="TextBox 9"/>
          <p:cNvSpPr txBox="1"/>
          <p:nvPr/>
        </p:nvSpPr>
        <p:spPr>
          <a:xfrm>
            <a:off x="9144000" y="251732"/>
            <a:ext cx="8457485" cy="1401535"/>
          </a:xfrm>
          <a:prstGeom prst="rect">
            <a:avLst/>
          </a:prstGeom>
        </p:spPr>
        <p:txBody>
          <a:bodyPr lIns="0" tIns="0" rIns="0" bIns="0" rtlCol="0" anchor="t">
            <a:spAutoFit/>
          </a:bodyPr>
          <a:lstStyle/>
          <a:p>
            <a:pPr algn="ctr">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WHO </a:t>
            </a:r>
            <a:r>
              <a:rPr lang="en-US" sz="8196" b="1">
                <a:solidFill>
                  <a:srgbClr val="FF7E2F"/>
                </a:solidFill>
                <a:latin typeface="Anantason SemiExpanded Bold"/>
                <a:ea typeface="Anantason SemiExpanded Bold"/>
                <a:cs typeface="Anantason SemiExpanded Bold"/>
                <a:sym typeface="Anantason SemiExpanded Bold"/>
              </a:rPr>
              <a:t>WE ARE</a:t>
            </a:r>
          </a:p>
        </p:txBody>
      </p:sp>
      <p:sp>
        <p:nvSpPr>
          <p:cNvPr id="12" name="TextBox 12"/>
          <p:cNvSpPr txBox="1"/>
          <p:nvPr/>
        </p:nvSpPr>
        <p:spPr>
          <a:xfrm>
            <a:off x="9214513" y="1832291"/>
            <a:ext cx="8255581" cy="7310399"/>
          </a:xfrm>
          <a:prstGeom prst="rect">
            <a:avLst/>
          </a:prstGeom>
        </p:spPr>
        <p:txBody>
          <a:bodyPr lIns="0" tIns="0" rIns="0" bIns="0" rtlCol="0" anchor="t">
            <a:spAutoFit/>
          </a:bodyPr>
          <a:lstStyle/>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 At </a:t>
            </a:r>
            <a:r>
              <a:rPr lang="en-US" sz="2000" b="1" spc="-20" dirty="0">
                <a:solidFill>
                  <a:srgbClr val="000000"/>
                </a:solidFill>
                <a:highlight>
                  <a:srgbClr val="F68712"/>
                </a:highlight>
                <a:latin typeface="Prachason Neue SemiExpanded Bold"/>
                <a:ea typeface="Prachason Neue SemiExpanded Bold"/>
                <a:cs typeface="Prachason Neue SemiExpanded Bold"/>
                <a:sym typeface="Prachason Neue SemiExpanded Bold"/>
              </a:rPr>
              <a:t>RMC2 Consultancy Corp</a:t>
            </a:r>
            <a:r>
              <a:rPr lang="en-US" sz="2000" spc="-20" dirty="0">
                <a:solidFill>
                  <a:srgbClr val="000000"/>
                </a:solidFill>
                <a:latin typeface="Prachason Neue SemiExpanded"/>
                <a:ea typeface="Prachason Neue SemiExpanded"/>
                <a:cs typeface="Prachason Neue SemiExpanded"/>
                <a:sym typeface="Prachason Neue SemiExpanded"/>
              </a:rPr>
              <a:t>, we believe that health and financial security should be accessible to everyone. Founded by </a:t>
            </a:r>
            <a:r>
              <a:rPr lang="en-US" sz="2000" b="1" spc="-20" dirty="0">
                <a:solidFill>
                  <a:srgbClr val="000000"/>
                </a:solidFill>
                <a:highlight>
                  <a:srgbClr val="F68712"/>
                </a:highlight>
                <a:latin typeface="Prachason Neue SemiExpanded Bold"/>
                <a:ea typeface="Prachason Neue SemiExpanded Bold"/>
                <a:cs typeface="Prachason Neue SemiExpanded Bold"/>
                <a:sym typeface="Prachason Neue SemiExpanded Bold"/>
              </a:rPr>
              <a:t>Rosemarie Fernandez</a:t>
            </a:r>
            <a:r>
              <a:rPr lang="en-US" sz="2000" b="1" spc="-20" dirty="0">
                <a:solidFill>
                  <a:srgbClr val="000000"/>
                </a:solidFill>
                <a:latin typeface="Prachason Neue SemiExpanded Bold"/>
                <a:ea typeface="Prachason Neue SemiExpanded Bold"/>
                <a:cs typeface="Prachason Neue SemiExpanded Bold"/>
                <a:sym typeface="Prachason Neue SemiExpanded Bold"/>
              </a:rPr>
              <a:t>,</a:t>
            </a:r>
            <a:r>
              <a:rPr lang="en-US" sz="2000" spc="-20" dirty="0">
                <a:solidFill>
                  <a:srgbClr val="000000"/>
                </a:solidFill>
                <a:latin typeface="Prachason Neue SemiExpanded"/>
                <a:ea typeface="Prachason Neue SemiExpanded"/>
                <a:cs typeface="Prachason Neue SemiExpanded"/>
                <a:sym typeface="Prachason Neue SemiExpanded"/>
              </a:rPr>
              <a:t> who has been in the insurance industry for over 23 years, RMC2 was established with a passion for making a difference. Rosemarie has been exposed to the various needs of the market and decided to create a bridge for Filipinos who are overwhelmed by the process of insurance, making it more accessible and understandable.</a:t>
            </a:r>
          </a:p>
          <a:p>
            <a:pPr algn="just">
              <a:lnSpc>
                <a:spcPts val="2600"/>
              </a:lnSpc>
            </a:pPr>
            <a:endParaRPr lang="en-US" sz="2000" spc="-20" dirty="0">
              <a:solidFill>
                <a:srgbClr val="000000"/>
              </a:solidFill>
              <a:latin typeface="Prachason Neue SemiExpanded"/>
              <a:ea typeface="Prachason Neue SemiExpanded"/>
              <a:cs typeface="Prachason Neue SemiExpanded"/>
              <a:sym typeface="Prachason Neue SemiExpanded"/>
            </a:endParaRPr>
          </a:p>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We specialize in providing affordable, convenient, and reliable HMO, Life, and Non-Life Insurance solutions tailored to meet diverse needs. </a:t>
            </a:r>
          </a:p>
          <a:p>
            <a:pPr algn="just">
              <a:lnSpc>
                <a:spcPts val="2600"/>
              </a:lnSpc>
            </a:pPr>
            <a:endParaRPr lang="en-US" sz="2000" spc="-20" dirty="0">
              <a:solidFill>
                <a:srgbClr val="000000"/>
              </a:solidFill>
              <a:latin typeface="Prachason Neue SemiExpanded"/>
              <a:ea typeface="Prachason Neue SemiExpanded"/>
              <a:cs typeface="Prachason Neue SemiExpanded"/>
              <a:sym typeface="Prachason Neue SemiExpanded"/>
            </a:endParaRPr>
          </a:p>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Our mission is simple: to bridge the gap between people and quality healthcare by offering plans that prioritize accessibility and peace of mind. We understand that navigating insurance options can be overwhelming — that's why we take pride in guiding our clients every step of the way, ensuring clarity, compassion, and personalized service.</a:t>
            </a:r>
          </a:p>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With a commitment to building lasting relationships, RMC2 Consultancy Corp stands as a trusted partner in safeguarding the well-being and future of individuals, families, and businesses alike.</a:t>
            </a:r>
          </a:p>
          <a:p>
            <a:pPr algn="just">
              <a:lnSpc>
                <a:spcPts val="2600"/>
              </a:lnSpc>
            </a:pPr>
            <a:endParaRPr lang="en-US" sz="2000" spc="-20" dirty="0">
              <a:solidFill>
                <a:srgbClr val="000000"/>
              </a:solidFill>
              <a:latin typeface="Prachason Neue SemiExpanded"/>
              <a:ea typeface="Prachason Neue SemiExpanded"/>
              <a:cs typeface="Prachason Neue SemiExpanded"/>
              <a:sym typeface="Prachason Neue SemiExpanded"/>
            </a:endParaRPr>
          </a:p>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Let us help you protect what matters most.</a:t>
            </a:r>
          </a:p>
          <a:p>
            <a:pPr algn="just">
              <a:lnSpc>
                <a:spcPts val="2600"/>
              </a:lnSpc>
            </a:pPr>
            <a:endParaRPr lang="en-US" sz="2000" spc="-20" dirty="0">
              <a:solidFill>
                <a:srgbClr val="000000"/>
              </a:solidFill>
              <a:latin typeface="Prachason Neue SemiExpanded"/>
              <a:ea typeface="Prachason Neue SemiExpanded"/>
              <a:cs typeface="Prachason Neue SemiExpanded"/>
              <a:sym typeface="Prachason Neue SemiExpande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flipH="1">
            <a:off x="8762144" y="4059472"/>
            <a:ext cx="9525856" cy="6227528"/>
          </a:xfrm>
          <a:custGeom>
            <a:avLst/>
            <a:gdLst/>
            <a:ahLst/>
            <a:cxnLst/>
            <a:rect l="l" t="t" r="r" b="b"/>
            <a:pathLst>
              <a:path w="9525856" h="6227528">
                <a:moveTo>
                  <a:pt x="9525856" y="0"/>
                </a:moveTo>
                <a:lnTo>
                  <a:pt x="0" y="0"/>
                </a:lnTo>
                <a:lnTo>
                  <a:pt x="0" y="6227528"/>
                </a:lnTo>
                <a:lnTo>
                  <a:pt x="9525856" y="6227528"/>
                </a:lnTo>
                <a:lnTo>
                  <a:pt x="9525856"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0352105" y="1748133"/>
            <a:ext cx="7160426" cy="7160426"/>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0676294" y="2072322"/>
            <a:ext cx="6512047" cy="6512047"/>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7752" t="-3510" r="-8190" b="-12432"/>
              </a:stretch>
            </a:blipFill>
          </p:spPr>
        </p:sp>
      </p:grpSp>
      <p:sp>
        <p:nvSpPr>
          <p:cNvPr id="9" name="TextBox 9"/>
          <p:cNvSpPr txBox="1"/>
          <p:nvPr/>
        </p:nvSpPr>
        <p:spPr>
          <a:xfrm>
            <a:off x="1028700" y="1295355"/>
            <a:ext cx="6268095" cy="1401535"/>
          </a:xfrm>
          <a:prstGeom prst="rect">
            <a:avLst/>
          </a:prstGeom>
        </p:spPr>
        <p:txBody>
          <a:bodyPr lIns="0" tIns="0" rIns="0" bIns="0" rtlCol="0" anchor="t">
            <a:spAutoFit/>
          </a:bodyPr>
          <a:lstStyle/>
          <a:p>
            <a:pPr algn="ctr">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ABOUT </a:t>
            </a:r>
            <a:r>
              <a:rPr lang="en-US" sz="8196" b="1">
                <a:solidFill>
                  <a:srgbClr val="FF7E2F"/>
                </a:solidFill>
                <a:latin typeface="Anantason SemiExpanded Bold"/>
                <a:ea typeface="Anantason SemiExpanded Bold"/>
                <a:cs typeface="Anantason SemiExpanded Bold"/>
                <a:sym typeface="Anantason SemiExpanded Bold"/>
              </a:rPr>
              <a:t>US</a:t>
            </a:r>
          </a:p>
        </p:txBody>
      </p:sp>
      <p:sp>
        <p:nvSpPr>
          <p:cNvPr id="13" name="TextBox 13"/>
          <p:cNvSpPr txBox="1"/>
          <p:nvPr/>
        </p:nvSpPr>
        <p:spPr>
          <a:xfrm>
            <a:off x="1416942" y="2857500"/>
            <a:ext cx="7209868" cy="6976975"/>
          </a:xfrm>
          <a:prstGeom prst="rect">
            <a:avLst/>
          </a:prstGeom>
        </p:spPr>
        <p:txBody>
          <a:bodyPr lIns="0" tIns="0" rIns="0" bIns="0" rtlCol="0" anchor="t">
            <a:spAutoFit/>
          </a:bodyPr>
          <a:lstStyle/>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 At RMC2, we are dedicated to redefining the insurance experience. We specialize in providing </a:t>
            </a:r>
            <a:r>
              <a:rPr lang="en-US" sz="2000" b="1" spc="-20" dirty="0">
                <a:solidFill>
                  <a:srgbClr val="000000"/>
                </a:solidFill>
                <a:highlight>
                  <a:srgbClr val="F68712"/>
                </a:highlight>
                <a:latin typeface="Prachason Neue SemiExpanded Bold"/>
                <a:ea typeface="Prachason Neue SemiExpanded Bold"/>
                <a:cs typeface="Prachason Neue SemiExpanded Bold"/>
                <a:sym typeface="Prachason Neue SemiExpanded Bold"/>
              </a:rPr>
              <a:t>HMO, Life, and Non-Life Insurance solution</a:t>
            </a:r>
            <a:r>
              <a:rPr lang="en-US" sz="2000" b="1" spc="-20" dirty="0">
                <a:solidFill>
                  <a:srgbClr val="000000"/>
                </a:solidFill>
                <a:latin typeface="Prachason Neue SemiExpanded Bold"/>
                <a:ea typeface="Prachason Neue SemiExpanded Bold"/>
                <a:cs typeface="Prachason Neue SemiExpanded Bold"/>
                <a:sym typeface="Prachason Neue SemiExpanded Bold"/>
              </a:rPr>
              <a:t>s</a:t>
            </a:r>
            <a:r>
              <a:rPr lang="en-US" sz="2000" spc="-20" dirty="0">
                <a:solidFill>
                  <a:srgbClr val="000000"/>
                </a:solidFill>
                <a:latin typeface="Prachason Neue SemiExpanded"/>
                <a:ea typeface="Prachason Neue SemiExpanded"/>
                <a:cs typeface="Prachason Neue SemiExpanded"/>
                <a:sym typeface="Prachason Neue SemiExpanded"/>
              </a:rPr>
              <a:t> that put people first, ensuring that protection isn’t just a privilege but a right for all. Our approach is built on three core principles: </a:t>
            </a:r>
            <a:r>
              <a:rPr lang="en-US" sz="2000" b="1" spc="-20" dirty="0">
                <a:solidFill>
                  <a:srgbClr val="000000"/>
                </a:solidFill>
                <a:highlight>
                  <a:srgbClr val="F68712"/>
                </a:highlight>
                <a:latin typeface="Prachason Neue SemiExpanded Bold"/>
                <a:ea typeface="Prachason Neue SemiExpanded Bold"/>
                <a:cs typeface="Prachason Neue SemiExpanded Bold"/>
                <a:sym typeface="Prachason Neue SemiExpanded Bold"/>
              </a:rPr>
              <a:t>Affordability, Accessibility, and Convenience.</a:t>
            </a:r>
          </a:p>
          <a:p>
            <a:pPr algn="just">
              <a:lnSpc>
                <a:spcPts val="2600"/>
              </a:lnSpc>
            </a:pPr>
            <a:endParaRPr lang="en-US" sz="2000" b="1" spc="-20" dirty="0">
              <a:solidFill>
                <a:srgbClr val="000000"/>
              </a:solidFill>
              <a:latin typeface="Prachason Neue SemiExpanded Bold"/>
              <a:ea typeface="Prachason Neue SemiExpanded Bold"/>
              <a:cs typeface="Prachason Neue SemiExpanded Bold"/>
              <a:sym typeface="Prachason Neue SemiExpanded Bold"/>
            </a:endParaRPr>
          </a:p>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We understand that navigating insurance can feel overwhelming, so we’ve made it our mission to simplify the process. From personalized plans to hassle-free assistance, we’re here every step of the way, helping individuals, families, and businesses secure their future with peace of mind.</a:t>
            </a:r>
          </a:p>
          <a:p>
            <a:pPr algn="just">
              <a:lnSpc>
                <a:spcPts val="2600"/>
              </a:lnSpc>
            </a:pPr>
            <a:endParaRPr lang="en-US" sz="2000" spc="-20" dirty="0">
              <a:solidFill>
                <a:srgbClr val="000000"/>
              </a:solidFill>
              <a:latin typeface="Prachason Neue SemiExpanded"/>
              <a:ea typeface="Prachason Neue SemiExpanded"/>
              <a:cs typeface="Prachason Neue SemiExpanded"/>
              <a:sym typeface="Prachason Neue SemiExpanded"/>
            </a:endParaRPr>
          </a:p>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At the heart of RMC2 is a commitment to building lasting relationships. Whether it’s ensuring quick access to healthcare or offering life protection tailored to your needs, we’re more than just an insurance provider. </a:t>
            </a:r>
          </a:p>
          <a:p>
            <a:pPr algn="just">
              <a:lnSpc>
                <a:spcPts val="2600"/>
              </a:lnSpc>
            </a:pPr>
            <a:endParaRPr lang="en-US" sz="2000" spc="-20" dirty="0">
              <a:solidFill>
                <a:srgbClr val="000000"/>
              </a:solidFill>
              <a:latin typeface="Prachason Neue SemiExpanded"/>
              <a:ea typeface="Prachason Neue SemiExpanded"/>
              <a:cs typeface="Prachason Neue SemiExpanded"/>
              <a:sym typeface="Prachason Neue SemiExpanded"/>
            </a:endParaRPr>
          </a:p>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We are your trusted partner in safeguarding what matters most which is protecting lives and empowering futures.</a:t>
            </a:r>
          </a:p>
          <a:p>
            <a:pPr algn="just">
              <a:lnSpc>
                <a:spcPts val="2600"/>
              </a:lnSpc>
            </a:pPr>
            <a:endParaRPr lang="en-US" sz="2000" spc="-20" dirty="0">
              <a:solidFill>
                <a:srgbClr val="000000"/>
              </a:solidFill>
              <a:latin typeface="Prachason Neue SemiExpanded"/>
              <a:ea typeface="Prachason Neue SemiExpanded"/>
              <a:cs typeface="Prachason Neue SemiExpanded"/>
              <a:sym typeface="Prachason Neue SemiExpande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333" b="-9333"/>
            </a:stretch>
          </a:blipFill>
        </p:spPr>
      </p:sp>
      <p:sp>
        <p:nvSpPr>
          <p:cNvPr id="3" name="Freeform 3"/>
          <p:cNvSpPr/>
          <p:nvPr/>
        </p:nvSpPr>
        <p:spPr>
          <a:xfrm flipV="1">
            <a:off x="4902240" y="5080800"/>
            <a:ext cx="2012485" cy="2037960"/>
          </a:xfrm>
          <a:custGeom>
            <a:avLst/>
            <a:gdLst/>
            <a:ahLst/>
            <a:cxnLst/>
            <a:rect l="l" t="t" r="r" b="b"/>
            <a:pathLst>
              <a:path w="2012485" h="2037960">
                <a:moveTo>
                  <a:pt x="0" y="2037960"/>
                </a:moveTo>
                <a:lnTo>
                  <a:pt x="2012485" y="2037960"/>
                </a:lnTo>
                <a:lnTo>
                  <a:pt x="2012485" y="0"/>
                </a:lnTo>
                <a:lnTo>
                  <a:pt x="0" y="0"/>
                </a:lnTo>
                <a:lnTo>
                  <a:pt x="0" y="203796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5196760" y="5581296"/>
            <a:ext cx="2050052" cy="2050052"/>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5289577" y="5674112"/>
            <a:ext cx="1864419" cy="1864419"/>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t="-1085" b="-1085"/>
              </a:stretch>
            </a:blipFill>
          </p:spPr>
        </p:sp>
      </p:grpSp>
      <p:sp>
        <p:nvSpPr>
          <p:cNvPr id="9" name="Freeform 9"/>
          <p:cNvSpPr/>
          <p:nvPr/>
        </p:nvSpPr>
        <p:spPr>
          <a:xfrm flipV="1">
            <a:off x="9344164" y="5072930"/>
            <a:ext cx="2012485" cy="2037960"/>
          </a:xfrm>
          <a:custGeom>
            <a:avLst/>
            <a:gdLst/>
            <a:ahLst/>
            <a:cxnLst/>
            <a:rect l="l" t="t" r="r" b="b"/>
            <a:pathLst>
              <a:path w="2012485" h="2037960">
                <a:moveTo>
                  <a:pt x="0" y="2037960"/>
                </a:moveTo>
                <a:lnTo>
                  <a:pt x="2012485" y="2037960"/>
                </a:lnTo>
                <a:lnTo>
                  <a:pt x="2012485" y="0"/>
                </a:lnTo>
                <a:lnTo>
                  <a:pt x="0" y="0"/>
                </a:lnTo>
                <a:lnTo>
                  <a:pt x="0" y="203796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0" name="Group 10"/>
          <p:cNvGrpSpPr/>
          <p:nvPr/>
        </p:nvGrpSpPr>
        <p:grpSpPr>
          <a:xfrm>
            <a:off x="9638684" y="5573426"/>
            <a:ext cx="2050052" cy="2050052"/>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9731500" y="5666242"/>
            <a:ext cx="1864419" cy="1864419"/>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7"/>
              <a:stretch>
                <a:fillRect l="-5429" t="-26048" r="-11379" b="-29697"/>
              </a:stretch>
            </a:blipFill>
          </p:spPr>
        </p:sp>
      </p:grpSp>
      <p:grpSp>
        <p:nvGrpSpPr>
          <p:cNvPr id="15" name="Group 15"/>
          <p:cNvGrpSpPr/>
          <p:nvPr/>
        </p:nvGrpSpPr>
        <p:grpSpPr>
          <a:xfrm>
            <a:off x="472209" y="4991084"/>
            <a:ext cx="2846198" cy="4038616"/>
            <a:chOff x="0" y="0"/>
            <a:chExt cx="3794931" cy="5384821"/>
          </a:xfrm>
        </p:grpSpPr>
        <p:sp>
          <p:nvSpPr>
            <p:cNvPr id="16" name="Freeform 16"/>
            <p:cNvSpPr/>
            <p:nvPr/>
          </p:nvSpPr>
          <p:spPr>
            <a:xfrm flipV="1">
              <a:off x="138071" y="0"/>
              <a:ext cx="2683314" cy="2717280"/>
            </a:xfrm>
            <a:custGeom>
              <a:avLst/>
              <a:gdLst/>
              <a:ahLst/>
              <a:cxnLst/>
              <a:rect l="l" t="t" r="r" b="b"/>
              <a:pathLst>
                <a:path w="2683314" h="2717280">
                  <a:moveTo>
                    <a:pt x="0" y="2717280"/>
                  </a:moveTo>
                  <a:lnTo>
                    <a:pt x="2683313" y="2717280"/>
                  </a:lnTo>
                  <a:lnTo>
                    <a:pt x="2683313" y="0"/>
                  </a:lnTo>
                  <a:lnTo>
                    <a:pt x="0" y="0"/>
                  </a:lnTo>
                  <a:lnTo>
                    <a:pt x="0" y="271728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7" name="Group 17"/>
            <p:cNvGrpSpPr/>
            <p:nvPr/>
          </p:nvGrpSpPr>
          <p:grpSpPr>
            <a:xfrm>
              <a:off x="530764" y="667328"/>
              <a:ext cx="2733403" cy="2733403"/>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2660"/>
                  </a:lnSpc>
                </a:pPr>
                <a:endParaRPr/>
              </a:p>
            </p:txBody>
          </p:sp>
        </p:grpSp>
        <p:grpSp>
          <p:nvGrpSpPr>
            <p:cNvPr id="20" name="Group 20"/>
            <p:cNvGrpSpPr/>
            <p:nvPr/>
          </p:nvGrpSpPr>
          <p:grpSpPr>
            <a:xfrm>
              <a:off x="654519" y="791083"/>
              <a:ext cx="2485892" cy="2485892"/>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8"/>
                <a:stretch>
                  <a:fillRect b="-56000"/>
                </a:stretch>
              </a:blipFill>
            </p:spPr>
          </p:sp>
        </p:grpSp>
        <p:sp>
          <p:nvSpPr>
            <p:cNvPr id="22" name="TextBox 22"/>
            <p:cNvSpPr txBox="1"/>
            <p:nvPr/>
          </p:nvSpPr>
          <p:spPr>
            <a:xfrm>
              <a:off x="0" y="4859874"/>
              <a:ext cx="3794931" cy="524947"/>
            </a:xfrm>
            <a:prstGeom prst="rect">
              <a:avLst/>
            </a:prstGeom>
          </p:spPr>
          <p:txBody>
            <a:bodyPr lIns="0" tIns="0" rIns="0" bIns="0" rtlCol="0" anchor="t">
              <a:spAutoFit/>
            </a:bodyPr>
            <a:lstStyle/>
            <a:p>
              <a:pPr algn="ctr">
                <a:lnSpc>
                  <a:spcPts val="3406"/>
                </a:lnSpc>
                <a:spcBef>
                  <a:spcPct val="0"/>
                </a:spcBef>
              </a:pPr>
              <a:r>
                <a:rPr lang="en-US" sz="2433" i="1" dirty="0">
                  <a:solidFill>
                    <a:srgbClr val="010F48"/>
                  </a:solidFill>
                  <a:latin typeface="Open Sans Italics"/>
                  <a:ea typeface="Open Sans Italics"/>
                  <a:cs typeface="Open Sans Italics"/>
                  <a:sym typeface="Open Sans Italics"/>
                </a:rPr>
                <a:t>BOARD OF DIRECTOR</a:t>
              </a:r>
            </a:p>
          </p:txBody>
        </p:sp>
        <p:sp>
          <p:nvSpPr>
            <p:cNvPr id="23" name="TextBox 23"/>
            <p:cNvSpPr txBox="1"/>
            <p:nvPr/>
          </p:nvSpPr>
          <p:spPr>
            <a:xfrm>
              <a:off x="5400" y="3666931"/>
              <a:ext cx="3784130" cy="524946"/>
            </a:xfrm>
            <a:prstGeom prst="rect">
              <a:avLst/>
            </a:prstGeom>
          </p:spPr>
          <p:txBody>
            <a:bodyPr lIns="0" tIns="0" rIns="0" bIns="0" rtlCol="0" anchor="t">
              <a:spAutoFit/>
            </a:bodyPr>
            <a:lstStyle/>
            <a:p>
              <a:pPr algn="ctr">
                <a:lnSpc>
                  <a:spcPts val="3406"/>
                </a:lnSpc>
                <a:spcBef>
                  <a:spcPct val="0"/>
                </a:spcBef>
              </a:pPr>
              <a:r>
                <a:rPr lang="en-US" sz="2433" b="1">
                  <a:solidFill>
                    <a:srgbClr val="010F48"/>
                  </a:solidFill>
                  <a:latin typeface="Open Sans Bold"/>
                  <a:ea typeface="Open Sans Bold"/>
                  <a:cs typeface="Open Sans Bold"/>
                  <a:sym typeface="Open Sans Bold"/>
                </a:rPr>
                <a:t>MICHELLE GUINTO</a:t>
              </a:r>
            </a:p>
          </p:txBody>
        </p:sp>
      </p:grpSp>
      <p:grpSp>
        <p:nvGrpSpPr>
          <p:cNvPr id="24" name="Group 24"/>
          <p:cNvGrpSpPr/>
          <p:nvPr/>
        </p:nvGrpSpPr>
        <p:grpSpPr>
          <a:xfrm>
            <a:off x="13497968" y="5067300"/>
            <a:ext cx="4275682" cy="3898909"/>
            <a:chOff x="0" y="0"/>
            <a:chExt cx="5700909" cy="5198546"/>
          </a:xfrm>
        </p:grpSpPr>
        <p:sp>
          <p:nvSpPr>
            <p:cNvPr id="25" name="Freeform 25"/>
            <p:cNvSpPr/>
            <p:nvPr/>
          </p:nvSpPr>
          <p:spPr>
            <a:xfrm flipV="1">
              <a:off x="949868" y="0"/>
              <a:ext cx="2683314" cy="2717280"/>
            </a:xfrm>
            <a:custGeom>
              <a:avLst/>
              <a:gdLst/>
              <a:ahLst/>
              <a:cxnLst/>
              <a:rect l="l" t="t" r="r" b="b"/>
              <a:pathLst>
                <a:path w="2683314" h="2717280">
                  <a:moveTo>
                    <a:pt x="0" y="2717280"/>
                  </a:moveTo>
                  <a:lnTo>
                    <a:pt x="2683313" y="2717280"/>
                  </a:lnTo>
                  <a:lnTo>
                    <a:pt x="2683313" y="0"/>
                  </a:lnTo>
                  <a:lnTo>
                    <a:pt x="0" y="0"/>
                  </a:lnTo>
                  <a:lnTo>
                    <a:pt x="0" y="271728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26" name="Group 26"/>
            <p:cNvGrpSpPr/>
            <p:nvPr/>
          </p:nvGrpSpPr>
          <p:grpSpPr>
            <a:xfrm>
              <a:off x="1342561" y="667328"/>
              <a:ext cx="2733403" cy="2733403"/>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28" name="TextBox 28"/>
              <p:cNvSpPr txBox="1"/>
              <p:nvPr/>
            </p:nvSpPr>
            <p:spPr>
              <a:xfrm>
                <a:off x="76200" y="38100"/>
                <a:ext cx="660400" cy="698500"/>
              </a:xfrm>
              <a:prstGeom prst="rect">
                <a:avLst/>
              </a:prstGeom>
            </p:spPr>
            <p:txBody>
              <a:bodyPr lIns="50800" tIns="50800" rIns="50800" bIns="50800" rtlCol="0" anchor="ctr"/>
              <a:lstStyle/>
              <a:p>
                <a:pPr algn="ctr">
                  <a:lnSpc>
                    <a:spcPts val="2660"/>
                  </a:lnSpc>
                </a:pPr>
                <a:endParaRPr/>
              </a:p>
            </p:txBody>
          </p:sp>
        </p:grpSp>
        <p:sp>
          <p:nvSpPr>
            <p:cNvPr id="29" name="TextBox 29"/>
            <p:cNvSpPr txBox="1"/>
            <p:nvPr/>
          </p:nvSpPr>
          <p:spPr>
            <a:xfrm>
              <a:off x="952989" y="4673601"/>
              <a:ext cx="3794930" cy="524945"/>
            </a:xfrm>
            <a:prstGeom prst="rect">
              <a:avLst/>
            </a:prstGeom>
          </p:spPr>
          <p:txBody>
            <a:bodyPr lIns="0" tIns="0" rIns="0" bIns="0" rtlCol="0" anchor="t">
              <a:spAutoFit/>
            </a:bodyPr>
            <a:lstStyle/>
            <a:p>
              <a:pPr algn="ctr">
                <a:lnSpc>
                  <a:spcPts val="3406"/>
                </a:lnSpc>
                <a:spcBef>
                  <a:spcPct val="0"/>
                </a:spcBef>
              </a:pPr>
              <a:r>
                <a:rPr lang="en-US" sz="2433" i="1" dirty="0">
                  <a:solidFill>
                    <a:srgbClr val="010F48"/>
                  </a:solidFill>
                  <a:latin typeface="Open Sans Italics"/>
                  <a:ea typeface="Open Sans Italics"/>
                  <a:cs typeface="Open Sans Italics"/>
                  <a:sym typeface="Open Sans Italics"/>
                </a:rPr>
                <a:t>BOARD OF DIRECTOR</a:t>
              </a:r>
            </a:p>
          </p:txBody>
        </p:sp>
        <p:sp>
          <p:nvSpPr>
            <p:cNvPr id="30" name="TextBox 30"/>
            <p:cNvSpPr txBox="1"/>
            <p:nvPr/>
          </p:nvSpPr>
          <p:spPr>
            <a:xfrm>
              <a:off x="0" y="3557803"/>
              <a:ext cx="5700909" cy="524946"/>
            </a:xfrm>
            <a:prstGeom prst="rect">
              <a:avLst/>
            </a:prstGeom>
          </p:spPr>
          <p:txBody>
            <a:bodyPr lIns="0" tIns="0" rIns="0" bIns="0" rtlCol="0" anchor="t">
              <a:spAutoFit/>
            </a:bodyPr>
            <a:lstStyle/>
            <a:p>
              <a:pPr algn="ctr">
                <a:lnSpc>
                  <a:spcPts val="3406"/>
                </a:lnSpc>
                <a:spcBef>
                  <a:spcPct val="0"/>
                </a:spcBef>
              </a:pPr>
              <a:r>
                <a:rPr lang="en-US" sz="2433" b="1">
                  <a:solidFill>
                    <a:srgbClr val="010F48"/>
                  </a:solidFill>
                  <a:latin typeface="Open Sans Bold"/>
                  <a:ea typeface="Open Sans Bold"/>
                  <a:cs typeface="Open Sans Bold"/>
                  <a:sym typeface="Open Sans Bold"/>
                </a:rPr>
                <a:t>CHARLES MARK UYBENGKEE</a:t>
              </a:r>
            </a:p>
          </p:txBody>
        </p:sp>
        <p:grpSp>
          <p:nvGrpSpPr>
            <p:cNvPr id="31" name="Group 31"/>
            <p:cNvGrpSpPr/>
            <p:nvPr/>
          </p:nvGrpSpPr>
          <p:grpSpPr>
            <a:xfrm>
              <a:off x="1501182" y="823351"/>
              <a:ext cx="2400370" cy="2400370"/>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9"/>
                <a:stretch>
                  <a:fillRect l="-88723" t="-19589" r="-104326" b="-309789"/>
                </a:stretch>
              </a:blipFill>
            </p:spPr>
          </p:sp>
        </p:grpSp>
      </p:grpSp>
      <p:grpSp>
        <p:nvGrpSpPr>
          <p:cNvPr id="33" name="Group 33"/>
          <p:cNvGrpSpPr/>
          <p:nvPr/>
        </p:nvGrpSpPr>
        <p:grpSpPr>
          <a:xfrm>
            <a:off x="6024399" y="2012393"/>
            <a:ext cx="2344572" cy="2550548"/>
            <a:chOff x="0" y="0"/>
            <a:chExt cx="3126096" cy="3400730"/>
          </a:xfrm>
        </p:grpSpPr>
        <p:sp>
          <p:nvSpPr>
            <p:cNvPr id="34" name="Freeform 34"/>
            <p:cNvSpPr/>
            <p:nvPr/>
          </p:nvSpPr>
          <p:spPr>
            <a:xfrm flipV="1">
              <a:off x="0" y="0"/>
              <a:ext cx="2683314" cy="2717280"/>
            </a:xfrm>
            <a:custGeom>
              <a:avLst/>
              <a:gdLst/>
              <a:ahLst/>
              <a:cxnLst/>
              <a:rect l="l" t="t" r="r" b="b"/>
              <a:pathLst>
                <a:path w="2683314" h="2717280">
                  <a:moveTo>
                    <a:pt x="0" y="2717280"/>
                  </a:moveTo>
                  <a:lnTo>
                    <a:pt x="2683314" y="2717280"/>
                  </a:lnTo>
                  <a:lnTo>
                    <a:pt x="2683314" y="0"/>
                  </a:lnTo>
                  <a:lnTo>
                    <a:pt x="0" y="0"/>
                  </a:lnTo>
                  <a:lnTo>
                    <a:pt x="0" y="271728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35" name="Group 35"/>
            <p:cNvGrpSpPr/>
            <p:nvPr/>
          </p:nvGrpSpPr>
          <p:grpSpPr>
            <a:xfrm>
              <a:off x="392693" y="667328"/>
              <a:ext cx="2733403" cy="2733403"/>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37" name="TextBox 37"/>
              <p:cNvSpPr txBox="1"/>
              <p:nvPr/>
            </p:nvSpPr>
            <p:spPr>
              <a:xfrm>
                <a:off x="76200" y="38100"/>
                <a:ext cx="660400" cy="698500"/>
              </a:xfrm>
              <a:prstGeom prst="rect">
                <a:avLst/>
              </a:prstGeom>
            </p:spPr>
            <p:txBody>
              <a:bodyPr lIns="50800" tIns="50800" rIns="50800" bIns="50800" rtlCol="0" anchor="ctr"/>
              <a:lstStyle/>
              <a:p>
                <a:pPr algn="ctr">
                  <a:lnSpc>
                    <a:spcPts val="2660"/>
                  </a:lnSpc>
                </a:pPr>
                <a:endParaRPr/>
              </a:p>
            </p:txBody>
          </p:sp>
        </p:grpSp>
        <p:grpSp>
          <p:nvGrpSpPr>
            <p:cNvPr id="38" name="Group 38"/>
            <p:cNvGrpSpPr/>
            <p:nvPr/>
          </p:nvGrpSpPr>
          <p:grpSpPr>
            <a:xfrm>
              <a:off x="516448" y="791083"/>
              <a:ext cx="2485892" cy="2485892"/>
              <a:chOff x="0" y="0"/>
              <a:chExt cx="812800" cy="812800"/>
            </a:xfrm>
          </p:grpSpPr>
          <p:sp>
            <p:nvSpPr>
              <p:cNvPr id="39" name="Freeform 3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2700">
                <a:solidFill>
                  <a:srgbClr val="000000"/>
                </a:solidFill>
              </a:ln>
            </p:spPr>
          </p:sp>
        </p:grpSp>
        <p:grpSp>
          <p:nvGrpSpPr>
            <p:cNvPr id="40" name="Group 40"/>
            <p:cNvGrpSpPr/>
            <p:nvPr/>
          </p:nvGrpSpPr>
          <p:grpSpPr>
            <a:xfrm>
              <a:off x="516448" y="791083"/>
              <a:ext cx="2485892" cy="2485892"/>
              <a:chOff x="0" y="0"/>
              <a:chExt cx="812800" cy="812800"/>
            </a:xfrm>
          </p:grpSpPr>
          <p:sp>
            <p:nvSpPr>
              <p:cNvPr id="41" name="Freeform 4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0"/>
                <a:stretch>
                  <a:fillRect t="-6149" b="-22421"/>
                </a:stretch>
              </a:blipFill>
            </p:spPr>
          </p:sp>
        </p:grpSp>
      </p:grpSp>
      <p:sp>
        <p:nvSpPr>
          <p:cNvPr id="42" name="TextBox 42"/>
          <p:cNvSpPr txBox="1"/>
          <p:nvPr/>
        </p:nvSpPr>
        <p:spPr>
          <a:xfrm>
            <a:off x="4398009" y="354818"/>
            <a:ext cx="9491981" cy="1143226"/>
          </a:xfrm>
          <a:prstGeom prst="rect">
            <a:avLst/>
          </a:prstGeom>
        </p:spPr>
        <p:txBody>
          <a:bodyPr lIns="0" tIns="0" rIns="0" bIns="0" rtlCol="0" anchor="t">
            <a:spAutoFit/>
          </a:bodyPr>
          <a:lstStyle/>
          <a:p>
            <a:pPr algn="ctr">
              <a:lnSpc>
                <a:spcPts val="9437"/>
              </a:lnSpc>
              <a:spcBef>
                <a:spcPct val="0"/>
              </a:spcBef>
            </a:pPr>
            <a:r>
              <a:rPr lang="en-US" sz="6741" b="1">
                <a:solidFill>
                  <a:srgbClr val="010F48"/>
                </a:solidFill>
                <a:latin typeface="Anantason SemiExpanded Bold"/>
                <a:ea typeface="Anantason SemiExpanded Bold"/>
                <a:cs typeface="Anantason SemiExpanded Bold"/>
                <a:sym typeface="Anantason SemiExpanded Bold"/>
              </a:rPr>
              <a:t>THE MANAGEMENT</a:t>
            </a:r>
          </a:p>
        </p:txBody>
      </p:sp>
      <p:sp>
        <p:nvSpPr>
          <p:cNvPr id="43" name="TextBox 43"/>
          <p:cNvSpPr txBox="1"/>
          <p:nvPr/>
        </p:nvSpPr>
        <p:spPr>
          <a:xfrm>
            <a:off x="9277292" y="3872156"/>
            <a:ext cx="2411444" cy="403235"/>
          </a:xfrm>
          <a:prstGeom prst="rect">
            <a:avLst/>
          </a:prstGeom>
        </p:spPr>
        <p:txBody>
          <a:bodyPr lIns="0" tIns="0" rIns="0" bIns="0" rtlCol="0" anchor="t">
            <a:spAutoFit/>
          </a:bodyPr>
          <a:lstStyle/>
          <a:p>
            <a:pPr algn="ctr">
              <a:lnSpc>
                <a:spcPts val="3406"/>
              </a:lnSpc>
              <a:spcBef>
                <a:spcPct val="0"/>
              </a:spcBef>
            </a:pPr>
            <a:r>
              <a:rPr lang="en-US" sz="2433" i="1" dirty="0">
                <a:solidFill>
                  <a:srgbClr val="010F48"/>
                </a:solidFill>
                <a:latin typeface="Open Sans Italics"/>
                <a:ea typeface="Open Sans Italics"/>
                <a:cs typeface="Open Sans Italics"/>
                <a:sym typeface="Open Sans Italics"/>
              </a:rPr>
              <a:t>PRESIDENT &amp; CEO</a:t>
            </a:r>
          </a:p>
        </p:txBody>
      </p:sp>
      <p:sp>
        <p:nvSpPr>
          <p:cNvPr id="44" name="TextBox 44"/>
          <p:cNvSpPr txBox="1"/>
          <p:nvPr/>
        </p:nvSpPr>
        <p:spPr>
          <a:xfrm>
            <a:off x="8735756" y="2993273"/>
            <a:ext cx="3700172" cy="403235"/>
          </a:xfrm>
          <a:prstGeom prst="rect">
            <a:avLst/>
          </a:prstGeom>
        </p:spPr>
        <p:txBody>
          <a:bodyPr lIns="0" tIns="0" rIns="0" bIns="0" rtlCol="0" anchor="t">
            <a:spAutoFit/>
          </a:bodyPr>
          <a:lstStyle/>
          <a:p>
            <a:pPr algn="ctr">
              <a:lnSpc>
                <a:spcPts val="3406"/>
              </a:lnSpc>
              <a:spcBef>
                <a:spcPct val="0"/>
              </a:spcBef>
            </a:pPr>
            <a:r>
              <a:rPr lang="en-US" sz="2433" b="1">
                <a:solidFill>
                  <a:srgbClr val="010F48"/>
                </a:solidFill>
                <a:latin typeface="Open Sans Bold"/>
                <a:ea typeface="Open Sans Bold"/>
                <a:cs typeface="Open Sans Bold"/>
                <a:sym typeface="Open Sans Bold"/>
              </a:rPr>
              <a:t>ROSEMARIE FERNANDEZ</a:t>
            </a:r>
          </a:p>
        </p:txBody>
      </p:sp>
      <p:sp>
        <p:nvSpPr>
          <p:cNvPr id="45" name="TextBox 45"/>
          <p:cNvSpPr txBox="1"/>
          <p:nvPr/>
        </p:nvSpPr>
        <p:spPr>
          <a:xfrm>
            <a:off x="4904581" y="8626465"/>
            <a:ext cx="2846198" cy="403235"/>
          </a:xfrm>
          <a:prstGeom prst="rect">
            <a:avLst/>
          </a:prstGeom>
        </p:spPr>
        <p:txBody>
          <a:bodyPr lIns="0" tIns="0" rIns="0" bIns="0" rtlCol="0" anchor="t">
            <a:spAutoFit/>
          </a:bodyPr>
          <a:lstStyle/>
          <a:p>
            <a:pPr algn="ctr">
              <a:lnSpc>
                <a:spcPts val="3406"/>
              </a:lnSpc>
              <a:spcBef>
                <a:spcPct val="0"/>
              </a:spcBef>
            </a:pPr>
            <a:r>
              <a:rPr lang="en-US" sz="2433" i="1" dirty="0">
                <a:solidFill>
                  <a:srgbClr val="010F48"/>
                </a:solidFill>
                <a:latin typeface="Open Sans Italics"/>
                <a:ea typeface="Open Sans Italics"/>
                <a:cs typeface="Open Sans Italics"/>
                <a:sym typeface="Open Sans Italics"/>
              </a:rPr>
              <a:t>BOARD OF DIRECTOR</a:t>
            </a:r>
          </a:p>
        </p:txBody>
      </p:sp>
      <p:sp>
        <p:nvSpPr>
          <p:cNvPr id="46" name="TextBox 46"/>
          <p:cNvSpPr txBox="1"/>
          <p:nvPr/>
        </p:nvSpPr>
        <p:spPr>
          <a:xfrm>
            <a:off x="5095131" y="7739627"/>
            <a:ext cx="2465098" cy="403235"/>
          </a:xfrm>
          <a:prstGeom prst="rect">
            <a:avLst/>
          </a:prstGeom>
        </p:spPr>
        <p:txBody>
          <a:bodyPr lIns="0" tIns="0" rIns="0" bIns="0" rtlCol="0" anchor="t">
            <a:spAutoFit/>
          </a:bodyPr>
          <a:lstStyle/>
          <a:p>
            <a:pPr algn="ctr">
              <a:lnSpc>
                <a:spcPts val="3406"/>
              </a:lnSpc>
              <a:spcBef>
                <a:spcPct val="0"/>
              </a:spcBef>
            </a:pPr>
            <a:r>
              <a:rPr lang="en-US" sz="2433" b="1" dirty="0">
                <a:solidFill>
                  <a:srgbClr val="010F48"/>
                </a:solidFill>
                <a:latin typeface="Open Sans Bold"/>
                <a:ea typeface="Open Sans Bold"/>
                <a:cs typeface="Open Sans Bold"/>
                <a:sym typeface="Open Sans Bold"/>
              </a:rPr>
              <a:t>CHERRY CORTEZ</a:t>
            </a:r>
          </a:p>
        </p:txBody>
      </p:sp>
      <p:sp>
        <p:nvSpPr>
          <p:cNvPr id="47" name="TextBox 47"/>
          <p:cNvSpPr txBox="1"/>
          <p:nvPr/>
        </p:nvSpPr>
        <p:spPr>
          <a:xfrm>
            <a:off x="9416045" y="8626465"/>
            <a:ext cx="2846198" cy="403235"/>
          </a:xfrm>
          <a:prstGeom prst="rect">
            <a:avLst/>
          </a:prstGeom>
        </p:spPr>
        <p:txBody>
          <a:bodyPr lIns="0" tIns="0" rIns="0" bIns="0" rtlCol="0" anchor="t">
            <a:spAutoFit/>
          </a:bodyPr>
          <a:lstStyle/>
          <a:p>
            <a:pPr algn="ctr">
              <a:lnSpc>
                <a:spcPts val="3406"/>
              </a:lnSpc>
              <a:spcBef>
                <a:spcPct val="0"/>
              </a:spcBef>
            </a:pPr>
            <a:r>
              <a:rPr lang="en-US" sz="2433" i="1" dirty="0">
                <a:solidFill>
                  <a:srgbClr val="010F48"/>
                </a:solidFill>
                <a:latin typeface="Open Sans Italics"/>
                <a:ea typeface="Open Sans Italics"/>
                <a:cs typeface="Open Sans Italics"/>
                <a:sym typeface="Open Sans Italics"/>
              </a:rPr>
              <a:t>BOARD OF DIRECTOR</a:t>
            </a:r>
          </a:p>
        </p:txBody>
      </p:sp>
      <p:sp>
        <p:nvSpPr>
          <p:cNvPr id="48" name="TextBox 48"/>
          <p:cNvSpPr txBox="1"/>
          <p:nvPr/>
        </p:nvSpPr>
        <p:spPr>
          <a:xfrm>
            <a:off x="8708546" y="7731757"/>
            <a:ext cx="4261197" cy="403235"/>
          </a:xfrm>
          <a:prstGeom prst="rect">
            <a:avLst/>
          </a:prstGeom>
        </p:spPr>
        <p:txBody>
          <a:bodyPr lIns="0" tIns="0" rIns="0" bIns="0" rtlCol="0" anchor="t">
            <a:spAutoFit/>
          </a:bodyPr>
          <a:lstStyle/>
          <a:p>
            <a:pPr algn="ctr">
              <a:lnSpc>
                <a:spcPts val="3406"/>
              </a:lnSpc>
              <a:spcBef>
                <a:spcPct val="0"/>
              </a:spcBef>
            </a:pPr>
            <a:r>
              <a:rPr lang="en-US" sz="2433" b="1">
                <a:solidFill>
                  <a:srgbClr val="010F48"/>
                </a:solidFill>
                <a:latin typeface="Open Sans Bold"/>
                <a:ea typeface="Open Sans Bold"/>
                <a:cs typeface="Open Sans Bold"/>
                <a:sym typeface="Open Sans Bold"/>
              </a:rPr>
              <a:t>CLEMENT DOLF FERNANDEZ</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fade">
                                      <p:cBhvr>
                                        <p:cTn id="10" dur="500"/>
                                        <p:tgtEl>
                                          <p:spTgt spid="4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3"/>
                                        </p:tgtEl>
                                        <p:attrNameLst>
                                          <p:attrName>style.visibility</p:attrName>
                                        </p:attrNameLst>
                                      </p:cBhvr>
                                      <p:to>
                                        <p:strVal val="visible"/>
                                      </p:to>
                                    </p:set>
                                    <p:animEffect transition="in" filter="fade">
                                      <p:cBhvr>
                                        <p:cTn id="13" dur="500"/>
                                        <p:tgtEl>
                                          <p:spTgt spid="4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500"/>
                                        <p:tgtEl>
                                          <p:spTgt spid="3"/>
                                        </p:tgtEl>
                                      </p:cBhvr>
                                    </p:animEffect>
                                  </p:childTnLst>
                                </p:cTn>
                              </p:par>
                              <p:par>
                                <p:cTn id="24" presetID="10" presetClass="entr" presetSubtype="0" fill="hold" nodeType="with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500"/>
                                        <p:tgtEl>
                                          <p:spTgt spid="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6"/>
                                        </p:tgtEl>
                                        <p:attrNameLst>
                                          <p:attrName>style.visibility</p:attrName>
                                        </p:attrNameLst>
                                      </p:cBhvr>
                                      <p:to>
                                        <p:strVal val="visible"/>
                                      </p:to>
                                    </p:set>
                                    <p:animEffect transition="in" filter="fade">
                                      <p:cBhvr>
                                        <p:cTn id="29" dur="500"/>
                                        <p:tgtEl>
                                          <p:spTgt spid="4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5"/>
                                        </p:tgtEl>
                                        <p:attrNameLst>
                                          <p:attrName>style.visibility</p:attrName>
                                        </p:attrNameLst>
                                      </p:cBhvr>
                                      <p:to>
                                        <p:strVal val="visible"/>
                                      </p:to>
                                    </p:set>
                                    <p:animEffect transition="in" filter="fade">
                                      <p:cBhvr>
                                        <p:cTn id="32" dur="500"/>
                                        <p:tgtEl>
                                          <p:spTgt spid="45"/>
                                        </p:tgtEl>
                                      </p:cBhvr>
                                    </p:animEffect>
                                  </p:childTnLst>
                                </p:cTn>
                              </p:par>
                              <p:par>
                                <p:cTn id="33" presetID="10" presetClass="entr" presetSubtype="0" fill="hold" nodeType="with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500"/>
                                        <p:tgtEl>
                                          <p:spTgt spid="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500"/>
                                        <p:tgtEl>
                                          <p:spTgt spid="9"/>
                                        </p:tgtEl>
                                      </p:cBhvr>
                                    </p:animEffect>
                                  </p:childTnLst>
                                </p:cTn>
                              </p:par>
                            </p:childTnLst>
                          </p:cTn>
                        </p:par>
                        <p:par>
                          <p:cTn id="41" fill="hold">
                            <p:stCondLst>
                              <p:cond delay="500"/>
                            </p:stCondLst>
                            <p:childTnLst>
                              <p:par>
                                <p:cTn id="42" presetID="10" presetClass="entr" presetSubtype="0" fill="hold" nodeType="after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500"/>
                                        <p:tgtEl>
                                          <p:spTgt spid="10"/>
                                        </p:tgtEl>
                                      </p:cBhvr>
                                    </p:animEffect>
                                  </p:childTnLst>
                                </p:cTn>
                              </p:par>
                              <p:par>
                                <p:cTn id="45" presetID="10" presetClass="entr" presetSubtype="0" fill="hold"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8"/>
                                        </p:tgtEl>
                                        <p:attrNameLst>
                                          <p:attrName>style.visibility</p:attrName>
                                        </p:attrNameLst>
                                      </p:cBhvr>
                                      <p:to>
                                        <p:strVal val="visible"/>
                                      </p:to>
                                    </p:set>
                                    <p:animEffect transition="in" filter="fade">
                                      <p:cBhvr>
                                        <p:cTn id="50" dur="500"/>
                                        <p:tgtEl>
                                          <p:spTgt spid="4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7"/>
                                        </p:tgtEl>
                                        <p:attrNameLst>
                                          <p:attrName>style.visibility</p:attrName>
                                        </p:attrNameLst>
                                      </p:cBhvr>
                                      <p:to>
                                        <p:strVal val="visible"/>
                                      </p:to>
                                    </p:set>
                                    <p:animEffect transition="in" filter="fade">
                                      <p:cBhvr>
                                        <p:cTn id="53" dur="500"/>
                                        <p:tgtEl>
                                          <p:spTgt spid="47"/>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p:bldP spid="45" grpId="0"/>
      <p:bldP spid="46" grpId="0"/>
      <p:bldP spid="47" grpId="0"/>
      <p:bldP spid="4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flipH="1">
            <a:off x="11422802" y="6182872"/>
            <a:ext cx="6995650" cy="7687527"/>
          </a:xfrm>
          <a:custGeom>
            <a:avLst/>
            <a:gdLst/>
            <a:ahLst/>
            <a:cxnLst/>
            <a:rect l="l" t="t" r="r" b="b"/>
            <a:pathLst>
              <a:path w="6995650" h="7687527">
                <a:moveTo>
                  <a:pt x="6995650" y="0"/>
                </a:moveTo>
                <a:lnTo>
                  <a:pt x="0" y="0"/>
                </a:lnTo>
                <a:lnTo>
                  <a:pt x="0" y="7687527"/>
                </a:lnTo>
                <a:lnTo>
                  <a:pt x="6995650" y="7687527"/>
                </a:lnTo>
                <a:lnTo>
                  <a:pt x="699565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0080249" y="1748133"/>
            <a:ext cx="7160426" cy="7160426"/>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0404438" y="2072322"/>
            <a:ext cx="6512047" cy="6512047"/>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9224" t="-2049" r="-8785" b="-15959"/>
              </a:stretch>
            </a:blipFill>
          </p:spPr>
        </p:sp>
      </p:grpSp>
      <p:sp>
        <p:nvSpPr>
          <p:cNvPr id="9" name="TextBox 9"/>
          <p:cNvSpPr txBox="1"/>
          <p:nvPr/>
        </p:nvSpPr>
        <p:spPr>
          <a:xfrm>
            <a:off x="1040026" y="1541941"/>
            <a:ext cx="5145167"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VISION</a:t>
            </a:r>
          </a:p>
        </p:txBody>
      </p:sp>
      <p:sp>
        <p:nvSpPr>
          <p:cNvPr id="10" name="TextBox 10"/>
          <p:cNvSpPr txBox="1"/>
          <p:nvPr/>
        </p:nvSpPr>
        <p:spPr>
          <a:xfrm>
            <a:off x="1040026" y="2575493"/>
            <a:ext cx="6441805" cy="1401535"/>
          </a:xfrm>
          <a:prstGeom prst="rect">
            <a:avLst/>
          </a:prstGeom>
        </p:spPr>
        <p:txBody>
          <a:bodyPr lIns="0" tIns="0" rIns="0" bIns="0" rtlCol="0" anchor="t">
            <a:spAutoFit/>
          </a:bodyPr>
          <a:lstStyle/>
          <a:p>
            <a:pPr algn="l">
              <a:lnSpc>
                <a:spcPts val="11475"/>
              </a:lnSpc>
              <a:spcBef>
                <a:spcPct val="0"/>
              </a:spcBef>
            </a:pPr>
            <a:r>
              <a:rPr lang="en-US" sz="8196" b="1">
                <a:solidFill>
                  <a:srgbClr val="FF7E2F"/>
                </a:solidFill>
                <a:latin typeface="Anantason SemiExpanded Bold"/>
                <a:ea typeface="Anantason SemiExpanded Bold"/>
                <a:cs typeface="Anantason SemiExpanded Bold"/>
                <a:sym typeface="Anantason SemiExpanded Bold"/>
              </a:rPr>
              <a:t>&amp; MISSION</a:t>
            </a:r>
          </a:p>
        </p:txBody>
      </p:sp>
      <p:sp>
        <p:nvSpPr>
          <p:cNvPr id="11" name="TextBox 11"/>
          <p:cNvSpPr txBox="1"/>
          <p:nvPr/>
        </p:nvSpPr>
        <p:spPr>
          <a:xfrm>
            <a:off x="1028700" y="4252003"/>
            <a:ext cx="8115300" cy="1815503"/>
          </a:xfrm>
          <a:prstGeom prst="rect">
            <a:avLst/>
          </a:prstGeom>
        </p:spPr>
        <p:txBody>
          <a:bodyPr lIns="0" tIns="0" rIns="0" bIns="0" rtlCol="0" anchor="t">
            <a:spAutoFit/>
          </a:bodyPr>
          <a:lstStyle/>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 </a:t>
            </a:r>
            <a:r>
              <a:rPr lang="en-US" sz="2547" b="1" spc="-25" dirty="0">
                <a:solidFill>
                  <a:srgbClr val="000000"/>
                </a:solidFill>
                <a:latin typeface="Prachason Neue SemiExpanded Bold"/>
                <a:ea typeface="Prachason Neue SemiExpanded Bold"/>
                <a:cs typeface="Prachason Neue SemiExpanded Bold"/>
                <a:sym typeface="Prachason Neue SemiExpanded Bold"/>
              </a:rPr>
              <a:t>V &gt;</a:t>
            </a:r>
            <a:r>
              <a:rPr lang="en-US" sz="2547" spc="-25" dirty="0">
                <a:solidFill>
                  <a:srgbClr val="000000"/>
                </a:solidFill>
                <a:latin typeface="Prachason Neue SemiExpanded"/>
                <a:ea typeface="Prachason Neue SemiExpanded"/>
                <a:cs typeface="Prachason Neue SemiExpanded"/>
                <a:sym typeface="Prachason Neue SemiExpanded"/>
              </a:rPr>
              <a:t> To break barriers where quality health and life protection is within everyone’s reach, ensuring affordability and accessibility for all.</a:t>
            </a:r>
          </a:p>
          <a:p>
            <a:pPr algn="just">
              <a:lnSpc>
                <a:spcPts val="3311"/>
              </a:lnSpc>
            </a:pPr>
            <a:endParaRPr lang="en-US" sz="2547" spc="-25" dirty="0">
              <a:solidFill>
                <a:srgbClr val="000000"/>
              </a:solidFill>
              <a:latin typeface="Prachason Neue SemiExpanded"/>
              <a:ea typeface="Prachason Neue SemiExpanded"/>
              <a:cs typeface="Prachason Neue SemiExpanded"/>
              <a:sym typeface="Prachason Neue SemiExpanded"/>
            </a:endParaRPr>
          </a:p>
        </p:txBody>
      </p:sp>
      <p:sp>
        <p:nvSpPr>
          <p:cNvPr id="12" name="TextBox 12"/>
          <p:cNvSpPr txBox="1"/>
          <p:nvPr/>
        </p:nvSpPr>
        <p:spPr>
          <a:xfrm>
            <a:off x="1028700" y="6343731"/>
            <a:ext cx="8115300" cy="1815503"/>
          </a:xfrm>
          <a:prstGeom prst="rect">
            <a:avLst/>
          </a:prstGeom>
        </p:spPr>
        <p:txBody>
          <a:bodyPr lIns="0" tIns="0" rIns="0" bIns="0" rtlCol="0" anchor="t">
            <a:spAutoFit/>
          </a:bodyPr>
          <a:lstStyle/>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 </a:t>
            </a:r>
            <a:r>
              <a:rPr lang="en-US" sz="2547" b="1" spc="-25" dirty="0">
                <a:solidFill>
                  <a:srgbClr val="000000"/>
                </a:solidFill>
                <a:latin typeface="Prachason Neue SemiExpanded Bold"/>
                <a:ea typeface="Prachason Neue SemiExpanded Bold"/>
                <a:cs typeface="Prachason Neue SemiExpanded Bold"/>
                <a:sym typeface="Prachason Neue SemiExpanded Bold"/>
              </a:rPr>
              <a:t>M &gt;</a:t>
            </a:r>
            <a:r>
              <a:rPr lang="en-US" sz="2547" spc="-25" dirty="0">
                <a:solidFill>
                  <a:srgbClr val="000000"/>
                </a:solidFill>
                <a:latin typeface="Prachason Neue SemiExpanded"/>
                <a:ea typeface="Prachason Neue SemiExpanded"/>
                <a:cs typeface="Prachason Neue SemiExpanded"/>
                <a:sym typeface="Prachason Neue SemiExpanded"/>
              </a:rPr>
              <a:t> To safeguard lives by delivering affordable and accessible HMO, Life, Non-Life Insurance solutions, ensuring everyone has the security and care they deserve.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flipH="1" flipV="1">
            <a:off x="10953348" y="-1930340"/>
            <a:ext cx="10290481" cy="6727402"/>
          </a:xfrm>
          <a:custGeom>
            <a:avLst/>
            <a:gdLst/>
            <a:ahLst/>
            <a:cxnLst/>
            <a:rect l="l" t="t" r="r" b="b"/>
            <a:pathLst>
              <a:path w="10290481" h="6727402">
                <a:moveTo>
                  <a:pt x="10290481" y="6727402"/>
                </a:moveTo>
                <a:lnTo>
                  <a:pt x="0" y="6727402"/>
                </a:lnTo>
                <a:lnTo>
                  <a:pt x="0" y="0"/>
                </a:lnTo>
                <a:lnTo>
                  <a:pt x="10290481" y="0"/>
                </a:lnTo>
                <a:lnTo>
                  <a:pt x="10290481" y="6727402"/>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1186301" y="701934"/>
            <a:ext cx="5405998" cy="5405998"/>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1526122" y="1041755"/>
            <a:ext cx="4726355" cy="472635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4685" r="-5563" b="-10249"/>
              </a:stretch>
            </a:blipFill>
          </p:spPr>
        </p:sp>
      </p:grpSp>
      <p:sp>
        <p:nvSpPr>
          <p:cNvPr id="9" name="Freeform 9"/>
          <p:cNvSpPr/>
          <p:nvPr/>
        </p:nvSpPr>
        <p:spPr>
          <a:xfrm>
            <a:off x="922132" y="4476837"/>
            <a:ext cx="2328572" cy="1847333"/>
          </a:xfrm>
          <a:custGeom>
            <a:avLst/>
            <a:gdLst/>
            <a:ahLst/>
            <a:cxnLst/>
            <a:rect l="l" t="t" r="r" b="b"/>
            <a:pathLst>
              <a:path w="2328572" h="1847333">
                <a:moveTo>
                  <a:pt x="0" y="0"/>
                </a:moveTo>
                <a:lnTo>
                  <a:pt x="2328572" y="0"/>
                </a:lnTo>
                <a:lnTo>
                  <a:pt x="2328572" y="1847333"/>
                </a:lnTo>
                <a:lnTo>
                  <a:pt x="0" y="1847333"/>
                </a:lnTo>
                <a:lnTo>
                  <a:pt x="0" y="0"/>
                </a:lnTo>
                <a:close/>
              </a:path>
            </a:pathLst>
          </a:custGeom>
          <a:blipFill>
            <a:blip r:embed="rId6"/>
            <a:stretch>
              <a:fillRect/>
            </a:stretch>
          </a:blipFill>
        </p:spPr>
      </p:sp>
      <p:sp>
        <p:nvSpPr>
          <p:cNvPr id="10" name="Freeform 10"/>
          <p:cNvSpPr/>
          <p:nvPr/>
        </p:nvSpPr>
        <p:spPr>
          <a:xfrm>
            <a:off x="3856604" y="4602436"/>
            <a:ext cx="4266437" cy="1847669"/>
          </a:xfrm>
          <a:custGeom>
            <a:avLst/>
            <a:gdLst/>
            <a:ahLst/>
            <a:cxnLst/>
            <a:rect l="l" t="t" r="r" b="b"/>
            <a:pathLst>
              <a:path w="4266437" h="1847669">
                <a:moveTo>
                  <a:pt x="0" y="0"/>
                </a:moveTo>
                <a:lnTo>
                  <a:pt x="4266437" y="0"/>
                </a:lnTo>
                <a:lnTo>
                  <a:pt x="4266437" y="1847670"/>
                </a:lnTo>
                <a:lnTo>
                  <a:pt x="0" y="1847670"/>
                </a:lnTo>
                <a:lnTo>
                  <a:pt x="0" y="0"/>
                </a:lnTo>
                <a:close/>
              </a:path>
            </a:pathLst>
          </a:custGeom>
          <a:blipFill>
            <a:blip r:embed="rId7"/>
            <a:stretch>
              <a:fillRect/>
            </a:stretch>
          </a:blipFill>
        </p:spPr>
      </p:sp>
      <p:sp>
        <p:nvSpPr>
          <p:cNvPr id="11" name="Freeform 11"/>
          <p:cNvSpPr/>
          <p:nvPr/>
        </p:nvSpPr>
        <p:spPr>
          <a:xfrm>
            <a:off x="539863" y="6800420"/>
            <a:ext cx="4583275" cy="1333805"/>
          </a:xfrm>
          <a:custGeom>
            <a:avLst/>
            <a:gdLst/>
            <a:ahLst/>
            <a:cxnLst/>
            <a:rect l="l" t="t" r="r" b="b"/>
            <a:pathLst>
              <a:path w="4583275" h="1333805">
                <a:moveTo>
                  <a:pt x="0" y="0"/>
                </a:moveTo>
                <a:lnTo>
                  <a:pt x="4583275" y="0"/>
                </a:lnTo>
                <a:lnTo>
                  <a:pt x="4583275" y="1333805"/>
                </a:lnTo>
                <a:lnTo>
                  <a:pt x="0" y="1333805"/>
                </a:lnTo>
                <a:lnTo>
                  <a:pt x="0" y="0"/>
                </a:lnTo>
                <a:close/>
              </a:path>
            </a:pathLst>
          </a:custGeom>
          <a:blipFill>
            <a:blip r:embed="rId8"/>
            <a:stretch>
              <a:fillRect/>
            </a:stretch>
          </a:blipFill>
          <a:ln cap="sq">
            <a:noFill/>
            <a:prstDash val="solid"/>
            <a:miter/>
          </a:ln>
        </p:spPr>
      </p:sp>
      <p:sp>
        <p:nvSpPr>
          <p:cNvPr id="12" name="Freeform 12"/>
          <p:cNvSpPr/>
          <p:nvPr/>
        </p:nvSpPr>
        <p:spPr>
          <a:xfrm>
            <a:off x="5123138" y="6450106"/>
            <a:ext cx="4670702" cy="1831972"/>
          </a:xfrm>
          <a:custGeom>
            <a:avLst/>
            <a:gdLst/>
            <a:ahLst/>
            <a:cxnLst/>
            <a:rect l="l" t="t" r="r" b="b"/>
            <a:pathLst>
              <a:path w="4670702" h="1831972">
                <a:moveTo>
                  <a:pt x="0" y="0"/>
                </a:moveTo>
                <a:lnTo>
                  <a:pt x="4670703" y="0"/>
                </a:lnTo>
                <a:lnTo>
                  <a:pt x="4670703" y="1831971"/>
                </a:lnTo>
                <a:lnTo>
                  <a:pt x="0" y="1831971"/>
                </a:lnTo>
                <a:lnTo>
                  <a:pt x="0" y="0"/>
                </a:lnTo>
                <a:close/>
              </a:path>
            </a:pathLst>
          </a:custGeom>
          <a:blipFill>
            <a:blip r:embed="rId9"/>
            <a:stretch>
              <a:fillRect/>
            </a:stretch>
          </a:blipFill>
        </p:spPr>
      </p:sp>
      <p:sp>
        <p:nvSpPr>
          <p:cNvPr id="13" name="Freeform 13"/>
          <p:cNvSpPr/>
          <p:nvPr/>
        </p:nvSpPr>
        <p:spPr>
          <a:xfrm>
            <a:off x="3116572" y="8383882"/>
            <a:ext cx="2873251" cy="1484733"/>
          </a:xfrm>
          <a:custGeom>
            <a:avLst/>
            <a:gdLst/>
            <a:ahLst/>
            <a:cxnLst/>
            <a:rect l="l" t="t" r="r" b="b"/>
            <a:pathLst>
              <a:path w="2873251" h="1484733">
                <a:moveTo>
                  <a:pt x="0" y="0"/>
                </a:moveTo>
                <a:lnTo>
                  <a:pt x="2873250" y="0"/>
                </a:lnTo>
                <a:lnTo>
                  <a:pt x="2873250" y="1484733"/>
                </a:lnTo>
                <a:lnTo>
                  <a:pt x="0" y="1484733"/>
                </a:lnTo>
                <a:lnTo>
                  <a:pt x="0" y="0"/>
                </a:lnTo>
                <a:close/>
              </a:path>
            </a:pathLst>
          </a:custGeom>
          <a:blipFill>
            <a:blip r:embed="rId10"/>
            <a:stretch>
              <a:fillRect/>
            </a:stretch>
          </a:blipFill>
        </p:spPr>
      </p:sp>
      <p:sp>
        <p:nvSpPr>
          <p:cNvPr id="14" name="Freeform 14"/>
          <p:cNvSpPr/>
          <p:nvPr/>
        </p:nvSpPr>
        <p:spPr>
          <a:xfrm>
            <a:off x="679789" y="7984058"/>
            <a:ext cx="2284382" cy="2284382"/>
          </a:xfrm>
          <a:custGeom>
            <a:avLst/>
            <a:gdLst/>
            <a:ahLst/>
            <a:cxnLst/>
            <a:rect l="l" t="t" r="r" b="b"/>
            <a:pathLst>
              <a:path w="2284382" h="2284382">
                <a:moveTo>
                  <a:pt x="0" y="0"/>
                </a:moveTo>
                <a:lnTo>
                  <a:pt x="2284383" y="0"/>
                </a:lnTo>
                <a:lnTo>
                  <a:pt x="2284383" y="2284382"/>
                </a:lnTo>
                <a:lnTo>
                  <a:pt x="0" y="2284382"/>
                </a:lnTo>
                <a:lnTo>
                  <a:pt x="0" y="0"/>
                </a:lnTo>
                <a:close/>
              </a:path>
            </a:pathLst>
          </a:custGeom>
          <a:blipFill>
            <a:blip r:embed="rId11"/>
            <a:stretch>
              <a:fillRect/>
            </a:stretch>
          </a:blipFill>
        </p:spPr>
      </p:sp>
      <p:sp>
        <p:nvSpPr>
          <p:cNvPr id="15" name="Freeform 15"/>
          <p:cNvSpPr/>
          <p:nvPr/>
        </p:nvSpPr>
        <p:spPr>
          <a:xfrm>
            <a:off x="5989822" y="7732520"/>
            <a:ext cx="3035848" cy="3035848"/>
          </a:xfrm>
          <a:custGeom>
            <a:avLst/>
            <a:gdLst/>
            <a:ahLst/>
            <a:cxnLst/>
            <a:rect l="l" t="t" r="r" b="b"/>
            <a:pathLst>
              <a:path w="3035848" h="3035848">
                <a:moveTo>
                  <a:pt x="0" y="0"/>
                </a:moveTo>
                <a:lnTo>
                  <a:pt x="3035848" y="0"/>
                </a:lnTo>
                <a:lnTo>
                  <a:pt x="3035848" y="3035848"/>
                </a:lnTo>
                <a:lnTo>
                  <a:pt x="0" y="3035848"/>
                </a:lnTo>
                <a:lnTo>
                  <a:pt x="0" y="0"/>
                </a:lnTo>
                <a:close/>
              </a:path>
            </a:pathLst>
          </a:custGeom>
          <a:blipFill>
            <a:blip r:embed="rId12"/>
            <a:stretch>
              <a:fillRect/>
            </a:stretch>
          </a:blipFill>
        </p:spPr>
      </p:sp>
      <p:sp>
        <p:nvSpPr>
          <p:cNvPr id="16" name="Freeform 16"/>
          <p:cNvSpPr/>
          <p:nvPr/>
        </p:nvSpPr>
        <p:spPr>
          <a:xfrm>
            <a:off x="8950650" y="8535864"/>
            <a:ext cx="5161987" cy="1429159"/>
          </a:xfrm>
          <a:custGeom>
            <a:avLst/>
            <a:gdLst/>
            <a:ahLst/>
            <a:cxnLst/>
            <a:rect l="l" t="t" r="r" b="b"/>
            <a:pathLst>
              <a:path w="5161987" h="1429159">
                <a:moveTo>
                  <a:pt x="0" y="0"/>
                </a:moveTo>
                <a:lnTo>
                  <a:pt x="5161987" y="0"/>
                </a:lnTo>
                <a:lnTo>
                  <a:pt x="5161987" y="1429159"/>
                </a:lnTo>
                <a:lnTo>
                  <a:pt x="0" y="1429159"/>
                </a:lnTo>
                <a:lnTo>
                  <a:pt x="0" y="0"/>
                </a:lnTo>
                <a:close/>
              </a:path>
            </a:pathLst>
          </a:custGeom>
          <a:blipFill>
            <a:blip r:embed="rId13"/>
            <a:stretch>
              <a:fillRect/>
            </a:stretch>
          </a:blipFill>
        </p:spPr>
      </p:sp>
      <p:sp>
        <p:nvSpPr>
          <p:cNvPr id="17" name="Freeform 17"/>
          <p:cNvSpPr/>
          <p:nvPr/>
        </p:nvSpPr>
        <p:spPr>
          <a:xfrm>
            <a:off x="10051016" y="6504833"/>
            <a:ext cx="4443110" cy="1777244"/>
          </a:xfrm>
          <a:custGeom>
            <a:avLst/>
            <a:gdLst/>
            <a:ahLst/>
            <a:cxnLst/>
            <a:rect l="l" t="t" r="r" b="b"/>
            <a:pathLst>
              <a:path w="4443110" h="1777244">
                <a:moveTo>
                  <a:pt x="0" y="0"/>
                </a:moveTo>
                <a:lnTo>
                  <a:pt x="4443109" y="0"/>
                </a:lnTo>
                <a:lnTo>
                  <a:pt x="4443109" y="1777244"/>
                </a:lnTo>
                <a:lnTo>
                  <a:pt x="0" y="1777244"/>
                </a:lnTo>
                <a:lnTo>
                  <a:pt x="0" y="0"/>
                </a:lnTo>
                <a:close/>
              </a:path>
            </a:pathLst>
          </a:custGeom>
          <a:blipFill>
            <a:blip r:embed="rId14"/>
            <a:stretch>
              <a:fillRect/>
            </a:stretch>
          </a:blipFill>
        </p:spPr>
      </p:sp>
      <p:sp>
        <p:nvSpPr>
          <p:cNvPr id="18" name="Freeform 18"/>
          <p:cNvSpPr/>
          <p:nvPr/>
        </p:nvSpPr>
        <p:spPr>
          <a:xfrm>
            <a:off x="14452674" y="8707222"/>
            <a:ext cx="3599607" cy="1086443"/>
          </a:xfrm>
          <a:custGeom>
            <a:avLst/>
            <a:gdLst/>
            <a:ahLst/>
            <a:cxnLst/>
            <a:rect l="l" t="t" r="r" b="b"/>
            <a:pathLst>
              <a:path w="3599607" h="1086443">
                <a:moveTo>
                  <a:pt x="0" y="0"/>
                </a:moveTo>
                <a:lnTo>
                  <a:pt x="3599607" y="0"/>
                </a:lnTo>
                <a:lnTo>
                  <a:pt x="3599607" y="1086443"/>
                </a:lnTo>
                <a:lnTo>
                  <a:pt x="0" y="1086443"/>
                </a:lnTo>
                <a:lnTo>
                  <a:pt x="0" y="0"/>
                </a:lnTo>
                <a:close/>
              </a:path>
            </a:pathLst>
          </a:custGeom>
          <a:blipFill>
            <a:blip r:embed="rId15"/>
            <a:stretch>
              <a:fillRect/>
            </a:stretch>
          </a:blipFill>
        </p:spPr>
      </p:sp>
      <p:sp>
        <p:nvSpPr>
          <p:cNvPr id="19" name="Freeform 19"/>
          <p:cNvSpPr/>
          <p:nvPr/>
        </p:nvSpPr>
        <p:spPr>
          <a:xfrm>
            <a:off x="13964320" y="6710745"/>
            <a:ext cx="4305751" cy="1021775"/>
          </a:xfrm>
          <a:custGeom>
            <a:avLst/>
            <a:gdLst/>
            <a:ahLst/>
            <a:cxnLst/>
            <a:rect l="l" t="t" r="r" b="b"/>
            <a:pathLst>
              <a:path w="4305751" h="1021775">
                <a:moveTo>
                  <a:pt x="0" y="0"/>
                </a:moveTo>
                <a:lnTo>
                  <a:pt x="4305751" y="0"/>
                </a:lnTo>
                <a:lnTo>
                  <a:pt x="4305751" y="1021775"/>
                </a:lnTo>
                <a:lnTo>
                  <a:pt x="0" y="1021775"/>
                </a:lnTo>
                <a:lnTo>
                  <a:pt x="0" y="0"/>
                </a:lnTo>
                <a:close/>
              </a:path>
            </a:pathLst>
          </a:custGeom>
          <a:blipFill>
            <a:blip r:embed="rId16"/>
            <a:stretch>
              <a:fillRect/>
            </a:stretch>
          </a:blipFill>
        </p:spPr>
      </p:sp>
      <p:sp>
        <p:nvSpPr>
          <p:cNvPr id="20" name="TextBox 20"/>
          <p:cNvSpPr txBox="1"/>
          <p:nvPr/>
        </p:nvSpPr>
        <p:spPr>
          <a:xfrm>
            <a:off x="847112" y="400480"/>
            <a:ext cx="5145167"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OUR</a:t>
            </a:r>
          </a:p>
        </p:txBody>
      </p:sp>
      <p:sp>
        <p:nvSpPr>
          <p:cNvPr id="21" name="TextBox 21"/>
          <p:cNvSpPr txBox="1"/>
          <p:nvPr/>
        </p:nvSpPr>
        <p:spPr>
          <a:xfrm>
            <a:off x="847112" y="1434032"/>
            <a:ext cx="7528787"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PARTNERS</a:t>
            </a:r>
          </a:p>
        </p:txBody>
      </p:sp>
      <p:sp>
        <p:nvSpPr>
          <p:cNvPr id="22" name="Freeform 22"/>
          <p:cNvSpPr/>
          <p:nvPr/>
        </p:nvSpPr>
        <p:spPr>
          <a:xfrm>
            <a:off x="804962" y="2880317"/>
            <a:ext cx="6077255" cy="1049232"/>
          </a:xfrm>
          <a:custGeom>
            <a:avLst/>
            <a:gdLst/>
            <a:ahLst/>
            <a:cxnLst/>
            <a:rect l="l" t="t" r="r" b="b"/>
            <a:pathLst>
              <a:path w="6077255" h="1049232">
                <a:moveTo>
                  <a:pt x="0" y="0"/>
                </a:moveTo>
                <a:lnTo>
                  <a:pt x="6077255" y="0"/>
                </a:lnTo>
                <a:lnTo>
                  <a:pt x="6077255" y="1049232"/>
                </a:lnTo>
                <a:lnTo>
                  <a:pt x="0" y="1049232"/>
                </a:lnTo>
                <a:lnTo>
                  <a:pt x="0" y="0"/>
                </a:lnTo>
                <a:close/>
              </a:path>
            </a:pathLst>
          </a:custGeom>
          <a:blipFill>
            <a:blip r:embed="rId17"/>
            <a:stretch>
              <a:fillRect l="-8358" t="-186373" r="-53746"/>
            </a:stretch>
          </a:blipFill>
        </p:spPr>
      </p:sp>
      <p:sp>
        <p:nvSpPr>
          <p:cNvPr id="23" name="TextBox 23"/>
          <p:cNvSpPr txBox="1"/>
          <p:nvPr/>
        </p:nvSpPr>
        <p:spPr>
          <a:xfrm>
            <a:off x="804962" y="2628010"/>
            <a:ext cx="7700416" cy="1401446"/>
          </a:xfrm>
          <a:prstGeom prst="rect">
            <a:avLst/>
          </a:prstGeom>
        </p:spPr>
        <p:txBody>
          <a:bodyPr lIns="0" tIns="0" rIns="0" bIns="0" rtlCol="0" anchor="t">
            <a:spAutoFit/>
          </a:bodyPr>
          <a:lstStyle/>
          <a:p>
            <a:pPr algn="l">
              <a:lnSpc>
                <a:spcPts val="11479"/>
              </a:lnSpc>
              <a:spcBef>
                <a:spcPct val="0"/>
              </a:spcBef>
            </a:pPr>
            <a:r>
              <a:rPr lang="en-US" sz="8199" b="1">
                <a:solidFill>
                  <a:srgbClr val="010F48"/>
                </a:solidFill>
                <a:latin typeface="Anantason SemiExpanded Bold"/>
                <a:ea typeface="Anantason SemiExpanded Bold"/>
                <a:cs typeface="Anantason SemiExpanded Bold"/>
                <a:sym typeface="Anantason SemiExpanded Bold"/>
              </a:rPr>
              <a:t>IN HEALTH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00"/>
                                        <p:tgtEl>
                                          <p:spTgt spid="16"/>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flipH="1" flipV="1">
            <a:off x="10953348" y="-1930340"/>
            <a:ext cx="10290481" cy="6727402"/>
          </a:xfrm>
          <a:custGeom>
            <a:avLst/>
            <a:gdLst/>
            <a:ahLst/>
            <a:cxnLst/>
            <a:rect l="l" t="t" r="r" b="b"/>
            <a:pathLst>
              <a:path w="10290481" h="6727402">
                <a:moveTo>
                  <a:pt x="10290481" y="6727402"/>
                </a:moveTo>
                <a:lnTo>
                  <a:pt x="0" y="6727402"/>
                </a:lnTo>
                <a:lnTo>
                  <a:pt x="0" y="0"/>
                </a:lnTo>
                <a:lnTo>
                  <a:pt x="10290481" y="0"/>
                </a:lnTo>
                <a:lnTo>
                  <a:pt x="10290481" y="6727402"/>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1186301" y="701934"/>
            <a:ext cx="5405998" cy="5405998"/>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1526122" y="1041755"/>
            <a:ext cx="4726355" cy="472635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4685" r="-5563" b="-10249"/>
              </a:stretch>
            </a:blipFill>
          </p:spPr>
        </p:sp>
      </p:grpSp>
      <p:sp>
        <p:nvSpPr>
          <p:cNvPr id="9" name="Freeform 9"/>
          <p:cNvSpPr/>
          <p:nvPr/>
        </p:nvSpPr>
        <p:spPr>
          <a:xfrm>
            <a:off x="9302609" y="7276582"/>
            <a:ext cx="7765671" cy="2482566"/>
          </a:xfrm>
          <a:custGeom>
            <a:avLst/>
            <a:gdLst/>
            <a:ahLst/>
            <a:cxnLst/>
            <a:rect l="l" t="t" r="r" b="b"/>
            <a:pathLst>
              <a:path w="7765671" h="2482566">
                <a:moveTo>
                  <a:pt x="0" y="0"/>
                </a:moveTo>
                <a:lnTo>
                  <a:pt x="7765672" y="0"/>
                </a:lnTo>
                <a:lnTo>
                  <a:pt x="7765672" y="2482566"/>
                </a:lnTo>
                <a:lnTo>
                  <a:pt x="0" y="2482566"/>
                </a:lnTo>
                <a:lnTo>
                  <a:pt x="0" y="0"/>
                </a:lnTo>
                <a:close/>
              </a:path>
            </a:pathLst>
          </a:custGeom>
          <a:blipFill>
            <a:blip r:embed="rId6"/>
            <a:stretch>
              <a:fillRect l="-8701" t="-17011" r="-7250" b="-23815"/>
            </a:stretch>
          </a:blipFill>
        </p:spPr>
      </p:sp>
      <p:sp>
        <p:nvSpPr>
          <p:cNvPr id="10" name="Freeform 10"/>
          <p:cNvSpPr/>
          <p:nvPr/>
        </p:nvSpPr>
        <p:spPr>
          <a:xfrm>
            <a:off x="6496242" y="5021994"/>
            <a:ext cx="5576115" cy="2025989"/>
          </a:xfrm>
          <a:custGeom>
            <a:avLst/>
            <a:gdLst/>
            <a:ahLst/>
            <a:cxnLst/>
            <a:rect l="l" t="t" r="r" b="b"/>
            <a:pathLst>
              <a:path w="5576115" h="2025989">
                <a:moveTo>
                  <a:pt x="0" y="0"/>
                </a:moveTo>
                <a:lnTo>
                  <a:pt x="5576116" y="0"/>
                </a:lnTo>
                <a:lnTo>
                  <a:pt x="5576116" y="2025988"/>
                </a:lnTo>
                <a:lnTo>
                  <a:pt x="0" y="2025988"/>
                </a:lnTo>
                <a:lnTo>
                  <a:pt x="0" y="0"/>
                </a:lnTo>
                <a:close/>
              </a:path>
            </a:pathLst>
          </a:custGeom>
          <a:blipFill>
            <a:blip r:embed="rId7"/>
            <a:stretch>
              <a:fillRect/>
            </a:stretch>
          </a:blipFill>
        </p:spPr>
      </p:sp>
      <p:sp>
        <p:nvSpPr>
          <p:cNvPr id="11" name="Freeform 11"/>
          <p:cNvSpPr/>
          <p:nvPr/>
        </p:nvSpPr>
        <p:spPr>
          <a:xfrm>
            <a:off x="987412" y="4832870"/>
            <a:ext cx="5501149" cy="2550123"/>
          </a:xfrm>
          <a:custGeom>
            <a:avLst/>
            <a:gdLst/>
            <a:ahLst/>
            <a:cxnLst/>
            <a:rect l="l" t="t" r="r" b="b"/>
            <a:pathLst>
              <a:path w="5501149" h="2550123">
                <a:moveTo>
                  <a:pt x="0" y="0"/>
                </a:moveTo>
                <a:lnTo>
                  <a:pt x="5501149" y="0"/>
                </a:lnTo>
                <a:lnTo>
                  <a:pt x="5501149" y="2550123"/>
                </a:lnTo>
                <a:lnTo>
                  <a:pt x="0" y="2550123"/>
                </a:lnTo>
                <a:lnTo>
                  <a:pt x="0" y="0"/>
                </a:lnTo>
                <a:close/>
              </a:path>
            </a:pathLst>
          </a:custGeom>
          <a:blipFill>
            <a:blip r:embed="rId8"/>
            <a:stretch>
              <a:fillRect t="-58320" b="-57400"/>
            </a:stretch>
          </a:blipFill>
        </p:spPr>
      </p:sp>
      <p:sp>
        <p:nvSpPr>
          <p:cNvPr id="12" name="Freeform 12"/>
          <p:cNvSpPr/>
          <p:nvPr/>
        </p:nvSpPr>
        <p:spPr>
          <a:xfrm>
            <a:off x="3112719" y="7382993"/>
            <a:ext cx="4970170" cy="2530544"/>
          </a:xfrm>
          <a:custGeom>
            <a:avLst/>
            <a:gdLst/>
            <a:ahLst/>
            <a:cxnLst/>
            <a:rect l="l" t="t" r="r" b="b"/>
            <a:pathLst>
              <a:path w="4970170" h="2530544">
                <a:moveTo>
                  <a:pt x="0" y="0"/>
                </a:moveTo>
                <a:lnTo>
                  <a:pt x="4970170" y="0"/>
                </a:lnTo>
                <a:lnTo>
                  <a:pt x="4970170" y="2530544"/>
                </a:lnTo>
                <a:lnTo>
                  <a:pt x="0" y="2530544"/>
                </a:lnTo>
                <a:lnTo>
                  <a:pt x="0" y="0"/>
                </a:lnTo>
                <a:close/>
              </a:path>
            </a:pathLst>
          </a:custGeom>
          <a:blipFill>
            <a:blip r:embed="rId9"/>
            <a:stretch>
              <a:fillRect/>
            </a:stretch>
          </a:blipFill>
        </p:spPr>
      </p:sp>
      <p:sp>
        <p:nvSpPr>
          <p:cNvPr id="13" name="TextBox 13"/>
          <p:cNvSpPr txBox="1"/>
          <p:nvPr/>
        </p:nvSpPr>
        <p:spPr>
          <a:xfrm>
            <a:off x="847112" y="400480"/>
            <a:ext cx="5145167"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OUR</a:t>
            </a:r>
          </a:p>
        </p:txBody>
      </p:sp>
      <p:sp>
        <p:nvSpPr>
          <p:cNvPr id="14" name="TextBox 14"/>
          <p:cNvSpPr txBox="1"/>
          <p:nvPr/>
        </p:nvSpPr>
        <p:spPr>
          <a:xfrm>
            <a:off x="847112" y="1434032"/>
            <a:ext cx="7528787"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PARTNERS</a:t>
            </a:r>
          </a:p>
        </p:txBody>
      </p:sp>
      <p:sp>
        <p:nvSpPr>
          <p:cNvPr id="15" name="Freeform 15"/>
          <p:cNvSpPr/>
          <p:nvPr/>
        </p:nvSpPr>
        <p:spPr>
          <a:xfrm>
            <a:off x="847112" y="2835567"/>
            <a:ext cx="4008373" cy="1049232"/>
          </a:xfrm>
          <a:custGeom>
            <a:avLst/>
            <a:gdLst/>
            <a:ahLst/>
            <a:cxnLst/>
            <a:rect l="l" t="t" r="r" b="b"/>
            <a:pathLst>
              <a:path w="4008373" h="1049232">
                <a:moveTo>
                  <a:pt x="0" y="0"/>
                </a:moveTo>
                <a:lnTo>
                  <a:pt x="4008373" y="0"/>
                </a:lnTo>
                <a:lnTo>
                  <a:pt x="4008373" y="1049232"/>
                </a:lnTo>
                <a:lnTo>
                  <a:pt x="0" y="1049232"/>
                </a:lnTo>
                <a:lnTo>
                  <a:pt x="0" y="0"/>
                </a:lnTo>
                <a:close/>
              </a:path>
            </a:pathLst>
          </a:custGeom>
          <a:blipFill>
            <a:blip r:embed="rId10"/>
            <a:stretch>
              <a:fillRect l="-12672" t="-186373" r="-133101"/>
            </a:stretch>
          </a:blipFill>
        </p:spPr>
      </p:sp>
      <p:sp>
        <p:nvSpPr>
          <p:cNvPr id="16" name="TextBox 16"/>
          <p:cNvSpPr txBox="1"/>
          <p:nvPr/>
        </p:nvSpPr>
        <p:spPr>
          <a:xfrm>
            <a:off x="847112" y="2683167"/>
            <a:ext cx="3764394" cy="1401446"/>
          </a:xfrm>
          <a:prstGeom prst="rect">
            <a:avLst/>
          </a:prstGeom>
        </p:spPr>
        <p:txBody>
          <a:bodyPr lIns="0" tIns="0" rIns="0" bIns="0" rtlCol="0" anchor="t">
            <a:spAutoFit/>
          </a:bodyPr>
          <a:lstStyle/>
          <a:p>
            <a:pPr algn="l">
              <a:lnSpc>
                <a:spcPts val="11479"/>
              </a:lnSpc>
              <a:spcBef>
                <a:spcPct val="0"/>
              </a:spcBef>
            </a:pPr>
            <a:r>
              <a:rPr lang="en-US" sz="8199" b="1">
                <a:solidFill>
                  <a:srgbClr val="010F48"/>
                </a:solidFill>
                <a:latin typeface="Anantason SemiExpanded Bold"/>
                <a:ea typeface="Anantason SemiExpanded Bold"/>
                <a:cs typeface="Anantason SemiExpanded Bold"/>
                <a:sym typeface="Anantason SemiExpanded Bold"/>
              </a:rPr>
              <a:t>IN LIFE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flipH="1" flipV="1">
            <a:off x="10953348" y="-1930340"/>
            <a:ext cx="10290481" cy="6727402"/>
          </a:xfrm>
          <a:custGeom>
            <a:avLst/>
            <a:gdLst/>
            <a:ahLst/>
            <a:cxnLst/>
            <a:rect l="l" t="t" r="r" b="b"/>
            <a:pathLst>
              <a:path w="10290481" h="6727402">
                <a:moveTo>
                  <a:pt x="10290481" y="6727402"/>
                </a:moveTo>
                <a:lnTo>
                  <a:pt x="0" y="6727402"/>
                </a:lnTo>
                <a:lnTo>
                  <a:pt x="0" y="0"/>
                </a:lnTo>
                <a:lnTo>
                  <a:pt x="10290481" y="0"/>
                </a:lnTo>
                <a:lnTo>
                  <a:pt x="10290481" y="6727402"/>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1186301" y="701934"/>
            <a:ext cx="5405998" cy="5405998"/>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1526122" y="1041755"/>
            <a:ext cx="4726355" cy="472635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4685" r="-5563" b="-10249"/>
              </a:stretch>
            </a:blipFill>
          </p:spPr>
        </p:sp>
      </p:grpSp>
      <p:sp>
        <p:nvSpPr>
          <p:cNvPr id="9" name="Freeform 9"/>
          <p:cNvSpPr/>
          <p:nvPr/>
        </p:nvSpPr>
        <p:spPr>
          <a:xfrm>
            <a:off x="828796" y="4583154"/>
            <a:ext cx="3395118" cy="2448180"/>
          </a:xfrm>
          <a:custGeom>
            <a:avLst/>
            <a:gdLst/>
            <a:ahLst/>
            <a:cxnLst/>
            <a:rect l="l" t="t" r="r" b="b"/>
            <a:pathLst>
              <a:path w="3395118" h="2448180">
                <a:moveTo>
                  <a:pt x="0" y="0"/>
                </a:moveTo>
                <a:lnTo>
                  <a:pt x="3395118" y="0"/>
                </a:lnTo>
                <a:lnTo>
                  <a:pt x="3395118" y="2448181"/>
                </a:lnTo>
                <a:lnTo>
                  <a:pt x="0" y="2448181"/>
                </a:lnTo>
                <a:lnTo>
                  <a:pt x="0" y="0"/>
                </a:lnTo>
                <a:close/>
              </a:path>
            </a:pathLst>
          </a:custGeom>
          <a:blipFill>
            <a:blip r:embed="rId6"/>
            <a:stretch>
              <a:fillRect/>
            </a:stretch>
          </a:blipFill>
        </p:spPr>
      </p:sp>
      <p:sp>
        <p:nvSpPr>
          <p:cNvPr id="10" name="Freeform 10"/>
          <p:cNvSpPr/>
          <p:nvPr/>
        </p:nvSpPr>
        <p:spPr>
          <a:xfrm>
            <a:off x="4593189" y="4778012"/>
            <a:ext cx="5142486" cy="2058465"/>
          </a:xfrm>
          <a:custGeom>
            <a:avLst/>
            <a:gdLst/>
            <a:ahLst/>
            <a:cxnLst/>
            <a:rect l="l" t="t" r="r" b="b"/>
            <a:pathLst>
              <a:path w="5142486" h="2058465">
                <a:moveTo>
                  <a:pt x="0" y="0"/>
                </a:moveTo>
                <a:lnTo>
                  <a:pt x="5142486" y="0"/>
                </a:lnTo>
                <a:lnTo>
                  <a:pt x="5142486" y="2058465"/>
                </a:lnTo>
                <a:lnTo>
                  <a:pt x="0" y="2058465"/>
                </a:lnTo>
                <a:lnTo>
                  <a:pt x="0" y="0"/>
                </a:lnTo>
                <a:close/>
              </a:path>
            </a:pathLst>
          </a:custGeom>
          <a:blipFill>
            <a:blip r:embed="rId7"/>
            <a:stretch>
              <a:fillRect t="-74398" b="-75422"/>
            </a:stretch>
          </a:blipFill>
        </p:spPr>
      </p:sp>
      <p:sp>
        <p:nvSpPr>
          <p:cNvPr id="11" name="Freeform 11"/>
          <p:cNvSpPr/>
          <p:nvPr/>
        </p:nvSpPr>
        <p:spPr>
          <a:xfrm>
            <a:off x="599957" y="6943431"/>
            <a:ext cx="5211629" cy="1774794"/>
          </a:xfrm>
          <a:custGeom>
            <a:avLst/>
            <a:gdLst/>
            <a:ahLst/>
            <a:cxnLst/>
            <a:rect l="l" t="t" r="r" b="b"/>
            <a:pathLst>
              <a:path w="5211629" h="1774794">
                <a:moveTo>
                  <a:pt x="0" y="0"/>
                </a:moveTo>
                <a:lnTo>
                  <a:pt x="5211629" y="0"/>
                </a:lnTo>
                <a:lnTo>
                  <a:pt x="5211629" y="1774794"/>
                </a:lnTo>
                <a:lnTo>
                  <a:pt x="0" y="1774794"/>
                </a:lnTo>
                <a:lnTo>
                  <a:pt x="0" y="0"/>
                </a:lnTo>
                <a:close/>
              </a:path>
            </a:pathLst>
          </a:custGeom>
          <a:blipFill>
            <a:blip r:embed="rId8"/>
            <a:stretch>
              <a:fillRect t="-29011" b="-31160"/>
            </a:stretch>
          </a:blipFill>
        </p:spPr>
      </p:sp>
      <p:sp>
        <p:nvSpPr>
          <p:cNvPr id="12" name="Freeform 12"/>
          <p:cNvSpPr/>
          <p:nvPr/>
        </p:nvSpPr>
        <p:spPr>
          <a:xfrm>
            <a:off x="6075813" y="7254492"/>
            <a:ext cx="3431024" cy="1303789"/>
          </a:xfrm>
          <a:custGeom>
            <a:avLst/>
            <a:gdLst/>
            <a:ahLst/>
            <a:cxnLst/>
            <a:rect l="l" t="t" r="r" b="b"/>
            <a:pathLst>
              <a:path w="3431024" h="1303789">
                <a:moveTo>
                  <a:pt x="0" y="0"/>
                </a:moveTo>
                <a:lnTo>
                  <a:pt x="3431024" y="0"/>
                </a:lnTo>
                <a:lnTo>
                  <a:pt x="3431024" y="1303789"/>
                </a:lnTo>
                <a:lnTo>
                  <a:pt x="0" y="1303789"/>
                </a:lnTo>
                <a:lnTo>
                  <a:pt x="0" y="0"/>
                </a:lnTo>
                <a:close/>
              </a:path>
            </a:pathLst>
          </a:custGeom>
          <a:blipFill>
            <a:blip r:embed="rId9"/>
            <a:stretch>
              <a:fillRect/>
            </a:stretch>
          </a:blipFill>
        </p:spPr>
      </p:sp>
      <p:sp>
        <p:nvSpPr>
          <p:cNvPr id="13" name="Freeform 13"/>
          <p:cNvSpPr/>
          <p:nvPr/>
        </p:nvSpPr>
        <p:spPr>
          <a:xfrm>
            <a:off x="10190456" y="7254492"/>
            <a:ext cx="4504865" cy="1357091"/>
          </a:xfrm>
          <a:custGeom>
            <a:avLst/>
            <a:gdLst/>
            <a:ahLst/>
            <a:cxnLst/>
            <a:rect l="l" t="t" r="r" b="b"/>
            <a:pathLst>
              <a:path w="4504865" h="1357091">
                <a:moveTo>
                  <a:pt x="0" y="0"/>
                </a:moveTo>
                <a:lnTo>
                  <a:pt x="4504865" y="0"/>
                </a:lnTo>
                <a:lnTo>
                  <a:pt x="4504865" y="1357090"/>
                </a:lnTo>
                <a:lnTo>
                  <a:pt x="0" y="1357090"/>
                </a:lnTo>
                <a:lnTo>
                  <a:pt x="0" y="0"/>
                </a:lnTo>
                <a:close/>
              </a:path>
            </a:pathLst>
          </a:custGeom>
          <a:blipFill>
            <a:blip r:embed="rId10"/>
            <a:stretch>
              <a:fillRect/>
            </a:stretch>
          </a:blipFill>
        </p:spPr>
      </p:sp>
      <p:sp>
        <p:nvSpPr>
          <p:cNvPr id="14" name="Freeform 14"/>
          <p:cNvSpPr/>
          <p:nvPr/>
        </p:nvSpPr>
        <p:spPr>
          <a:xfrm>
            <a:off x="903749" y="8761480"/>
            <a:ext cx="4846932" cy="1442969"/>
          </a:xfrm>
          <a:custGeom>
            <a:avLst/>
            <a:gdLst/>
            <a:ahLst/>
            <a:cxnLst/>
            <a:rect l="l" t="t" r="r" b="b"/>
            <a:pathLst>
              <a:path w="4846932" h="1442969">
                <a:moveTo>
                  <a:pt x="0" y="0"/>
                </a:moveTo>
                <a:lnTo>
                  <a:pt x="4846932" y="0"/>
                </a:lnTo>
                <a:lnTo>
                  <a:pt x="4846932" y="1442969"/>
                </a:lnTo>
                <a:lnTo>
                  <a:pt x="0" y="1442969"/>
                </a:lnTo>
                <a:lnTo>
                  <a:pt x="0" y="0"/>
                </a:lnTo>
                <a:close/>
              </a:path>
            </a:pathLst>
          </a:custGeom>
          <a:blipFill>
            <a:blip r:embed="rId11"/>
            <a:stretch>
              <a:fillRect l="-34" r="-34"/>
            </a:stretch>
          </a:blipFill>
        </p:spPr>
      </p:sp>
      <p:sp>
        <p:nvSpPr>
          <p:cNvPr id="15" name="Freeform 15"/>
          <p:cNvSpPr/>
          <p:nvPr/>
        </p:nvSpPr>
        <p:spPr>
          <a:xfrm>
            <a:off x="6243746" y="8825179"/>
            <a:ext cx="3946710" cy="1315570"/>
          </a:xfrm>
          <a:custGeom>
            <a:avLst/>
            <a:gdLst/>
            <a:ahLst/>
            <a:cxnLst/>
            <a:rect l="l" t="t" r="r" b="b"/>
            <a:pathLst>
              <a:path w="3946710" h="1315570">
                <a:moveTo>
                  <a:pt x="0" y="0"/>
                </a:moveTo>
                <a:lnTo>
                  <a:pt x="3946710" y="0"/>
                </a:lnTo>
                <a:lnTo>
                  <a:pt x="3946710" y="1315570"/>
                </a:lnTo>
                <a:lnTo>
                  <a:pt x="0" y="1315570"/>
                </a:lnTo>
                <a:lnTo>
                  <a:pt x="0" y="0"/>
                </a:lnTo>
                <a:close/>
              </a:path>
            </a:pathLst>
          </a:custGeom>
          <a:blipFill>
            <a:blip r:embed="rId12"/>
            <a:stretch>
              <a:fillRect/>
            </a:stretch>
          </a:blipFill>
        </p:spPr>
      </p:sp>
      <p:sp>
        <p:nvSpPr>
          <p:cNvPr id="16" name="TextBox 16"/>
          <p:cNvSpPr txBox="1"/>
          <p:nvPr/>
        </p:nvSpPr>
        <p:spPr>
          <a:xfrm>
            <a:off x="847112" y="400480"/>
            <a:ext cx="5145167"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OUR</a:t>
            </a:r>
          </a:p>
        </p:txBody>
      </p:sp>
      <p:sp>
        <p:nvSpPr>
          <p:cNvPr id="17" name="TextBox 17"/>
          <p:cNvSpPr txBox="1"/>
          <p:nvPr/>
        </p:nvSpPr>
        <p:spPr>
          <a:xfrm>
            <a:off x="847112" y="1434032"/>
            <a:ext cx="7528787"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PARTNERS</a:t>
            </a:r>
          </a:p>
        </p:txBody>
      </p:sp>
      <p:sp>
        <p:nvSpPr>
          <p:cNvPr id="18" name="Freeform 18"/>
          <p:cNvSpPr/>
          <p:nvPr/>
        </p:nvSpPr>
        <p:spPr>
          <a:xfrm>
            <a:off x="847112" y="2904456"/>
            <a:ext cx="6694074" cy="1000953"/>
          </a:xfrm>
          <a:custGeom>
            <a:avLst/>
            <a:gdLst/>
            <a:ahLst/>
            <a:cxnLst/>
            <a:rect l="l" t="t" r="r" b="b"/>
            <a:pathLst>
              <a:path w="6694074" h="1000953">
                <a:moveTo>
                  <a:pt x="0" y="0"/>
                </a:moveTo>
                <a:lnTo>
                  <a:pt x="6694074" y="0"/>
                </a:lnTo>
                <a:lnTo>
                  <a:pt x="6694074" y="1000953"/>
                </a:lnTo>
                <a:lnTo>
                  <a:pt x="0" y="1000953"/>
                </a:lnTo>
                <a:lnTo>
                  <a:pt x="0" y="0"/>
                </a:lnTo>
                <a:close/>
              </a:path>
            </a:pathLst>
          </a:custGeom>
          <a:blipFill>
            <a:blip r:embed="rId13"/>
            <a:stretch>
              <a:fillRect l="-5976" t="-186373" r="-34419"/>
            </a:stretch>
          </a:blipFill>
        </p:spPr>
      </p:sp>
      <p:sp>
        <p:nvSpPr>
          <p:cNvPr id="19" name="TextBox 19"/>
          <p:cNvSpPr txBox="1"/>
          <p:nvPr/>
        </p:nvSpPr>
        <p:spPr>
          <a:xfrm>
            <a:off x="847112" y="2683167"/>
            <a:ext cx="6694074" cy="1401446"/>
          </a:xfrm>
          <a:prstGeom prst="rect">
            <a:avLst/>
          </a:prstGeom>
        </p:spPr>
        <p:txBody>
          <a:bodyPr lIns="0" tIns="0" rIns="0" bIns="0" rtlCol="0" anchor="t">
            <a:spAutoFit/>
          </a:bodyPr>
          <a:lstStyle/>
          <a:p>
            <a:pPr algn="l">
              <a:lnSpc>
                <a:spcPts val="11479"/>
              </a:lnSpc>
              <a:spcBef>
                <a:spcPct val="0"/>
              </a:spcBef>
            </a:pPr>
            <a:r>
              <a:rPr lang="en-US" sz="8199" b="1">
                <a:solidFill>
                  <a:srgbClr val="010F48"/>
                </a:solidFill>
                <a:latin typeface="Anantason SemiExpanded Bold"/>
                <a:ea typeface="Anantason SemiExpanded Bold"/>
                <a:cs typeface="Anantason SemiExpanded Bold"/>
                <a:sym typeface="Anantason SemiExpanded Bold"/>
              </a:rPr>
              <a:t>IN NON-LIFE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flipH="1" flipV="1">
            <a:off x="11962357" y="-646334"/>
            <a:ext cx="6687971" cy="4372261"/>
          </a:xfrm>
          <a:custGeom>
            <a:avLst/>
            <a:gdLst/>
            <a:ahLst/>
            <a:cxnLst/>
            <a:rect l="l" t="t" r="r" b="b"/>
            <a:pathLst>
              <a:path w="6687971" h="4372261">
                <a:moveTo>
                  <a:pt x="6687970" y="4372261"/>
                </a:moveTo>
                <a:lnTo>
                  <a:pt x="0" y="4372261"/>
                </a:lnTo>
                <a:lnTo>
                  <a:pt x="0" y="0"/>
                </a:lnTo>
                <a:lnTo>
                  <a:pt x="6687970" y="0"/>
                </a:lnTo>
                <a:lnTo>
                  <a:pt x="6687970" y="4372261"/>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3315961" y="489809"/>
            <a:ext cx="4653691" cy="4653691"/>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3526657" y="700506"/>
            <a:ext cx="4232298" cy="4232298"/>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15995" t="-8110" r="-12616" b="-20501"/>
              </a:stretch>
            </a:blipFill>
          </p:spPr>
        </p:sp>
      </p:grpSp>
      <p:grpSp>
        <p:nvGrpSpPr>
          <p:cNvPr id="9" name="Group 9"/>
          <p:cNvGrpSpPr/>
          <p:nvPr/>
        </p:nvGrpSpPr>
        <p:grpSpPr>
          <a:xfrm>
            <a:off x="804982" y="2816655"/>
            <a:ext cx="12113427" cy="2576102"/>
            <a:chOff x="0" y="0"/>
            <a:chExt cx="16151235" cy="3434802"/>
          </a:xfrm>
        </p:grpSpPr>
        <p:sp>
          <p:nvSpPr>
            <p:cNvPr id="10" name="Freeform 10"/>
            <p:cNvSpPr/>
            <p:nvPr/>
          </p:nvSpPr>
          <p:spPr>
            <a:xfrm>
              <a:off x="0" y="517887"/>
              <a:ext cx="5037329" cy="2399028"/>
            </a:xfrm>
            <a:custGeom>
              <a:avLst/>
              <a:gdLst/>
              <a:ahLst/>
              <a:cxnLst/>
              <a:rect l="l" t="t" r="r" b="b"/>
              <a:pathLst>
                <a:path w="5037329" h="2399028">
                  <a:moveTo>
                    <a:pt x="0" y="0"/>
                  </a:moveTo>
                  <a:lnTo>
                    <a:pt x="5037329" y="0"/>
                  </a:lnTo>
                  <a:lnTo>
                    <a:pt x="5037329" y="2399028"/>
                  </a:lnTo>
                  <a:lnTo>
                    <a:pt x="0" y="2399028"/>
                  </a:lnTo>
                  <a:lnTo>
                    <a:pt x="0" y="0"/>
                  </a:lnTo>
                  <a:close/>
                </a:path>
              </a:pathLst>
            </a:custGeom>
            <a:blipFill>
              <a:blip r:embed="rId6"/>
              <a:stretch>
                <a:fillRect/>
              </a:stretch>
            </a:blipFill>
          </p:spPr>
        </p:sp>
        <p:sp>
          <p:nvSpPr>
            <p:cNvPr id="11" name="Freeform 11"/>
            <p:cNvSpPr/>
            <p:nvPr/>
          </p:nvSpPr>
          <p:spPr>
            <a:xfrm>
              <a:off x="5970773" y="0"/>
              <a:ext cx="3203613" cy="3434802"/>
            </a:xfrm>
            <a:custGeom>
              <a:avLst/>
              <a:gdLst/>
              <a:ahLst/>
              <a:cxnLst/>
              <a:rect l="l" t="t" r="r" b="b"/>
              <a:pathLst>
                <a:path w="3203613" h="3434802">
                  <a:moveTo>
                    <a:pt x="0" y="0"/>
                  </a:moveTo>
                  <a:lnTo>
                    <a:pt x="3203614" y="0"/>
                  </a:lnTo>
                  <a:lnTo>
                    <a:pt x="3203614" y="3434802"/>
                  </a:lnTo>
                  <a:lnTo>
                    <a:pt x="0" y="3434802"/>
                  </a:lnTo>
                  <a:lnTo>
                    <a:pt x="0" y="0"/>
                  </a:lnTo>
                  <a:close/>
                </a:path>
              </a:pathLst>
            </a:custGeom>
            <a:blipFill>
              <a:blip r:embed="rId7"/>
              <a:stretch>
                <a:fillRect l="-19136" t="-24200" r="-26280" b="-11429"/>
              </a:stretch>
            </a:blipFill>
          </p:spPr>
        </p:sp>
        <p:sp>
          <p:nvSpPr>
            <p:cNvPr id="12" name="Freeform 12"/>
            <p:cNvSpPr/>
            <p:nvPr/>
          </p:nvSpPr>
          <p:spPr>
            <a:xfrm>
              <a:off x="9368424" y="0"/>
              <a:ext cx="4111354" cy="3434802"/>
            </a:xfrm>
            <a:custGeom>
              <a:avLst/>
              <a:gdLst/>
              <a:ahLst/>
              <a:cxnLst/>
              <a:rect l="l" t="t" r="r" b="b"/>
              <a:pathLst>
                <a:path w="4111354" h="3434802">
                  <a:moveTo>
                    <a:pt x="0" y="0"/>
                  </a:moveTo>
                  <a:lnTo>
                    <a:pt x="4111354" y="0"/>
                  </a:lnTo>
                  <a:lnTo>
                    <a:pt x="4111354" y="3434802"/>
                  </a:lnTo>
                  <a:lnTo>
                    <a:pt x="0" y="3434802"/>
                  </a:lnTo>
                  <a:lnTo>
                    <a:pt x="0" y="0"/>
                  </a:lnTo>
                  <a:close/>
                </a:path>
              </a:pathLst>
            </a:custGeom>
            <a:blipFill>
              <a:blip r:embed="rId8"/>
              <a:stretch>
                <a:fillRect l="-24363" t="-19066" r="-20508" b="-20405"/>
              </a:stretch>
            </a:blipFill>
          </p:spPr>
        </p:sp>
        <p:sp>
          <p:nvSpPr>
            <p:cNvPr id="13" name="Freeform 13"/>
            <p:cNvSpPr/>
            <p:nvPr/>
          </p:nvSpPr>
          <p:spPr>
            <a:xfrm>
              <a:off x="13667570" y="430141"/>
              <a:ext cx="2483666" cy="2486774"/>
            </a:xfrm>
            <a:custGeom>
              <a:avLst/>
              <a:gdLst/>
              <a:ahLst/>
              <a:cxnLst/>
              <a:rect l="l" t="t" r="r" b="b"/>
              <a:pathLst>
                <a:path w="2483666" h="2486774">
                  <a:moveTo>
                    <a:pt x="0" y="0"/>
                  </a:moveTo>
                  <a:lnTo>
                    <a:pt x="2483665" y="0"/>
                  </a:lnTo>
                  <a:lnTo>
                    <a:pt x="2483665" y="2486774"/>
                  </a:lnTo>
                  <a:lnTo>
                    <a:pt x="0" y="2486774"/>
                  </a:lnTo>
                  <a:lnTo>
                    <a:pt x="0" y="0"/>
                  </a:lnTo>
                  <a:close/>
                </a:path>
              </a:pathLst>
            </a:custGeom>
            <a:blipFill>
              <a:blip r:embed="rId9"/>
              <a:stretch>
                <a:fillRect/>
              </a:stretch>
            </a:blipFill>
          </p:spPr>
        </p:sp>
      </p:grpSp>
      <p:grpSp>
        <p:nvGrpSpPr>
          <p:cNvPr id="14" name="Group 14"/>
          <p:cNvGrpSpPr/>
          <p:nvPr/>
        </p:nvGrpSpPr>
        <p:grpSpPr>
          <a:xfrm>
            <a:off x="804982" y="5111632"/>
            <a:ext cx="15806373" cy="2505630"/>
            <a:chOff x="0" y="0"/>
            <a:chExt cx="21075164" cy="3340840"/>
          </a:xfrm>
        </p:grpSpPr>
        <p:sp>
          <p:nvSpPr>
            <p:cNvPr id="15" name="Freeform 15"/>
            <p:cNvSpPr/>
            <p:nvPr/>
          </p:nvSpPr>
          <p:spPr>
            <a:xfrm>
              <a:off x="0" y="0"/>
              <a:ext cx="5217877" cy="2670236"/>
            </a:xfrm>
            <a:custGeom>
              <a:avLst/>
              <a:gdLst/>
              <a:ahLst/>
              <a:cxnLst/>
              <a:rect l="l" t="t" r="r" b="b"/>
              <a:pathLst>
                <a:path w="5217877" h="2670236">
                  <a:moveTo>
                    <a:pt x="0" y="0"/>
                  </a:moveTo>
                  <a:lnTo>
                    <a:pt x="5217877" y="0"/>
                  </a:lnTo>
                  <a:lnTo>
                    <a:pt x="5217877" y="2670236"/>
                  </a:lnTo>
                  <a:lnTo>
                    <a:pt x="0" y="2670236"/>
                  </a:lnTo>
                  <a:lnTo>
                    <a:pt x="0" y="0"/>
                  </a:lnTo>
                  <a:close/>
                </a:path>
              </a:pathLst>
            </a:custGeom>
            <a:blipFill>
              <a:blip r:embed="rId10"/>
              <a:stretch>
                <a:fillRect l="-8550" r="-7868"/>
              </a:stretch>
            </a:blipFill>
          </p:spPr>
        </p:sp>
        <p:sp>
          <p:nvSpPr>
            <p:cNvPr id="16" name="Freeform 16"/>
            <p:cNvSpPr/>
            <p:nvPr/>
          </p:nvSpPr>
          <p:spPr>
            <a:xfrm>
              <a:off x="9019525" y="1217476"/>
              <a:ext cx="3441366" cy="1618946"/>
            </a:xfrm>
            <a:custGeom>
              <a:avLst/>
              <a:gdLst/>
              <a:ahLst/>
              <a:cxnLst/>
              <a:rect l="l" t="t" r="r" b="b"/>
              <a:pathLst>
                <a:path w="3441366" h="1618946">
                  <a:moveTo>
                    <a:pt x="0" y="0"/>
                  </a:moveTo>
                  <a:lnTo>
                    <a:pt x="3441366" y="0"/>
                  </a:lnTo>
                  <a:lnTo>
                    <a:pt x="3441366" y="1618945"/>
                  </a:lnTo>
                  <a:lnTo>
                    <a:pt x="0" y="1618945"/>
                  </a:lnTo>
                  <a:lnTo>
                    <a:pt x="0" y="0"/>
                  </a:lnTo>
                  <a:close/>
                </a:path>
              </a:pathLst>
            </a:custGeom>
            <a:blipFill>
              <a:blip r:embed="rId11"/>
              <a:stretch>
                <a:fillRect/>
              </a:stretch>
            </a:blipFill>
          </p:spPr>
        </p:sp>
        <p:sp>
          <p:nvSpPr>
            <p:cNvPr id="17" name="Freeform 17"/>
            <p:cNvSpPr/>
            <p:nvPr/>
          </p:nvSpPr>
          <p:spPr>
            <a:xfrm>
              <a:off x="6371420" y="271147"/>
              <a:ext cx="2565274" cy="2565274"/>
            </a:xfrm>
            <a:custGeom>
              <a:avLst/>
              <a:gdLst/>
              <a:ahLst/>
              <a:cxnLst/>
              <a:rect l="l" t="t" r="r" b="b"/>
              <a:pathLst>
                <a:path w="2565274" h="2565274">
                  <a:moveTo>
                    <a:pt x="0" y="0"/>
                  </a:moveTo>
                  <a:lnTo>
                    <a:pt x="2565274" y="0"/>
                  </a:lnTo>
                  <a:lnTo>
                    <a:pt x="2565274" y="2565274"/>
                  </a:lnTo>
                  <a:lnTo>
                    <a:pt x="0" y="2565274"/>
                  </a:lnTo>
                  <a:lnTo>
                    <a:pt x="0" y="0"/>
                  </a:lnTo>
                  <a:close/>
                </a:path>
              </a:pathLst>
            </a:custGeom>
            <a:blipFill>
              <a:blip r:embed="rId12"/>
              <a:stretch>
                <a:fillRect/>
              </a:stretch>
            </a:blipFill>
          </p:spPr>
        </p:sp>
        <p:sp>
          <p:nvSpPr>
            <p:cNvPr id="18" name="Freeform 18"/>
            <p:cNvSpPr/>
            <p:nvPr/>
          </p:nvSpPr>
          <p:spPr>
            <a:xfrm>
              <a:off x="13826781" y="399593"/>
              <a:ext cx="2855133" cy="2855133"/>
            </a:xfrm>
            <a:custGeom>
              <a:avLst/>
              <a:gdLst/>
              <a:ahLst/>
              <a:cxnLst/>
              <a:rect l="l" t="t" r="r" b="b"/>
              <a:pathLst>
                <a:path w="2855133" h="2855133">
                  <a:moveTo>
                    <a:pt x="0" y="0"/>
                  </a:moveTo>
                  <a:lnTo>
                    <a:pt x="2855133" y="0"/>
                  </a:lnTo>
                  <a:lnTo>
                    <a:pt x="2855133" y="2855133"/>
                  </a:lnTo>
                  <a:lnTo>
                    <a:pt x="0" y="2855133"/>
                  </a:lnTo>
                  <a:lnTo>
                    <a:pt x="0" y="0"/>
                  </a:lnTo>
                  <a:close/>
                </a:path>
              </a:pathLst>
            </a:custGeom>
            <a:blipFill>
              <a:blip r:embed="rId13"/>
              <a:stretch>
                <a:fillRect/>
              </a:stretch>
            </a:blipFill>
          </p:spPr>
        </p:sp>
        <p:sp>
          <p:nvSpPr>
            <p:cNvPr id="19" name="Freeform 19"/>
            <p:cNvSpPr/>
            <p:nvPr/>
          </p:nvSpPr>
          <p:spPr>
            <a:xfrm>
              <a:off x="18047804" y="313479"/>
              <a:ext cx="3027361" cy="3027361"/>
            </a:xfrm>
            <a:custGeom>
              <a:avLst/>
              <a:gdLst/>
              <a:ahLst/>
              <a:cxnLst/>
              <a:rect l="l" t="t" r="r" b="b"/>
              <a:pathLst>
                <a:path w="3027361" h="3027361">
                  <a:moveTo>
                    <a:pt x="0" y="0"/>
                  </a:moveTo>
                  <a:lnTo>
                    <a:pt x="3027360" y="0"/>
                  </a:lnTo>
                  <a:lnTo>
                    <a:pt x="3027360" y="3027361"/>
                  </a:lnTo>
                  <a:lnTo>
                    <a:pt x="0" y="3027361"/>
                  </a:lnTo>
                  <a:lnTo>
                    <a:pt x="0" y="0"/>
                  </a:lnTo>
                  <a:close/>
                </a:path>
              </a:pathLst>
            </a:custGeom>
            <a:blipFill>
              <a:blip r:embed="rId14"/>
              <a:stretch>
                <a:fillRect/>
              </a:stretch>
            </a:blipFill>
          </p:spPr>
        </p:sp>
      </p:grpSp>
      <p:grpSp>
        <p:nvGrpSpPr>
          <p:cNvPr id="20" name="Group 20"/>
          <p:cNvGrpSpPr/>
          <p:nvPr/>
        </p:nvGrpSpPr>
        <p:grpSpPr>
          <a:xfrm>
            <a:off x="15634456" y="9356048"/>
            <a:ext cx="2653544" cy="930952"/>
            <a:chOff x="0" y="0"/>
            <a:chExt cx="3538059" cy="1241269"/>
          </a:xfrm>
        </p:grpSpPr>
        <p:sp>
          <p:nvSpPr>
            <p:cNvPr id="21" name="Freeform 21"/>
            <p:cNvSpPr/>
            <p:nvPr/>
          </p:nvSpPr>
          <p:spPr>
            <a:xfrm>
              <a:off x="0" y="0"/>
              <a:ext cx="3538059" cy="1241269"/>
            </a:xfrm>
            <a:custGeom>
              <a:avLst/>
              <a:gdLst/>
              <a:ahLst/>
              <a:cxnLst/>
              <a:rect l="l" t="t" r="r" b="b"/>
              <a:pathLst>
                <a:path w="3538059" h="1241269">
                  <a:moveTo>
                    <a:pt x="0" y="0"/>
                  </a:moveTo>
                  <a:lnTo>
                    <a:pt x="3538059" y="0"/>
                  </a:lnTo>
                  <a:lnTo>
                    <a:pt x="3538059" y="1241269"/>
                  </a:lnTo>
                  <a:lnTo>
                    <a:pt x="0" y="1241269"/>
                  </a:lnTo>
                  <a:lnTo>
                    <a:pt x="0" y="0"/>
                  </a:lnTo>
                  <a:close/>
                </a:path>
              </a:pathLst>
            </a:custGeom>
            <a:blipFill>
              <a:blip r:embed="rId15"/>
              <a:stretch>
                <a:fillRect/>
              </a:stretch>
            </a:blipFill>
          </p:spPr>
        </p:sp>
        <p:sp>
          <p:nvSpPr>
            <p:cNvPr id="22" name="TextBox 22"/>
            <p:cNvSpPr txBox="1"/>
            <p:nvPr/>
          </p:nvSpPr>
          <p:spPr>
            <a:xfrm>
              <a:off x="530446" y="297004"/>
              <a:ext cx="2477166" cy="590111"/>
            </a:xfrm>
            <a:prstGeom prst="rect">
              <a:avLst/>
            </a:prstGeom>
          </p:spPr>
          <p:txBody>
            <a:bodyPr lIns="0" tIns="0" rIns="0" bIns="0" rtlCol="0" anchor="t">
              <a:spAutoFit/>
            </a:bodyPr>
            <a:lstStyle/>
            <a:p>
              <a:pPr algn="ctr">
                <a:lnSpc>
                  <a:spcPts val="3750"/>
                </a:lnSpc>
                <a:spcBef>
                  <a:spcPct val="0"/>
                </a:spcBef>
              </a:pPr>
              <a:r>
                <a:rPr lang="en-US" sz="2678" b="1">
                  <a:solidFill>
                    <a:srgbClr val="021048"/>
                  </a:solidFill>
                  <a:latin typeface="Open Sans Bold"/>
                  <a:ea typeface="Open Sans Bold"/>
                  <a:cs typeface="Open Sans Bold"/>
                  <a:sym typeface="Open Sans Bold"/>
                </a:rPr>
                <a:t>AND MORE</a:t>
              </a:r>
            </a:p>
          </p:txBody>
        </p:sp>
      </p:grpSp>
      <p:grpSp>
        <p:nvGrpSpPr>
          <p:cNvPr id="23" name="Group 23"/>
          <p:cNvGrpSpPr/>
          <p:nvPr/>
        </p:nvGrpSpPr>
        <p:grpSpPr>
          <a:xfrm>
            <a:off x="804982" y="8998387"/>
            <a:ext cx="11889708" cy="1407635"/>
            <a:chOff x="0" y="0"/>
            <a:chExt cx="15852944" cy="1876847"/>
          </a:xfrm>
        </p:grpSpPr>
        <p:sp>
          <p:nvSpPr>
            <p:cNvPr id="24" name="Freeform 24"/>
            <p:cNvSpPr/>
            <p:nvPr/>
          </p:nvSpPr>
          <p:spPr>
            <a:xfrm>
              <a:off x="8312040" y="0"/>
              <a:ext cx="7540904" cy="1876847"/>
            </a:xfrm>
            <a:custGeom>
              <a:avLst/>
              <a:gdLst/>
              <a:ahLst/>
              <a:cxnLst/>
              <a:rect l="l" t="t" r="r" b="b"/>
              <a:pathLst>
                <a:path w="7540904" h="1876847">
                  <a:moveTo>
                    <a:pt x="0" y="0"/>
                  </a:moveTo>
                  <a:lnTo>
                    <a:pt x="7540904" y="0"/>
                  </a:lnTo>
                  <a:lnTo>
                    <a:pt x="7540904" y="1876847"/>
                  </a:lnTo>
                  <a:lnTo>
                    <a:pt x="0" y="1876847"/>
                  </a:lnTo>
                  <a:lnTo>
                    <a:pt x="0" y="0"/>
                  </a:lnTo>
                  <a:close/>
                </a:path>
              </a:pathLst>
            </a:custGeom>
            <a:blipFill>
              <a:blip r:embed="rId16"/>
              <a:stretch>
                <a:fillRect/>
              </a:stretch>
            </a:blipFill>
          </p:spPr>
        </p:sp>
        <p:sp>
          <p:nvSpPr>
            <p:cNvPr id="25" name="Freeform 25"/>
            <p:cNvSpPr/>
            <p:nvPr/>
          </p:nvSpPr>
          <p:spPr>
            <a:xfrm>
              <a:off x="0" y="402549"/>
              <a:ext cx="7030326" cy="1377800"/>
            </a:xfrm>
            <a:custGeom>
              <a:avLst/>
              <a:gdLst/>
              <a:ahLst/>
              <a:cxnLst/>
              <a:rect l="l" t="t" r="r" b="b"/>
              <a:pathLst>
                <a:path w="7030326" h="1377800">
                  <a:moveTo>
                    <a:pt x="0" y="0"/>
                  </a:moveTo>
                  <a:lnTo>
                    <a:pt x="7030326" y="0"/>
                  </a:lnTo>
                  <a:lnTo>
                    <a:pt x="7030326" y="1377800"/>
                  </a:lnTo>
                  <a:lnTo>
                    <a:pt x="0" y="1377800"/>
                  </a:lnTo>
                  <a:lnTo>
                    <a:pt x="0" y="0"/>
                  </a:lnTo>
                  <a:close/>
                </a:path>
              </a:pathLst>
            </a:custGeom>
            <a:blipFill>
              <a:blip r:embed="rId17"/>
              <a:stretch>
                <a:fillRect r="-13611"/>
              </a:stretch>
            </a:blipFill>
          </p:spPr>
        </p:sp>
        <p:sp>
          <p:nvSpPr>
            <p:cNvPr id="26" name="Freeform 26"/>
            <p:cNvSpPr/>
            <p:nvPr/>
          </p:nvSpPr>
          <p:spPr>
            <a:xfrm>
              <a:off x="0" y="402549"/>
              <a:ext cx="6929146" cy="1361698"/>
            </a:xfrm>
            <a:custGeom>
              <a:avLst/>
              <a:gdLst/>
              <a:ahLst/>
              <a:cxnLst/>
              <a:rect l="l" t="t" r="r" b="b"/>
              <a:pathLst>
                <a:path w="6929146" h="1361698">
                  <a:moveTo>
                    <a:pt x="0" y="0"/>
                  </a:moveTo>
                  <a:lnTo>
                    <a:pt x="6929146" y="0"/>
                  </a:lnTo>
                  <a:lnTo>
                    <a:pt x="6929146" y="1361698"/>
                  </a:lnTo>
                  <a:lnTo>
                    <a:pt x="0" y="1361698"/>
                  </a:lnTo>
                  <a:lnTo>
                    <a:pt x="0" y="0"/>
                  </a:lnTo>
                  <a:close/>
                </a:path>
              </a:pathLst>
            </a:custGeom>
            <a:blipFill>
              <a:blip r:embed="rId18"/>
              <a:stretch>
                <a:fillRect/>
              </a:stretch>
            </a:blipFill>
          </p:spPr>
        </p:sp>
      </p:grpSp>
      <p:grpSp>
        <p:nvGrpSpPr>
          <p:cNvPr id="27" name="Group 27"/>
          <p:cNvGrpSpPr/>
          <p:nvPr/>
        </p:nvGrpSpPr>
        <p:grpSpPr>
          <a:xfrm>
            <a:off x="804982" y="7008533"/>
            <a:ext cx="9680188" cy="2249767"/>
            <a:chOff x="0" y="0"/>
            <a:chExt cx="12906918" cy="2999689"/>
          </a:xfrm>
        </p:grpSpPr>
        <p:sp>
          <p:nvSpPr>
            <p:cNvPr id="28" name="Freeform 28"/>
            <p:cNvSpPr/>
            <p:nvPr/>
          </p:nvSpPr>
          <p:spPr>
            <a:xfrm>
              <a:off x="8150719" y="500388"/>
              <a:ext cx="4756199" cy="2499301"/>
            </a:xfrm>
            <a:custGeom>
              <a:avLst/>
              <a:gdLst/>
              <a:ahLst/>
              <a:cxnLst/>
              <a:rect l="l" t="t" r="r" b="b"/>
              <a:pathLst>
                <a:path w="4756199" h="2499301">
                  <a:moveTo>
                    <a:pt x="0" y="0"/>
                  </a:moveTo>
                  <a:lnTo>
                    <a:pt x="4756199" y="0"/>
                  </a:lnTo>
                  <a:lnTo>
                    <a:pt x="4756199" y="2499301"/>
                  </a:lnTo>
                  <a:lnTo>
                    <a:pt x="0" y="2499301"/>
                  </a:lnTo>
                  <a:lnTo>
                    <a:pt x="0" y="0"/>
                  </a:lnTo>
                  <a:close/>
                </a:path>
              </a:pathLst>
            </a:custGeom>
            <a:blipFill>
              <a:blip r:embed="rId19"/>
              <a:stretch>
                <a:fillRect l="-7477" r="-6497" b="-28502"/>
              </a:stretch>
            </a:blipFill>
          </p:spPr>
        </p:sp>
        <p:sp>
          <p:nvSpPr>
            <p:cNvPr id="29" name="Freeform 29"/>
            <p:cNvSpPr/>
            <p:nvPr/>
          </p:nvSpPr>
          <p:spPr>
            <a:xfrm>
              <a:off x="4601710" y="402549"/>
              <a:ext cx="2188390" cy="2188390"/>
            </a:xfrm>
            <a:custGeom>
              <a:avLst/>
              <a:gdLst/>
              <a:ahLst/>
              <a:cxnLst/>
              <a:rect l="l" t="t" r="r" b="b"/>
              <a:pathLst>
                <a:path w="2188390" h="2188390">
                  <a:moveTo>
                    <a:pt x="0" y="0"/>
                  </a:moveTo>
                  <a:lnTo>
                    <a:pt x="2188390" y="0"/>
                  </a:lnTo>
                  <a:lnTo>
                    <a:pt x="2188390" y="2188390"/>
                  </a:lnTo>
                  <a:lnTo>
                    <a:pt x="0" y="2188390"/>
                  </a:lnTo>
                  <a:lnTo>
                    <a:pt x="0" y="0"/>
                  </a:lnTo>
                  <a:close/>
                </a:path>
              </a:pathLst>
            </a:custGeom>
            <a:blipFill>
              <a:blip r:embed="rId20"/>
              <a:stretch>
                <a:fillRect/>
              </a:stretch>
            </a:blipFill>
          </p:spPr>
        </p:sp>
        <p:sp>
          <p:nvSpPr>
            <p:cNvPr id="30" name="Freeform 30"/>
            <p:cNvSpPr/>
            <p:nvPr/>
          </p:nvSpPr>
          <p:spPr>
            <a:xfrm>
              <a:off x="0" y="0"/>
              <a:ext cx="2993489" cy="2993489"/>
            </a:xfrm>
            <a:custGeom>
              <a:avLst/>
              <a:gdLst/>
              <a:ahLst/>
              <a:cxnLst/>
              <a:rect l="l" t="t" r="r" b="b"/>
              <a:pathLst>
                <a:path w="2993489" h="2993489">
                  <a:moveTo>
                    <a:pt x="0" y="0"/>
                  </a:moveTo>
                  <a:lnTo>
                    <a:pt x="2993489" y="0"/>
                  </a:lnTo>
                  <a:lnTo>
                    <a:pt x="2993489" y="2993489"/>
                  </a:lnTo>
                  <a:lnTo>
                    <a:pt x="0" y="2993489"/>
                  </a:lnTo>
                  <a:lnTo>
                    <a:pt x="0" y="0"/>
                  </a:lnTo>
                  <a:close/>
                </a:path>
              </a:pathLst>
            </a:custGeom>
            <a:blipFill>
              <a:blip r:embed="rId21"/>
              <a:stretch>
                <a:fillRect/>
              </a:stretch>
            </a:blipFill>
          </p:spPr>
        </p:sp>
      </p:grpSp>
      <p:sp>
        <p:nvSpPr>
          <p:cNvPr id="31" name="TextBox 31"/>
          <p:cNvSpPr txBox="1"/>
          <p:nvPr/>
        </p:nvSpPr>
        <p:spPr>
          <a:xfrm>
            <a:off x="995680" y="125882"/>
            <a:ext cx="6441805"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CLIENTS</a:t>
            </a:r>
          </a:p>
        </p:txBody>
      </p:sp>
      <p:sp>
        <p:nvSpPr>
          <p:cNvPr id="32" name="Freeform 32"/>
          <p:cNvSpPr/>
          <p:nvPr/>
        </p:nvSpPr>
        <p:spPr>
          <a:xfrm>
            <a:off x="1028700" y="1527417"/>
            <a:ext cx="6721258" cy="1030320"/>
          </a:xfrm>
          <a:custGeom>
            <a:avLst/>
            <a:gdLst/>
            <a:ahLst/>
            <a:cxnLst/>
            <a:rect l="l" t="t" r="r" b="b"/>
            <a:pathLst>
              <a:path w="6721258" h="1030320">
                <a:moveTo>
                  <a:pt x="0" y="0"/>
                </a:moveTo>
                <a:lnTo>
                  <a:pt x="6721258" y="0"/>
                </a:lnTo>
                <a:lnTo>
                  <a:pt x="6721258" y="1030320"/>
                </a:lnTo>
                <a:lnTo>
                  <a:pt x="0" y="1030320"/>
                </a:lnTo>
                <a:lnTo>
                  <a:pt x="0" y="0"/>
                </a:lnTo>
                <a:close/>
              </a:path>
            </a:pathLst>
          </a:custGeom>
          <a:blipFill>
            <a:blip r:embed="rId22"/>
            <a:stretch>
              <a:fillRect t="-333850" r="-133731" b="-31195"/>
            </a:stretch>
          </a:blipFill>
        </p:spPr>
      </p:sp>
      <p:sp>
        <p:nvSpPr>
          <p:cNvPr id="33" name="TextBox 33"/>
          <p:cNvSpPr txBox="1"/>
          <p:nvPr/>
        </p:nvSpPr>
        <p:spPr>
          <a:xfrm>
            <a:off x="804982" y="1375017"/>
            <a:ext cx="6944976"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 WE SERVED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flipV="1">
            <a:off x="-2391312" y="-111894"/>
            <a:ext cx="5914486" cy="5989353"/>
          </a:xfrm>
          <a:custGeom>
            <a:avLst/>
            <a:gdLst/>
            <a:ahLst/>
            <a:cxnLst/>
            <a:rect l="l" t="t" r="r" b="b"/>
            <a:pathLst>
              <a:path w="5914486" h="5989353">
                <a:moveTo>
                  <a:pt x="0" y="5989352"/>
                </a:moveTo>
                <a:lnTo>
                  <a:pt x="5914486" y="5989352"/>
                </a:lnTo>
                <a:lnTo>
                  <a:pt x="5914486" y="0"/>
                </a:lnTo>
                <a:lnTo>
                  <a:pt x="0" y="0"/>
                </a:lnTo>
                <a:lnTo>
                  <a:pt x="0" y="5989352"/>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flipH="1" flipV="1">
            <a:off x="14764826" y="-111894"/>
            <a:ext cx="5914486" cy="5989353"/>
          </a:xfrm>
          <a:custGeom>
            <a:avLst/>
            <a:gdLst/>
            <a:ahLst/>
            <a:cxnLst/>
            <a:rect l="l" t="t" r="r" b="b"/>
            <a:pathLst>
              <a:path w="5914486" h="5989353">
                <a:moveTo>
                  <a:pt x="5914486" y="5989352"/>
                </a:moveTo>
                <a:lnTo>
                  <a:pt x="0" y="5989352"/>
                </a:lnTo>
                <a:lnTo>
                  <a:pt x="0" y="0"/>
                </a:lnTo>
                <a:lnTo>
                  <a:pt x="5914486" y="0"/>
                </a:lnTo>
                <a:lnTo>
                  <a:pt x="5914486" y="5989352"/>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5018225" y="6998314"/>
            <a:ext cx="606237" cy="626749"/>
          </a:xfrm>
          <a:custGeom>
            <a:avLst/>
            <a:gdLst/>
            <a:ahLst/>
            <a:cxnLst/>
            <a:rect l="l" t="t" r="r" b="b"/>
            <a:pathLst>
              <a:path w="606237" h="626749">
                <a:moveTo>
                  <a:pt x="0" y="0"/>
                </a:moveTo>
                <a:lnTo>
                  <a:pt x="606237" y="0"/>
                </a:lnTo>
                <a:lnTo>
                  <a:pt x="606237" y="626749"/>
                </a:lnTo>
                <a:lnTo>
                  <a:pt x="0" y="62674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a:off x="11107747" y="6998314"/>
            <a:ext cx="606237" cy="626749"/>
          </a:xfrm>
          <a:custGeom>
            <a:avLst/>
            <a:gdLst/>
            <a:ahLst/>
            <a:cxnLst/>
            <a:rect l="l" t="t" r="r" b="b"/>
            <a:pathLst>
              <a:path w="606237" h="626749">
                <a:moveTo>
                  <a:pt x="0" y="0"/>
                </a:moveTo>
                <a:lnTo>
                  <a:pt x="606237" y="0"/>
                </a:lnTo>
                <a:lnTo>
                  <a:pt x="606237" y="626749"/>
                </a:lnTo>
                <a:lnTo>
                  <a:pt x="0" y="62674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Freeform 7"/>
          <p:cNvSpPr/>
          <p:nvPr/>
        </p:nvSpPr>
        <p:spPr>
          <a:xfrm>
            <a:off x="15998324" y="6998314"/>
            <a:ext cx="606237" cy="626749"/>
          </a:xfrm>
          <a:custGeom>
            <a:avLst/>
            <a:gdLst/>
            <a:ahLst/>
            <a:cxnLst/>
            <a:rect l="l" t="t" r="r" b="b"/>
            <a:pathLst>
              <a:path w="606237" h="626749">
                <a:moveTo>
                  <a:pt x="0" y="0"/>
                </a:moveTo>
                <a:lnTo>
                  <a:pt x="606237" y="0"/>
                </a:lnTo>
                <a:lnTo>
                  <a:pt x="606237" y="626749"/>
                </a:lnTo>
                <a:lnTo>
                  <a:pt x="0" y="62674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TextBox 8"/>
          <p:cNvSpPr txBox="1"/>
          <p:nvPr/>
        </p:nvSpPr>
        <p:spPr>
          <a:xfrm>
            <a:off x="2451226" y="1192571"/>
            <a:ext cx="13591383" cy="1094826"/>
          </a:xfrm>
          <a:prstGeom prst="rect">
            <a:avLst/>
          </a:prstGeom>
        </p:spPr>
        <p:txBody>
          <a:bodyPr lIns="0" tIns="0" rIns="0" bIns="0" rtlCol="0" anchor="t">
            <a:spAutoFit/>
          </a:bodyPr>
          <a:lstStyle/>
          <a:p>
            <a:pPr algn="ctr">
              <a:lnSpc>
                <a:spcPts val="8955"/>
              </a:lnSpc>
              <a:spcBef>
                <a:spcPct val="0"/>
              </a:spcBef>
            </a:pPr>
            <a:r>
              <a:rPr lang="en-US" sz="6396" b="1">
                <a:solidFill>
                  <a:srgbClr val="010F48"/>
                </a:solidFill>
                <a:latin typeface="Anantason SemiExpanded Bold"/>
                <a:ea typeface="Anantason SemiExpanded Bold"/>
                <a:cs typeface="Anantason SemiExpanded Bold"/>
                <a:sym typeface="Anantason SemiExpanded Bold"/>
              </a:rPr>
              <a:t>OUR GROWING NETWORK</a:t>
            </a:r>
          </a:p>
        </p:txBody>
      </p:sp>
      <p:sp>
        <p:nvSpPr>
          <p:cNvPr id="9" name="TextBox 9"/>
          <p:cNvSpPr txBox="1"/>
          <p:nvPr/>
        </p:nvSpPr>
        <p:spPr>
          <a:xfrm>
            <a:off x="3591694" y="3874372"/>
            <a:ext cx="11460880" cy="1684655"/>
          </a:xfrm>
          <a:prstGeom prst="rect">
            <a:avLst/>
          </a:prstGeom>
        </p:spPr>
        <p:txBody>
          <a:bodyPr lIns="0" tIns="0" rIns="0" bIns="0" rtlCol="0" anchor="t">
            <a:spAutoFit/>
          </a:bodyPr>
          <a:lstStyle/>
          <a:p>
            <a:pPr algn="just">
              <a:lnSpc>
                <a:spcPts val="4029"/>
              </a:lnSpc>
            </a:pPr>
            <a:r>
              <a:rPr lang="en-US" sz="3099" spc="-30" dirty="0">
                <a:solidFill>
                  <a:srgbClr val="000000"/>
                </a:solidFill>
                <a:latin typeface="Prachason Neue SemiExpanded"/>
                <a:ea typeface="Prachason Neue SemiExpanded"/>
                <a:cs typeface="Prachason Neue SemiExpanded"/>
                <a:sym typeface="Prachason Neue SemiExpanded"/>
              </a:rPr>
              <a:t>A growing consultancy firm for insurance solution with a strong client network, committed to promoting wellness, preventive health, and lifestyle benefits for its members.</a:t>
            </a:r>
          </a:p>
        </p:txBody>
      </p:sp>
      <p:sp>
        <p:nvSpPr>
          <p:cNvPr id="10" name="TextBox 10"/>
          <p:cNvSpPr txBox="1"/>
          <p:nvPr/>
        </p:nvSpPr>
        <p:spPr>
          <a:xfrm>
            <a:off x="3465705" y="2806582"/>
            <a:ext cx="11712858" cy="712470"/>
          </a:xfrm>
          <a:prstGeom prst="rect">
            <a:avLst/>
          </a:prstGeom>
        </p:spPr>
        <p:txBody>
          <a:bodyPr lIns="0" tIns="0" rIns="0" bIns="0" rtlCol="0" anchor="t">
            <a:spAutoFit/>
          </a:bodyPr>
          <a:lstStyle/>
          <a:p>
            <a:pPr algn="ctr">
              <a:lnSpc>
                <a:spcPts val="5879"/>
              </a:lnSpc>
              <a:spcBef>
                <a:spcPct val="0"/>
              </a:spcBef>
            </a:pPr>
            <a:r>
              <a:rPr lang="en-US" sz="4199" b="1" u="sng">
                <a:solidFill>
                  <a:srgbClr val="010F48"/>
                </a:solidFill>
                <a:latin typeface="Anantason SemiExpanded Bold"/>
                <a:ea typeface="Anantason SemiExpanded Bold"/>
                <a:cs typeface="Anantason SemiExpanded Bold"/>
                <a:sym typeface="Anantason SemiExpanded Bold"/>
              </a:rPr>
              <a:t>RMC2 CONSULTANCY CORP</a:t>
            </a:r>
          </a:p>
        </p:txBody>
      </p:sp>
      <p:sp>
        <p:nvSpPr>
          <p:cNvPr id="11" name="TextBox 11"/>
          <p:cNvSpPr txBox="1"/>
          <p:nvPr/>
        </p:nvSpPr>
        <p:spPr>
          <a:xfrm>
            <a:off x="680350" y="7744755"/>
            <a:ext cx="6051527" cy="587376"/>
          </a:xfrm>
          <a:prstGeom prst="rect">
            <a:avLst/>
          </a:prstGeom>
        </p:spPr>
        <p:txBody>
          <a:bodyPr lIns="0" tIns="0" rIns="0" bIns="0" rtlCol="0" anchor="t">
            <a:spAutoFit/>
          </a:bodyPr>
          <a:lstStyle/>
          <a:p>
            <a:pPr algn="ctr">
              <a:lnSpc>
                <a:spcPts val="4899"/>
              </a:lnSpc>
              <a:spcBef>
                <a:spcPct val="0"/>
              </a:spcBef>
            </a:pPr>
            <a:r>
              <a:rPr lang="en-US" sz="3499" b="1">
                <a:solidFill>
                  <a:srgbClr val="000000"/>
                </a:solidFill>
                <a:latin typeface="Anantason SemiExpanded Bold"/>
                <a:ea typeface="Anantason SemiExpanded Bold"/>
                <a:cs typeface="Anantason SemiExpanded Bold"/>
                <a:sym typeface="Anantason SemiExpanded Bold"/>
              </a:rPr>
              <a:t>SALES ADVISORS</a:t>
            </a:r>
          </a:p>
        </p:txBody>
      </p:sp>
      <p:sp>
        <p:nvSpPr>
          <p:cNvPr id="12" name="TextBox 12"/>
          <p:cNvSpPr txBox="1"/>
          <p:nvPr/>
        </p:nvSpPr>
        <p:spPr>
          <a:xfrm>
            <a:off x="1787765" y="6450941"/>
            <a:ext cx="3071664" cy="1550045"/>
          </a:xfrm>
          <a:prstGeom prst="rect">
            <a:avLst/>
          </a:prstGeom>
        </p:spPr>
        <p:txBody>
          <a:bodyPr lIns="0" tIns="0" rIns="0" bIns="0" rtlCol="0" anchor="t">
            <a:spAutoFit/>
          </a:bodyPr>
          <a:lstStyle/>
          <a:p>
            <a:pPr algn="ctr">
              <a:lnSpc>
                <a:spcPts val="12739"/>
              </a:lnSpc>
              <a:spcBef>
                <a:spcPct val="0"/>
              </a:spcBef>
            </a:pPr>
            <a:r>
              <a:rPr lang="en-US" sz="9099" b="1" dirty="0">
                <a:solidFill>
                  <a:srgbClr val="000000"/>
                </a:solidFill>
                <a:latin typeface="Anantason SemiExpanded Bold"/>
                <a:ea typeface="Anantason SemiExpanded Bold"/>
                <a:cs typeface="Anantason SemiExpanded Bold"/>
                <a:sym typeface="Anantason SemiExpanded Bold"/>
              </a:rPr>
              <a:t>1,200</a:t>
            </a:r>
          </a:p>
        </p:txBody>
      </p:sp>
      <p:sp>
        <p:nvSpPr>
          <p:cNvPr id="13" name="TextBox 13"/>
          <p:cNvSpPr txBox="1"/>
          <p:nvPr/>
        </p:nvSpPr>
        <p:spPr>
          <a:xfrm>
            <a:off x="7154921" y="6450941"/>
            <a:ext cx="3848249" cy="1550045"/>
          </a:xfrm>
          <a:prstGeom prst="rect">
            <a:avLst/>
          </a:prstGeom>
        </p:spPr>
        <p:txBody>
          <a:bodyPr lIns="0" tIns="0" rIns="0" bIns="0" rtlCol="0" anchor="t">
            <a:spAutoFit/>
          </a:bodyPr>
          <a:lstStyle/>
          <a:p>
            <a:pPr algn="ctr">
              <a:lnSpc>
                <a:spcPts val="12739"/>
              </a:lnSpc>
              <a:spcBef>
                <a:spcPct val="0"/>
              </a:spcBef>
            </a:pPr>
            <a:r>
              <a:rPr lang="en-US" sz="9099" b="1" dirty="0">
                <a:solidFill>
                  <a:srgbClr val="000000"/>
                </a:solidFill>
                <a:latin typeface="Anantason SemiExpanded Bold"/>
                <a:ea typeface="Anantason SemiExpanded Bold"/>
                <a:cs typeface="Anantason SemiExpanded Bold"/>
                <a:sym typeface="Anantason SemiExpanded Bold"/>
              </a:rPr>
              <a:t>15,300</a:t>
            </a:r>
          </a:p>
        </p:txBody>
      </p:sp>
      <p:sp>
        <p:nvSpPr>
          <p:cNvPr id="14" name="TextBox 14"/>
          <p:cNvSpPr txBox="1"/>
          <p:nvPr/>
        </p:nvSpPr>
        <p:spPr>
          <a:xfrm>
            <a:off x="7119734" y="7769521"/>
            <a:ext cx="4594250" cy="587376"/>
          </a:xfrm>
          <a:prstGeom prst="rect">
            <a:avLst/>
          </a:prstGeom>
        </p:spPr>
        <p:txBody>
          <a:bodyPr lIns="0" tIns="0" rIns="0" bIns="0" rtlCol="0" anchor="t">
            <a:spAutoFit/>
          </a:bodyPr>
          <a:lstStyle/>
          <a:p>
            <a:pPr algn="ctr">
              <a:lnSpc>
                <a:spcPts val="4899"/>
              </a:lnSpc>
              <a:spcBef>
                <a:spcPct val="0"/>
              </a:spcBef>
            </a:pPr>
            <a:r>
              <a:rPr lang="en-US" sz="3499" b="1">
                <a:solidFill>
                  <a:srgbClr val="000000"/>
                </a:solidFill>
                <a:latin typeface="Anantason SemiExpanded Bold"/>
                <a:ea typeface="Anantason SemiExpanded Bold"/>
                <a:cs typeface="Anantason SemiExpanded Bold"/>
                <a:sym typeface="Anantason SemiExpanded Bold"/>
              </a:rPr>
              <a:t>GROUP ENROLLEES</a:t>
            </a:r>
          </a:p>
        </p:txBody>
      </p:sp>
      <p:sp>
        <p:nvSpPr>
          <p:cNvPr id="15" name="TextBox 15"/>
          <p:cNvSpPr txBox="1"/>
          <p:nvPr/>
        </p:nvSpPr>
        <p:spPr>
          <a:xfrm>
            <a:off x="13610330" y="6516973"/>
            <a:ext cx="2308994" cy="1550045"/>
          </a:xfrm>
          <a:prstGeom prst="rect">
            <a:avLst/>
          </a:prstGeom>
        </p:spPr>
        <p:txBody>
          <a:bodyPr lIns="0" tIns="0" rIns="0" bIns="0" rtlCol="0" anchor="t">
            <a:spAutoFit/>
          </a:bodyPr>
          <a:lstStyle/>
          <a:p>
            <a:pPr algn="ctr">
              <a:lnSpc>
                <a:spcPts val="12739"/>
              </a:lnSpc>
              <a:spcBef>
                <a:spcPct val="0"/>
              </a:spcBef>
            </a:pPr>
            <a:r>
              <a:rPr lang="en-US" sz="9099" b="1" dirty="0">
                <a:solidFill>
                  <a:srgbClr val="000000"/>
                </a:solidFill>
                <a:latin typeface="Anantason SemiExpanded Bold"/>
                <a:ea typeface="Anantason SemiExpanded Bold"/>
                <a:cs typeface="Anantason SemiExpanded Bold"/>
                <a:sym typeface="Anantason SemiExpanded Bold"/>
              </a:rPr>
              <a:t>900</a:t>
            </a:r>
          </a:p>
        </p:txBody>
      </p:sp>
      <p:sp>
        <p:nvSpPr>
          <p:cNvPr id="16" name="TextBox 16"/>
          <p:cNvSpPr txBox="1"/>
          <p:nvPr/>
        </p:nvSpPr>
        <p:spPr>
          <a:xfrm>
            <a:off x="12558088" y="7769521"/>
            <a:ext cx="5186288" cy="587376"/>
          </a:xfrm>
          <a:prstGeom prst="rect">
            <a:avLst/>
          </a:prstGeom>
        </p:spPr>
        <p:txBody>
          <a:bodyPr lIns="0" tIns="0" rIns="0" bIns="0" rtlCol="0" anchor="t">
            <a:spAutoFit/>
          </a:bodyPr>
          <a:lstStyle/>
          <a:p>
            <a:pPr algn="ctr">
              <a:lnSpc>
                <a:spcPts val="4899"/>
              </a:lnSpc>
              <a:spcBef>
                <a:spcPct val="0"/>
              </a:spcBef>
            </a:pPr>
            <a:r>
              <a:rPr lang="en-US" sz="3499" b="1">
                <a:solidFill>
                  <a:srgbClr val="000000"/>
                </a:solidFill>
                <a:latin typeface="Anantason SemiExpanded Bold"/>
                <a:ea typeface="Anantason SemiExpanded Bold"/>
                <a:cs typeface="Anantason SemiExpanded Bold"/>
                <a:sym typeface="Anantason SemiExpanded Bold"/>
              </a:rPr>
              <a:t>INDIVIDUAL ACCOUNT</a:t>
            </a:r>
          </a:p>
        </p:txBody>
      </p:sp>
      <p:sp>
        <p:nvSpPr>
          <p:cNvPr id="17" name="TextBox 17"/>
          <p:cNvSpPr txBox="1"/>
          <p:nvPr/>
        </p:nvSpPr>
        <p:spPr>
          <a:xfrm>
            <a:off x="72790" y="9940925"/>
            <a:ext cx="2582714" cy="346075"/>
          </a:xfrm>
          <a:prstGeom prst="rect">
            <a:avLst/>
          </a:prstGeom>
        </p:spPr>
        <p:txBody>
          <a:bodyPr lIns="0" tIns="0" rIns="0" bIns="0" rtlCol="0" anchor="t">
            <a:spAutoFit/>
          </a:bodyPr>
          <a:lstStyle/>
          <a:p>
            <a:pPr algn="l">
              <a:lnSpc>
                <a:spcPts val="1400"/>
              </a:lnSpc>
            </a:pPr>
            <a:r>
              <a:rPr lang="en-US" sz="1000" i="1">
                <a:solidFill>
                  <a:srgbClr val="000000"/>
                </a:solidFill>
                <a:latin typeface="Anantason SemiExpanded Italics"/>
                <a:ea typeface="Anantason SemiExpanded Italics"/>
                <a:cs typeface="Anantason SemiExpanded Italics"/>
                <a:sym typeface="Anantason SemiExpanded Italics"/>
              </a:rPr>
              <a:t>*DATA FROM </a:t>
            </a:r>
          </a:p>
          <a:p>
            <a:pPr algn="l">
              <a:lnSpc>
                <a:spcPts val="1400"/>
              </a:lnSpc>
              <a:spcBef>
                <a:spcPct val="0"/>
              </a:spcBef>
            </a:pPr>
            <a:r>
              <a:rPr lang="en-US" sz="1000" i="1">
                <a:solidFill>
                  <a:srgbClr val="000000"/>
                </a:solidFill>
                <a:latin typeface="Anantason SemiExpanded Italics"/>
                <a:ea typeface="Anantason SemiExpanded Italics"/>
                <a:cs typeface="Anantason SemiExpanded Italics"/>
                <a:sym typeface="Anantason SemiExpanded Italics"/>
              </a:rPr>
              <a:t>SEPTEMBER 2024 - NOVEMBER 2025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500"/>
                                        <p:tgtEl>
                                          <p:spTgt spid="2"/>
                                        </p:tgtEl>
                                      </p:cBhvr>
                                    </p:animEffect>
                                  </p:childTnLst>
                                </p:cTn>
                              </p:par>
                              <p:par>
                                <p:cTn id="25" presetID="10" presetClass="entr" presetSubtype="0" fill="hold"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5" grpId="0"/>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rot="5400000">
            <a:off x="-982828" y="5787091"/>
            <a:ext cx="7560213" cy="5594557"/>
          </a:xfrm>
          <a:custGeom>
            <a:avLst/>
            <a:gdLst/>
            <a:ahLst/>
            <a:cxnLst/>
            <a:rect l="l" t="t" r="r" b="b"/>
            <a:pathLst>
              <a:path w="7560213" h="5594557">
                <a:moveTo>
                  <a:pt x="0" y="0"/>
                </a:moveTo>
                <a:lnTo>
                  <a:pt x="7560213" y="0"/>
                </a:lnTo>
                <a:lnTo>
                  <a:pt x="7560213" y="5594557"/>
                </a:lnTo>
                <a:lnTo>
                  <a:pt x="0" y="559455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028700" y="1748133"/>
            <a:ext cx="7160426" cy="7160426"/>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352889" y="2072322"/>
            <a:ext cx="6512047" cy="6512047"/>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4246" r="-2781" b="-7028"/>
              </a:stretch>
            </a:blipFill>
          </p:spPr>
        </p:sp>
      </p:grpSp>
      <p:sp>
        <p:nvSpPr>
          <p:cNvPr id="9" name="TextBox 9"/>
          <p:cNvSpPr txBox="1"/>
          <p:nvPr/>
        </p:nvSpPr>
        <p:spPr>
          <a:xfrm>
            <a:off x="8857915" y="454389"/>
            <a:ext cx="5492561" cy="1401535"/>
          </a:xfrm>
          <a:prstGeom prst="rect">
            <a:avLst/>
          </a:prstGeom>
        </p:spPr>
        <p:txBody>
          <a:bodyPr lIns="0" tIns="0" rIns="0" bIns="0" rtlCol="0" anchor="t">
            <a:spAutoFit/>
          </a:bodyPr>
          <a:lstStyle/>
          <a:p>
            <a:pPr algn="l">
              <a:lnSpc>
                <a:spcPts val="11475"/>
              </a:lnSpc>
              <a:spcBef>
                <a:spcPct val="0"/>
              </a:spcBef>
            </a:pPr>
            <a:r>
              <a:rPr lang="en-US" sz="8196" b="1">
                <a:solidFill>
                  <a:srgbClr val="000000"/>
                </a:solidFill>
                <a:latin typeface="Anantason SemiExpanded Bold"/>
                <a:ea typeface="Anantason SemiExpanded Bold"/>
                <a:cs typeface="Anantason SemiExpanded Bold"/>
                <a:sym typeface="Anantason SemiExpanded Bold"/>
              </a:rPr>
              <a:t>OUR</a:t>
            </a:r>
          </a:p>
        </p:txBody>
      </p:sp>
      <p:sp>
        <p:nvSpPr>
          <p:cNvPr id="10" name="TextBox 10"/>
          <p:cNvSpPr txBox="1"/>
          <p:nvPr/>
        </p:nvSpPr>
        <p:spPr>
          <a:xfrm>
            <a:off x="8857915" y="1487941"/>
            <a:ext cx="6876747" cy="1401535"/>
          </a:xfrm>
          <a:prstGeom prst="rect">
            <a:avLst/>
          </a:prstGeom>
        </p:spPr>
        <p:txBody>
          <a:bodyPr lIns="0" tIns="0" rIns="0" bIns="0" rtlCol="0" anchor="t">
            <a:spAutoFit/>
          </a:bodyPr>
          <a:lstStyle/>
          <a:p>
            <a:pPr algn="l">
              <a:lnSpc>
                <a:spcPts val="11475"/>
              </a:lnSpc>
              <a:spcBef>
                <a:spcPct val="0"/>
              </a:spcBef>
            </a:pPr>
            <a:r>
              <a:rPr lang="en-US" sz="8196" b="1">
                <a:solidFill>
                  <a:srgbClr val="FF7E2F"/>
                </a:solidFill>
                <a:latin typeface="Anantason SemiExpanded Bold"/>
                <a:ea typeface="Anantason SemiExpanded Bold"/>
                <a:cs typeface="Anantason SemiExpanded Bold"/>
                <a:sym typeface="Anantason SemiExpanded Bold"/>
              </a:rPr>
              <a:t>OFFICES</a:t>
            </a:r>
          </a:p>
        </p:txBody>
      </p:sp>
      <p:sp>
        <p:nvSpPr>
          <p:cNvPr id="11" name="TextBox 11"/>
          <p:cNvSpPr txBox="1"/>
          <p:nvPr/>
        </p:nvSpPr>
        <p:spPr>
          <a:xfrm>
            <a:off x="8212037" y="2913123"/>
            <a:ext cx="5300504" cy="5893216"/>
          </a:xfrm>
          <a:prstGeom prst="rect">
            <a:avLst/>
          </a:prstGeom>
        </p:spPr>
        <p:txBody>
          <a:bodyPr lIns="0" tIns="0" rIns="0" bIns="0" rtlCol="0" anchor="t">
            <a:spAutoFit/>
          </a:bodyPr>
          <a:lstStyle/>
          <a:p>
            <a:pPr algn="just">
              <a:lnSpc>
                <a:spcPts val="3311"/>
              </a:lnSpc>
            </a:pPr>
            <a:r>
              <a:rPr lang="en-US" sz="2547" b="1" spc="-25" dirty="0">
                <a:solidFill>
                  <a:srgbClr val="000000"/>
                </a:solidFill>
                <a:latin typeface="Prachason Neue SemiExpanded Bold"/>
                <a:ea typeface="Prachason Neue SemiExpanded Bold"/>
                <a:cs typeface="Prachason Neue SemiExpanded Bold"/>
                <a:sym typeface="Prachason Neue SemiExpanded Bold"/>
              </a:rPr>
              <a:t>LUZON:</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Cainta - HEAD OFFICE</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Antipolo</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Taytay</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Bulacan</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Valenzuela</a:t>
            </a:r>
          </a:p>
          <a:p>
            <a:pPr algn="just">
              <a:lnSpc>
                <a:spcPts val="3311"/>
              </a:lnSpc>
            </a:pPr>
            <a:r>
              <a:rPr lang="en-US" sz="2547" spc="-25" dirty="0" err="1">
                <a:solidFill>
                  <a:srgbClr val="000000"/>
                </a:solidFill>
                <a:latin typeface="Prachason Neue SemiExpanded"/>
                <a:ea typeface="Prachason Neue SemiExpanded"/>
                <a:cs typeface="Prachason Neue SemiExpanded"/>
                <a:sym typeface="Prachason Neue SemiExpanded"/>
              </a:rPr>
              <a:t>Lipa</a:t>
            </a:r>
            <a:endParaRPr lang="en-US" sz="2547" spc="-25" dirty="0">
              <a:solidFill>
                <a:srgbClr val="000000"/>
              </a:solidFill>
              <a:latin typeface="Prachason Neue SemiExpanded"/>
              <a:ea typeface="Prachason Neue SemiExpanded"/>
              <a:cs typeface="Prachason Neue SemiExpanded"/>
              <a:sym typeface="Prachason Neue SemiExpanded"/>
            </a:endParaRP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Pampanga - OPENING SOON</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La Union</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Baguio</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Isabela</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Bicol - OPENING SOON</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Quezon City 1 &amp; 2</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Ilagan - OPENING SOON</a:t>
            </a:r>
          </a:p>
        </p:txBody>
      </p:sp>
      <p:sp>
        <p:nvSpPr>
          <p:cNvPr id="12" name="TextBox 12"/>
          <p:cNvSpPr txBox="1"/>
          <p:nvPr/>
        </p:nvSpPr>
        <p:spPr>
          <a:xfrm>
            <a:off x="12072585" y="4802718"/>
            <a:ext cx="4216456" cy="814903"/>
          </a:xfrm>
          <a:prstGeom prst="rect">
            <a:avLst/>
          </a:prstGeom>
        </p:spPr>
        <p:txBody>
          <a:bodyPr lIns="0" tIns="0" rIns="0" bIns="0" rtlCol="0" anchor="t">
            <a:spAutoFit/>
          </a:bodyPr>
          <a:lstStyle/>
          <a:p>
            <a:pPr algn="l">
              <a:lnSpc>
                <a:spcPts val="3311"/>
              </a:lnSpc>
            </a:pPr>
            <a:r>
              <a:rPr lang="en-US" sz="2547" b="1" spc="-25" dirty="0">
                <a:solidFill>
                  <a:srgbClr val="000000"/>
                </a:solidFill>
                <a:latin typeface="Prachason Neue SemiExpanded Bold"/>
                <a:ea typeface="Prachason Neue SemiExpanded Bold"/>
                <a:cs typeface="Prachason Neue SemiExpanded Bold"/>
                <a:sym typeface="Prachason Neue SemiExpanded Bold"/>
              </a:rPr>
              <a:t>MINDANAO:</a:t>
            </a:r>
          </a:p>
          <a:p>
            <a:pPr algn="l">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General Santos City</a:t>
            </a:r>
          </a:p>
        </p:txBody>
      </p:sp>
      <p:sp>
        <p:nvSpPr>
          <p:cNvPr id="13" name="TextBox 13"/>
          <p:cNvSpPr txBox="1"/>
          <p:nvPr/>
        </p:nvSpPr>
        <p:spPr>
          <a:xfrm>
            <a:off x="12091635" y="2946794"/>
            <a:ext cx="6888837" cy="1396403"/>
          </a:xfrm>
          <a:prstGeom prst="rect">
            <a:avLst/>
          </a:prstGeom>
        </p:spPr>
        <p:txBody>
          <a:bodyPr lIns="0" tIns="0" rIns="0" bIns="0" rtlCol="0" anchor="t">
            <a:spAutoFit/>
          </a:bodyPr>
          <a:lstStyle/>
          <a:p>
            <a:pPr algn="l">
              <a:lnSpc>
                <a:spcPts val="3311"/>
              </a:lnSpc>
            </a:pPr>
            <a:r>
              <a:rPr lang="en-US" sz="2547" b="1" spc="-25" dirty="0">
                <a:solidFill>
                  <a:srgbClr val="000000"/>
                </a:solidFill>
                <a:latin typeface="Prachason Neue SemiExpanded Bold"/>
                <a:ea typeface="Prachason Neue SemiExpanded Bold"/>
                <a:cs typeface="Prachason Neue SemiExpanded Bold"/>
                <a:sym typeface="Prachason Neue SemiExpanded Bold"/>
              </a:rPr>
              <a:t>VISAYAS:</a:t>
            </a:r>
          </a:p>
          <a:p>
            <a:pPr algn="l">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Mandaue City - REGIONAL HEAD OFFICE</a:t>
            </a:r>
          </a:p>
          <a:p>
            <a:pPr algn="l">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Cebu City - OPENING SOON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fade">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fade">
                                      <p:cBhvr>
                                        <p:cTn id="17" dur="500"/>
                                        <p:tgtEl>
                                          <p:spTgt spid="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xEl>
                                              <p:pRg st="3" end="3"/>
                                            </p:txEl>
                                          </p:spTgt>
                                        </p:tgtEl>
                                        <p:attrNameLst>
                                          <p:attrName>style.visibility</p:attrName>
                                        </p:attrNameLst>
                                      </p:cBhvr>
                                      <p:to>
                                        <p:strVal val="visible"/>
                                      </p:to>
                                    </p:set>
                                    <p:animEffect transition="in" filter="fade">
                                      <p:cBhvr>
                                        <p:cTn id="22" dur="500"/>
                                        <p:tgtEl>
                                          <p:spTgt spid="1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
                                            <p:txEl>
                                              <p:pRg st="4" end="4"/>
                                            </p:txEl>
                                          </p:spTgt>
                                        </p:tgtEl>
                                        <p:attrNameLst>
                                          <p:attrName>style.visibility</p:attrName>
                                        </p:attrNameLst>
                                      </p:cBhvr>
                                      <p:to>
                                        <p:strVal val="visible"/>
                                      </p:to>
                                    </p:set>
                                    <p:animEffect transition="in" filter="fade">
                                      <p:cBhvr>
                                        <p:cTn id="27" dur="500"/>
                                        <p:tgtEl>
                                          <p:spTgt spid="1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1">
                                            <p:txEl>
                                              <p:pRg st="5" end="5"/>
                                            </p:txEl>
                                          </p:spTgt>
                                        </p:tgtEl>
                                        <p:attrNameLst>
                                          <p:attrName>style.visibility</p:attrName>
                                        </p:attrNameLst>
                                      </p:cBhvr>
                                      <p:to>
                                        <p:strVal val="visible"/>
                                      </p:to>
                                    </p:set>
                                    <p:animEffect transition="in" filter="fade">
                                      <p:cBhvr>
                                        <p:cTn id="32" dur="500"/>
                                        <p:tgtEl>
                                          <p:spTgt spid="1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
                                            <p:txEl>
                                              <p:pRg st="6" end="6"/>
                                            </p:txEl>
                                          </p:spTgt>
                                        </p:tgtEl>
                                        <p:attrNameLst>
                                          <p:attrName>style.visibility</p:attrName>
                                        </p:attrNameLst>
                                      </p:cBhvr>
                                      <p:to>
                                        <p:strVal val="visible"/>
                                      </p:to>
                                    </p:set>
                                    <p:animEffect transition="in" filter="fade">
                                      <p:cBhvr>
                                        <p:cTn id="37" dur="500"/>
                                        <p:tgtEl>
                                          <p:spTgt spid="1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1">
                                            <p:txEl>
                                              <p:pRg st="7" end="7"/>
                                            </p:txEl>
                                          </p:spTgt>
                                        </p:tgtEl>
                                        <p:attrNameLst>
                                          <p:attrName>style.visibility</p:attrName>
                                        </p:attrNameLst>
                                      </p:cBhvr>
                                      <p:to>
                                        <p:strVal val="visible"/>
                                      </p:to>
                                    </p:set>
                                    <p:animEffect transition="in" filter="fade">
                                      <p:cBhvr>
                                        <p:cTn id="42" dur="500"/>
                                        <p:tgtEl>
                                          <p:spTgt spid="1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1">
                                            <p:txEl>
                                              <p:pRg st="8" end="8"/>
                                            </p:txEl>
                                          </p:spTgt>
                                        </p:tgtEl>
                                        <p:attrNameLst>
                                          <p:attrName>style.visibility</p:attrName>
                                        </p:attrNameLst>
                                      </p:cBhvr>
                                      <p:to>
                                        <p:strVal val="visible"/>
                                      </p:to>
                                    </p:set>
                                    <p:animEffect transition="in" filter="fade">
                                      <p:cBhvr>
                                        <p:cTn id="47" dur="500"/>
                                        <p:tgtEl>
                                          <p:spTgt spid="1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1">
                                            <p:txEl>
                                              <p:pRg st="9" end="9"/>
                                            </p:txEl>
                                          </p:spTgt>
                                        </p:tgtEl>
                                        <p:attrNameLst>
                                          <p:attrName>style.visibility</p:attrName>
                                        </p:attrNameLst>
                                      </p:cBhvr>
                                      <p:to>
                                        <p:strVal val="visible"/>
                                      </p:to>
                                    </p:set>
                                    <p:animEffect transition="in" filter="fade">
                                      <p:cBhvr>
                                        <p:cTn id="52" dur="500"/>
                                        <p:tgtEl>
                                          <p:spTgt spid="11">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1">
                                            <p:txEl>
                                              <p:pRg st="10" end="10"/>
                                            </p:txEl>
                                          </p:spTgt>
                                        </p:tgtEl>
                                        <p:attrNameLst>
                                          <p:attrName>style.visibility</p:attrName>
                                        </p:attrNameLst>
                                      </p:cBhvr>
                                      <p:to>
                                        <p:strVal val="visible"/>
                                      </p:to>
                                    </p:set>
                                    <p:animEffect transition="in" filter="fade">
                                      <p:cBhvr>
                                        <p:cTn id="57" dur="500"/>
                                        <p:tgtEl>
                                          <p:spTgt spid="11">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1">
                                            <p:txEl>
                                              <p:pRg st="11" end="11"/>
                                            </p:txEl>
                                          </p:spTgt>
                                        </p:tgtEl>
                                        <p:attrNameLst>
                                          <p:attrName>style.visibility</p:attrName>
                                        </p:attrNameLst>
                                      </p:cBhvr>
                                      <p:to>
                                        <p:strVal val="visible"/>
                                      </p:to>
                                    </p:set>
                                    <p:animEffect transition="in" filter="fade">
                                      <p:cBhvr>
                                        <p:cTn id="62" dur="500"/>
                                        <p:tgtEl>
                                          <p:spTgt spid="11">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1">
                                            <p:txEl>
                                              <p:pRg st="12" end="12"/>
                                            </p:txEl>
                                          </p:spTgt>
                                        </p:tgtEl>
                                        <p:attrNameLst>
                                          <p:attrName>style.visibility</p:attrName>
                                        </p:attrNameLst>
                                      </p:cBhvr>
                                      <p:to>
                                        <p:strVal val="visible"/>
                                      </p:to>
                                    </p:set>
                                    <p:animEffect transition="in" filter="fade">
                                      <p:cBhvr>
                                        <p:cTn id="67" dur="500"/>
                                        <p:tgtEl>
                                          <p:spTgt spid="11">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1">
                                            <p:txEl>
                                              <p:pRg st="13" end="13"/>
                                            </p:txEl>
                                          </p:spTgt>
                                        </p:tgtEl>
                                        <p:attrNameLst>
                                          <p:attrName>style.visibility</p:attrName>
                                        </p:attrNameLst>
                                      </p:cBhvr>
                                      <p:to>
                                        <p:strVal val="visible"/>
                                      </p:to>
                                    </p:set>
                                    <p:animEffect transition="in" filter="fade">
                                      <p:cBhvr>
                                        <p:cTn id="72" dur="500"/>
                                        <p:tgtEl>
                                          <p:spTgt spid="11">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13">
                                            <p:txEl>
                                              <p:pRg st="0" end="0"/>
                                            </p:txEl>
                                          </p:spTgt>
                                        </p:tgtEl>
                                        <p:attrNameLst>
                                          <p:attrName>style.visibility</p:attrName>
                                        </p:attrNameLst>
                                      </p:cBhvr>
                                      <p:to>
                                        <p:strVal val="visible"/>
                                      </p:to>
                                    </p:set>
                                    <p:animEffect transition="in" filter="fade">
                                      <p:cBhvr>
                                        <p:cTn id="77" dur="500"/>
                                        <p:tgtEl>
                                          <p:spTgt spid="13">
                                            <p:txEl>
                                              <p:pRg st="0" end="0"/>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13">
                                            <p:txEl>
                                              <p:pRg st="1" end="1"/>
                                            </p:txEl>
                                          </p:spTgt>
                                        </p:tgtEl>
                                        <p:attrNameLst>
                                          <p:attrName>style.visibility</p:attrName>
                                        </p:attrNameLst>
                                      </p:cBhvr>
                                      <p:to>
                                        <p:strVal val="visible"/>
                                      </p:to>
                                    </p:set>
                                    <p:animEffect transition="in" filter="fade">
                                      <p:cBhvr>
                                        <p:cTn id="82" dur="500"/>
                                        <p:tgtEl>
                                          <p:spTgt spid="13">
                                            <p:txEl>
                                              <p:pRg st="1" end="1"/>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13">
                                            <p:txEl>
                                              <p:pRg st="2" end="2"/>
                                            </p:txEl>
                                          </p:spTgt>
                                        </p:tgtEl>
                                        <p:attrNameLst>
                                          <p:attrName>style.visibility</p:attrName>
                                        </p:attrNameLst>
                                      </p:cBhvr>
                                      <p:to>
                                        <p:strVal val="visible"/>
                                      </p:to>
                                    </p:set>
                                    <p:animEffect transition="in" filter="fade">
                                      <p:cBhvr>
                                        <p:cTn id="87" dur="500"/>
                                        <p:tgtEl>
                                          <p:spTgt spid="13">
                                            <p:txEl>
                                              <p:pRg st="2" end="2"/>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12">
                                            <p:txEl>
                                              <p:pRg st="0" end="0"/>
                                            </p:txEl>
                                          </p:spTgt>
                                        </p:tgtEl>
                                        <p:attrNameLst>
                                          <p:attrName>style.visibility</p:attrName>
                                        </p:attrNameLst>
                                      </p:cBhvr>
                                      <p:to>
                                        <p:strVal val="visible"/>
                                      </p:to>
                                    </p:set>
                                    <p:animEffect transition="in" filter="fade">
                                      <p:cBhvr>
                                        <p:cTn id="92" dur="500"/>
                                        <p:tgtEl>
                                          <p:spTgt spid="12">
                                            <p:txEl>
                                              <p:pRg st="0" end="0"/>
                                            </p:txEl>
                                          </p:spTgt>
                                        </p:tgtEl>
                                      </p:cBhvr>
                                    </p:animEffect>
                                  </p:childTnLst>
                                </p:cTn>
                              </p:par>
                              <p:par>
                                <p:cTn id="93" presetID="10" presetClass="entr" presetSubtype="0" fill="hold" nodeType="withEffect">
                                  <p:stCondLst>
                                    <p:cond delay="0"/>
                                  </p:stCondLst>
                                  <p:childTnLst>
                                    <p:set>
                                      <p:cBhvr>
                                        <p:cTn id="94" dur="1" fill="hold">
                                          <p:stCondLst>
                                            <p:cond delay="0"/>
                                          </p:stCondLst>
                                        </p:cTn>
                                        <p:tgtEl>
                                          <p:spTgt spid="12">
                                            <p:txEl>
                                              <p:pRg st="1" end="1"/>
                                            </p:txEl>
                                          </p:spTgt>
                                        </p:tgtEl>
                                        <p:attrNameLst>
                                          <p:attrName>style.visibility</p:attrName>
                                        </p:attrNameLst>
                                      </p:cBhvr>
                                      <p:to>
                                        <p:strVal val="visible"/>
                                      </p:to>
                                    </p:set>
                                    <p:animEffect transition="in" filter="fade">
                                      <p:cBhvr>
                                        <p:cTn id="95" dur="500"/>
                                        <p:tgtEl>
                                          <p:spTgt spid="1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flipV="1">
            <a:off x="-2391312" y="-111894"/>
            <a:ext cx="5914486" cy="5989353"/>
          </a:xfrm>
          <a:custGeom>
            <a:avLst/>
            <a:gdLst/>
            <a:ahLst/>
            <a:cxnLst/>
            <a:rect l="l" t="t" r="r" b="b"/>
            <a:pathLst>
              <a:path w="5914486" h="5989353">
                <a:moveTo>
                  <a:pt x="0" y="5989352"/>
                </a:moveTo>
                <a:lnTo>
                  <a:pt x="5914486" y="5989352"/>
                </a:lnTo>
                <a:lnTo>
                  <a:pt x="5914486" y="0"/>
                </a:lnTo>
                <a:lnTo>
                  <a:pt x="0" y="0"/>
                </a:lnTo>
                <a:lnTo>
                  <a:pt x="0" y="5989352"/>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flipH="1" flipV="1">
            <a:off x="14764826" y="-111894"/>
            <a:ext cx="5914486" cy="5989353"/>
          </a:xfrm>
          <a:custGeom>
            <a:avLst/>
            <a:gdLst/>
            <a:ahLst/>
            <a:cxnLst/>
            <a:rect l="l" t="t" r="r" b="b"/>
            <a:pathLst>
              <a:path w="5914486" h="5989353">
                <a:moveTo>
                  <a:pt x="5914486" y="5989352"/>
                </a:moveTo>
                <a:lnTo>
                  <a:pt x="0" y="5989352"/>
                </a:lnTo>
                <a:lnTo>
                  <a:pt x="0" y="0"/>
                </a:lnTo>
                <a:lnTo>
                  <a:pt x="5914486" y="0"/>
                </a:lnTo>
                <a:lnTo>
                  <a:pt x="5914486" y="5989352"/>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220440" y="4119128"/>
            <a:ext cx="3682838" cy="2384638"/>
          </a:xfrm>
          <a:custGeom>
            <a:avLst/>
            <a:gdLst/>
            <a:ahLst/>
            <a:cxnLst/>
            <a:rect l="l" t="t" r="r" b="b"/>
            <a:pathLst>
              <a:path w="3682838" h="2384638">
                <a:moveTo>
                  <a:pt x="0" y="0"/>
                </a:moveTo>
                <a:lnTo>
                  <a:pt x="3682838" y="0"/>
                </a:lnTo>
                <a:lnTo>
                  <a:pt x="3682838" y="2384637"/>
                </a:lnTo>
                <a:lnTo>
                  <a:pt x="0" y="2384637"/>
                </a:lnTo>
                <a:lnTo>
                  <a:pt x="0" y="0"/>
                </a:lnTo>
                <a:close/>
              </a:path>
            </a:pathLst>
          </a:custGeom>
          <a:blipFill>
            <a:blip r:embed="rId5"/>
            <a:stretch>
              <a:fillRect/>
            </a:stretch>
          </a:blipFill>
        </p:spPr>
      </p:sp>
      <p:sp>
        <p:nvSpPr>
          <p:cNvPr id="6" name="Freeform 6"/>
          <p:cNvSpPr/>
          <p:nvPr/>
        </p:nvSpPr>
        <p:spPr>
          <a:xfrm>
            <a:off x="5378096" y="4119128"/>
            <a:ext cx="3682838" cy="2384638"/>
          </a:xfrm>
          <a:custGeom>
            <a:avLst/>
            <a:gdLst/>
            <a:ahLst/>
            <a:cxnLst/>
            <a:rect l="l" t="t" r="r" b="b"/>
            <a:pathLst>
              <a:path w="3682838" h="2384638">
                <a:moveTo>
                  <a:pt x="0" y="0"/>
                </a:moveTo>
                <a:lnTo>
                  <a:pt x="3682839" y="0"/>
                </a:lnTo>
                <a:lnTo>
                  <a:pt x="3682839" y="2384637"/>
                </a:lnTo>
                <a:lnTo>
                  <a:pt x="0" y="2384637"/>
                </a:lnTo>
                <a:lnTo>
                  <a:pt x="0" y="0"/>
                </a:lnTo>
                <a:close/>
              </a:path>
            </a:pathLst>
          </a:custGeom>
          <a:blipFill>
            <a:blip r:embed="rId6"/>
            <a:stretch>
              <a:fillRect/>
            </a:stretch>
          </a:blipFill>
        </p:spPr>
      </p:sp>
      <p:sp>
        <p:nvSpPr>
          <p:cNvPr id="7" name="Freeform 7"/>
          <p:cNvSpPr/>
          <p:nvPr/>
        </p:nvSpPr>
        <p:spPr>
          <a:xfrm>
            <a:off x="9537185" y="4119128"/>
            <a:ext cx="3682838" cy="2384638"/>
          </a:xfrm>
          <a:custGeom>
            <a:avLst/>
            <a:gdLst/>
            <a:ahLst/>
            <a:cxnLst/>
            <a:rect l="l" t="t" r="r" b="b"/>
            <a:pathLst>
              <a:path w="3682838" h="2384638">
                <a:moveTo>
                  <a:pt x="0" y="0"/>
                </a:moveTo>
                <a:lnTo>
                  <a:pt x="3682838" y="0"/>
                </a:lnTo>
                <a:lnTo>
                  <a:pt x="3682838" y="2384637"/>
                </a:lnTo>
                <a:lnTo>
                  <a:pt x="0" y="2384637"/>
                </a:lnTo>
                <a:lnTo>
                  <a:pt x="0" y="0"/>
                </a:lnTo>
                <a:close/>
              </a:path>
            </a:pathLst>
          </a:custGeom>
          <a:blipFill>
            <a:blip r:embed="rId7"/>
            <a:stretch>
              <a:fillRect/>
            </a:stretch>
          </a:blipFill>
        </p:spPr>
      </p:sp>
      <p:sp>
        <p:nvSpPr>
          <p:cNvPr id="8" name="Freeform 8"/>
          <p:cNvSpPr/>
          <p:nvPr/>
        </p:nvSpPr>
        <p:spPr>
          <a:xfrm>
            <a:off x="13576462" y="4119128"/>
            <a:ext cx="3682838" cy="2384638"/>
          </a:xfrm>
          <a:custGeom>
            <a:avLst/>
            <a:gdLst/>
            <a:ahLst/>
            <a:cxnLst/>
            <a:rect l="l" t="t" r="r" b="b"/>
            <a:pathLst>
              <a:path w="3682838" h="2384638">
                <a:moveTo>
                  <a:pt x="0" y="0"/>
                </a:moveTo>
                <a:lnTo>
                  <a:pt x="3682838" y="0"/>
                </a:lnTo>
                <a:lnTo>
                  <a:pt x="3682838" y="2384637"/>
                </a:lnTo>
                <a:lnTo>
                  <a:pt x="0" y="2384637"/>
                </a:lnTo>
                <a:lnTo>
                  <a:pt x="0" y="0"/>
                </a:lnTo>
                <a:close/>
              </a:path>
            </a:pathLst>
          </a:custGeom>
          <a:blipFill>
            <a:blip r:embed="rId8"/>
            <a:stretch>
              <a:fillRect/>
            </a:stretch>
          </a:blipFill>
        </p:spPr>
      </p:sp>
      <p:sp>
        <p:nvSpPr>
          <p:cNvPr id="9" name="Freeform 9"/>
          <p:cNvSpPr/>
          <p:nvPr/>
        </p:nvSpPr>
        <p:spPr>
          <a:xfrm>
            <a:off x="5378096" y="6873662"/>
            <a:ext cx="3682838" cy="2384638"/>
          </a:xfrm>
          <a:custGeom>
            <a:avLst/>
            <a:gdLst/>
            <a:ahLst/>
            <a:cxnLst/>
            <a:rect l="l" t="t" r="r" b="b"/>
            <a:pathLst>
              <a:path w="3682838" h="2384638">
                <a:moveTo>
                  <a:pt x="0" y="0"/>
                </a:moveTo>
                <a:lnTo>
                  <a:pt x="3682839" y="0"/>
                </a:lnTo>
                <a:lnTo>
                  <a:pt x="3682839" y="2384638"/>
                </a:lnTo>
                <a:lnTo>
                  <a:pt x="0" y="2384638"/>
                </a:lnTo>
                <a:lnTo>
                  <a:pt x="0" y="0"/>
                </a:lnTo>
                <a:close/>
              </a:path>
            </a:pathLst>
          </a:custGeom>
          <a:blipFill>
            <a:blip r:embed="rId9"/>
            <a:stretch>
              <a:fillRect/>
            </a:stretch>
          </a:blipFill>
        </p:spPr>
      </p:sp>
      <p:sp>
        <p:nvSpPr>
          <p:cNvPr id="10" name="Freeform 10"/>
          <p:cNvSpPr/>
          <p:nvPr/>
        </p:nvSpPr>
        <p:spPr>
          <a:xfrm>
            <a:off x="13643333" y="6916961"/>
            <a:ext cx="3615967" cy="2341339"/>
          </a:xfrm>
          <a:custGeom>
            <a:avLst/>
            <a:gdLst/>
            <a:ahLst/>
            <a:cxnLst/>
            <a:rect l="l" t="t" r="r" b="b"/>
            <a:pathLst>
              <a:path w="3615967" h="2341339">
                <a:moveTo>
                  <a:pt x="0" y="0"/>
                </a:moveTo>
                <a:lnTo>
                  <a:pt x="3615967" y="0"/>
                </a:lnTo>
                <a:lnTo>
                  <a:pt x="3615967" y="2341339"/>
                </a:lnTo>
                <a:lnTo>
                  <a:pt x="0" y="2341339"/>
                </a:lnTo>
                <a:lnTo>
                  <a:pt x="0" y="0"/>
                </a:lnTo>
                <a:close/>
              </a:path>
            </a:pathLst>
          </a:custGeom>
          <a:blipFill>
            <a:blip r:embed="rId10"/>
            <a:stretch>
              <a:fillRect/>
            </a:stretch>
          </a:blipFill>
        </p:spPr>
      </p:sp>
      <p:sp>
        <p:nvSpPr>
          <p:cNvPr id="11" name="Freeform 11"/>
          <p:cNvSpPr/>
          <p:nvPr/>
        </p:nvSpPr>
        <p:spPr>
          <a:xfrm>
            <a:off x="9537185" y="6873662"/>
            <a:ext cx="3682838" cy="2384638"/>
          </a:xfrm>
          <a:custGeom>
            <a:avLst/>
            <a:gdLst/>
            <a:ahLst/>
            <a:cxnLst/>
            <a:rect l="l" t="t" r="r" b="b"/>
            <a:pathLst>
              <a:path w="3682838" h="2384638">
                <a:moveTo>
                  <a:pt x="0" y="0"/>
                </a:moveTo>
                <a:lnTo>
                  <a:pt x="3682838" y="0"/>
                </a:lnTo>
                <a:lnTo>
                  <a:pt x="3682838" y="2384638"/>
                </a:lnTo>
                <a:lnTo>
                  <a:pt x="0" y="2384638"/>
                </a:lnTo>
                <a:lnTo>
                  <a:pt x="0" y="0"/>
                </a:lnTo>
                <a:close/>
              </a:path>
            </a:pathLst>
          </a:custGeom>
          <a:blipFill>
            <a:blip r:embed="rId11"/>
            <a:stretch>
              <a:fillRect/>
            </a:stretch>
          </a:blipFill>
        </p:spPr>
      </p:sp>
      <p:sp>
        <p:nvSpPr>
          <p:cNvPr id="12" name="Freeform 12"/>
          <p:cNvSpPr/>
          <p:nvPr/>
        </p:nvSpPr>
        <p:spPr>
          <a:xfrm>
            <a:off x="1220440" y="6873662"/>
            <a:ext cx="3681406" cy="2383711"/>
          </a:xfrm>
          <a:custGeom>
            <a:avLst/>
            <a:gdLst/>
            <a:ahLst/>
            <a:cxnLst/>
            <a:rect l="l" t="t" r="r" b="b"/>
            <a:pathLst>
              <a:path w="3681406" h="2383711">
                <a:moveTo>
                  <a:pt x="0" y="0"/>
                </a:moveTo>
                <a:lnTo>
                  <a:pt x="3681406" y="0"/>
                </a:lnTo>
                <a:lnTo>
                  <a:pt x="3681406" y="2383711"/>
                </a:lnTo>
                <a:lnTo>
                  <a:pt x="0" y="2383711"/>
                </a:lnTo>
                <a:lnTo>
                  <a:pt x="0" y="0"/>
                </a:lnTo>
                <a:close/>
              </a:path>
            </a:pathLst>
          </a:custGeom>
          <a:blipFill>
            <a:blip r:embed="rId12"/>
            <a:stretch>
              <a:fillRect/>
            </a:stretch>
          </a:blipFill>
        </p:spPr>
      </p:sp>
      <p:sp>
        <p:nvSpPr>
          <p:cNvPr id="13" name="TextBox 13"/>
          <p:cNvSpPr txBox="1"/>
          <p:nvPr/>
        </p:nvSpPr>
        <p:spPr>
          <a:xfrm>
            <a:off x="2451226" y="895350"/>
            <a:ext cx="13591383" cy="1193886"/>
          </a:xfrm>
          <a:prstGeom prst="rect">
            <a:avLst/>
          </a:prstGeom>
        </p:spPr>
        <p:txBody>
          <a:bodyPr lIns="0" tIns="0" rIns="0" bIns="0" rtlCol="0" anchor="t">
            <a:spAutoFit/>
          </a:bodyPr>
          <a:lstStyle/>
          <a:p>
            <a:pPr algn="ctr">
              <a:lnSpc>
                <a:spcPts val="9795"/>
              </a:lnSpc>
              <a:spcBef>
                <a:spcPct val="0"/>
              </a:spcBef>
            </a:pPr>
            <a:r>
              <a:rPr lang="en-US" sz="6996" b="1">
                <a:solidFill>
                  <a:srgbClr val="010F48"/>
                </a:solidFill>
                <a:latin typeface="Anantason SemiExpanded Bold"/>
                <a:ea typeface="Anantason SemiExpanded Bold"/>
                <a:cs typeface="Anantason SemiExpanded Bold"/>
                <a:sym typeface="Anantason SemiExpanded Bold"/>
              </a:rPr>
              <a:t>RMC2 PRODUCTS</a:t>
            </a:r>
          </a:p>
        </p:txBody>
      </p:sp>
      <p:sp>
        <p:nvSpPr>
          <p:cNvPr id="14" name="TextBox 14"/>
          <p:cNvSpPr txBox="1"/>
          <p:nvPr/>
        </p:nvSpPr>
        <p:spPr>
          <a:xfrm>
            <a:off x="3390488" y="2022561"/>
            <a:ext cx="11712858" cy="580390"/>
          </a:xfrm>
          <a:prstGeom prst="rect">
            <a:avLst/>
          </a:prstGeom>
        </p:spPr>
        <p:txBody>
          <a:bodyPr lIns="0" tIns="0" rIns="0" bIns="0" rtlCol="0" anchor="t">
            <a:spAutoFit/>
          </a:bodyPr>
          <a:lstStyle/>
          <a:p>
            <a:pPr algn="ctr">
              <a:lnSpc>
                <a:spcPts val="4760"/>
              </a:lnSpc>
              <a:spcBef>
                <a:spcPct val="0"/>
              </a:spcBef>
            </a:pPr>
            <a:r>
              <a:rPr lang="en-US" sz="3400" b="1" u="sng">
                <a:solidFill>
                  <a:srgbClr val="010F48"/>
                </a:solidFill>
                <a:latin typeface="Anantason SemiExpanded Bold"/>
                <a:ea typeface="Anantason SemiExpanded Bold"/>
                <a:cs typeface="Anantason SemiExpanded Bold"/>
                <a:sym typeface="Anantason SemiExpanded Bold"/>
              </a:rPr>
              <a:t>IN PARTNERSHIP WITH AMAPHIL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flipV="1">
            <a:off x="-2391312" y="-111894"/>
            <a:ext cx="5914486" cy="5989353"/>
          </a:xfrm>
          <a:custGeom>
            <a:avLst/>
            <a:gdLst/>
            <a:ahLst/>
            <a:cxnLst/>
            <a:rect l="l" t="t" r="r" b="b"/>
            <a:pathLst>
              <a:path w="5914486" h="5989353">
                <a:moveTo>
                  <a:pt x="0" y="5989352"/>
                </a:moveTo>
                <a:lnTo>
                  <a:pt x="5914486" y="5989352"/>
                </a:lnTo>
                <a:lnTo>
                  <a:pt x="5914486" y="0"/>
                </a:lnTo>
                <a:lnTo>
                  <a:pt x="0" y="0"/>
                </a:lnTo>
                <a:lnTo>
                  <a:pt x="0" y="5989352"/>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flipH="1" flipV="1">
            <a:off x="14764826" y="-111894"/>
            <a:ext cx="5914486" cy="5989353"/>
          </a:xfrm>
          <a:custGeom>
            <a:avLst/>
            <a:gdLst/>
            <a:ahLst/>
            <a:cxnLst/>
            <a:rect l="l" t="t" r="r" b="b"/>
            <a:pathLst>
              <a:path w="5914486" h="5989353">
                <a:moveTo>
                  <a:pt x="5914486" y="5989352"/>
                </a:moveTo>
                <a:lnTo>
                  <a:pt x="0" y="5989352"/>
                </a:lnTo>
                <a:lnTo>
                  <a:pt x="0" y="0"/>
                </a:lnTo>
                <a:lnTo>
                  <a:pt x="5914486" y="0"/>
                </a:lnTo>
                <a:lnTo>
                  <a:pt x="5914486" y="5989352"/>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6755606" y="361614"/>
            <a:ext cx="4776788" cy="2068688"/>
          </a:xfrm>
          <a:custGeom>
            <a:avLst/>
            <a:gdLst/>
            <a:ahLst/>
            <a:cxnLst/>
            <a:rect l="l" t="t" r="r" b="b"/>
            <a:pathLst>
              <a:path w="4776788" h="2068688">
                <a:moveTo>
                  <a:pt x="0" y="0"/>
                </a:moveTo>
                <a:lnTo>
                  <a:pt x="4776788" y="0"/>
                </a:lnTo>
                <a:lnTo>
                  <a:pt x="4776788" y="2068688"/>
                </a:lnTo>
                <a:lnTo>
                  <a:pt x="0" y="2068688"/>
                </a:lnTo>
                <a:lnTo>
                  <a:pt x="0" y="0"/>
                </a:lnTo>
                <a:close/>
              </a:path>
            </a:pathLst>
          </a:custGeom>
          <a:blipFill>
            <a:blip r:embed="rId5"/>
            <a:stretch>
              <a:fillRect/>
            </a:stretch>
          </a:blipFill>
        </p:spPr>
      </p:sp>
      <p:sp>
        <p:nvSpPr>
          <p:cNvPr id="6" name="Freeform 6"/>
          <p:cNvSpPr/>
          <p:nvPr/>
        </p:nvSpPr>
        <p:spPr>
          <a:xfrm>
            <a:off x="797315" y="3473634"/>
            <a:ext cx="2790310" cy="4896109"/>
          </a:xfrm>
          <a:custGeom>
            <a:avLst/>
            <a:gdLst/>
            <a:ahLst/>
            <a:cxnLst/>
            <a:rect l="l" t="t" r="r" b="b"/>
            <a:pathLst>
              <a:path w="2790310" h="4896109">
                <a:moveTo>
                  <a:pt x="0" y="0"/>
                </a:moveTo>
                <a:lnTo>
                  <a:pt x="2790311" y="0"/>
                </a:lnTo>
                <a:lnTo>
                  <a:pt x="2790311" y="4896109"/>
                </a:lnTo>
                <a:lnTo>
                  <a:pt x="0" y="4896109"/>
                </a:lnTo>
                <a:lnTo>
                  <a:pt x="0" y="0"/>
                </a:lnTo>
                <a:close/>
              </a:path>
            </a:pathLst>
          </a:custGeom>
          <a:blipFill>
            <a:blip r:embed="rId6"/>
            <a:stretch>
              <a:fillRect r="-555636" b="-30487"/>
            </a:stretch>
          </a:blipFill>
        </p:spPr>
      </p:sp>
      <p:sp>
        <p:nvSpPr>
          <p:cNvPr id="7" name="Freeform 7"/>
          <p:cNvSpPr/>
          <p:nvPr/>
        </p:nvSpPr>
        <p:spPr>
          <a:xfrm>
            <a:off x="6315534" y="3385174"/>
            <a:ext cx="2774644" cy="4896109"/>
          </a:xfrm>
          <a:custGeom>
            <a:avLst/>
            <a:gdLst/>
            <a:ahLst/>
            <a:cxnLst/>
            <a:rect l="l" t="t" r="r" b="b"/>
            <a:pathLst>
              <a:path w="2774644" h="4896109">
                <a:moveTo>
                  <a:pt x="0" y="0"/>
                </a:moveTo>
                <a:lnTo>
                  <a:pt x="2774643" y="0"/>
                </a:lnTo>
                <a:lnTo>
                  <a:pt x="2774643" y="4896109"/>
                </a:lnTo>
                <a:lnTo>
                  <a:pt x="0" y="4896109"/>
                </a:lnTo>
                <a:lnTo>
                  <a:pt x="0" y="0"/>
                </a:lnTo>
                <a:close/>
              </a:path>
            </a:pathLst>
          </a:custGeom>
          <a:blipFill>
            <a:blip r:embed="rId6"/>
            <a:stretch>
              <a:fillRect l="-95032" r="-468184" b="-31254"/>
            </a:stretch>
          </a:blipFill>
        </p:spPr>
      </p:sp>
      <p:sp>
        <p:nvSpPr>
          <p:cNvPr id="8" name="Freeform 8"/>
          <p:cNvSpPr/>
          <p:nvPr/>
        </p:nvSpPr>
        <p:spPr>
          <a:xfrm>
            <a:off x="3609387" y="3473634"/>
            <a:ext cx="2681443" cy="4896109"/>
          </a:xfrm>
          <a:custGeom>
            <a:avLst/>
            <a:gdLst/>
            <a:ahLst/>
            <a:cxnLst/>
            <a:rect l="l" t="t" r="r" b="b"/>
            <a:pathLst>
              <a:path w="2681443" h="4896109">
                <a:moveTo>
                  <a:pt x="0" y="0"/>
                </a:moveTo>
                <a:lnTo>
                  <a:pt x="2681442" y="0"/>
                </a:lnTo>
                <a:lnTo>
                  <a:pt x="2681442" y="4896109"/>
                </a:lnTo>
                <a:lnTo>
                  <a:pt x="0" y="4896109"/>
                </a:lnTo>
                <a:lnTo>
                  <a:pt x="0" y="0"/>
                </a:lnTo>
                <a:close/>
              </a:path>
            </a:pathLst>
          </a:custGeom>
          <a:blipFill>
            <a:blip r:embed="rId6"/>
            <a:stretch>
              <a:fillRect l="-191456" r="-374021" b="-27278"/>
            </a:stretch>
          </a:blipFill>
        </p:spPr>
      </p:sp>
      <p:sp>
        <p:nvSpPr>
          <p:cNvPr id="9" name="Freeform 9"/>
          <p:cNvSpPr/>
          <p:nvPr/>
        </p:nvSpPr>
        <p:spPr>
          <a:xfrm>
            <a:off x="9114882" y="3473634"/>
            <a:ext cx="2665295" cy="4719189"/>
          </a:xfrm>
          <a:custGeom>
            <a:avLst/>
            <a:gdLst/>
            <a:ahLst/>
            <a:cxnLst/>
            <a:rect l="l" t="t" r="r" b="b"/>
            <a:pathLst>
              <a:path w="2665295" h="4719189">
                <a:moveTo>
                  <a:pt x="0" y="0"/>
                </a:moveTo>
                <a:lnTo>
                  <a:pt x="2665294" y="0"/>
                </a:lnTo>
                <a:lnTo>
                  <a:pt x="2665294" y="4719189"/>
                </a:lnTo>
                <a:lnTo>
                  <a:pt x="0" y="4719189"/>
                </a:lnTo>
                <a:lnTo>
                  <a:pt x="0" y="0"/>
                </a:lnTo>
                <a:close/>
              </a:path>
            </a:pathLst>
          </a:custGeom>
          <a:blipFill>
            <a:blip r:embed="rId6"/>
            <a:stretch>
              <a:fillRect l="-285568" r="-279910" b="-31254"/>
            </a:stretch>
          </a:blipFill>
        </p:spPr>
      </p:sp>
      <p:sp>
        <p:nvSpPr>
          <p:cNvPr id="10" name="Freeform 10"/>
          <p:cNvSpPr/>
          <p:nvPr/>
        </p:nvSpPr>
        <p:spPr>
          <a:xfrm>
            <a:off x="11804880" y="3473634"/>
            <a:ext cx="2728561" cy="4807649"/>
          </a:xfrm>
          <a:custGeom>
            <a:avLst/>
            <a:gdLst/>
            <a:ahLst/>
            <a:cxnLst/>
            <a:rect l="l" t="t" r="r" b="b"/>
            <a:pathLst>
              <a:path w="2728561" h="4807649">
                <a:moveTo>
                  <a:pt x="0" y="0"/>
                </a:moveTo>
                <a:lnTo>
                  <a:pt x="2728562" y="0"/>
                </a:lnTo>
                <a:lnTo>
                  <a:pt x="2728562" y="4807649"/>
                </a:lnTo>
                <a:lnTo>
                  <a:pt x="0" y="4807649"/>
                </a:lnTo>
                <a:lnTo>
                  <a:pt x="0" y="0"/>
                </a:lnTo>
                <a:close/>
              </a:path>
            </a:pathLst>
          </a:custGeom>
          <a:blipFill>
            <a:blip r:embed="rId6"/>
            <a:stretch>
              <a:fillRect l="-386124" r="-188294" b="-33669"/>
            </a:stretch>
          </a:blipFill>
        </p:spPr>
      </p:sp>
      <p:sp>
        <p:nvSpPr>
          <p:cNvPr id="11" name="Freeform 11"/>
          <p:cNvSpPr/>
          <p:nvPr/>
        </p:nvSpPr>
        <p:spPr>
          <a:xfrm>
            <a:off x="14698528" y="3473634"/>
            <a:ext cx="2792156" cy="4807649"/>
          </a:xfrm>
          <a:custGeom>
            <a:avLst/>
            <a:gdLst/>
            <a:ahLst/>
            <a:cxnLst/>
            <a:rect l="l" t="t" r="r" b="b"/>
            <a:pathLst>
              <a:path w="2792156" h="4807649">
                <a:moveTo>
                  <a:pt x="0" y="0"/>
                </a:moveTo>
                <a:lnTo>
                  <a:pt x="2792157" y="0"/>
                </a:lnTo>
                <a:lnTo>
                  <a:pt x="2792157" y="4807649"/>
                </a:lnTo>
                <a:lnTo>
                  <a:pt x="0" y="4807649"/>
                </a:lnTo>
                <a:lnTo>
                  <a:pt x="0" y="0"/>
                </a:lnTo>
                <a:close/>
              </a:path>
            </a:pathLst>
          </a:custGeom>
          <a:blipFill>
            <a:blip r:embed="rId6"/>
            <a:stretch>
              <a:fillRect l="-470712" r="-88345" b="-33669"/>
            </a:stretch>
          </a:blipFill>
        </p:spPr>
      </p:sp>
      <p:sp>
        <p:nvSpPr>
          <p:cNvPr id="12" name="Freeform 12"/>
          <p:cNvSpPr/>
          <p:nvPr/>
        </p:nvSpPr>
        <p:spPr>
          <a:xfrm>
            <a:off x="797315" y="8369743"/>
            <a:ext cx="2703913" cy="1574253"/>
          </a:xfrm>
          <a:custGeom>
            <a:avLst/>
            <a:gdLst/>
            <a:ahLst/>
            <a:cxnLst/>
            <a:rect l="l" t="t" r="r" b="b"/>
            <a:pathLst>
              <a:path w="2703913" h="1574253">
                <a:moveTo>
                  <a:pt x="0" y="0"/>
                </a:moveTo>
                <a:lnTo>
                  <a:pt x="2703913" y="0"/>
                </a:lnTo>
                <a:lnTo>
                  <a:pt x="2703913" y="1574253"/>
                </a:lnTo>
                <a:lnTo>
                  <a:pt x="0" y="1574253"/>
                </a:lnTo>
                <a:lnTo>
                  <a:pt x="0" y="0"/>
                </a:lnTo>
                <a:close/>
              </a:path>
            </a:pathLst>
          </a:custGeom>
          <a:blipFill>
            <a:blip r:embed="rId6"/>
            <a:stretch>
              <a:fillRect l="-609902" r="-501" b="-326115"/>
            </a:stretch>
          </a:blipFill>
        </p:spPr>
      </p:sp>
      <p:sp>
        <p:nvSpPr>
          <p:cNvPr id="13" name="Freeform 13"/>
          <p:cNvSpPr/>
          <p:nvPr/>
        </p:nvSpPr>
        <p:spPr>
          <a:xfrm>
            <a:off x="3611621" y="8281283"/>
            <a:ext cx="2703913" cy="1680244"/>
          </a:xfrm>
          <a:custGeom>
            <a:avLst/>
            <a:gdLst/>
            <a:ahLst/>
            <a:cxnLst/>
            <a:rect l="l" t="t" r="r" b="b"/>
            <a:pathLst>
              <a:path w="2703913" h="1680244">
                <a:moveTo>
                  <a:pt x="0" y="0"/>
                </a:moveTo>
                <a:lnTo>
                  <a:pt x="2703913" y="0"/>
                </a:lnTo>
                <a:lnTo>
                  <a:pt x="2703913" y="1680244"/>
                </a:lnTo>
                <a:lnTo>
                  <a:pt x="0" y="1680244"/>
                </a:lnTo>
                <a:lnTo>
                  <a:pt x="0" y="0"/>
                </a:lnTo>
                <a:close/>
              </a:path>
            </a:pathLst>
          </a:custGeom>
          <a:blipFill>
            <a:blip r:embed="rId6"/>
            <a:stretch>
              <a:fillRect l="-609902" t="-97144" r="-501" b="-202090"/>
            </a:stretch>
          </a:blipFill>
        </p:spPr>
      </p:sp>
      <p:sp>
        <p:nvSpPr>
          <p:cNvPr id="14" name="Freeform 14"/>
          <p:cNvSpPr/>
          <p:nvPr/>
        </p:nvSpPr>
        <p:spPr>
          <a:xfrm>
            <a:off x="6290829" y="8338433"/>
            <a:ext cx="2703913" cy="1728261"/>
          </a:xfrm>
          <a:custGeom>
            <a:avLst/>
            <a:gdLst/>
            <a:ahLst/>
            <a:cxnLst/>
            <a:rect l="l" t="t" r="r" b="b"/>
            <a:pathLst>
              <a:path w="2703913" h="1728261">
                <a:moveTo>
                  <a:pt x="0" y="0"/>
                </a:moveTo>
                <a:lnTo>
                  <a:pt x="2703913" y="0"/>
                </a:lnTo>
                <a:lnTo>
                  <a:pt x="2703913" y="1728261"/>
                </a:lnTo>
                <a:lnTo>
                  <a:pt x="0" y="1728261"/>
                </a:lnTo>
                <a:lnTo>
                  <a:pt x="0" y="0"/>
                </a:lnTo>
                <a:close/>
              </a:path>
            </a:pathLst>
          </a:custGeom>
          <a:blipFill>
            <a:blip r:embed="rId6"/>
            <a:stretch>
              <a:fillRect l="-609902" t="-191344" r="-501" b="-96798"/>
            </a:stretch>
          </a:blipFill>
        </p:spPr>
      </p:sp>
      <p:sp>
        <p:nvSpPr>
          <p:cNvPr id="15" name="Freeform 15"/>
          <p:cNvSpPr/>
          <p:nvPr/>
        </p:nvSpPr>
        <p:spPr>
          <a:xfrm>
            <a:off x="9144000" y="8471783"/>
            <a:ext cx="2808450" cy="1472213"/>
          </a:xfrm>
          <a:custGeom>
            <a:avLst/>
            <a:gdLst/>
            <a:ahLst/>
            <a:cxnLst/>
            <a:rect l="l" t="t" r="r" b="b"/>
            <a:pathLst>
              <a:path w="2808450" h="1472213">
                <a:moveTo>
                  <a:pt x="0" y="0"/>
                </a:moveTo>
                <a:lnTo>
                  <a:pt x="2808450" y="0"/>
                </a:lnTo>
                <a:lnTo>
                  <a:pt x="2808450" y="1472213"/>
                </a:lnTo>
                <a:lnTo>
                  <a:pt x="0" y="1472213"/>
                </a:lnTo>
                <a:lnTo>
                  <a:pt x="0" y="0"/>
                </a:lnTo>
                <a:close/>
              </a:path>
            </a:pathLst>
          </a:custGeom>
          <a:blipFill>
            <a:blip r:embed="rId6"/>
            <a:stretch>
              <a:fillRect l="-229366" t="-329581" r="-315465"/>
            </a:stretch>
          </a:blipFill>
        </p:spPr>
      </p:sp>
      <p:sp>
        <p:nvSpPr>
          <p:cNvPr id="16" name="TextBox 16"/>
          <p:cNvSpPr txBox="1"/>
          <p:nvPr/>
        </p:nvSpPr>
        <p:spPr>
          <a:xfrm>
            <a:off x="2496696" y="2391567"/>
            <a:ext cx="13591383" cy="887180"/>
          </a:xfrm>
          <a:prstGeom prst="rect">
            <a:avLst/>
          </a:prstGeom>
        </p:spPr>
        <p:txBody>
          <a:bodyPr lIns="0" tIns="0" rIns="0" bIns="0" rtlCol="0" anchor="t">
            <a:spAutoFit/>
          </a:bodyPr>
          <a:lstStyle/>
          <a:p>
            <a:pPr algn="ctr">
              <a:lnSpc>
                <a:spcPts val="7275"/>
              </a:lnSpc>
              <a:spcBef>
                <a:spcPct val="0"/>
              </a:spcBef>
            </a:pPr>
            <a:r>
              <a:rPr lang="en-US" sz="5196" b="1">
                <a:solidFill>
                  <a:srgbClr val="010F48"/>
                </a:solidFill>
                <a:latin typeface="Anantason SemiExpanded Bold"/>
                <a:ea typeface="Anantason SemiExpanded Bold"/>
                <a:cs typeface="Anantason SemiExpanded Bold"/>
                <a:sym typeface="Anantason SemiExpanded Bold"/>
              </a:rPr>
              <a:t>PARTNERSHIP PERKS</a:t>
            </a:r>
          </a:p>
        </p:txBody>
      </p:sp>
      <p:sp>
        <p:nvSpPr>
          <p:cNvPr id="17" name="Freeform 17"/>
          <p:cNvSpPr/>
          <p:nvPr/>
        </p:nvSpPr>
        <p:spPr>
          <a:xfrm>
            <a:off x="12017417" y="8522194"/>
            <a:ext cx="2747409" cy="1472213"/>
          </a:xfrm>
          <a:custGeom>
            <a:avLst/>
            <a:gdLst/>
            <a:ahLst/>
            <a:cxnLst/>
            <a:rect l="l" t="t" r="r" b="b"/>
            <a:pathLst>
              <a:path w="2747409" h="1472213">
                <a:moveTo>
                  <a:pt x="0" y="0"/>
                </a:moveTo>
                <a:lnTo>
                  <a:pt x="2747409" y="0"/>
                </a:lnTo>
                <a:lnTo>
                  <a:pt x="2747409" y="1472212"/>
                </a:lnTo>
                <a:lnTo>
                  <a:pt x="0" y="1472212"/>
                </a:lnTo>
                <a:lnTo>
                  <a:pt x="0" y="0"/>
                </a:lnTo>
                <a:close/>
              </a:path>
            </a:pathLst>
          </a:custGeom>
          <a:blipFill>
            <a:blip r:embed="rId6"/>
            <a:stretch>
              <a:fillRect l="-330495" t="-329581" r="-228662"/>
            </a:stretch>
          </a:blipFill>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566687" y="9631318"/>
            <a:ext cx="4362442" cy="1326059"/>
            <a:chOff x="0" y="0"/>
            <a:chExt cx="2297912" cy="698500"/>
          </a:xfrm>
        </p:grpSpPr>
        <p:sp>
          <p:nvSpPr>
            <p:cNvPr id="4" name="Freeform 4"/>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5" name="TextBox 5"/>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3419993" y="6698755"/>
            <a:ext cx="5550223" cy="4856445"/>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8" name="TextBox 8"/>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8624796" y="15196"/>
            <a:ext cx="9484184" cy="8213304"/>
            <a:chOff x="0" y="0"/>
            <a:chExt cx="6350000" cy="5499100"/>
          </a:xfrm>
        </p:grpSpPr>
        <p:sp>
          <p:nvSpPr>
            <p:cNvPr id="12" name="Freeform 12"/>
            <p:cNvSpPr/>
            <p:nvPr/>
          </p:nvSpPr>
          <p:spPr>
            <a:xfrm>
              <a:off x="0" y="0"/>
              <a:ext cx="6350000" cy="5499100"/>
            </a:xfrm>
            <a:custGeom>
              <a:avLst/>
              <a:gdLst/>
              <a:ahLst/>
              <a:cxnLst/>
              <a:rect l="l" t="t" r="r" b="b"/>
              <a:pathLst>
                <a:path w="6350000" h="5499100">
                  <a:moveTo>
                    <a:pt x="3175000" y="0"/>
                  </a:moveTo>
                  <a:lnTo>
                    <a:pt x="0" y="0"/>
                  </a:lnTo>
                  <a:lnTo>
                    <a:pt x="1587500" y="2749550"/>
                  </a:lnTo>
                  <a:lnTo>
                    <a:pt x="3175000" y="5499100"/>
                  </a:lnTo>
                  <a:lnTo>
                    <a:pt x="4762500" y="2749550"/>
                  </a:lnTo>
                  <a:lnTo>
                    <a:pt x="6350000" y="0"/>
                  </a:lnTo>
                  <a:close/>
                </a:path>
              </a:pathLst>
            </a:custGeom>
            <a:blipFill>
              <a:blip r:embed="rId2"/>
              <a:stretch>
                <a:fillRect l="-7733" r="-7733"/>
              </a:stretch>
            </a:blipFill>
          </p:spPr>
        </p:sp>
      </p:grpSp>
      <p:grpSp>
        <p:nvGrpSpPr>
          <p:cNvPr id="13" name="Group 13"/>
          <p:cNvGrpSpPr/>
          <p:nvPr/>
        </p:nvGrpSpPr>
        <p:grpSpPr>
          <a:xfrm rot="-1845706">
            <a:off x="10431865" y="-1796881"/>
            <a:ext cx="1114386" cy="14763443"/>
            <a:chOff x="0" y="0"/>
            <a:chExt cx="314096" cy="4161162"/>
          </a:xfrm>
        </p:grpSpPr>
        <p:sp>
          <p:nvSpPr>
            <p:cNvPr id="14" name="Freeform 14"/>
            <p:cNvSpPr/>
            <p:nvPr/>
          </p:nvSpPr>
          <p:spPr>
            <a:xfrm>
              <a:off x="0" y="0"/>
              <a:ext cx="314096" cy="4161162"/>
            </a:xfrm>
            <a:custGeom>
              <a:avLst/>
              <a:gdLst/>
              <a:ahLst/>
              <a:cxnLst/>
              <a:rect l="l" t="t" r="r" b="b"/>
              <a:pathLst>
                <a:path w="314096" h="4161162">
                  <a:moveTo>
                    <a:pt x="0" y="0"/>
                  </a:moveTo>
                  <a:lnTo>
                    <a:pt x="314096" y="0"/>
                  </a:lnTo>
                  <a:lnTo>
                    <a:pt x="314096" y="4161162"/>
                  </a:lnTo>
                  <a:lnTo>
                    <a:pt x="0" y="4161162"/>
                  </a:lnTo>
                  <a:close/>
                </a:path>
              </a:pathLst>
            </a:custGeom>
            <a:solidFill>
              <a:srgbClr val="060644"/>
            </a:solidFill>
          </p:spPr>
        </p:sp>
        <p:sp>
          <p:nvSpPr>
            <p:cNvPr id="15" name="TextBox 15"/>
            <p:cNvSpPr txBox="1"/>
            <p:nvPr/>
          </p:nvSpPr>
          <p:spPr>
            <a:xfrm>
              <a:off x="0" y="-57150"/>
              <a:ext cx="314096" cy="4218312"/>
            </a:xfrm>
            <a:prstGeom prst="rect">
              <a:avLst/>
            </a:prstGeom>
          </p:spPr>
          <p:txBody>
            <a:bodyPr lIns="50800" tIns="50800" rIns="50800" bIns="50800" rtlCol="0" anchor="ctr"/>
            <a:lstStyle/>
            <a:p>
              <a:pPr algn="ctr">
                <a:lnSpc>
                  <a:spcPts val="2659"/>
                </a:lnSpc>
                <a:spcBef>
                  <a:spcPct val="0"/>
                </a:spcBef>
              </a:pPr>
              <a:endParaRPr/>
            </a:p>
          </p:txBody>
        </p:sp>
      </p:grpSp>
      <p:grpSp>
        <p:nvGrpSpPr>
          <p:cNvPr id="16" name="Group 16"/>
          <p:cNvGrpSpPr/>
          <p:nvPr/>
        </p:nvGrpSpPr>
        <p:grpSpPr>
          <a:xfrm>
            <a:off x="13500395" y="2519818"/>
            <a:ext cx="13529565" cy="11626970"/>
            <a:chOff x="0" y="0"/>
            <a:chExt cx="812800" cy="698500"/>
          </a:xfrm>
        </p:grpSpPr>
        <p:sp>
          <p:nvSpPr>
            <p:cNvPr id="17" name="Freeform 17"/>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a:ln w="38100" cap="sq">
              <a:solidFill>
                <a:srgbClr val="060644"/>
              </a:solidFill>
              <a:prstDash val="solid"/>
              <a:miter/>
            </a:ln>
          </p:spPr>
        </p:sp>
        <p:sp>
          <p:nvSpPr>
            <p:cNvPr id="18" name="TextBox 18"/>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6927892" y="-2152254"/>
            <a:ext cx="5186295" cy="4538008"/>
            <a:chOff x="0" y="0"/>
            <a:chExt cx="812800" cy="711200"/>
          </a:xfrm>
        </p:grpSpPr>
        <p:sp>
          <p:nvSpPr>
            <p:cNvPr id="20" name="Freeform 20"/>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1" name="TextBox 21"/>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9036642" y="7029882"/>
            <a:ext cx="3904831" cy="3307669"/>
            <a:chOff x="0" y="0"/>
            <a:chExt cx="812800" cy="688499"/>
          </a:xfrm>
        </p:grpSpPr>
        <p:sp>
          <p:nvSpPr>
            <p:cNvPr id="23" name="Freeform 23"/>
            <p:cNvSpPr/>
            <p:nvPr/>
          </p:nvSpPr>
          <p:spPr>
            <a:xfrm>
              <a:off x="0" y="0"/>
              <a:ext cx="812800" cy="688499"/>
            </a:xfrm>
            <a:custGeom>
              <a:avLst/>
              <a:gdLst/>
              <a:ahLst/>
              <a:cxnLst/>
              <a:rect l="l" t="t" r="r" b="b"/>
              <a:pathLst>
                <a:path w="812800" h="688499">
                  <a:moveTo>
                    <a:pt x="406400" y="0"/>
                  </a:moveTo>
                  <a:lnTo>
                    <a:pt x="812800" y="688499"/>
                  </a:lnTo>
                  <a:lnTo>
                    <a:pt x="0" y="688499"/>
                  </a:lnTo>
                  <a:lnTo>
                    <a:pt x="406400" y="0"/>
                  </a:lnTo>
                  <a:close/>
                </a:path>
              </a:pathLst>
            </a:custGeom>
            <a:solidFill>
              <a:srgbClr val="F68712"/>
            </a:solidFill>
          </p:spPr>
        </p:sp>
        <p:sp>
          <p:nvSpPr>
            <p:cNvPr id="24" name="TextBox 24"/>
            <p:cNvSpPr txBox="1"/>
            <p:nvPr/>
          </p:nvSpPr>
          <p:spPr>
            <a:xfrm>
              <a:off x="127000" y="262510"/>
              <a:ext cx="558800" cy="376810"/>
            </a:xfrm>
            <a:prstGeom prst="rect">
              <a:avLst/>
            </a:prstGeom>
          </p:spPr>
          <p:txBody>
            <a:bodyPr lIns="50800" tIns="50800" rIns="50800" bIns="50800" rtlCol="0" anchor="ctr"/>
            <a:lstStyle/>
            <a:p>
              <a:pPr algn="ctr">
                <a:lnSpc>
                  <a:spcPts val="2659"/>
                </a:lnSpc>
              </a:pPr>
              <a:endParaRPr/>
            </a:p>
          </p:txBody>
        </p:sp>
      </p:grpSp>
      <p:sp>
        <p:nvSpPr>
          <p:cNvPr id="25" name="Freeform 25"/>
          <p:cNvSpPr/>
          <p:nvPr/>
        </p:nvSpPr>
        <p:spPr>
          <a:xfrm>
            <a:off x="3790946" y="9539806"/>
            <a:ext cx="564846" cy="564846"/>
          </a:xfrm>
          <a:custGeom>
            <a:avLst/>
            <a:gdLst/>
            <a:ahLst/>
            <a:cxnLst/>
            <a:rect l="l" t="t" r="r" b="b"/>
            <a:pathLst>
              <a:path w="564846" h="564846">
                <a:moveTo>
                  <a:pt x="0" y="0"/>
                </a:moveTo>
                <a:lnTo>
                  <a:pt x="564846" y="0"/>
                </a:lnTo>
                <a:lnTo>
                  <a:pt x="564846" y="564846"/>
                </a:lnTo>
                <a:lnTo>
                  <a:pt x="0" y="56484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9" name="TextBox 29"/>
          <p:cNvSpPr txBox="1"/>
          <p:nvPr/>
        </p:nvSpPr>
        <p:spPr>
          <a:xfrm>
            <a:off x="486687" y="471456"/>
            <a:ext cx="8040597" cy="547458"/>
          </a:xfrm>
          <a:prstGeom prst="rect">
            <a:avLst/>
          </a:prstGeom>
        </p:spPr>
        <p:txBody>
          <a:bodyPr wrap="square" lIns="0" tIns="0" rIns="0" bIns="0" rtlCol="0" anchor="t">
            <a:spAutoFit/>
          </a:bodyPr>
          <a:lstStyle/>
          <a:p>
            <a:pPr algn="l">
              <a:lnSpc>
                <a:spcPts val="3919"/>
              </a:lnSpc>
              <a:spcBef>
                <a:spcPct val="0"/>
              </a:spcBef>
            </a:pPr>
            <a:r>
              <a:rPr lang="en-US" sz="4800" b="1" dirty="0">
                <a:solidFill>
                  <a:srgbClr val="000000"/>
                </a:solidFill>
                <a:latin typeface="+mj-lt"/>
                <a:ea typeface="Poppins"/>
                <a:cs typeface="Poppins"/>
                <a:sym typeface="Poppins"/>
              </a:rPr>
              <a:t>OUR NETWORK PROVIDER</a:t>
            </a:r>
          </a:p>
        </p:txBody>
      </p:sp>
      <p:sp>
        <p:nvSpPr>
          <p:cNvPr id="30" name="TextBox 30"/>
          <p:cNvSpPr txBox="1"/>
          <p:nvPr/>
        </p:nvSpPr>
        <p:spPr>
          <a:xfrm>
            <a:off x="4506986" y="9524414"/>
            <a:ext cx="4989995" cy="475579"/>
          </a:xfrm>
          <a:prstGeom prst="rect">
            <a:avLst/>
          </a:prstGeom>
        </p:spPr>
        <p:txBody>
          <a:bodyPr lIns="0" tIns="0" rIns="0" bIns="0" rtlCol="0" anchor="t">
            <a:spAutoFit/>
          </a:bodyPr>
          <a:lstStyle/>
          <a:p>
            <a:pPr>
              <a:lnSpc>
                <a:spcPts val="3919"/>
              </a:lnSpc>
              <a:spcBef>
                <a:spcPct val="0"/>
              </a:spcBef>
            </a:pPr>
            <a:r>
              <a:rPr lang="en-US" sz="2799" dirty="0">
                <a:solidFill>
                  <a:srgbClr val="000000"/>
                </a:solidFill>
                <a:latin typeface="+mj-lt"/>
                <a:ea typeface="Poppins"/>
                <a:cs typeface="Poppins"/>
                <a:sym typeface="Poppins"/>
              </a:rPr>
              <a:t>www. amaphil.com.ph</a:t>
            </a:r>
          </a:p>
        </p:txBody>
      </p:sp>
      <p:pic>
        <p:nvPicPr>
          <p:cNvPr id="33" name="Picture 32">
            <a:extLst>
              <a:ext uri="{FF2B5EF4-FFF2-40B4-BE49-F238E27FC236}">
                <a16:creationId xmlns:a16="http://schemas.microsoft.com/office/drawing/2014/main" id="{C2623C7D-2E25-4EC5-BAC4-C374CEAB0FC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33078" y="980814"/>
            <a:ext cx="3033202" cy="1313591"/>
          </a:xfrm>
          <a:prstGeom prst="rect">
            <a:avLst/>
          </a:prstGeom>
        </p:spPr>
      </p:pic>
      <p:sp>
        <p:nvSpPr>
          <p:cNvPr id="34" name="Rectangle 33">
            <a:extLst>
              <a:ext uri="{FF2B5EF4-FFF2-40B4-BE49-F238E27FC236}">
                <a16:creationId xmlns:a16="http://schemas.microsoft.com/office/drawing/2014/main" id="{68E02C16-8F12-43B6-9D69-2DAA8B004DE3}"/>
              </a:ext>
            </a:extLst>
          </p:cNvPr>
          <p:cNvSpPr/>
          <p:nvPr/>
        </p:nvSpPr>
        <p:spPr>
          <a:xfrm>
            <a:off x="361793" y="3101442"/>
            <a:ext cx="8782207" cy="6093976"/>
          </a:xfrm>
          <a:prstGeom prst="rect">
            <a:avLst/>
          </a:prstGeom>
        </p:spPr>
        <p:txBody>
          <a:bodyPr wrap="square">
            <a:spAutoFit/>
          </a:bodyPr>
          <a:lstStyle/>
          <a:p>
            <a:pPr algn="just">
              <a:lnSpc>
                <a:spcPts val="3552"/>
              </a:lnSpc>
            </a:pPr>
            <a:r>
              <a:rPr lang="en-US" sz="3200" b="1" dirty="0">
                <a:solidFill>
                  <a:srgbClr val="000000"/>
                </a:solidFill>
                <a:latin typeface="+mj-lt"/>
                <a:ea typeface="Poppins"/>
                <a:cs typeface="Poppins"/>
                <a:sym typeface="Poppins"/>
              </a:rPr>
              <a:t>Nationwide hospital and clinic accreditation thru our network provider AMAPHIL</a:t>
            </a:r>
          </a:p>
          <a:p>
            <a:pPr algn="just">
              <a:lnSpc>
                <a:spcPts val="3552"/>
              </a:lnSpc>
            </a:pPr>
            <a:endParaRPr lang="en-US" sz="2400" b="1" dirty="0">
              <a:solidFill>
                <a:srgbClr val="000000"/>
              </a:solidFill>
              <a:latin typeface="+mj-lt"/>
              <a:ea typeface="Poppins"/>
              <a:cs typeface="Poppins"/>
              <a:sym typeface="Poppins"/>
            </a:endParaRPr>
          </a:p>
          <a:p>
            <a:pPr algn="just">
              <a:lnSpc>
                <a:spcPts val="3552"/>
              </a:lnSpc>
            </a:pPr>
            <a:r>
              <a:rPr lang="en-US" sz="3200" dirty="0">
                <a:solidFill>
                  <a:srgbClr val="000000"/>
                </a:solidFill>
                <a:latin typeface="+mj-lt"/>
                <a:ea typeface="Poppins"/>
                <a:cs typeface="Poppins"/>
                <a:sym typeface="Poppins"/>
              </a:rPr>
              <a:t>AMAPHIL, or Advanced Medical Access Philippines, Inc., is a technology-powered Third Party Administrator (TPA) that was founded in 2016 to manage self-funded corporate health plans. It connects members to a large network of accredited hospitals, clinics, and physicians, and provides technology-driven services like online consultations via the Doctor Anywhere app. AMAPHIL's goal is to provide cost-effective, high-quality healthcare solutions for companies and their employees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566687" y="9631318"/>
            <a:ext cx="4362442" cy="1326059"/>
            <a:chOff x="0" y="0"/>
            <a:chExt cx="2297912" cy="698500"/>
          </a:xfrm>
        </p:grpSpPr>
        <p:sp>
          <p:nvSpPr>
            <p:cNvPr id="4" name="Freeform 4"/>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5" name="TextBox 5"/>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3419993" y="6698755"/>
            <a:ext cx="5550223" cy="4856445"/>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8" name="TextBox 8"/>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8624796" y="15196"/>
            <a:ext cx="9484184" cy="8213304"/>
            <a:chOff x="0" y="0"/>
            <a:chExt cx="6350000" cy="5499100"/>
          </a:xfrm>
        </p:grpSpPr>
        <p:sp>
          <p:nvSpPr>
            <p:cNvPr id="12" name="Freeform 12"/>
            <p:cNvSpPr/>
            <p:nvPr/>
          </p:nvSpPr>
          <p:spPr>
            <a:xfrm>
              <a:off x="0" y="0"/>
              <a:ext cx="6350000" cy="5499100"/>
            </a:xfrm>
            <a:custGeom>
              <a:avLst/>
              <a:gdLst/>
              <a:ahLst/>
              <a:cxnLst/>
              <a:rect l="l" t="t" r="r" b="b"/>
              <a:pathLst>
                <a:path w="6350000" h="5499100">
                  <a:moveTo>
                    <a:pt x="3175000" y="0"/>
                  </a:moveTo>
                  <a:lnTo>
                    <a:pt x="0" y="0"/>
                  </a:lnTo>
                  <a:lnTo>
                    <a:pt x="1587500" y="2749550"/>
                  </a:lnTo>
                  <a:lnTo>
                    <a:pt x="3175000" y="5499100"/>
                  </a:lnTo>
                  <a:lnTo>
                    <a:pt x="4762500" y="2749550"/>
                  </a:lnTo>
                  <a:lnTo>
                    <a:pt x="6350000" y="0"/>
                  </a:lnTo>
                  <a:close/>
                </a:path>
              </a:pathLst>
            </a:custGeom>
            <a:blipFill>
              <a:blip r:embed="rId2"/>
              <a:stretch>
                <a:fillRect l="-7733" r="-7733"/>
              </a:stretch>
            </a:blipFill>
          </p:spPr>
        </p:sp>
      </p:grpSp>
      <p:grpSp>
        <p:nvGrpSpPr>
          <p:cNvPr id="13" name="Group 13"/>
          <p:cNvGrpSpPr/>
          <p:nvPr/>
        </p:nvGrpSpPr>
        <p:grpSpPr>
          <a:xfrm rot="-1845706">
            <a:off x="10431865" y="-1796881"/>
            <a:ext cx="1114386" cy="14763443"/>
            <a:chOff x="0" y="0"/>
            <a:chExt cx="314096" cy="4161162"/>
          </a:xfrm>
        </p:grpSpPr>
        <p:sp>
          <p:nvSpPr>
            <p:cNvPr id="14" name="Freeform 14"/>
            <p:cNvSpPr/>
            <p:nvPr/>
          </p:nvSpPr>
          <p:spPr>
            <a:xfrm>
              <a:off x="0" y="0"/>
              <a:ext cx="314096" cy="4161162"/>
            </a:xfrm>
            <a:custGeom>
              <a:avLst/>
              <a:gdLst/>
              <a:ahLst/>
              <a:cxnLst/>
              <a:rect l="l" t="t" r="r" b="b"/>
              <a:pathLst>
                <a:path w="314096" h="4161162">
                  <a:moveTo>
                    <a:pt x="0" y="0"/>
                  </a:moveTo>
                  <a:lnTo>
                    <a:pt x="314096" y="0"/>
                  </a:lnTo>
                  <a:lnTo>
                    <a:pt x="314096" y="4161162"/>
                  </a:lnTo>
                  <a:lnTo>
                    <a:pt x="0" y="4161162"/>
                  </a:lnTo>
                  <a:close/>
                </a:path>
              </a:pathLst>
            </a:custGeom>
            <a:solidFill>
              <a:srgbClr val="060644"/>
            </a:solidFill>
          </p:spPr>
        </p:sp>
        <p:sp>
          <p:nvSpPr>
            <p:cNvPr id="15" name="TextBox 15"/>
            <p:cNvSpPr txBox="1"/>
            <p:nvPr/>
          </p:nvSpPr>
          <p:spPr>
            <a:xfrm>
              <a:off x="0" y="-57150"/>
              <a:ext cx="314096" cy="4218312"/>
            </a:xfrm>
            <a:prstGeom prst="rect">
              <a:avLst/>
            </a:prstGeom>
          </p:spPr>
          <p:txBody>
            <a:bodyPr lIns="50800" tIns="50800" rIns="50800" bIns="50800" rtlCol="0" anchor="ctr"/>
            <a:lstStyle/>
            <a:p>
              <a:pPr algn="ctr">
                <a:lnSpc>
                  <a:spcPts val="2659"/>
                </a:lnSpc>
                <a:spcBef>
                  <a:spcPct val="0"/>
                </a:spcBef>
              </a:pPr>
              <a:endParaRPr/>
            </a:p>
          </p:txBody>
        </p:sp>
      </p:grpSp>
      <p:grpSp>
        <p:nvGrpSpPr>
          <p:cNvPr id="16" name="Group 16"/>
          <p:cNvGrpSpPr/>
          <p:nvPr/>
        </p:nvGrpSpPr>
        <p:grpSpPr>
          <a:xfrm>
            <a:off x="13500395" y="2519818"/>
            <a:ext cx="13529565" cy="11626970"/>
            <a:chOff x="0" y="0"/>
            <a:chExt cx="812800" cy="698500"/>
          </a:xfrm>
        </p:grpSpPr>
        <p:sp>
          <p:nvSpPr>
            <p:cNvPr id="17" name="Freeform 17"/>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a:ln w="38100" cap="sq">
              <a:solidFill>
                <a:srgbClr val="060644"/>
              </a:solidFill>
              <a:prstDash val="solid"/>
              <a:miter/>
            </a:ln>
          </p:spPr>
        </p:sp>
        <p:sp>
          <p:nvSpPr>
            <p:cNvPr id="18" name="TextBox 18"/>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6927892" y="-2152254"/>
            <a:ext cx="5186295" cy="4538008"/>
            <a:chOff x="0" y="0"/>
            <a:chExt cx="812800" cy="711200"/>
          </a:xfrm>
        </p:grpSpPr>
        <p:sp>
          <p:nvSpPr>
            <p:cNvPr id="20" name="Freeform 20"/>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1" name="TextBox 21"/>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9036642" y="7029882"/>
            <a:ext cx="3904831" cy="3307669"/>
            <a:chOff x="0" y="0"/>
            <a:chExt cx="812800" cy="688499"/>
          </a:xfrm>
        </p:grpSpPr>
        <p:sp>
          <p:nvSpPr>
            <p:cNvPr id="23" name="Freeform 23"/>
            <p:cNvSpPr/>
            <p:nvPr/>
          </p:nvSpPr>
          <p:spPr>
            <a:xfrm>
              <a:off x="0" y="0"/>
              <a:ext cx="812800" cy="688499"/>
            </a:xfrm>
            <a:custGeom>
              <a:avLst/>
              <a:gdLst/>
              <a:ahLst/>
              <a:cxnLst/>
              <a:rect l="l" t="t" r="r" b="b"/>
              <a:pathLst>
                <a:path w="812800" h="688499">
                  <a:moveTo>
                    <a:pt x="406400" y="0"/>
                  </a:moveTo>
                  <a:lnTo>
                    <a:pt x="812800" y="688499"/>
                  </a:lnTo>
                  <a:lnTo>
                    <a:pt x="0" y="688499"/>
                  </a:lnTo>
                  <a:lnTo>
                    <a:pt x="406400" y="0"/>
                  </a:lnTo>
                  <a:close/>
                </a:path>
              </a:pathLst>
            </a:custGeom>
            <a:solidFill>
              <a:srgbClr val="F68712"/>
            </a:solidFill>
          </p:spPr>
        </p:sp>
        <p:sp>
          <p:nvSpPr>
            <p:cNvPr id="24" name="TextBox 24"/>
            <p:cNvSpPr txBox="1"/>
            <p:nvPr/>
          </p:nvSpPr>
          <p:spPr>
            <a:xfrm>
              <a:off x="127000" y="262510"/>
              <a:ext cx="558800" cy="376810"/>
            </a:xfrm>
            <a:prstGeom prst="rect">
              <a:avLst/>
            </a:prstGeom>
          </p:spPr>
          <p:txBody>
            <a:bodyPr lIns="50800" tIns="50800" rIns="50800" bIns="50800" rtlCol="0" anchor="ctr"/>
            <a:lstStyle/>
            <a:p>
              <a:pPr algn="ctr">
                <a:lnSpc>
                  <a:spcPts val="2659"/>
                </a:lnSpc>
              </a:pPr>
              <a:endParaRPr/>
            </a:p>
          </p:txBody>
        </p:sp>
      </p:grpSp>
      <p:sp>
        <p:nvSpPr>
          <p:cNvPr id="25" name="Freeform 25"/>
          <p:cNvSpPr/>
          <p:nvPr/>
        </p:nvSpPr>
        <p:spPr>
          <a:xfrm>
            <a:off x="3790946" y="9539806"/>
            <a:ext cx="564846" cy="564846"/>
          </a:xfrm>
          <a:custGeom>
            <a:avLst/>
            <a:gdLst/>
            <a:ahLst/>
            <a:cxnLst/>
            <a:rect l="l" t="t" r="r" b="b"/>
            <a:pathLst>
              <a:path w="564846" h="564846">
                <a:moveTo>
                  <a:pt x="0" y="0"/>
                </a:moveTo>
                <a:lnTo>
                  <a:pt x="564846" y="0"/>
                </a:lnTo>
                <a:lnTo>
                  <a:pt x="564846" y="564846"/>
                </a:lnTo>
                <a:lnTo>
                  <a:pt x="0" y="56484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9" name="TextBox 29"/>
          <p:cNvSpPr txBox="1"/>
          <p:nvPr/>
        </p:nvSpPr>
        <p:spPr>
          <a:xfrm>
            <a:off x="486687" y="471456"/>
            <a:ext cx="8040597" cy="547458"/>
          </a:xfrm>
          <a:prstGeom prst="rect">
            <a:avLst/>
          </a:prstGeom>
        </p:spPr>
        <p:txBody>
          <a:bodyPr wrap="square" lIns="0" tIns="0" rIns="0" bIns="0" rtlCol="0" anchor="t">
            <a:spAutoFit/>
          </a:bodyPr>
          <a:lstStyle/>
          <a:p>
            <a:pPr algn="l">
              <a:lnSpc>
                <a:spcPts val="3919"/>
              </a:lnSpc>
              <a:spcBef>
                <a:spcPct val="0"/>
              </a:spcBef>
            </a:pPr>
            <a:r>
              <a:rPr lang="en-US" sz="4800" b="1" dirty="0">
                <a:solidFill>
                  <a:srgbClr val="000000"/>
                </a:solidFill>
                <a:latin typeface="+mj-lt"/>
                <a:ea typeface="Poppins"/>
                <a:cs typeface="Poppins"/>
                <a:sym typeface="Poppins"/>
              </a:rPr>
              <a:t>OUR NETWORK PROVIDER</a:t>
            </a:r>
          </a:p>
        </p:txBody>
      </p:sp>
      <p:sp>
        <p:nvSpPr>
          <p:cNvPr id="30" name="TextBox 30"/>
          <p:cNvSpPr txBox="1"/>
          <p:nvPr/>
        </p:nvSpPr>
        <p:spPr>
          <a:xfrm>
            <a:off x="4506986" y="9524414"/>
            <a:ext cx="4989995" cy="475579"/>
          </a:xfrm>
          <a:prstGeom prst="rect">
            <a:avLst/>
          </a:prstGeom>
        </p:spPr>
        <p:txBody>
          <a:bodyPr lIns="0" tIns="0" rIns="0" bIns="0" rtlCol="0" anchor="t">
            <a:spAutoFit/>
          </a:bodyPr>
          <a:lstStyle/>
          <a:p>
            <a:pPr>
              <a:lnSpc>
                <a:spcPts val="3919"/>
              </a:lnSpc>
              <a:spcBef>
                <a:spcPct val="0"/>
              </a:spcBef>
            </a:pPr>
            <a:r>
              <a:rPr lang="en-US" sz="2799" dirty="0">
                <a:solidFill>
                  <a:srgbClr val="000000"/>
                </a:solidFill>
                <a:latin typeface="+mj-lt"/>
                <a:ea typeface="Poppins"/>
                <a:cs typeface="Poppins"/>
                <a:sym typeface="Poppins"/>
              </a:rPr>
              <a:t>www. amaphil.com.ph</a:t>
            </a:r>
          </a:p>
        </p:txBody>
      </p:sp>
      <p:pic>
        <p:nvPicPr>
          <p:cNvPr id="33" name="Picture 32">
            <a:extLst>
              <a:ext uri="{FF2B5EF4-FFF2-40B4-BE49-F238E27FC236}">
                <a16:creationId xmlns:a16="http://schemas.microsoft.com/office/drawing/2014/main" id="{C2623C7D-2E25-4EC5-BAC4-C374CEAB0FC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33078" y="980814"/>
            <a:ext cx="3033202" cy="1313591"/>
          </a:xfrm>
          <a:prstGeom prst="rect">
            <a:avLst/>
          </a:prstGeom>
        </p:spPr>
      </p:pic>
      <p:sp>
        <p:nvSpPr>
          <p:cNvPr id="34" name="Rectangle 33">
            <a:extLst>
              <a:ext uri="{FF2B5EF4-FFF2-40B4-BE49-F238E27FC236}">
                <a16:creationId xmlns:a16="http://schemas.microsoft.com/office/drawing/2014/main" id="{68E02C16-8F12-43B6-9D69-2DAA8B004DE3}"/>
              </a:ext>
            </a:extLst>
          </p:cNvPr>
          <p:cNvSpPr/>
          <p:nvPr/>
        </p:nvSpPr>
        <p:spPr>
          <a:xfrm>
            <a:off x="313319" y="2314828"/>
            <a:ext cx="9620407" cy="6663363"/>
          </a:xfrm>
          <a:prstGeom prst="rect">
            <a:avLst/>
          </a:prstGeom>
        </p:spPr>
        <p:txBody>
          <a:bodyPr wrap="square">
            <a:spAutoFit/>
          </a:bodyPr>
          <a:lstStyle/>
          <a:p>
            <a:pPr algn="just">
              <a:lnSpc>
                <a:spcPts val="3552"/>
              </a:lnSpc>
            </a:pPr>
            <a:r>
              <a:rPr lang="en-US" sz="4000" b="1" dirty="0">
                <a:solidFill>
                  <a:srgbClr val="000000"/>
                </a:solidFill>
                <a:latin typeface="+mj-lt"/>
                <a:ea typeface="Poppins"/>
                <a:cs typeface="Poppins"/>
                <a:sym typeface="Poppins"/>
              </a:rPr>
              <a:t>Corporate Officers</a:t>
            </a:r>
          </a:p>
          <a:p>
            <a:pPr algn="just">
              <a:lnSpc>
                <a:spcPts val="3552"/>
              </a:lnSpc>
            </a:pPr>
            <a:endParaRPr lang="en-US" b="1" dirty="0">
              <a:solidFill>
                <a:srgbClr val="000000"/>
              </a:solidFill>
              <a:latin typeface="+mj-lt"/>
              <a:ea typeface="Poppins"/>
              <a:cs typeface="Poppins"/>
              <a:sym typeface="Poppins"/>
            </a:endParaRPr>
          </a:p>
          <a:p>
            <a:pPr algn="ctr"/>
            <a:r>
              <a:rPr lang="en-US" sz="3200" b="1" dirty="0"/>
              <a:t>Ms. Irene Cara </a:t>
            </a:r>
            <a:r>
              <a:rPr lang="en-US" sz="3200" b="1" dirty="0" err="1"/>
              <a:t>Gatus</a:t>
            </a:r>
            <a:r>
              <a:rPr lang="en-US" sz="3200" b="1" dirty="0"/>
              <a:t> </a:t>
            </a:r>
          </a:p>
          <a:p>
            <a:pPr algn="ctr"/>
            <a:r>
              <a:rPr lang="en-US" sz="3200" dirty="0"/>
              <a:t>Chairman </a:t>
            </a:r>
          </a:p>
          <a:p>
            <a:pPr algn="ctr"/>
            <a:endParaRPr lang="en-US" sz="1100" b="1" dirty="0"/>
          </a:p>
          <a:p>
            <a:pPr algn="ctr"/>
            <a:r>
              <a:rPr lang="en-US" sz="3200" b="1" dirty="0"/>
              <a:t>Ms. Mylene Benitez </a:t>
            </a:r>
          </a:p>
          <a:p>
            <a:pPr algn="ctr"/>
            <a:r>
              <a:rPr lang="en-US" sz="3200" dirty="0"/>
              <a:t>Treasurer </a:t>
            </a:r>
          </a:p>
          <a:p>
            <a:pPr algn="ctr"/>
            <a:endParaRPr lang="en-US" sz="1100" b="1" dirty="0"/>
          </a:p>
          <a:p>
            <a:pPr algn="ctr"/>
            <a:r>
              <a:rPr lang="en-US" sz="3200" b="1" dirty="0"/>
              <a:t>Ms. Angeles </a:t>
            </a:r>
            <a:r>
              <a:rPr lang="en-US" sz="3200" b="1" dirty="0" err="1"/>
              <a:t>Ongchangco</a:t>
            </a:r>
            <a:endParaRPr lang="en-US" sz="3200" b="1" dirty="0"/>
          </a:p>
          <a:p>
            <a:pPr algn="ctr"/>
            <a:r>
              <a:rPr lang="en-US" sz="3200" dirty="0"/>
              <a:t> Corp Secretary </a:t>
            </a:r>
          </a:p>
          <a:p>
            <a:pPr algn="ctr"/>
            <a:endParaRPr lang="en-US" sz="1100" b="1" dirty="0"/>
          </a:p>
          <a:p>
            <a:pPr algn="ctr"/>
            <a:r>
              <a:rPr lang="en-US" sz="3200" b="1" dirty="0"/>
              <a:t>Ms. </a:t>
            </a:r>
            <a:r>
              <a:rPr lang="en-US" sz="3200" b="1" dirty="0" err="1"/>
              <a:t>Mariane</a:t>
            </a:r>
            <a:r>
              <a:rPr lang="en-US" sz="3200" b="1" dirty="0"/>
              <a:t> </a:t>
            </a:r>
            <a:r>
              <a:rPr lang="en-US" sz="3200" b="1" dirty="0" err="1"/>
              <a:t>Odi</a:t>
            </a:r>
            <a:r>
              <a:rPr lang="en-US" sz="3200" b="1" dirty="0"/>
              <a:t> </a:t>
            </a:r>
          </a:p>
          <a:p>
            <a:pPr algn="ctr"/>
            <a:r>
              <a:rPr lang="en-US" sz="3200" dirty="0"/>
              <a:t>Board of Director </a:t>
            </a:r>
          </a:p>
          <a:p>
            <a:pPr algn="ctr"/>
            <a:endParaRPr lang="en-US" sz="1400" b="1" dirty="0"/>
          </a:p>
          <a:p>
            <a:pPr algn="ctr"/>
            <a:r>
              <a:rPr lang="en-US" sz="3200" b="1" dirty="0"/>
              <a:t>Atty. Ensign </a:t>
            </a:r>
            <a:r>
              <a:rPr lang="en-US" sz="3200" b="1" dirty="0" err="1"/>
              <a:t>Icamen</a:t>
            </a:r>
            <a:endParaRPr lang="en-US" sz="3200" b="1" dirty="0"/>
          </a:p>
          <a:p>
            <a:pPr algn="ctr"/>
            <a:r>
              <a:rPr lang="en-US" sz="3200" dirty="0"/>
              <a:t>Board of Director</a:t>
            </a:r>
            <a:endParaRPr lang="en-US" sz="2400" dirty="0">
              <a:solidFill>
                <a:srgbClr val="000000"/>
              </a:solidFill>
              <a:latin typeface="+mj-lt"/>
              <a:ea typeface="Poppins"/>
              <a:cs typeface="Poppins"/>
              <a:sym typeface="Poppins"/>
            </a:endParaRPr>
          </a:p>
        </p:txBody>
      </p:sp>
    </p:spTree>
    <p:extLst>
      <p:ext uri="{BB962C8B-B14F-4D97-AF65-F5344CB8AC3E}">
        <p14:creationId xmlns:p14="http://schemas.microsoft.com/office/powerpoint/2010/main" val="793894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xEl>
                                              <p:pRg st="0" end="0"/>
                                            </p:txEl>
                                          </p:spTgt>
                                        </p:tgtEl>
                                        <p:attrNameLst>
                                          <p:attrName>style.visibility</p:attrName>
                                        </p:attrNameLst>
                                      </p:cBhvr>
                                      <p:to>
                                        <p:strVal val="visible"/>
                                      </p:to>
                                    </p:set>
                                    <p:animEffect transition="in" filter="fade">
                                      <p:cBhvr>
                                        <p:cTn id="7" dur="500"/>
                                        <p:tgtEl>
                                          <p:spTgt spid="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
                                            <p:txEl>
                                              <p:pRg st="2" end="2"/>
                                            </p:txEl>
                                          </p:spTgt>
                                        </p:tgtEl>
                                        <p:attrNameLst>
                                          <p:attrName>style.visibility</p:attrName>
                                        </p:attrNameLst>
                                      </p:cBhvr>
                                      <p:to>
                                        <p:strVal val="visible"/>
                                      </p:to>
                                    </p:set>
                                    <p:animEffect transition="in" filter="fade">
                                      <p:cBhvr>
                                        <p:cTn id="12" dur="500"/>
                                        <p:tgtEl>
                                          <p:spTgt spid="34">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4">
                                            <p:txEl>
                                              <p:pRg st="3" end="3"/>
                                            </p:txEl>
                                          </p:spTgt>
                                        </p:tgtEl>
                                        <p:attrNameLst>
                                          <p:attrName>style.visibility</p:attrName>
                                        </p:attrNameLst>
                                      </p:cBhvr>
                                      <p:to>
                                        <p:strVal val="visible"/>
                                      </p:to>
                                    </p:set>
                                    <p:animEffect transition="in" filter="fade">
                                      <p:cBhvr>
                                        <p:cTn id="15" dur="500"/>
                                        <p:tgtEl>
                                          <p:spTgt spid="34">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4">
                                            <p:txEl>
                                              <p:pRg st="5" end="5"/>
                                            </p:txEl>
                                          </p:spTgt>
                                        </p:tgtEl>
                                        <p:attrNameLst>
                                          <p:attrName>style.visibility</p:attrName>
                                        </p:attrNameLst>
                                      </p:cBhvr>
                                      <p:to>
                                        <p:strVal val="visible"/>
                                      </p:to>
                                    </p:set>
                                    <p:animEffect transition="in" filter="fade">
                                      <p:cBhvr>
                                        <p:cTn id="20" dur="500"/>
                                        <p:tgtEl>
                                          <p:spTgt spid="34">
                                            <p:txEl>
                                              <p:pRg st="5" end="5"/>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4">
                                            <p:txEl>
                                              <p:pRg st="6" end="6"/>
                                            </p:txEl>
                                          </p:spTgt>
                                        </p:tgtEl>
                                        <p:attrNameLst>
                                          <p:attrName>style.visibility</p:attrName>
                                        </p:attrNameLst>
                                      </p:cBhvr>
                                      <p:to>
                                        <p:strVal val="visible"/>
                                      </p:to>
                                    </p:set>
                                    <p:animEffect transition="in" filter="fade">
                                      <p:cBhvr>
                                        <p:cTn id="23" dur="500"/>
                                        <p:tgtEl>
                                          <p:spTgt spid="34">
                                            <p:txEl>
                                              <p:pRg st="6" end="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4">
                                            <p:txEl>
                                              <p:pRg st="8" end="8"/>
                                            </p:txEl>
                                          </p:spTgt>
                                        </p:tgtEl>
                                        <p:attrNameLst>
                                          <p:attrName>style.visibility</p:attrName>
                                        </p:attrNameLst>
                                      </p:cBhvr>
                                      <p:to>
                                        <p:strVal val="visible"/>
                                      </p:to>
                                    </p:set>
                                    <p:animEffect transition="in" filter="fade">
                                      <p:cBhvr>
                                        <p:cTn id="28" dur="500"/>
                                        <p:tgtEl>
                                          <p:spTgt spid="34">
                                            <p:txEl>
                                              <p:pRg st="8" end="8"/>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4">
                                            <p:txEl>
                                              <p:pRg st="9" end="9"/>
                                            </p:txEl>
                                          </p:spTgt>
                                        </p:tgtEl>
                                        <p:attrNameLst>
                                          <p:attrName>style.visibility</p:attrName>
                                        </p:attrNameLst>
                                      </p:cBhvr>
                                      <p:to>
                                        <p:strVal val="visible"/>
                                      </p:to>
                                    </p:set>
                                    <p:animEffect transition="in" filter="fade">
                                      <p:cBhvr>
                                        <p:cTn id="31" dur="500"/>
                                        <p:tgtEl>
                                          <p:spTgt spid="34">
                                            <p:txEl>
                                              <p:pRg st="9" end="9"/>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4">
                                            <p:txEl>
                                              <p:pRg st="11" end="11"/>
                                            </p:txEl>
                                          </p:spTgt>
                                        </p:tgtEl>
                                        <p:attrNameLst>
                                          <p:attrName>style.visibility</p:attrName>
                                        </p:attrNameLst>
                                      </p:cBhvr>
                                      <p:to>
                                        <p:strVal val="visible"/>
                                      </p:to>
                                    </p:set>
                                    <p:animEffect transition="in" filter="fade">
                                      <p:cBhvr>
                                        <p:cTn id="36" dur="500"/>
                                        <p:tgtEl>
                                          <p:spTgt spid="34">
                                            <p:txEl>
                                              <p:pRg st="11" end="11"/>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34">
                                            <p:txEl>
                                              <p:pRg st="12" end="12"/>
                                            </p:txEl>
                                          </p:spTgt>
                                        </p:tgtEl>
                                        <p:attrNameLst>
                                          <p:attrName>style.visibility</p:attrName>
                                        </p:attrNameLst>
                                      </p:cBhvr>
                                      <p:to>
                                        <p:strVal val="visible"/>
                                      </p:to>
                                    </p:set>
                                    <p:animEffect transition="in" filter="fade">
                                      <p:cBhvr>
                                        <p:cTn id="39" dur="500"/>
                                        <p:tgtEl>
                                          <p:spTgt spid="34">
                                            <p:txEl>
                                              <p:pRg st="12" end="12"/>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4">
                                            <p:txEl>
                                              <p:pRg st="14" end="14"/>
                                            </p:txEl>
                                          </p:spTgt>
                                        </p:tgtEl>
                                        <p:attrNameLst>
                                          <p:attrName>style.visibility</p:attrName>
                                        </p:attrNameLst>
                                      </p:cBhvr>
                                      <p:to>
                                        <p:strVal val="visible"/>
                                      </p:to>
                                    </p:set>
                                    <p:animEffect transition="in" filter="fade">
                                      <p:cBhvr>
                                        <p:cTn id="44" dur="500"/>
                                        <p:tgtEl>
                                          <p:spTgt spid="34">
                                            <p:txEl>
                                              <p:pRg st="14" end="14"/>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34">
                                            <p:txEl>
                                              <p:pRg st="15" end="15"/>
                                            </p:txEl>
                                          </p:spTgt>
                                        </p:tgtEl>
                                        <p:attrNameLst>
                                          <p:attrName>style.visibility</p:attrName>
                                        </p:attrNameLst>
                                      </p:cBhvr>
                                      <p:to>
                                        <p:strVal val="visible"/>
                                      </p:to>
                                    </p:set>
                                    <p:animEffect transition="in" filter="fade">
                                      <p:cBhvr>
                                        <p:cTn id="47" dur="500"/>
                                        <p:tgtEl>
                                          <p:spTgt spid="34">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199301" y="9623971"/>
            <a:ext cx="4362442" cy="1326059"/>
            <a:chOff x="0" y="0"/>
            <a:chExt cx="2297912" cy="698500"/>
          </a:xfrm>
        </p:grpSpPr>
        <p:sp>
          <p:nvSpPr>
            <p:cNvPr id="3" name="Freeform 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4" name="TextBox 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2181221" y="-663029"/>
            <a:ext cx="5132233" cy="1326059"/>
            <a:chOff x="0" y="0"/>
            <a:chExt cx="2703398" cy="698500"/>
          </a:xfrm>
        </p:grpSpPr>
        <p:sp>
          <p:nvSpPr>
            <p:cNvPr id="6" name="Freeform 6"/>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7" name="TextBox 7"/>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5512888" y="7858777"/>
            <a:ext cx="5550223" cy="485644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0" name="TextBox 10"/>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1543050" y="-1171172"/>
            <a:ext cx="3086100" cy="2700338"/>
            <a:chOff x="0" y="0"/>
            <a:chExt cx="812800" cy="711200"/>
          </a:xfrm>
        </p:grpSpPr>
        <p:sp>
          <p:nvSpPr>
            <p:cNvPr id="12" name="Freeform 1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3" name="TextBox 1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1174905" y="-2087854"/>
            <a:ext cx="9007144" cy="7740514"/>
            <a:chOff x="0" y="0"/>
            <a:chExt cx="812800" cy="698500"/>
          </a:xfrm>
        </p:grpSpPr>
        <p:sp>
          <p:nvSpPr>
            <p:cNvPr id="15" name="Freeform 15"/>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p:spPr>
        </p:sp>
        <p:sp>
          <p:nvSpPr>
            <p:cNvPr id="16" name="TextBox 16"/>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0301655" y="1529165"/>
            <a:ext cx="9352319" cy="8037149"/>
            <a:chOff x="0" y="0"/>
            <a:chExt cx="812800" cy="698500"/>
          </a:xfrm>
        </p:grpSpPr>
        <p:sp>
          <p:nvSpPr>
            <p:cNvPr id="18" name="Freeform 18"/>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19" name="TextBox 19"/>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10729628" y="1728417"/>
            <a:ext cx="8569868" cy="7421120"/>
            <a:chOff x="18363" y="-54350"/>
            <a:chExt cx="4282440" cy="3708400"/>
          </a:xfrm>
          <a:solidFill>
            <a:srgbClr val="F68712"/>
          </a:solidFill>
        </p:grpSpPr>
        <p:sp>
          <p:nvSpPr>
            <p:cNvPr id="21" name="Freeform 21"/>
            <p:cNvSpPr/>
            <p:nvPr/>
          </p:nvSpPr>
          <p:spPr>
            <a:xfrm>
              <a:off x="18363" y="-5435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p:spPr>
          <p:txBody>
            <a:bodyPr/>
            <a:lstStyle/>
            <a:p>
              <a:endParaRPr lang="en-US" dirty="0"/>
            </a:p>
          </p:txBody>
        </p:sp>
      </p:grpSp>
      <p:sp>
        <p:nvSpPr>
          <p:cNvPr id="27" name="TextBox 26">
            <a:extLst>
              <a:ext uri="{FF2B5EF4-FFF2-40B4-BE49-F238E27FC236}">
                <a16:creationId xmlns:a16="http://schemas.microsoft.com/office/drawing/2014/main" id="{528EE092-1BB5-4887-83D3-E6A9D2263FDB}"/>
              </a:ext>
            </a:extLst>
          </p:cNvPr>
          <p:cNvSpPr txBox="1"/>
          <p:nvPr/>
        </p:nvSpPr>
        <p:spPr>
          <a:xfrm>
            <a:off x="277842" y="429639"/>
            <a:ext cx="12026900" cy="2416046"/>
          </a:xfrm>
          <a:prstGeom prst="rect">
            <a:avLst/>
          </a:prstGeom>
          <a:noFill/>
        </p:spPr>
        <p:txBody>
          <a:bodyPr wrap="square" rtlCol="0">
            <a:spAutoFit/>
          </a:bodyPr>
          <a:lstStyle/>
          <a:p>
            <a:r>
              <a:rPr lang="en-US" sz="11500" b="1" dirty="0">
                <a:solidFill>
                  <a:schemeClr val="accent6">
                    <a:lumMod val="75000"/>
                  </a:schemeClr>
                </a:solidFill>
                <a:latin typeface="+mj-lt"/>
                <a:cs typeface="Poppins" panose="020B0604020202020204" charset="0"/>
              </a:rPr>
              <a:t>Introducing:</a:t>
            </a:r>
          </a:p>
          <a:p>
            <a:endParaRPr lang="en-PH" sz="3600" b="1" u="sng" dirty="0">
              <a:solidFill>
                <a:schemeClr val="accent6">
                  <a:lumMod val="75000"/>
                </a:schemeClr>
              </a:solidFill>
              <a:latin typeface="+mj-lt"/>
              <a:cs typeface="Poppins" panose="020B0604020202020204" charset="0"/>
            </a:endParaRPr>
          </a:p>
        </p:txBody>
      </p:sp>
      <p:sp>
        <p:nvSpPr>
          <p:cNvPr id="28" name="TextBox 27">
            <a:extLst>
              <a:ext uri="{FF2B5EF4-FFF2-40B4-BE49-F238E27FC236}">
                <a16:creationId xmlns:a16="http://schemas.microsoft.com/office/drawing/2014/main" id="{B4A0F678-274F-4579-8B06-4AC844CCF1ED}"/>
              </a:ext>
            </a:extLst>
          </p:cNvPr>
          <p:cNvSpPr txBox="1"/>
          <p:nvPr/>
        </p:nvSpPr>
        <p:spPr>
          <a:xfrm>
            <a:off x="384895" y="2141843"/>
            <a:ext cx="21028168" cy="2215991"/>
          </a:xfrm>
          <a:prstGeom prst="rect">
            <a:avLst/>
          </a:prstGeom>
          <a:noFill/>
        </p:spPr>
        <p:txBody>
          <a:bodyPr wrap="square" rtlCol="0">
            <a:spAutoFit/>
          </a:bodyPr>
          <a:lstStyle/>
          <a:p>
            <a:r>
              <a:rPr lang="en-US" sz="13800" b="1" dirty="0" err="1">
                <a:ln>
                  <a:solidFill>
                    <a:schemeClr val="tx1"/>
                  </a:solidFill>
                </a:ln>
                <a:solidFill>
                  <a:srgbClr val="002060"/>
                </a:solidFill>
                <a:latin typeface="Aharoni" panose="02010803020104030203" pitchFamily="2" charset="-79"/>
                <a:cs typeface="Aharoni" panose="02010803020104030203" pitchFamily="2" charset="-79"/>
              </a:rPr>
              <a:t>Corpo</a:t>
            </a:r>
            <a:r>
              <a:rPr lang="en-US" sz="13800" b="1" dirty="0">
                <a:ln>
                  <a:solidFill>
                    <a:schemeClr val="tx1"/>
                  </a:solidFill>
                </a:ln>
                <a:solidFill>
                  <a:srgbClr val="002060"/>
                </a:solidFill>
                <a:latin typeface="Aharoni" panose="02010803020104030203" pitchFamily="2" charset="-79"/>
                <a:cs typeface="Aharoni" panose="02010803020104030203" pitchFamily="2" charset="-79"/>
              </a:rPr>
              <a:t> </a:t>
            </a:r>
            <a:r>
              <a:rPr lang="en-US" sz="13800" b="1" dirty="0" err="1">
                <a:ln>
                  <a:solidFill>
                    <a:schemeClr val="tx1"/>
                  </a:solidFill>
                </a:ln>
                <a:solidFill>
                  <a:srgbClr val="002060"/>
                </a:solidFill>
                <a:latin typeface="Aharoni" panose="02010803020104030203" pitchFamily="2" charset="-79"/>
                <a:cs typeface="Aharoni" panose="02010803020104030203" pitchFamily="2" charset="-79"/>
              </a:rPr>
              <a:t>HealthCheck</a:t>
            </a:r>
            <a:endParaRPr lang="en-US" sz="13800" b="1" dirty="0">
              <a:ln>
                <a:solidFill>
                  <a:schemeClr val="tx1"/>
                </a:solidFill>
              </a:ln>
              <a:solidFill>
                <a:srgbClr val="002060"/>
              </a:solidFill>
              <a:latin typeface="Aharoni" panose="02010803020104030203" pitchFamily="2" charset="-79"/>
              <a:cs typeface="Aharoni" panose="02010803020104030203" pitchFamily="2" charset="-79"/>
            </a:endParaRPr>
          </a:p>
        </p:txBody>
      </p:sp>
      <p:pic>
        <p:nvPicPr>
          <p:cNvPr id="24" name="Picture 23">
            <a:extLst>
              <a:ext uri="{FF2B5EF4-FFF2-40B4-BE49-F238E27FC236}">
                <a16:creationId xmlns:a16="http://schemas.microsoft.com/office/drawing/2014/main" id="{EFD589AF-972E-46FC-9299-244A416D6DE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76834" y="7807033"/>
            <a:ext cx="2725919" cy="2725919"/>
          </a:xfrm>
          <a:prstGeom prst="rect">
            <a:avLst/>
          </a:prstGeom>
        </p:spPr>
      </p:pic>
      <p:sp>
        <p:nvSpPr>
          <p:cNvPr id="22" name="Rectangle 21">
            <a:extLst>
              <a:ext uri="{FF2B5EF4-FFF2-40B4-BE49-F238E27FC236}">
                <a16:creationId xmlns:a16="http://schemas.microsoft.com/office/drawing/2014/main" id="{B388E0A9-D9CF-4B6F-8CA4-C9EF14C587A5}"/>
              </a:ext>
            </a:extLst>
          </p:cNvPr>
          <p:cNvSpPr/>
          <p:nvPr/>
        </p:nvSpPr>
        <p:spPr>
          <a:xfrm>
            <a:off x="304800" y="4457700"/>
            <a:ext cx="10348628" cy="3877536"/>
          </a:xfrm>
          <a:prstGeom prst="rect">
            <a:avLst/>
          </a:prstGeom>
        </p:spPr>
        <p:txBody>
          <a:bodyPr wrap="square">
            <a:spAutoFit/>
          </a:bodyPr>
          <a:lstStyle/>
          <a:p>
            <a:pPr algn="just">
              <a:lnSpc>
                <a:spcPct val="115000"/>
              </a:lnSpc>
              <a:spcAft>
                <a:spcPts val="1000"/>
              </a:spcAft>
            </a:pPr>
            <a:r>
              <a:rPr lang="en-US" sz="3600" b="1" dirty="0">
                <a:latin typeface="+mj-lt"/>
                <a:ea typeface="MS Mincho" panose="02020609040205080304" pitchFamily="49" charset="-128"/>
                <a:cs typeface="Times New Roman" panose="02020603050405020304" pitchFamily="18" charset="0"/>
              </a:rPr>
              <a:t>The </a:t>
            </a:r>
            <a:r>
              <a:rPr lang="en-US" sz="3600" b="1" dirty="0" err="1">
                <a:latin typeface="+mj-lt"/>
                <a:ea typeface="MS Mincho" panose="02020609040205080304" pitchFamily="49" charset="-128"/>
                <a:cs typeface="Times New Roman" panose="02020603050405020304" pitchFamily="18" charset="0"/>
              </a:rPr>
              <a:t>Corpo</a:t>
            </a:r>
            <a:r>
              <a:rPr lang="en-US" sz="3600" b="1" dirty="0">
                <a:latin typeface="+mj-lt"/>
                <a:ea typeface="MS Mincho" panose="02020609040205080304" pitchFamily="49" charset="-128"/>
                <a:cs typeface="Times New Roman" panose="02020603050405020304" pitchFamily="18" charset="0"/>
              </a:rPr>
              <a:t> </a:t>
            </a:r>
            <a:r>
              <a:rPr lang="en-US" sz="3600" b="1" dirty="0" err="1">
                <a:latin typeface="+mj-lt"/>
                <a:ea typeface="MS Mincho" panose="02020609040205080304" pitchFamily="49" charset="-128"/>
                <a:cs typeface="Times New Roman" panose="02020603050405020304" pitchFamily="18" charset="0"/>
              </a:rPr>
              <a:t>Healthcheck</a:t>
            </a:r>
            <a:r>
              <a:rPr lang="en-US" sz="3600" b="1" dirty="0">
                <a:latin typeface="+mj-lt"/>
                <a:ea typeface="MS Mincho" panose="02020609040205080304" pitchFamily="49" charset="-128"/>
                <a:cs typeface="Times New Roman" panose="02020603050405020304" pitchFamily="18" charset="0"/>
              </a:rPr>
              <a:t> Plan is a comprehensive group medical insurance program designed specifically for companies, cooperatives, and organizations seeking to provide accessible and dependable healthcare protection for their employees and dependents.</a:t>
            </a:r>
          </a:p>
        </p:txBody>
      </p:sp>
    </p:spTree>
    <p:extLst>
      <p:ext uri="{BB962C8B-B14F-4D97-AF65-F5344CB8AC3E}">
        <p14:creationId xmlns:p14="http://schemas.microsoft.com/office/powerpoint/2010/main" val="580004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199301" y="9623971"/>
            <a:ext cx="4362442" cy="1326059"/>
            <a:chOff x="0" y="0"/>
            <a:chExt cx="2297912" cy="698500"/>
          </a:xfrm>
        </p:grpSpPr>
        <p:sp>
          <p:nvSpPr>
            <p:cNvPr id="3" name="Freeform 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4" name="TextBox 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2181221" y="-663029"/>
            <a:ext cx="5132233" cy="1326059"/>
            <a:chOff x="0" y="0"/>
            <a:chExt cx="2703398" cy="698500"/>
          </a:xfrm>
        </p:grpSpPr>
        <p:sp>
          <p:nvSpPr>
            <p:cNvPr id="6" name="Freeform 6"/>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7" name="TextBox 7"/>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5512888" y="7858777"/>
            <a:ext cx="5550223" cy="485644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0" name="TextBox 10"/>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1543050" y="-1171172"/>
            <a:ext cx="3086100" cy="2700338"/>
            <a:chOff x="0" y="0"/>
            <a:chExt cx="812800" cy="711200"/>
          </a:xfrm>
        </p:grpSpPr>
        <p:sp>
          <p:nvSpPr>
            <p:cNvPr id="12" name="Freeform 1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3" name="TextBox 1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1174905" y="-2087854"/>
            <a:ext cx="9007144" cy="7740514"/>
            <a:chOff x="0" y="0"/>
            <a:chExt cx="812800" cy="698500"/>
          </a:xfrm>
        </p:grpSpPr>
        <p:sp>
          <p:nvSpPr>
            <p:cNvPr id="15" name="Freeform 15"/>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p:spPr>
        </p:sp>
        <p:sp>
          <p:nvSpPr>
            <p:cNvPr id="16" name="TextBox 16"/>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0301655" y="1529165"/>
            <a:ext cx="9352319" cy="8037149"/>
            <a:chOff x="0" y="0"/>
            <a:chExt cx="812800" cy="698500"/>
          </a:xfrm>
        </p:grpSpPr>
        <p:sp>
          <p:nvSpPr>
            <p:cNvPr id="18" name="Freeform 18"/>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19" name="TextBox 19"/>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10729628" y="1728417"/>
            <a:ext cx="8569868" cy="7421120"/>
            <a:chOff x="18363" y="-54350"/>
            <a:chExt cx="4282440" cy="3708400"/>
          </a:xfrm>
          <a:solidFill>
            <a:srgbClr val="F68712"/>
          </a:solidFill>
        </p:grpSpPr>
        <p:sp>
          <p:nvSpPr>
            <p:cNvPr id="21" name="Freeform 21"/>
            <p:cNvSpPr/>
            <p:nvPr/>
          </p:nvSpPr>
          <p:spPr>
            <a:xfrm>
              <a:off x="18363" y="-5435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p:spPr>
          <p:txBody>
            <a:bodyPr/>
            <a:lstStyle/>
            <a:p>
              <a:endParaRPr lang="en-US" dirty="0"/>
            </a:p>
          </p:txBody>
        </p:sp>
      </p:grpSp>
      <p:sp>
        <p:nvSpPr>
          <p:cNvPr id="27" name="TextBox 26">
            <a:extLst>
              <a:ext uri="{FF2B5EF4-FFF2-40B4-BE49-F238E27FC236}">
                <a16:creationId xmlns:a16="http://schemas.microsoft.com/office/drawing/2014/main" id="{528EE092-1BB5-4887-83D3-E6A9D2263FDB}"/>
              </a:ext>
            </a:extLst>
          </p:cNvPr>
          <p:cNvSpPr txBox="1"/>
          <p:nvPr/>
        </p:nvSpPr>
        <p:spPr>
          <a:xfrm>
            <a:off x="156110" y="1160723"/>
            <a:ext cx="12026900" cy="1292662"/>
          </a:xfrm>
          <a:prstGeom prst="rect">
            <a:avLst/>
          </a:prstGeom>
          <a:noFill/>
        </p:spPr>
        <p:txBody>
          <a:bodyPr wrap="square" rtlCol="0">
            <a:spAutoFit/>
          </a:bodyPr>
          <a:lstStyle/>
          <a:p>
            <a:pPr algn="ctr"/>
            <a:endParaRPr lang="en-US" sz="6000" b="1" dirty="0">
              <a:solidFill>
                <a:schemeClr val="accent6">
                  <a:lumMod val="75000"/>
                </a:schemeClr>
              </a:solidFill>
              <a:latin typeface="+mj-lt"/>
              <a:cs typeface="Poppins" panose="020B0604020202020204" charset="0"/>
            </a:endParaRPr>
          </a:p>
          <a:p>
            <a:pPr algn="ctr"/>
            <a:endParaRPr lang="en-PH" sz="1600" b="1" u="sng" dirty="0">
              <a:solidFill>
                <a:schemeClr val="accent6">
                  <a:lumMod val="75000"/>
                </a:schemeClr>
              </a:solidFill>
              <a:latin typeface="+mj-lt"/>
              <a:cs typeface="Poppins" panose="020B0604020202020204" charset="0"/>
            </a:endParaRPr>
          </a:p>
        </p:txBody>
      </p:sp>
      <p:sp>
        <p:nvSpPr>
          <p:cNvPr id="28" name="TextBox 27">
            <a:extLst>
              <a:ext uri="{FF2B5EF4-FFF2-40B4-BE49-F238E27FC236}">
                <a16:creationId xmlns:a16="http://schemas.microsoft.com/office/drawing/2014/main" id="{B4A0F678-274F-4579-8B06-4AC844CCF1ED}"/>
              </a:ext>
            </a:extLst>
          </p:cNvPr>
          <p:cNvSpPr txBox="1"/>
          <p:nvPr/>
        </p:nvSpPr>
        <p:spPr>
          <a:xfrm>
            <a:off x="57354" y="1492162"/>
            <a:ext cx="11553523" cy="3046988"/>
          </a:xfrm>
          <a:prstGeom prst="rect">
            <a:avLst/>
          </a:prstGeom>
          <a:noFill/>
        </p:spPr>
        <p:txBody>
          <a:bodyPr wrap="square" rtlCol="0">
            <a:spAutoFit/>
          </a:bodyPr>
          <a:lstStyle/>
          <a:p>
            <a:pPr algn="ctr"/>
            <a:r>
              <a:rPr lang="en-US" sz="9600" b="1" dirty="0" err="1">
                <a:ln>
                  <a:solidFill>
                    <a:schemeClr val="tx1"/>
                  </a:solidFill>
                </a:ln>
                <a:solidFill>
                  <a:srgbClr val="002060"/>
                </a:solidFill>
                <a:latin typeface="Aharoni" panose="02010803020104030203" pitchFamily="2" charset="-79"/>
                <a:cs typeface="Aharoni" panose="02010803020104030203" pitchFamily="2" charset="-79"/>
              </a:rPr>
              <a:t>Corpo</a:t>
            </a:r>
            <a:r>
              <a:rPr lang="en-US" sz="9600" b="1" dirty="0">
                <a:ln>
                  <a:solidFill>
                    <a:schemeClr val="tx1"/>
                  </a:solidFill>
                </a:ln>
                <a:solidFill>
                  <a:srgbClr val="002060"/>
                </a:solidFill>
                <a:latin typeface="Aharoni" panose="02010803020104030203" pitchFamily="2" charset="-79"/>
                <a:cs typeface="Aharoni" panose="02010803020104030203" pitchFamily="2" charset="-79"/>
              </a:rPr>
              <a:t> </a:t>
            </a:r>
            <a:r>
              <a:rPr lang="en-US" sz="9600" b="1" dirty="0" err="1">
                <a:ln>
                  <a:solidFill>
                    <a:schemeClr val="tx1"/>
                  </a:solidFill>
                </a:ln>
                <a:solidFill>
                  <a:srgbClr val="002060"/>
                </a:solidFill>
                <a:latin typeface="Aharoni" panose="02010803020104030203" pitchFamily="2" charset="-79"/>
                <a:cs typeface="Aharoni" panose="02010803020104030203" pitchFamily="2" charset="-79"/>
              </a:rPr>
              <a:t>HealthCheck</a:t>
            </a:r>
            <a:r>
              <a:rPr lang="en-US" sz="9600" b="1" dirty="0">
                <a:ln>
                  <a:solidFill>
                    <a:schemeClr val="tx1"/>
                  </a:solidFill>
                </a:ln>
                <a:solidFill>
                  <a:srgbClr val="002060"/>
                </a:solidFill>
                <a:latin typeface="Aharoni" panose="02010803020104030203" pitchFamily="2" charset="-79"/>
                <a:cs typeface="Aharoni" panose="02010803020104030203" pitchFamily="2" charset="-79"/>
              </a:rPr>
              <a:t> </a:t>
            </a:r>
          </a:p>
          <a:p>
            <a:pPr algn="ctr"/>
            <a:r>
              <a:rPr lang="en-US" sz="9600" b="1" dirty="0">
                <a:ln>
                  <a:solidFill>
                    <a:schemeClr val="tx1"/>
                  </a:solidFill>
                </a:ln>
                <a:solidFill>
                  <a:srgbClr val="002060"/>
                </a:solidFill>
                <a:latin typeface="Aharoni" panose="02010803020104030203" pitchFamily="2" charset="-79"/>
                <a:cs typeface="Aharoni" panose="02010803020104030203" pitchFamily="2" charset="-79"/>
              </a:rPr>
              <a:t>Variants</a:t>
            </a:r>
          </a:p>
        </p:txBody>
      </p:sp>
      <p:pic>
        <p:nvPicPr>
          <p:cNvPr id="24" name="Picture 23">
            <a:extLst>
              <a:ext uri="{FF2B5EF4-FFF2-40B4-BE49-F238E27FC236}">
                <a16:creationId xmlns:a16="http://schemas.microsoft.com/office/drawing/2014/main" id="{EFD589AF-972E-46FC-9299-244A416D6DE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8048277"/>
            <a:ext cx="2725919" cy="2725919"/>
          </a:xfrm>
          <a:prstGeom prst="rect">
            <a:avLst/>
          </a:prstGeom>
        </p:spPr>
      </p:pic>
      <p:sp>
        <p:nvSpPr>
          <p:cNvPr id="25" name="TextBox 24">
            <a:extLst>
              <a:ext uri="{FF2B5EF4-FFF2-40B4-BE49-F238E27FC236}">
                <a16:creationId xmlns:a16="http://schemas.microsoft.com/office/drawing/2014/main" id="{A59E7064-88EE-42BF-8934-73C0670E21CC}"/>
              </a:ext>
            </a:extLst>
          </p:cNvPr>
          <p:cNvSpPr txBox="1"/>
          <p:nvPr/>
        </p:nvSpPr>
        <p:spPr>
          <a:xfrm>
            <a:off x="2716365" y="4539150"/>
            <a:ext cx="6499999" cy="5170646"/>
          </a:xfrm>
          <a:prstGeom prst="rect">
            <a:avLst/>
          </a:prstGeom>
          <a:noFill/>
        </p:spPr>
        <p:txBody>
          <a:bodyPr wrap="square" rtlCol="0">
            <a:spAutoFit/>
          </a:bodyPr>
          <a:lstStyle/>
          <a:p>
            <a:pPr marL="857250" indent="-857250">
              <a:buFont typeface="Wingdings" panose="05000000000000000000" pitchFamily="2" charset="2"/>
              <a:buChar char="v"/>
            </a:pPr>
            <a:r>
              <a:rPr lang="en-US" sz="6600" b="1" dirty="0">
                <a:ln>
                  <a:solidFill>
                    <a:schemeClr val="tx1"/>
                  </a:solidFill>
                </a:ln>
                <a:solidFill>
                  <a:srgbClr val="FFCC00"/>
                </a:solidFill>
                <a:latin typeface="Aharoni" panose="02010803020104030203" pitchFamily="2" charset="-79"/>
                <a:cs typeface="Aharoni" panose="02010803020104030203" pitchFamily="2" charset="-79"/>
              </a:rPr>
              <a:t>Gold</a:t>
            </a:r>
          </a:p>
          <a:p>
            <a:pPr marL="857250" indent="-857250">
              <a:buFont typeface="Wingdings" panose="05000000000000000000" pitchFamily="2" charset="2"/>
              <a:buChar char="v"/>
            </a:pPr>
            <a:r>
              <a:rPr lang="en-US" sz="6600" b="1" dirty="0">
                <a:ln>
                  <a:solidFill>
                    <a:schemeClr val="tx1"/>
                  </a:solidFill>
                </a:ln>
                <a:solidFill>
                  <a:schemeClr val="bg1">
                    <a:lumMod val="65000"/>
                  </a:schemeClr>
                </a:solidFill>
                <a:latin typeface="Aharoni" panose="02010803020104030203" pitchFamily="2" charset="-79"/>
                <a:cs typeface="Aharoni" panose="02010803020104030203" pitchFamily="2" charset="-79"/>
              </a:rPr>
              <a:t>Silver</a:t>
            </a:r>
          </a:p>
          <a:p>
            <a:pPr marL="857250" indent="-857250">
              <a:buFont typeface="Wingdings" panose="05000000000000000000" pitchFamily="2" charset="2"/>
              <a:buChar char="v"/>
            </a:pPr>
            <a:r>
              <a:rPr lang="en-US" sz="6600" b="1" dirty="0">
                <a:ln>
                  <a:solidFill>
                    <a:schemeClr val="tx1"/>
                  </a:solidFill>
                </a:ln>
                <a:solidFill>
                  <a:srgbClr val="996633"/>
                </a:solidFill>
                <a:latin typeface="Aharoni" panose="02010803020104030203" pitchFamily="2" charset="-79"/>
                <a:cs typeface="Aharoni" panose="02010803020104030203" pitchFamily="2" charset="-79"/>
              </a:rPr>
              <a:t>Bronze</a:t>
            </a:r>
          </a:p>
          <a:p>
            <a:pPr marL="857250" indent="-857250">
              <a:buFont typeface="Wingdings" panose="05000000000000000000" pitchFamily="2" charset="2"/>
              <a:buChar char="v"/>
            </a:pPr>
            <a:r>
              <a:rPr lang="en-US" sz="6600" b="1" dirty="0">
                <a:ln>
                  <a:solidFill>
                    <a:schemeClr val="tx1"/>
                  </a:solidFill>
                </a:ln>
                <a:solidFill>
                  <a:srgbClr val="FF9900"/>
                </a:solidFill>
                <a:latin typeface="Aharoni" panose="02010803020104030203" pitchFamily="2" charset="-79"/>
                <a:cs typeface="Aharoni" panose="02010803020104030203" pitchFamily="2" charset="-79"/>
              </a:rPr>
              <a:t>Copper</a:t>
            </a:r>
          </a:p>
          <a:p>
            <a:pPr marL="857250" indent="-857250">
              <a:buFont typeface="Wingdings" panose="05000000000000000000" pitchFamily="2" charset="2"/>
              <a:buChar char="v"/>
            </a:pPr>
            <a:r>
              <a:rPr lang="en-US" sz="6600" b="1" dirty="0">
                <a:ln>
                  <a:solidFill>
                    <a:schemeClr val="tx1"/>
                  </a:solidFill>
                </a:ln>
                <a:solidFill>
                  <a:srgbClr val="E46C0A"/>
                </a:solidFill>
                <a:latin typeface="Aharoni" panose="02010803020104030203" pitchFamily="2" charset="-79"/>
                <a:cs typeface="Aharoni" panose="02010803020104030203" pitchFamily="2" charset="-79"/>
              </a:rPr>
              <a:t>Brass</a:t>
            </a:r>
          </a:p>
        </p:txBody>
      </p:sp>
    </p:spTree>
    <p:extLst>
      <p:ext uri="{BB962C8B-B14F-4D97-AF65-F5344CB8AC3E}">
        <p14:creationId xmlns:p14="http://schemas.microsoft.com/office/powerpoint/2010/main" val="3332268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xEl>
                                              <p:pRg st="0" end="0"/>
                                            </p:txEl>
                                          </p:spTgt>
                                        </p:tgtEl>
                                        <p:attrNameLst>
                                          <p:attrName>style.visibility</p:attrName>
                                        </p:attrNameLst>
                                      </p:cBhvr>
                                      <p:to>
                                        <p:strVal val="visible"/>
                                      </p:to>
                                    </p:set>
                                    <p:animEffect transition="in" filter="fade">
                                      <p:cBhvr>
                                        <p:cTn id="12" dur="500"/>
                                        <p:tgtEl>
                                          <p:spTgt spid="2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xEl>
                                              <p:pRg st="1" end="1"/>
                                            </p:txEl>
                                          </p:spTgt>
                                        </p:tgtEl>
                                        <p:attrNameLst>
                                          <p:attrName>style.visibility</p:attrName>
                                        </p:attrNameLst>
                                      </p:cBhvr>
                                      <p:to>
                                        <p:strVal val="visible"/>
                                      </p:to>
                                    </p:set>
                                    <p:animEffect transition="in" filter="fade">
                                      <p:cBhvr>
                                        <p:cTn id="17" dur="500"/>
                                        <p:tgtEl>
                                          <p:spTgt spid="2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5">
                                            <p:txEl>
                                              <p:pRg st="2" end="2"/>
                                            </p:txEl>
                                          </p:spTgt>
                                        </p:tgtEl>
                                        <p:attrNameLst>
                                          <p:attrName>style.visibility</p:attrName>
                                        </p:attrNameLst>
                                      </p:cBhvr>
                                      <p:to>
                                        <p:strVal val="visible"/>
                                      </p:to>
                                    </p:set>
                                    <p:animEffect transition="in" filter="fade">
                                      <p:cBhvr>
                                        <p:cTn id="22" dur="500"/>
                                        <p:tgtEl>
                                          <p:spTgt spid="2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5">
                                            <p:txEl>
                                              <p:pRg st="3" end="3"/>
                                            </p:txEl>
                                          </p:spTgt>
                                        </p:tgtEl>
                                        <p:attrNameLst>
                                          <p:attrName>style.visibility</p:attrName>
                                        </p:attrNameLst>
                                      </p:cBhvr>
                                      <p:to>
                                        <p:strVal val="visible"/>
                                      </p:to>
                                    </p:set>
                                    <p:animEffect transition="in" filter="fade">
                                      <p:cBhvr>
                                        <p:cTn id="27" dur="500"/>
                                        <p:tgtEl>
                                          <p:spTgt spid="2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5">
                                            <p:txEl>
                                              <p:pRg st="4" end="4"/>
                                            </p:txEl>
                                          </p:spTgt>
                                        </p:tgtEl>
                                        <p:attrNameLst>
                                          <p:attrName>style.visibility</p:attrName>
                                        </p:attrNameLst>
                                      </p:cBhvr>
                                      <p:to>
                                        <p:strVal val="visible"/>
                                      </p:to>
                                    </p:set>
                                    <p:animEffect transition="in" filter="fade">
                                      <p:cBhvr>
                                        <p:cTn id="32" dur="500"/>
                                        <p:tgtEl>
                                          <p:spTgt spid="2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2494358" y="-1063420"/>
            <a:ext cx="10114712" cy="7740514"/>
            <a:chOff x="0" y="0"/>
            <a:chExt cx="912746" cy="698500"/>
          </a:xfrm>
        </p:grpSpPr>
        <p:sp>
          <p:nvSpPr>
            <p:cNvPr id="4" name="Freeform 4"/>
            <p:cNvSpPr/>
            <p:nvPr/>
          </p:nvSpPr>
          <p:spPr>
            <a:xfrm>
              <a:off x="0" y="0"/>
              <a:ext cx="912746" cy="698500"/>
            </a:xfrm>
            <a:custGeom>
              <a:avLst/>
              <a:gdLst/>
              <a:ahLst/>
              <a:cxnLst/>
              <a:rect l="l" t="t" r="r" b="b"/>
              <a:pathLst>
                <a:path w="912746" h="698500">
                  <a:moveTo>
                    <a:pt x="912746" y="349250"/>
                  </a:moveTo>
                  <a:lnTo>
                    <a:pt x="709546" y="698500"/>
                  </a:lnTo>
                  <a:lnTo>
                    <a:pt x="203200" y="698500"/>
                  </a:lnTo>
                  <a:lnTo>
                    <a:pt x="0" y="349250"/>
                  </a:lnTo>
                  <a:lnTo>
                    <a:pt x="203200" y="0"/>
                  </a:lnTo>
                  <a:lnTo>
                    <a:pt x="709546" y="0"/>
                  </a:lnTo>
                  <a:lnTo>
                    <a:pt x="912746" y="349250"/>
                  </a:lnTo>
                  <a:close/>
                </a:path>
              </a:pathLst>
            </a:custGeom>
            <a:solidFill>
              <a:srgbClr val="060644"/>
            </a:solidFill>
          </p:spPr>
        </p:sp>
        <p:sp>
          <p:nvSpPr>
            <p:cNvPr id="5" name="TextBox 5"/>
            <p:cNvSpPr txBox="1"/>
            <p:nvPr/>
          </p:nvSpPr>
          <p:spPr>
            <a:xfrm>
              <a:off x="114300" y="-57150"/>
              <a:ext cx="684146" cy="75565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48089" y="3956739"/>
            <a:ext cx="6572265" cy="5750732"/>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FFFFF"/>
            </a:solidFill>
          </p:spPr>
        </p:sp>
        <p:sp>
          <p:nvSpPr>
            <p:cNvPr id="8" name="TextBox 8"/>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566687" y="9580975"/>
            <a:ext cx="4528060" cy="1376402"/>
            <a:chOff x="0" y="0"/>
            <a:chExt cx="2297912" cy="698500"/>
          </a:xfrm>
        </p:grpSpPr>
        <p:sp>
          <p:nvSpPr>
            <p:cNvPr id="13" name="Freeform 1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14" name="TextBox 1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3419993" y="6698755"/>
            <a:ext cx="5550223" cy="4856445"/>
            <a:chOff x="0" y="0"/>
            <a:chExt cx="812800" cy="711200"/>
          </a:xfrm>
        </p:grpSpPr>
        <p:sp>
          <p:nvSpPr>
            <p:cNvPr id="16" name="Freeform 16"/>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7" name="TextBox 17"/>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5077867" y="-784225"/>
            <a:ext cx="6088480" cy="1326059"/>
            <a:chOff x="0" y="0"/>
            <a:chExt cx="3207100" cy="698500"/>
          </a:xfrm>
        </p:grpSpPr>
        <p:sp>
          <p:nvSpPr>
            <p:cNvPr id="19" name="Freeform 19"/>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20" name="TextBox 20"/>
            <p:cNvSpPr txBox="1"/>
            <p:nvPr/>
          </p:nvSpPr>
          <p:spPr>
            <a:xfrm>
              <a:off x="114300" y="-57150"/>
              <a:ext cx="2978500" cy="755650"/>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a:off x="16744950" y="-1063420"/>
            <a:ext cx="3086100" cy="2700338"/>
            <a:chOff x="0" y="0"/>
            <a:chExt cx="812800" cy="711200"/>
          </a:xfrm>
        </p:grpSpPr>
        <p:sp>
          <p:nvSpPr>
            <p:cNvPr id="22" name="Freeform 2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23" name="TextBox 2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a:off x="1257649" y="4208920"/>
            <a:ext cx="6100430" cy="5246370"/>
            <a:chOff x="0" y="0"/>
            <a:chExt cx="6350000" cy="5461000"/>
          </a:xfrm>
        </p:grpSpPr>
        <p:sp>
          <p:nvSpPr>
            <p:cNvPr id="27" name="Freeform 27"/>
            <p:cNvSpPr/>
            <p:nvPr/>
          </p:nvSpPr>
          <p:spPr>
            <a:xfrm>
              <a:off x="59563" y="32385"/>
              <a:ext cx="6230874" cy="5396230"/>
            </a:xfrm>
            <a:custGeom>
              <a:avLst/>
              <a:gdLst/>
              <a:ahLst/>
              <a:cxnLst/>
              <a:rect l="l" t="t" r="r" b="b"/>
              <a:pathLst>
                <a:path w="6230874" h="5396230">
                  <a:moveTo>
                    <a:pt x="3115437" y="0"/>
                  </a:moveTo>
                  <a:lnTo>
                    <a:pt x="0" y="5396230"/>
                  </a:lnTo>
                  <a:lnTo>
                    <a:pt x="6230874" y="5396230"/>
                  </a:lnTo>
                  <a:close/>
                </a:path>
              </a:pathLst>
            </a:custGeom>
            <a:blipFill>
              <a:blip r:embed="rId2"/>
              <a:stretch>
                <a:fillRect l="-114209" t="-62968" r="-5074" b="-5727"/>
              </a:stretch>
            </a:blipFill>
          </p:spPr>
        </p:sp>
      </p:grpSp>
      <p:graphicFrame>
        <p:nvGraphicFramePr>
          <p:cNvPr id="30" name="Table 29">
            <a:extLst>
              <a:ext uri="{FF2B5EF4-FFF2-40B4-BE49-F238E27FC236}">
                <a16:creationId xmlns:a16="http://schemas.microsoft.com/office/drawing/2014/main" id="{A575DBB8-83DB-4F5D-8163-156EB8D50B13}"/>
              </a:ext>
            </a:extLst>
          </p:cNvPr>
          <p:cNvGraphicFramePr>
            <a:graphicFrameLocks noGrp="1"/>
          </p:cNvGraphicFramePr>
          <p:nvPr>
            <p:extLst/>
          </p:nvPr>
        </p:nvGraphicFramePr>
        <p:xfrm>
          <a:off x="7025549" y="3171231"/>
          <a:ext cx="11096557" cy="2232118"/>
        </p:xfrm>
        <a:graphic>
          <a:graphicData uri="http://schemas.openxmlformats.org/drawingml/2006/table">
            <a:tbl>
              <a:tblPr firstRow="1" bandRow="1">
                <a:effectLst>
                  <a:outerShdw blurRad="152400" dist="317500" dir="5400000" sx="90000" sy="-19000" rotWithShape="0">
                    <a:prstClr val="black">
                      <a:alpha val="15000"/>
                    </a:prstClr>
                  </a:outerShdw>
                </a:effectLst>
                <a:tableStyleId>{0505E3EF-67EA-436B-97B2-0124C06EBD24}</a:tableStyleId>
              </a:tblPr>
              <a:tblGrid>
                <a:gridCol w="3426416">
                  <a:extLst>
                    <a:ext uri="{9D8B030D-6E8A-4147-A177-3AD203B41FA5}">
                      <a16:colId xmlns:a16="http://schemas.microsoft.com/office/drawing/2014/main" val="20000"/>
                    </a:ext>
                  </a:extLst>
                </a:gridCol>
                <a:gridCol w="2624824">
                  <a:extLst>
                    <a:ext uri="{9D8B030D-6E8A-4147-A177-3AD203B41FA5}">
                      <a16:colId xmlns:a16="http://schemas.microsoft.com/office/drawing/2014/main" val="20001"/>
                    </a:ext>
                  </a:extLst>
                </a:gridCol>
                <a:gridCol w="2671975">
                  <a:extLst>
                    <a:ext uri="{9D8B030D-6E8A-4147-A177-3AD203B41FA5}">
                      <a16:colId xmlns:a16="http://schemas.microsoft.com/office/drawing/2014/main" val="20002"/>
                    </a:ext>
                  </a:extLst>
                </a:gridCol>
                <a:gridCol w="2373342">
                  <a:extLst>
                    <a:ext uri="{9D8B030D-6E8A-4147-A177-3AD203B41FA5}">
                      <a16:colId xmlns:a16="http://schemas.microsoft.com/office/drawing/2014/main" val="20003"/>
                    </a:ext>
                  </a:extLst>
                </a:gridCol>
              </a:tblGrid>
              <a:tr h="1531078">
                <a:tc rowSpan="2">
                  <a:txBody>
                    <a:bodyPr/>
                    <a:lstStyle/>
                    <a:p>
                      <a:pPr algn="ctr"/>
                      <a:r>
                        <a:rPr lang="en-US" sz="3600" dirty="0">
                          <a:latin typeface="+mj-lt"/>
                        </a:rPr>
                        <a:t>EMPLOYEES</a:t>
                      </a:r>
                    </a:p>
                  </a:txBody>
                  <a:tcPr anchor="ctr">
                    <a:solidFill>
                      <a:srgbClr val="F68712"/>
                    </a:solidFill>
                  </a:tcPr>
                </a:tc>
                <a:tc>
                  <a:txBody>
                    <a:bodyPr/>
                    <a:lstStyle/>
                    <a:p>
                      <a:pPr algn="ctr"/>
                      <a:r>
                        <a:rPr lang="en-US" sz="3600" dirty="0">
                          <a:latin typeface="+mj-lt"/>
                        </a:rPr>
                        <a:t>ENTRY AGE</a:t>
                      </a:r>
                    </a:p>
                  </a:txBody>
                  <a:tcPr anchor="ctr">
                    <a:solidFill>
                      <a:srgbClr val="F68712"/>
                    </a:solidFill>
                  </a:tcPr>
                </a:tc>
                <a:tc>
                  <a:txBody>
                    <a:bodyPr/>
                    <a:lstStyle/>
                    <a:p>
                      <a:pPr algn="ctr"/>
                      <a:r>
                        <a:rPr lang="en-US" sz="3600" dirty="0">
                          <a:latin typeface="+mj-lt"/>
                        </a:rPr>
                        <a:t>LAST AGE ACCEPTANCE</a:t>
                      </a:r>
                    </a:p>
                  </a:txBody>
                  <a:tcPr anchor="ctr">
                    <a:solidFill>
                      <a:srgbClr val="F68712"/>
                    </a:solidFill>
                  </a:tcPr>
                </a:tc>
                <a:tc>
                  <a:txBody>
                    <a:bodyPr/>
                    <a:lstStyle/>
                    <a:p>
                      <a:pPr algn="ctr"/>
                      <a:r>
                        <a:rPr lang="en-US" sz="3600" dirty="0">
                          <a:latin typeface="+mj-lt"/>
                        </a:rPr>
                        <a:t>EXIT AGE</a:t>
                      </a:r>
                    </a:p>
                  </a:txBody>
                  <a:tcPr anchor="ctr">
                    <a:solidFill>
                      <a:srgbClr val="F68712"/>
                    </a:solidFill>
                  </a:tcPr>
                </a:tc>
                <a:extLst>
                  <a:ext uri="{0D108BD9-81ED-4DB2-BD59-A6C34878D82A}">
                    <a16:rowId xmlns:a16="http://schemas.microsoft.com/office/drawing/2014/main" val="10000"/>
                  </a:ext>
                </a:extLst>
              </a:tr>
              <a:tr h="456348">
                <a:tc vMerge="1">
                  <a:txBody>
                    <a:bodyPr/>
                    <a:lstStyle/>
                    <a:p>
                      <a:pPr algn="ctr"/>
                      <a:endParaRPr lang="en-US" sz="2400" dirty="0">
                        <a:latin typeface="Garamond" panose="02020404030301010803" pitchFamily="18" charset="0"/>
                      </a:endParaRPr>
                    </a:p>
                  </a:txBody>
                  <a:tcPr/>
                </a:tc>
                <a:tc>
                  <a:txBody>
                    <a:bodyPr/>
                    <a:lstStyle/>
                    <a:p>
                      <a:pPr algn="ctr"/>
                      <a:r>
                        <a:rPr lang="en-US" sz="4000" dirty="0">
                          <a:latin typeface="+mj-lt"/>
                        </a:rPr>
                        <a:t>18</a:t>
                      </a:r>
                    </a:p>
                  </a:txBody>
                  <a:tcPr anchor="ctr">
                    <a:solidFill>
                      <a:srgbClr val="F68712"/>
                    </a:solidFill>
                  </a:tcPr>
                </a:tc>
                <a:tc>
                  <a:txBody>
                    <a:bodyPr/>
                    <a:lstStyle/>
                    <a:p>
                      <a:pPr algn="ctr"/>
                      <a:r>
                        <a:rPr lang="en-US" sz="4000" dirty="0">
                          <a:latin typeface="+mj-lt"/>
                        </a:rPr>
                        <a:t>65</a:t>
                      </a:r>
                    </a:p>
                  </a:txBody>
                  <a:tcPr anchor="ctr">
                    <a:solidFill>
                      <a:srgbClr val="F68712"/>
                    </a:solidFill>
                  </a:tcPr>
                </a:tc>
                <a:tc>
                  <a:txBody>
                    <a:bodyPr/>
                    <a:lstStyle/>
                    <a:p>
                      <a:pPr algn="ctr"/>
                      <a:r>
                        <a:rPr lang="en-US" sz="4000" dirty="0">
                          <a:latin typeface="+mj-lt"/>
                        </a:rPr>
                        <a:t>66</a:t>
                      </a:r>
                    </a:p>
                  </a:txBody>
                  <a:tcPr anchor="ctr">
                    <a:solidFill>
                      <a:srgbClr val="F68712"/>
                    </a:solidFill>
                  </a:tcPr>
                </a:tc>
                <a:extLst>
                  <a:ext uri="{0D108BD9-81ED-4DB2-BD59-A6C34878D82A}">
                    <a16:rowId xmlns:a16="http://schemas.microsoft.com/office/drawing/2014/main" val="10001"/>
                  </a:ext>
                </a:extLst>
              </a:tr>
            </a:tbl>
          </a:graphicData>
        </a:graphic>
      </p:graphicFrame>
      <p:sp>
        <p:nvSpPr>
          <p:cNvPr id="31" name="TextBox 30">
            <a:extLst>
              <a:ext uri="{FF2B5EF4-FFF2-40B4-BE49-F238E27FC236}">
                <a16:creationId xmlns:a16="http://schemas.microsoft.com/office/drawing/2014/main" id="{5B07BB15-7FE4-4628-A565-C990D4F30E14}"/>
              </a:ext>
            </a:extLst>
          </p:cNvPr>
          <p:cNvSpPr txBox="1"/>
          <p:nvPr/>
        </p:nvSpPr>
        <p:spPr>
          <a:xfrm>
            <a:off x="7744749" y="1621663"/>
            <a:ext cx="10828732" cy="1323439"/>
          </a:xfrm>
          <a:prstGeom prst="rect">
            <a:avLst/>
          </a:prstGeom>
          <a:noFill/>
          <a:ln>
            <a:solidFill>
              <a:schemeClr val="bg1"/>
            </a:solidFill>
          </a:ln>
        </p:spPr>
        <p:txBody>
          <a:bodyPr wrap="square" rtlCol="0">
            <a:spAutoFit/>
          </a:bodyPr>
          <a:lstStyle/>
          <a:p>
            <a:r>
              <a:rPr lang="en-PH" sz="8000" b="1" dirty="0">
                <a:ln>
                  <a:solidFill>
                    <a:srgbClr val="203F39"/>
                  </a:solidFill>
                </a:ln>
                <a:latin typeface="+mj-lt"/>
              </a:rPr>
              <a:t>PRINCIPAL</a:t>
            </a:r>
            <a:endParaRPr lang="en-PH" sz="8800" b="1" dirty="0">
              <a:ln>
                <a:solidFill>
                  <a:srgbClr val="203F39"/>
                </a:solidFill>
              </a:ln>
              <a:latin typeface="+mj-lt"/>
            </a:endParaRPr>
          </a:p>
        </p:txBody>
      </p:sp>
      <p:sp>
        <p:nvSpPr>
          <p:cNvPr id="32" name="TextBox 31">
            <a:extLst>
              <a:ext uri="{FF2B5EF4-FFF2-40B4-BE49-F238E27FC236}">
                <a16:creationId xmlns:a16="http://schemas.microsoft.com/office/drawing/2014/main" id="{9F201AEB-CC3D-485C-92A7-D5C40458E6FA}"/>
              </a:ext>
            </a:extLst>
          </p:cNvPr>
          <p:cNvSpPr txBox="1"/>
          <p:nvPr/>
        </p:nvSpPr>
        <p:spPr>
          <a:xfrm>
            <a:off x="6969383" y="-132325"/>
            <a:ext cx="10828732" cy="1862048"/>
          </a:xfrm>
          <a:prstGeom prst="rect">
            <a:avLst/>
          </a:prstGeom>
          <a:noFill/>
          <a:ln>
            <a:solidFill>
              <a:schemeClr val="bg1"/>
            </a:solidFill>
          </a:ln>
        </p:spPr>
        <p:txBody>
          <a:bodyPr wrap="square" rtlCol="0">
            <a:spAutoFit/>
          </a:bodyPr>
          <a:lstStyle/>
          <a:p>
            <a:r>
              <a:rPr lang="en-PH" sz="11500" b="1" dirty="0">
                <a:ln>
                  <a:solidFill>
                    <a:srgbClr val="203F39"/>
                  </a:solidFill>
                </a:ln>
                <a:latin typeface="+mj-lt"/>
              </a:rPr>
              <a:t>ELEGIBILITY</a:t>
            </a:r>
            <a:endParaRPr lang="en-PH" sz="13800" b="1" dirty="0">
              <a:ln>
                <a:solidFill>
                  <a:srgbClr val="203F39"/>
                </a:solidFill>
              </a:ln>
              <a:latin typeface="+mj-lt"/>
            </a:endParaRPr>
          </a:p>
        </p:txBody>
      </p:sp>
      <p:graphicFrame>
        <p:nvGraphicFramePr>
          <p:cNvPr id="2" name="Table 1">
            <a:extLst>
              <a:ext uri="{FF2B5EF4-FFF2-40B4-BE49-F238E27FC236}">
                <a16:creationId xmlns:a16="http://schemas.microsoft.com/office/drawing/2014/main" id="{3DC3788A-865C-4DDD-BCB4-A27D751EBF76}"/>
              </a:ext>
            </a:extLst>
          </p:cNvPr>
          <p:cNvGraphicFramePr>
            <a:graphicFrameLocks noGrp="1"/>
          </p:cNvGraphicFramePr>
          <p:nvPr>
            <p:extLst/>
          </p:nvPr>
        </p:nvGraphicFramePr>
        <p:xfrm>
          <a:off x="7113858" y="6674543"/>
          <a:ext cx="11096557" cy="2933158"/>
        </p:xfrm>
        <a:graphic>
          <a:graphicData uri="http://schemas.openxmlformats.org/drawingml/2006/table">
            <a:tbl>
              <a:tblPr firstRow="1" bandRow="1">
                <a:effectLst>
                  <a:outerShdw blurRad="152400" dist="317500" dir="5400000" sx="90000" sy="-19000" rotWithShape="0">
                    <a:prstClr val="black">
                      <a:alpha val="15000"/>
                    </a:prstClr>
                  </a:outerShdw>
                </a:effectLst>
                <a:tableStyleId>{0505E3EF-67EA-436B-97B2-0124C06EBD24}</a:tableStyleId>
              </a:tblPr>
              <a:tblGrid>
                <a:gridCol w="3426416">
                  <a:extLst>
                    <a:ext uri="{9D8B030D-6E8A-4147-A177-3AD203B41FA5}">
                      <a16:colId xmlns:a16="http://schemas.microsoft.com/office/drawing/2014/main" val="415786042"/>
                    </a:ext>
                  </a:extLst>
                </a:gridCol>
                <a:gridCol w="2624824">
                  <a:extLst>
                    <a:ext uri="{9D8B030D-6E8A-4147-A177-3AD203B41FA5}">
                      <a16:colId xmlns:a16="http://schemas.microsoft.com/office/drawing/2014/main" val="1249221643"/>
                    </a:ext>
                  </a:extLst>
                </a:gridCol>
                <a:gridCol w="2671975">
                  <a:extLst>
                    <a:ext uri="{9D8B030D-6E8A-4147-A177-3AD203B41FA5}">
                      <a16:colId xmlns:a16="http://schemas.microsoft.com/office/drawing/2014/main" val="4148185160"/>
                    </a:ext>
                  </a:extLst>
                </a:gridCol>
                <a:gridCol w="2373342">
                  <a:extLst>
                    <a:ext uri="{9D8B030D-6E8A-4147-A177-3AD203B41FA5}">
                      <a16:colId xmlns:a16="http://schemas.microsoft.com/office/drawing/2014/main" val="3543190685"/>
                    </a:ext>
                  </a:extLst>
                </a:gridCol>
              </a:tblGrid>
              <a:tr h="1531078">
                <a:tc>
                  <a:txBody>
                    <a:bodyPr/>
                    <a:lstStyle/>
                    <a:p>
                      <a:pPr algn="ctr"/>
                      <a:endParaRPr lang="en-US" sz="3600" dirty="0">
                        <a:latin typeface="+mj-lt"/>
                      </a:endParaRPr>
                    </a:p>
                  </a:txBody>
                  <a:tcPr anchor="ctr">
                    <a:solidFill>
                      <a:srgbClr val="F68712"/>
                    </a:solidFill>
                  </a:tcPr>
                </a:tc>
                <a:tc>
                  <a:txBody>
                    <a:bodyPr/>
                    <a:lstStyle/>
                    <a:p>
                      <a:pPr algn="ctr"/>
                      <a:r>
                        <a:rPr lang="en-US" sz="3600" dirty="0">
                          <a:latin typeface="+mj-lt"/>
                        </a:rPr>
                        <a:t>ENTRY AGE</a:t>
                      </a:r>
                    </a:p>
                  </a:txBody>
                  <a:tcPr anchor="ctr">
                    <a:solidFill>
                      <a:srgbClr val="F68712"/>
                    </a:solidFill>
                  </a:tcPr>
                </a:tc>
                <a:tc>
                  <a:txBody>
                    <a:bodyPr/>
                    <a:lstStyle/>
                    <a:p>
                      <a:pPr algn="ctr"/>
                      <a:r>
                        <a:rPr lang="en-US" sz="3600" dirty="0">
                          <a:latin typeface="+mj-lt"/>
                        </a:rPr>
                        <a:t>LAST AGE ACCEPTANCE</a:t>
                      </a:r>
                    </a:p>
                  </a:txBody>
                  <a:tcPr anchor="ctr">
                    <a:solidFill>
                      <a:srgbClr val="F68712"/>
                    </a:solidFill>
                  </a:tcPr>
                </a:tc>
                <a:tc>
                  <a:txBody>
                    <a:bodyPr/>
                    <a:lstStyle/>
                    <a:p>
                      <a:pPr algn="ctr"/>
                      <a:r>
                        <a:rPr lang="en-US" sz="3600" dirty="0">
                          <a:latin typeface="+mj-lt"/>
                        </a:rPr>
                        <a:t>EXIT AGE</a:t>
                      </a:r>
                    </a:p>
                  </a:txBody>
                  <a:tcPr anchor="ctr">
                    <a:solidFill>
                      <a:srgbClr val="F68712"/>
                    </a:solidFill>
                  </a:tcPr>
                </a:tc>
                <a:extLst>
                  <a:ext uri="{0D108BD9-81ED-4DB2-BD59-A6C34878D82A}">
                    <a16:rowId xmlns:a16="http://schemas.microsoft.com/office/drawing/2014/main" val="2045980287"/>
                  </a:ext>
                </a:extLst>
              </a:tr>
              <a:tr h="3505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mn-lt"/>
                          <a:ea typeface="+mn-ea"/>
                          <a:cs typeface="+mn-cs"/>
                        </a:rPr>
                        <a:t>Children</a:t>
                      </a:r>
                    </a:p>
                  </a:txBody>
                  <a:tcPr anchor="ctr">
                    <a:solidFill>
                      <a:srgbClr val="F68712"/>
                    </a:solidFill>
                  </a:tcPr>
                </a:tc>
                <a:tc>
                  <a:txBody>
                    <a:bodyPr/>
                    <a:lstStyle/>
                    <a:p>
                      <a:pPr algn="ctr"/>
                      <a:r>
                        <a:rPr lang="en-US" sz="4000" dirty="0">
                          <a:latin typeface="+mj-lt"/>
                        </a:rPr>
                        <a:t>5</a:t>
                      </a:r>
                    </a:p>
                  </a:txBody>
                  <a:tcPr anchor="ctr">
                    <a:solidFill>
                      <a:srgbClr val="F68712"/>
                    </a:solidFill>
                  </a:tcPr>
                </a:tc>
                <a:tc>
                  <a:txBody>
                    <a:bodyPr/>
                    <a:lstStyle/>
                    <a:p>
                      <a:pPr algn="ctr"/>
                      <a:r>
                        <a:rPr lang="en-US" sz="4000" dirty="0">
                          <a:latin typeface="+mj-lt"/>
                        </a:rPr>
                        <a:t>23</a:t>
                      </a:r>
                    </a:p>
                  </a:txBody>
                  <a:tcPr anchor="ctr">
                    <a:solidFill>
                      <a:srgbClr val="F68712"/>
                    </a:solidFill>
                  </a:tcPr>
                </a:tc>
                <a:tc>
                  <a:txBody>
                    <a:bodyPr/>
                    <a:lstStyle/>
                    <a:p>
                      <a:pPr algn="ctr"/>
                      <a:r>
                        <a:rPr lang="en-US" sz="4000" dirty="0">
                          <a:latin typeface="+mj-lt"/>
                        </a:rPr>
                        <a:t>24</a:t>
                      </a:r>
                    </a:p>
                  </a:txBody>
                  <a:tcPr anchor="ctr">
                    <a:solidFill>
                      <a:srgbClr val="F68712"/>
                    </a:solidFill>
                  </a:tcPr>
                </a:tc>
                <a:extLst>
                  <a:ext uri="{0D108BD9-81ED-4DB2-BD59-A6C34878D82A}">
                    <a16:rowId xmlns:a16="http://schemas.microsoft.com/office/drawing/2014/main" val="1649056569"/>
                  </a:ext>
                </a:extLst>
              </a:tr>
              <a:tr h="3505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mn-lt"/>
                          <a:ea typeface="+mn-ea"/>
                          <a:cs typeface="+mn-cs"/>
                        </a:rPr>
                        <a:t>Spouse/Parents</a:t>
                      </a:r>
                    </a:p>
                  </a:txBody>
                  <a:tcPr anchor="ctr">
                    <a:solidFill>
                      <a:srgbClr val="F68712"/>
                    </a:solidFill>
                  </a:tcPr>
                </a:tc>
                <a:tc>
                  <a:txBody>
                    <a:bodyPr/>
                    <a:lstStyle/>
                    <a:p>
                      <a:pPr algn="ctr"/>
                      <a:r>
                        <a:rPr lang="en-US" sz="4000" dirty="0">
                          <a:latin typeface="+mj-lt"/>
                        </a:rPr>
                        <a:t>18</a:t>
                      </a:r>
                    </a:p>
                  </a:txBody>
                  <a:tcPr anchor="ctr">
                    <a:solidFill>
                      <a:srgbClr val="F68712"/>
                    </a:solidFill>
                  </a:tcPr>
                </a:tc>
                <a:tc>
                  <a:txBody>
                    <a:bodyPr/>
                    <a:lstStyle/>
                    <a:p>
                      <a:pPr algn="ctr"/>
                      <a:r>
                        <a:rPr lang="en-US" sz="4000" dirty="0">
                          <a:latin typeface="+mj-lt"/>
                        </a:rPr>
                        <a:t>60</a:t>
                      </a:r>
                    </a:p>
                  </a:txBody>
                  <a:tcPr anchor="ctr">
                    <a:solidFill>
                      <a:srgbClr val="F68712"/>
                    </a:solidFill>
                  </a:tcPr>
                </a:tc>
                <a:tc>
                  <a:txBody>
                    <a:bodyPr/>
                    <a:lstStyle/>
                    <a:p>
                      <a:pPr algn="ctr"/>
                      <a:r>
                        <a:rPr lang="en-US" sz="4000" dirty="0">
                          <a:latin typeface="+mj-lt"/>
                        </a:rPr>
                        <a:t>61</a:t>
                      </a:r>
                    </a:p>
                  </a:txBody>
                  <a:tcPr anchor="ctr">
                    <a:solidFill>
                      <a:srgbClr val="F68712"/>
                    </a:solidFill>
                  </a:tcPr>
                </a:tc>
                <a:extLst>
                  <a:ext uri="{0D108BD9-81ED-4DB2-BD59-A6C34878D82A}">
                    <a16:rowId xmlns:a16="http://schemas.microsoft.com/office/drawing/2014/main" val="2139682812"/>
                  </a:ext>
                </a:extLst>
              </a:tr>
            </a:tbl>
          </a:graphicData>
        </a:graphic>
      </p:graphicFrame>
      <p:sp>
        <p:nvSpPr>
          <p:cNvPr id="28" name="TextBox 27">
            <a:extLst>
              <a:ext uri="{FF2B5EF4-FFF2-40B4-BE49-F238E27FC236}">
                <a16:creationId xmlns:a16="http://schemas.microsoft.com/office/drawing/2014/main" id="{204FC43C-0FA9-487A-8706-690B2A2135EC}"/>
              </a:ext>
            </a:extLst>
          </p:cNvPr>
          <p:cNvSpPr txBox="1"/>
          <p:nvPr/>
        </p:nvSpPr>
        <p:spPr>
          <a:xfrm>
            <a:off x="7620354" y="5299625"/>
            <a:ext cx="10828732" cy="1323439"/>
          </a:xfrm>
          <a:prstGeom prst="rect">
            <a:avLst/>
          </a:prstGeom>
          <a:noFill/>
          <a:ln>
            <a:solidFill>
              <a:schemeClr val="bg1"/>
            </a:solidFill>
          </a:ln>
        </p:spPr>
        <p:txBody>
          <a:bodyPr wrap="square" rtlCol="0">
            <a:spAutoFit/>
          </a:bodyPr>
          <a:lstStyle/>
          <a:p>
            <a:r>
              <a:rPr lang="en-PH" sz="8000" b="1" dirty="0">
                <a:ln>
                  <a:solidFill>
                    <a:srgbClr val="203F39"/>
                  </a:solidFill>
                </a:ln>
                <a:latin typeface="+mj-lt"/>
              </a:rPr>
              <a:t>Dependents</a:t>
            </a:r>
            <a:endParaRPr lang="en-PH" sz="8800" b="1" dirty="0">
              <a:ln>
                <a:solidFill>
                  <a:srgbClr val="203F39"/>
                </a:solidFill>
              </a:ln>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5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2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10244" y="635715"/>
            <a:ext cx="12907044" cy="864211"/>
          </a:xfrm>
          <a:prstGeom prst="rect">
            <a:avLst/>
          </a:prstGeom>
        </p:spPr>
        <p:txBody>
          <a:bodyPr wrap="square" lIns="0" tIns="0" rIns="0" bIns="0" rtlCol="0" anchor="t">
            <a:spAutoFit/>
          </a:bodyPr>
          <a:lstStyle/>
          <a:p>
            <a:pPr algn="r">
              <a:lnSpc>
                <a:spcPts val="5674"/>
              </a:lnSpc>
              <a:spcBef>
                <a:spcPct val="0"/>
              </a:spcBef>
            </a:pPr>
            <a:r>
              <a:rPr lang="en-US" sz="8800" b="1" dirty="0">
                <a:solidFill>
                  <a:srgbClr val="000000"/>
                </a:solidFill>
                <a:latin typeface="Poppins"/>
                <a:ea typeface="Poppins"/>
                <a:cs typeface="Poppins"/>
                <a:sym typeface="Poppins"/>
              </a:rPr>
              <a:t>HEALTHCARE BENEFITS</a:t>
            </a:r>
          </a:p>
        </p:txBody>
      </p:sp>
      <p:grpSp>
        <p:nvGrpSpPr>
          <p:cNvPr id="11" name="Group 11"/>
          <p:cNvGrpSpPr/>
          <p:nvPr/>
        </p:nvGrpSpPr>
        <p:grpSpPr>
          <a:xfrm>
            <a:off x="-566687" y="9631318"/>
            <a:ext cx="4362442" cy="1326059"/>
            <a:chOff x="0" y="0"/>
            <a:chExt cx="2297912" cy="698500"/>
          </a:xfrm>
        </p:grpSpPr>
        <p:sp>
          <p:nvSpPr>
            <p:cNvPr id="12" name="Freeform 12"/>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13" name="TextBox 13"/>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3419993" y="6698755"/>
            <a:ext cx="5550223" cy="4856445"/>
            <a:chOff x="0" y="0"/>
            <a:chExt cx="812800" cy="711200"/>
          </a:xfrm>
        </p:grpSpPr>
        <p:sp>
          <p:nvSpPr>
            <p:cNvPr id="15" name="Freeform 15"/>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6" name="TextBox 16"/>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5077867" y="-784225"/>
            <a:ext cx="6088480" cy="1326059"/>
            <a:chOff x="0" y="0"/>
            <a:chExt cx="3207100" cy="698500"/>
          </a:xfrm>
        </p:grpSpPr>
        <p:sp>
          <p:nvSpPr>
            <p:cNvPr id="18" name="Freeform 18"/>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19" name="TextBox 19"/>
            <p:cNvSpPr txBox="1"/>
            <p:nvPr/>
          </p:nvSpPr>
          <p:spPr>
            <a:xfrm>
              <a:off x="114300" y="-57150"/>
              <a:ext cx="2978500" cy="75565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16744950" y="-1063420"/>
            <a:ext cx="3086100" cy="2700338"/>
            <a:chOff x="0" y="0"/>
            <a:chExt cx="812800" cy="711200"/>
          </a:xfrm>
        </p:grpSpPr>
        <p:sp>
          <p:nvSpPr>
            <p:cNvPr id="21" name="Freeform 21"/>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22" name="TextBox 22"/>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sp>
        <p:nvSpPr>
          <p:cNvPr id="34" name="TextBox 33">
            <a:extLst>
              <a:ext uri="{FF2B5EF4-FFF2-40B4-BE49-F238E27FC236}">
                <a16:creationId xmlns:a16="http://schemas.microsoft.com/office/drawing/2014/main" id="{03D3129A-70BA-4DB7-B46E-95AEE3A1A9B1}"/>
              </a:ext>
            </a:extLst>
          </p:cNvPr>
          <p:cNvSpPr txBox="1"/>
          <p:nvPr/>
        </p:nvSpPr>
        <p:spPr>
          <a:xfrm>
            <a:off x="2425185" y="1433651"/>
            <a:ext cx="14458950" cy="8217634"/>
          </a:xfrm>
          <a:prstGeom prst="rect">
            <a:avLst/>
          </a:prstGeom>
          <a:noFill/>
          <a:ln>
            <a:solidFill>
              <a:schemeClr val="bg1"/>
            </a:solidFill>
          </a:ln>
        </p:spPr>
        <p:txBody>
          <a:bodyPr wrap="square" rtlCol="0">
            <a:spAutoFit/>
          </a:bodyPr>
          <a:lstStyle/>
          <a:p>
            <a:pPr marL="457200" indent="-457200">
              <a:buFont typeface="Wingdings" panose="05000000000000000000" pitchFamily="2" charset="2"/>
              <a:buChar char="Ø"/>
            </a:pPr>
            <a:r>
              <a:rPr lang="en-PH" sz="8800" dirty="0">
                <a:latin typeface="+mj-lt"/>
              </a:rPr>
              <a:t>In Patient</a:t>
            </a:r>
          </a:p>
          <a:p>
            <a:pPr marL="457200" indent="-457200">
              <a:buFont typeface="Wingdings" panose="05000000000000000000" pitchFamily="2" charset="2"/>
              <a:buChar char="Ø"/>
            </a:pPr>
            <a:r>
              <a:rPr lang="en-PH" sz="8800" dirty="0">
                <a:latin typeface="+mj-lt"/>
              </a:rPr>
              <a:t>Out Patient</a:t>
            </a:r>
          </a:p>
          <a:p>
            <a:pPr marL="457200" indent="-457200">
              <a:buFont typeface="Wingdings" panose="05000000000000000000" pitchFamily="2" charset="2"/>
              <a:buChar char="Ø"/>
            </a:pPr>
            <a:r>
              <a:rPr lang="en-PH" sz="8800" dirty="0">
                <a:latin typeface="+mj-lt"/>
              </a:rPr>
              <a:t>Emergency Care</a:t>
            </a:r>
          </a:p>
          <a:p>
            <a:pPr marL="457200" indent="-457200">
              <a:buFont typeface="Wingdings" panose="05000000000000000000" pitchFamily="2" charset="2"/>
              <a:buChar char="Ø"/>
            </a:pPr>
            <a:r>
              <a:rPr lang="en-PH" sz="8800" dirty="0">
                <a:latin typeface="+mj-lt"/>
              </a:rPr>
              <a:t>APE (Annual Physical Exam)</a:t>
            </a:r>
          </a:p>
          <a:p>
            <a:pPr marL="457200" indent="-457200">
              <a:buFont typeface="Wingdings" panose="05000000000000000000" pitchFamily="2" charset="2"/>
              <a:buChar char="Ø"/>
            </a:pPr>
            <a:r>
              <a:rPr lang="en-PH" sz="8800" dirty="0">
                <a:latin typeface="+mj-lt"/>
              </a:rPr>
              <a:t>Dental Care</a:t>
            </a:r>
          </a:p>
          <a:p>
            <a:pPr marL="457200" indent="-457200">
              <a:buFont typeface="Wingdings" panose="05000000000000000000" pitchFamily="2" charset="2"/>
              <a:buChar char="Ø"/>
            </a:pPr>
            <a:r>
              <a:rPr lang="en-PH" sz="8800" dirty="0">
                <a:latin typeface="+mj-lt"/>
              </a:rPr>
              <a:t>Financial Assistance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xEl>
                                              <p:pRg st="0" end="0"/>
                                            </p:txEl>
                                          </p:spTgt>
                                        </p:tgtEl>
                                        <p:attrNameLst>
                                          <p:attrName>style.visibility</p:attrName>
                                        </p:attrNameLst>
                                      </p:cBhvr>
                                      <p:to>
                                        <p:strVal val="visible"/>
                                      </p:to>
                                    </p:set>
                                    <p:animEffect transition="in" filter="fade">
                                      <p:cBhvr>
                                        <p:cTn id="7" dur="500"/>
                                        <p:tgtEl>
                                          <p:spTgt spid="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
                                            <p:txEl>
                                              <p:pRg st="1" end="1"/>
                                            </p:txEl>
                                          </p:spTgt>
                                        </p:tgtEl>
                                        <p:attrNameLst>
                                          <p:attrName>style.visibility</p:attrName>
                                        </p:attrNameLst>
                                      </p:cBhvr>
                                      <p:to>
                                        <p:strVal val="visible"/>
                                      </p:to>
                                    </p:set>
                                    <p:animEffect transition="in" filter="fade">
                                      <p:cBhvr>
                                        <p:cTn id="12" dur="500"/>
                                        <p:tgtEl>
                                          <p:spTgt spid="3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4">
                                            <p:txEl>
                                              <p:pRg st="2" end="2"/>
                                            </p:txEl>
                                          </p:spTgt>
                                        </p:tgtEl>
                                        <p:attrNameLst>
                                          <p:attrName>style.visibility</p:attrName>
                                        </p:attrNameLst>
                                      </p:cBhvr>
                                      <p:to>
                                        <p:strVal val="visible"/>
                                      </p:to>
                                    </p:set>
                                    <p:animEffect transition="in" filter="fade">
                                      <p:cBhvr>
                                        <p:cTn id="17" dur="500"/>
                                        <p:tgtEl>
                                          <p:spTgt spid="3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4">
                                            <p:txEl>
                                              <p:pRg st="3" end="3"/>
                                            </p:txEl>
                                          </p:spTgt>
                                        </p:tgtEl>
                                        <p:attrNameLst>
                                          <p:attrName>style.visibility</p:attrName>
                                        </p:attrNameLst>
                                      </p:cBhvr>
                                      <p:to>
                                        <p:strVal val="visible"/>
                                      </p:to>
                                    </p:set>
                                    <p:animEffect transition="in" filter="fade">
                                      <p:cBhvr>
                                        <p:cTn id="22" dur="500"/>
                                        <p:tgtEl>
                                          <p:spTgt spid="3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xEl>
                                              <p:pRg st="4" end="4"/>
                                            </p:txEl>
                                          </p:spTgt>
                                        </p:tgtEl>
                                        <p:attrNameLst>
                                          <p:attrName>style.visibility</p:attrName>
                                        </p:attrNameLst>
                                      </p:cBhvr>
                                      <p:to>
                                        <p:strVal val="visible"/>
                                      </p:to>
                                    </p:set>
                                    <p:animEffect transition="in" filter="fade">
                                      <p:cBhvr>
                                        <p:cTn id="27" dur="500"/>
                                        <p:tgtEl>
                                          <p:spTgt spid="3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4">
                                            <p:txEl>
                                              <p:pRg st="5" end="5"/>
                                            </p:txEl>
                                          </p:spTgt>
                                        </p:tgtEl>
                                        <p:attrNameLst>
                                          <p:attrName>style.visibility</p:attrName>
                                        </p:attrNameLst>
                                      </p:cBhvr>
                                      <p:to>
                                        <p:strVal val="visible"/>
                                      </p:to>
                                    </p:set>
                                    <p:animEffect transition="in" filter="fade">
                                      <p:cBhvr>
                                        <p:cTn id="32" dur="500"/>
                                        <p:tgtEl>
                                          <p:spTgt spid="3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7" name="Group 17"/>
          <p:cNvGrpSpPr/>
          <p:nvPr/>
        </p:nvGrpSpPr>
        <p:grpSpPr>
          <a:xfrm>
            <a:off x="13414064" y="9452521"/>
            <a:ext cx="5147679" cy="1623340"/>
            <a:chOff x="0" y="0"/>
            <a:chExt cx="2214973" cy="698500"/>
          </a:xfrm>
        </p:grpSpPr>
        <p:sp>
          <p:nvSpPr>
            <p:cNvPr id="18" name="Freeform 18"/>
            <p:cNvSpPr/>
            <p:nvPr/>
          </p:nvSpPr>
          <p:spPr>
            <a:xfrm>
              <a:off x="0" y="0"/>
              <a:ext cx="2214973" cy="698500"/>
            </a:xfrm>
            <a:custGeom>
              <a:avLst/>
              <a:gdLst/>
              <a:ahLst/>
              <a:cxnLst/>
              <a:rect l="l" t="t" r="r" b="b"/>
              <a:pathLst>
                <a:path w="2214973" h="698500">
                  <a:moveTo>
                    <a:pt x="2214973" y="349250"/>
                  </a:moveTo>
                  <a:lnTo>
                    <a:pt x="2011773" y="698500"/>
                  </a:lnTo>
                  <a:lnTo>
                    <a:pt x="203200" y="698500"/>
                  </a:lnTo>
                  <a:lnTo>
                    <a:pt x="0" y="349250"/>
                  </a:lnTo>
                  <a:lnTo>
                    <a:pt x="203200" y="0"/>
                  </a:lnTo>
                  <a:lnTo>
                    <a:pt x="2011773" y="0"/>
                  </a:lnTo>
                  <a:lnTo>
                    <a:pt x="2214973" y="349250"/>
                  </a:lnTo>
                  <a:close/>
                </a:path>
              </a:pathLst>
            </a:custGeom>
            <a:solidFill>
              <a:srgbClr val="060644"/>
            </a:solidFill>
          </p:spPr>
        </p:sp>
        <p:sp>
          <p:nvSpPr>
            <p:cNvPr id="19" name="TextBox 19"/>
            <p:cNvSpPr txBox="1"/>
            <p:nvPr/>
          </p:nvSpPr>
          <p:spPr>
            <a:xfrm>
              <a:off x="114300" y="-57150"/>
              <a:ext cx="1986373"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0" name="Group 20"/>
          <p:cNvGrpSpPr/>
          <p:nvPr/>
        </p:nvGrpSpPr>
        <p:grpSpPr>
          <a:xfrm>
            <a:off x="15512888" y="7687327"/>
            <a:ext cx="5550223" cy="4856445"/>
            <a:chOff x="0" y="0"/>
            <a:chExt cx="812800" cy="711200"/>
          </a:xfrm>
        </p:grpSpPr>
        <p:sp>
          <p:nvSpPr>
            <p:cNvPr id="21" name="Freeform 21"/>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2" name="TextBox 22"/>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31" name="Group 31"/>
          <p:cNvGrpSpPr/>
          <p:nvPr/>
        </p:nvGrpSpPr>
        <p:grpSpPr>
          <a:xfrm>
            <a:off x="10599045" y="5887657"/>
            <a:ext cx="4105631" cy="3816954"/>
            <a:chOff x="0" y="-57150"/>
            <a:chExt cx="812800" cy="755650"/>
          </a:xfrm>
        </p:grpSpPr>
        <p:sp>
          <p:nvSpPr>
            <p:cNvPr id="32" name="Freeform 3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33" name="TextBox 33"/>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sp>
        <p:nvSpPr>
          <p:cNvPr id="44" name="TextBox 43">
            <a:extLst>
              <a:ext uri="{FF2B5EF4-FFF2-40B4-BE49-F238E27FC236}">
                <a16:creationId xmlns:a16="http://schemas.microsoft.com/office/drawing/2014/main" id="{5E55BD44-AD3B-45E5-9483-27AC669BEA80}"/>
              </a:ext>
            </a:extLst>
          </p:cNvPr>
          <p:cNvSpPr txBox="1"/>
          <p:nvPr/>
        </p:nvSpPr>
        <p:spPr>
          <a:xfrm>
            <a:off x="609600" y="411543"/>
            <a:ext cx="9432721" cy="1323439"/>
          </a:xfrm>
          <a:prstGeom prst="rect">
            <a:avLst/>
          </a:prstGeom>
          <a:noFill/>
          <a:ln>
            <a:noFill/>
          </a:ln>
        </p:spPr>
        <p:txBody>
          <a:bodyPr wrap="square" rtlCol="0">
            <a:spAutoFit/>
          </a:bodyPr>
          <a:lstStyle/>
          <a:p>
            <a:r>
              <a:rPr lang="en-US" sz="8000" b="1" dirty="0">
                <a:ln>
                  <a:solidFill>
                    <a:schemeClr val="tx1"/>
                  </a:solidFill>
                </a:ln>
                <a:latin typeface="+mj-lt"/>
              </a:rPr>
              <a:t>INPATIENT BENEFITS</a:t>
            </a:r>
          </a:p>
        </p:txBody>
      </p:sp>
      <p:graphicFrame>
        <p:nvGraphicFramePr>
          <p:cNvPr id="37" name="Table 36">
            <a:extLst>
              <a:ext uri="{FF2B5EF4-FFF2-40B4-BE49-F238E27FC236}">
                <a16:creationId xmlns:a16="http://schemas.microsoft.com/office/drawing/2014/main" id="{EBEF2063-1374-437F-98DE-8E40AF0B18C9}"/>
              </a:ext>
            </a:extLst>
          </p:cNvPr>
          <p:cNvGraphicFramePr>
            <a:graphicFrameLocks noGrp="1"/>
          </p:cNvGraphicFramePr>
          <p:nvPr>
            <p:extLst>
              <p:ext uri="{D42A27DB-BD31-4B8C-83A1-F6EECF244321}">
                <p14:modId xmlns:p14="http://schemas.microsoft.com/office/powerpoint/2010/main" val="3359690241"/>
              </p:ext>
            </p:extLst>
          </p:nvPr>
        </p:nvGraphicFramePr>
        <p:xfrm>
          <a:off x="381000" y="1666117"/>
          <a:ext cx="17558524" cy="4120598"/>
        </p:xfrm>
        <a:graphic>
          <a:graphicData uri="http://schemas.openxmlformats.org/drawingml/2006/table">
            <a:tbl>
              <a:tblPr firstRow="1" firstCol="1" bandRow="1">
                <a:tableStyleId>{5C22544A-7EE6-4342-B048-85BDC9FD1C3A}</a:tableStyleId>
              </a:tblPr>
              <a:tblGrid>
                <a:gridCol w="4215715">
                  <a:extLst>
                    <a:ext uri="{9D8B030D-6E8A-4147-A177-3AD203B41FA5}">
                      <a16:colId xmlns:a16="http://schemas.microsoft.com/office/drawing/2014/main" val="937138042"/>
                    </a:ext>
                  </a:extLst>
                </a:gridCol>
                <a:gridCol w="2738128">
                  <a:extLst>
                    <a:ext uri="{9D8B030D-6E8A-4147-A177-3AD203B41FA5}">
                      <a16:colId xmlns:a16="http://schemas.microsoft.com/office/drawing/2014/main" val="4285764000"/>
                    </a:ext>
                  </a:extLst>
                </a:gridCol>
                <a:gridCol w="2799757">
                  <a:extLst>
                    <a:ext uri="{9D8B030D-6E8A-4147-A177-3AD203B41FA5}">
                      <a16:colId xmlns:a16="http://schemas.microsoft.com/office/drawing/2014/main" val="1206961336"/>
                    </a:ext>
                  </a:extLst>
                </a:gridCol>
                <a:gridCol w="2667000">
                  <a:extLst>
                    <a:ext uri="{9D8B030D-6E8A-4147-A177-3AD203B41FA5}">
                      <a16:colId xmlns:a16="http://schemas.microsoft.com/office/drawing/2014/main" val="2943696742"/>
                    </a:ext>
                  </a:extLst>
                </a:gridCol>
                <a:gridCol w="2367332">
                  <a:extLst>
                    <a:ext uri="{9D8B030D-6E8A-4147-A177-3AD203B41FA5}">
                      <a16:colId xmlns:a16="http://schemas.microsoft.com/office/drawing/2014/main" val="455588920"/>
                    </a:ext>
                  </a:extLst>
                </a:gridCol>
                <a:gridCol w="2770592">
                  <a:extLst>
                    <a:ext uri="{9D8B030D-6E8A-4147-A177-3AD203B41FA5}">
                      <a16:colId xmlns:a16="http://schemas.microsoft.com/office/drawing/2014/main" val="3932618830"/>
                    </a:ext>
                  </a:extLst>
                </a:gridCol>
              </a:tblGrid>
              <a:tr h="1287878">
                <a:tc>
                  <a:txBody>
                    <a:bodyPr/>
                    <a:lstStyle/>
                    <a:p>
                      <a:pPr marL="0" marR="0" algn="ctr">
                        <a:lnSpc>
                          <a:spcPct val="115000"/>
                        </a:lnSpc>
                        <a:spcBef>
                          <a:spcPts val="0"/>
                        </a:spcBef>
                        <a:spcAft>
                          <a:spcPts val="1000"/>
                        </a:spcAft>
                      </a:pPr>
                      <a:r>
                        <a:rPr lang="en-US" sz="4000" b="1" dirty="0">
                          <a:effectLst/>
                          <a:latin typeface="+mj-lt"/>
                        </a:rPr>
                        <a:t>Coverage</a:t>
                      </a:r>
                      <a:endParaRPr lang="en-US" sz="4000" b="1" dirty="0">
                        <a:effectLst/>
                        <a:latin typeface="+mj-lt"/>
                        <a:ea typeface="MS Mincho" panose="02020609040205080304" pitchFamily="49" charset="-128"/>
                        <a:cs typeface="Times New Roman" panose="02020603050405020304" pitchFamily="18" charset="0"/>
                      </a:endParaRPr>
                    </a:p>
                  </a:txBody>
                  <a:tcPr marL="9525" marR="9525" marT="9525" marB="9525" anchor="ctr">
                    <a:solidFill>
                      <a:srgbClr val="060644"/>
                    </a:solidFill>
                  </a:tcPr>
                </a:tc>
                <a:tc>
                  <a:txBody>
                    <a:bodyPr/>
                    <a:lstStyle/>
                    <a:p>
                      <a:pPr marL="0" marR="0" algn="ctr">
                        <a:lnSpc>
                          <a:spcPct val="115000"/>
                        </a:lnSpc>
                        <a:spcBef>
                          <a:spcPts val="0"/>
                        </a:spcBef>
                        <a:spcAft>
                          <a:spcPts val="1000"/>
                        </a:spcAft>
                      </a:pPr>
                      <a:r>
                        <a:rPr lang="en-US" sz="4000" b="1" dirty="0">
                          <a:effectLst/>
                          <a:latin typeface="+mj-lt"/>
                          <a:ea typeface="MS Mincho" panose="02020609040205080304" pitchFamily="49" charset="-128"/>
                          <a:cs typeface="Times New Roman" panose="02020603050405020304" pitchFamily="18" charset="0"/>
                        </a:rPr>
                        <a:t>Gold</a:t>
                      </a:r>
                    </a:p>
                  </a:txBody>
                  <a:tcPr marL="9525" marR="9525" marT="9525" marB="9525" anchor="ctr">
                    <a:solidFill>
                      <a:srgbClr val="060644"/>
                    </a:solidFill>
                  </a:tcPr>
                </a:tc>
                <a:tc>
                  <a:txBody>
                    <a:bodyPr/>
                    <a:lstStyle/>
                    <a:p>
                      <a:pPr marL="0" marR="0" algn="ctr">
                        <a:lnSpc>
                          <a:spcPct val="115000"/>
                        </a:lnSpc>
                        <a:spcBef>
                          <a:spcPts val="0"/>
                        </a:spcBef>
                        <a:spcAft>
                          <a:spcPts val="1000"/>
                        </a:spcAft>
                      </a:pPr>
                      <a:r>
                        <a:rPr lang="en-US" sz="4000" b="1" dirty="0">
                          <a:effectLst/>
                          <a:latin typeface="+mj-lt"/>
                          <a:ea typeface="MS Mincho" panose="02020609040205080304" pitchFamily="49" charset="-128"/>
                          <a:cs typeface="Times New Roman" panose="02020603050405020304" pitchFamily="18" charset="0"/>
                        </a:rPr>
                        <a:t>Silver</a:t>
                      </a:r>
                    </a:p>
                  </a:txBody>
                  <a:tcPr marL="9525" marR="9525" marT="9525" marB="9525" anchor="ctr">
                    <a:solidFill>
                      <a:srgbClr val="060644"/>
                    </a:solidFill>
                  </a:tcPr>
                </a:tc>
                <a:tc>
                  <a:txBody>
                    <a:bodyPr/>
                    <a:lstStyle/>
                    <a:p>
                      <a:pPr marL="0" marR="0" algn="ctr">
                        <a:lnSpc>
                          <a:spcPct val="115000"/>
                        </a:lnSpc>
                        <a:spcBef>
                          <a:spcPts val="0"/>
                        </a:spcBef>
                        <a:spcAft>
                          <a:spcPts val="1000"/>
                        </a:spcAft>
                      </a:pPr>
                      <a:r>
                        <a:rPr lang="en-US" sz="4000" b="1" dirty="0">
                          <a:effectLst/>
                          <a:latin typeface="+mj-lt"/>
                          <a:ea typeface="MS Mincho" panose="02020609040205080304" pitchFamily="49" charset="-128"/>
                          <a:cs typeface="Times New Roman" panose="02020603050405020304" pitchFamily="18" charset="0"/>
                        </a:rPr>
                        <a:t>Bronze</a:t>
                      </a:r>
                    </a:p>
                  </a:txBody>
                  <a:tcPr marL="9525" marR="9525" marT="9525" marB="9525" anchor="ctr">
                    <a:solidFill>
                      <a:srgbClr val="060644"/>
                    </a:solidFill>
                  </a:tcPr>
                </a:tc>
                <a:tc>
                  <a:txBody>
                    <a:bodyPr/>
                    <a:lstStyle/>
                    <a:p>
                      <a:pPr marL="0" marR="0" lvl="0" indent="0" algn="ctr" defTabSz="914400" rtl="0" eaLnBrk="1" fontAlgn="auto" latinLnBrk="0" hangingPunct="1">
                        <a:lnSpc>
                          <a:spcPct val="115000"/>
                        </a:lnSpc>
                        <a:spcBef>
                          <a:spcPts val="0"/>
                        </a:spcBef>
                        <a:spcAft>
                          <a:spcPts val="1000"/>
                        </a:spcAft>
                        <a:buClrTx/>
                        <a:buSzTx/>
                        <a:buFontTx/>
                        <a:buNone/>
                        <a:tabLst/>
                        <a:defRPr/>
                      </a:pPr>
                      <a:r>
                        <a:rPr lang="en-US" sz="4000" b="1" dirty="0">
                          <a:effectLst/>
                          <a:latin typeface="+mj-lt"/>
                          <a:ea typeface="MS Mincho" panose="02020609040205080304" pitchFamily="49" charset="-128"/>
                          <a:cs typeface="Times New Roman" panose="02020603050405020304" pitchFamily="18" charset="0"/>
                        </a:rPr>
                        <a:t>Copper</a:t>
                      </a:r>
                    </a:p>
                  </a:txBody>
                  <a:tcPr marL="9525" marR="9525" marT="9525" marB="9525" anchor="ctr">
                    <a:solidFill>
                      <a:srgbClr val="060644"/>
                    </a:solidFill>
                  </a:tcPr>
                </a:tc>
                <a:tc>
                  <a:txBody>
                    <a:bodyPr/>
                    <a:lstStyle/>
                    <a:p>
                      <a:pPr marL="0" marR="0" lvl="0" indent="0" algn="ctr" defTabSz="914400" rtl="0" eaLnBrk="1" fontAlgn="auto" latinLnBrk="0" hangingPunct="1">
                        <a:lnSpc>
                          <a:spcPct val="115000"/>
                        </a:lnSpc>
                        <a:spcBef>
                          <a:spcPts val="0"/>
                        </a:spcBef>
                        <a:spcAft>
                          <a:spcPts val="1000"/>
                        </a:spcAft>
                        <a:buClrTx/>
                        <a:buSzTx/>
                        <a:buFontTx/>
                        <a:buNone/>
                        <a:tabLst/>
                        <a:defRPr/>
                      </a:pPr>
                      <a:r>
                        <a:rPr lang="en-US" sz="4000" b="1" dirty="0">
                          <a:effectLst/>
                          <a:latin typeface="+mj-lt"/>
                          <a:ea typeface="MS Mincho" panose="02020609040205080304" pitchFamily="49" charset="-128"/>
                          <a:cs typeface="Times New Roman" panose="02020603050405020304" pitchFamily="18" charset="0"/>
                        </a:rPr>
                        <a:t>Brass</a:t>
                      </a:r>
                    </a:p>
                  </a:txBody>
                  <a:tcPr marL="9525" marR="9525" marT="9525" marB="9525" anchor="ctr">
                    <a:solidFill>
                      <a:srgbClr val="060644"/>
                    </a:solidFill>
                  </a:tcPr>
                </a:tc>
                <a:extLst>
                  <a:ext uri="{0D108BD9-81ED-4DB2-BD59-A6C34878D82A}">
                    <a16:rowId xmlns:a16="http://schemas.microsoft.com/office/drawing/2014/main" val="1924323396"/>
                  </a:ext>
                </a:extLst>
              </a:tr>
              <a:tr h="1575398">
                <a:tc>
                  <a:txBody>
                    <a:bodyPr/>
                    <a:lstStyle/>
                    <a:p>
                      <a:pPr marL="0" marR="0" algn="ctr">
                        <a:lnSpc>
                          <a:spcPct val="115000"/>
                        </a:lnSpc>
                        <a:spcBef>
                          <a:spcPts val="0"/>
                        </a:spcBef>
                        <a:spcAft>
                          <a:spcPts val="1000"/>
                        </a:spcAft>
                      </a:pPr>
                      <a:r>
                        <a:rPr lang="en-US" sz="3200" dirty="0">
                          <a:solidFill>
                            <a:schemeClr val="bg1"/>
                          </a:solidFill>
                          <a:effectLst/>
                        </a:rPr>
                        <a:t>Maximum Benefit Limit(MBL) per illness</a:t>
                      </a:r>
                      <a:endParaRPr lang="en-US" sz="3200"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F68712"/>
                    </a:solidFill>
                  </a:tcPr>
                </a:tc>
                <a:tc>
                  <a:txBody>
                    <a:bodyPr/>
                    <a:lstStyle/>
                    <a:p>
                      <a:pPr marL="0" marR="0" algn="ctr">
                        <a:lnSpc>
                          <a:spcPct val="115000"/>
                        </a:lnSpc>
                        <a:spcBef>
                          <a:spcPts val="0"/>
                        </a:spcBef>
                        <a:spcAft>
                          <a:spcPts val="1000"/>
                        </a:spcAft>
                      </a:pPr>
                      <a:r>
                        <a:rPr lang="en-US" sz="4400" b="1" dirty="0">
                          <a:solidFill>
                            <a:schemeClr val="bg1"/>
                          </a:solidFill>
                          <a:effectLst/>
                          <a:latin typeface="+mj-lt"/>
                          <a:ea typeface="MS Mincho" panose="02020609040205080304" pitchFamily="49" charset="-128"/>
                          <a:cs typeface="Times New Roman" panose="02020603050405020304" pitchFamily="18" charset="0"/>
                        </a:rPr>
                        <a:t>₱200,000</a:t>
                      </a:r>
                    </a:p>
                  </a:txBody>
                  <a:tcPr marL="9525" marR="9525" marT="9525" marB="9525" anchor="ctr">
                    <a:solidFill>
                      <a:srgbClr val="F68712"/>
                    </a:solidFill>
                  </a:tcPr>
                </a:tc>
                <a:tc>
                  <a:txBody>
                    <a:bodyPr/>
                    <a:lstStyle/>
                    <a:p>
                      <a:pPr marL="0" marR="0" algn="ctr">
                        <a:lnSpc>
                          <a:spcPct val="115000"/>
                        </a:lnSpc>
                        <a:spcBef>
                          <a:spcPts val="0"/>
                        </a:spcBef>
                        <a:spcAft>
                          <a:spcPts val="1000"/>
                        </a:spcAft>
                      </a:pPr>
                      <a:r>
                        <a:rPr lang="en-US" sz="4400" b="1" dirty="0">
                          <a:solidFill>
                            <a:schemeClr val="bg1"/>
                          </a:solidFill>
                          <a:effectLst/>
                          <a:latin typeface="+mj-lt"/>
                          <a:ea typeface="MS Mincho" panose="02020609040205080304" pitchFamily="49" charset="-128"/>
                          <a:cs typeface="Times New Roman" panose="02020603050405020304" pitchFamily="18" charset="0"/>
                        </a:rPr>
                        <a:t>₱150,000</a:t>
                      </a:r>
                    </a:p>
                  </a:txBody>
                  <a:tcPr marL="9525" marR="9525" marT="9525" marB="9525" anchor="ctr">
                    <a:solidFill>
                      <a:srgbClr val="F68712"/>
                    </a:solidFill>
                  </a:tcPr>
                </a:tc>
                <a:tc>
                  <a:txBody>
                    <a:bodyPr/>
                    <a:lstStyle/>
                    <a:p>
                      <a:pPr marL="0" marR="0" algn="ctr">
                        <a:lnSpc>
                          <a:spcPct val="115000"/>
                        </a:lnSpc>
                        <a:spcBef>
                          <a:spcPts val="0"/>
                        </a:spcBef>
                        <a:spcAft>
                          <a:spcPts val="1000"/>
                        </a:spcAft>
                      </a:pPr>
                      <a:r>
                        <a:rPr lang="en-US" sz="4400" b="1" dirty="0">
                          <a:solidFill>
                            <a:schemeClr val="bg1"/>
                          </a:solidFill>
                          <a:effectLst/>
                          <a:latin typeface="+mj-lt"/>
                          <a:ea typeface="MS Mincho" panose="02020609040205080304" pitchFamily="49" charset="-128"/>
                          <a:cs typeface="Times New Roman" panose="02020603050405020304" pitchFamily="18" charset="0"/>
                        </a:rPr>
                        <a:t>₱100,000</a:t>
                      </a:r>
                    </a:p>
                  </a:txBody>
                  <a:tcPr marL="9525" marR="9525" marT="9525" marB="9525" anchor="ctr">
                    <a:solidFill>
                      <a:srgbClr val="F68712"/>
                    </a:solidFill>
                  </a:tcPr>
                </a:tc>
                <a:tc>
                  <a:txBody>
                    <a:bodyPr/>
                    <a:lstStyle/>
                    <a:p>
                      <a:pPr marL="0" marR="0" algn="ctr">
                        <a:lnSpc>
                          <a:spcPct val="115000"/>
                        </a:lnSpc>
                        <a:spcBef>
                          <a:spcPts val="0"/>
                        </a:spcBef>
                        <a:spcAft>
                          <a:spcPts val="1000"/>
                        </a:spcAft>
                      </a:pPr>
                      <a:r>
                        <a:rPr lang="en-US" sz="4400" b="1" dirty="0">
                          <a:solidFill>
                            <a:schemeClr val="bg1"/>
                          </a:solidFill>
                          <a:effectLst/>
                          <a:latin typeface="+mj-lt"/>
                          <a:ea typeface="MS Mincho" panose="02020609040205080304" pitchFamily="49" charset="-128"/>
                          <a:cs typeface="Times New Roman" panose="02020603050405020304" pitchFamily="18" charset="0"/>
                        </a:rPr>
                        <a:t>₱75,000</a:t>
                      </a:r>
                    </a:p>
                  </a:txBody>
                  <a:tcPr marL="9525" marR="9525" marT="9525" marB="9525" anchor="ctr">
                    <a:solidFill>
                      <a:srgbClr val="F68712"/>
                    </a:solidFill>
                  </a:tcPr>
                </a:tc>
                <a:tc>
                  <a:txBody>
                    <a:bodyPr/>
                    <a:lstStyle/>
                    <a:p>
                      <a:pPr marL="0" marR="0" algn="ctr">
                        <a:lnSpc>
                          <a:spcPct val="115000"/>
                        </a:lnSpc>
                        <a:spcBef>
                          <a:spcPts val="0"/>
                        </a:spcBef>
                        <a:spcAft>
                          <a:spcPts val="1000"/>
                        </a:spcAft>
                      </a:pPr>
                      <a:r>
                        <a:rPr lang="en-US" sz="4400" b="1" dirty="0">
                          <a:solidFill>
                            <a:schemeClr val="bg1"/>
                          </a:solidFill>
                          <a:effectLst/>
                          <a:latin typeface="+mj-lt"/>
                          <a:ea typeface="MS Mincho" panose="02020609040205080304" pitchFamily="49" charset="-128"/>
                          <a:cs typeface="Times New Roman" panose="02020603050405020304" pitchFamily="18" charset="0"/>
                        </a:rPr>
                        <a:t>₱50,000</a:t>
                      </a:r>
                    </a:p>
                  </a:txBody>
                  <a:tcPr marL="9525" marR="9525" marT="9525" marB="9525" anchor="ctr">
                    <a:solidFill>
                      <a:srgbClr val="F68712"/>
                    </a:solidFill>
                  </a:tcPr>
                </a:tc>
                <a:extLst>
                  <a:ext uri="{0D108BD9-81ED-4DB2-BD59-A6C34878D82A}">
                    <a16:rowId xmlns:a16="http://schemas.microsoft.com/office/drawing/2014/main" val="476002181"/>
                  </a:ext>
                </a:extLst>
              </a:tr>
              <a:tr h="1257322">
                <a:tc>
                  <a:txBody>
                    <a:bodyPr/>
                    <a:lstStyle/>
                    <a:p>
                      <a:pPr marL="0" marR="0" algn="ctr">
                        <a:lnSpc>
                          <a:spcPct val="115000"/>
                        </a:lnSpc>
                        <a:spcBef>
                          <a:spcPts val="0"/>
                        </a:spcBef>
                        <a:spcAft>
                          <a:spcPts val="1000"/>
                        </a:spcAft>
                      </a:pPr>
                      <a:r>
                        <a:rPr lang="en-US" sz="3200" b="1" dirty="0">
                          <a:solidFill>
                            <a:schemeClr val="bg1"/>
                          </a:solidFill>
                          <a:effectLst/>
                          <a:latin typeface="+mj-lt"/>
                          <a:ea typeface="MS Mincho" panose="02020609040205080304" pitchFamily="49" charset="-128"/>
                          <a:cs typeface="Times New Roman" panose="02020603050405020304" pitchFamily="18" charset="0"/>
                        </a:rPr>
                        <a:t>Room &amp; Board </a:t>
                      </a:r>
                    </a:p>
                    <a:p>
                      <a:pPr marL="0" marR="0" algn="ctr">
                        <a:lnSpc>
                          <a:spcPct val="115000"/>
                        </a:lnSpc>
                        <a:spcBef>
                          <a:spcPts val="0"/>
                        </a:spcBef>
                        <a:spcAft>
                          <a:spcPts val="1000"/>
                        </a:spcAft>
                      </a:pPr>
                      <a:r>
                        <a:rPr lang="en-US" sz="3200" b="1" dirty="0">
                          <a:solidFill>
                            <a:schemeClr val="bg1"/>
                          </a:solidFill>
                          <a:effectLst/>
                          <a:latin typeface="+mj-lt"/>
                          <a:ea typeface="MS Mincho" panose="02020609040205080304" pitchFamily="49" charset="-128"/>
                          <a:cs typeface="Times New Roman" panose="02020603050405020304" pitchFamily="18" charset="0"/>
                        </a:rPr>
                        <a:t>(max 31 days)</a:t>
                      </a:r>
                    </a:p>
                  </a:txBody>
                  <a:tcPr marL="9525" marR="9525" marT="9525" marB="9525" anchor="ctr">
                    <a:solidFill>
                      <a:srgbClr val="F68712"/>
                    </a:solidFill>
                  </a:tcPr>
                </a:tc>
                <a:tc>
                  <a:txBody>
                    <a:bodyPr/>
                    <a:lstStyle/>
                    <a:p>
                      <a:pPr marL="0" marR="0" algn="ctr">
                        <a:lnSpc>
                          <a:spcPct val="100000"/>
                        </a:lnSpc>
                        <a:spcBef>
                          <a:spcPts val="0"/>
                        </a:spcBef>
                        <a:spcAft>
                          <a:spcPts val="1000"/>
                        </a:spcAft>
                      </a:pPr>
                      <a:r>
                        <a:rPr lang="en-US" sz="3200" b="1" dirty="0">
                          <a:solidFill>
                            <a:schemeClr val="bg1"/>
                          </a:solidFill>
                          <a:effectLst/>
                          <a:latin typeface="+mj-lt"/>
                          <a:ea typeface="MS Mincho" panose="02020609040205080304" pitchFamily="49" charset="-128"/>
                          <a:cs typeface="Times New Roman" panose="02020603050405020304" pitchFamily="18" charset="0"/>
                        </a:rPr>
                        <a:t>Regular </a:t>
                      </a:r>
                      <a:endParaRPr lang="en-US" sz="3600" b="1" dirty="0">
                        <a:solidFill>
                          <a:schemeClr val="bg1"/>
                        </a:solidFill>
                        <a:effectLst/>
                        <a:latin typeface="+mj-lt"/>
                        <a:ea typeface="MS Mincho" panose="02020609040205080304" pitchFamily="49" charset="-128"/>
                        <a:cs typeface="Times New Roman" panose="02020603050405020304" pitchFamily="18" charset="0"/>
                      </a:endParaRPr>
                    </a:p>
                    <a:p>
                      <a:pPr marL="0" marR="0" algn="ctr">
                        <a:lnSpc>
                          <a:spcPct val="100000"/>
                        </a:lnSpc>
                        <a:spcBef>
                          <a:spcPts val="0"/>
                        </a:spcBef>
                        <a:spcAft>
                          <a:spcPts val="1000"/>
                        </a:spcAft>
                      </a:pPr>
                      <a:r>
                        <a:rPr lang="en-US" sz="3200" b="1" dirty="0">
                          <a:solidFill>
                            <a:schemeClr val="bg1"/>
                          </a:solidFill>
                          <a:effectLst/>
                          <a:latin typeface="+mj-lt"/>
                          <a:ea typeface="MS Mincho" panose="02020609040205080304" pitchFamily="49" charset="-128"/>
                          <a:cs typeface="Times New Roman" panose="02020603050405020304" pitchFamily="18" charset="0"/>
                        </a:rPr>
                        <a:t>Private</a:t>
                      </a:r>
                    </a:p>
                  </a:txBody>
                  <a:tcPr marL="9525" marR="9525" marT="9525" marB="9525" anchor="ctr">
                    <a:solidFill>
                      <a:srgbClr val="F68712"/>
                    </a:solidFill>
                  </a:tcPr>
                </a:tc>
                <a:tc>
                  <a:txBody>
                    <a:bodyPr/>
                    <a:lstStyle/>
                    <a:p>
                      <a:pPr marL="0" marR="0" algn="ctr">
                        <a:lnSpc>
                          <a:spcPct val="100000"/>
                        </a:lnSpc>
                        <a:spcBef>
                          <a:spcPts val="0"/>
                        </a:spcBef>
                        <a:spcAft>
                          <a:spcPts val="1000"/>
                        </a:spcAft>
                      </a:pPr>
                      <a:r>
                        <a:rPr lang="en-US" sz="3200" b="1" dirty="0">
                          <a:solidFill>
                            <a:schemeClr val="bg1"/>
                          </a:solidFill>
                          <a:effectLst/>
                          <a:latin typeface="+mj-lt"/>
                          <a:ea typeface="MS Mincho" panose="02020609040205080304" pitchFamily="49" charset="-128"/>
                          <a:cs typeface="Times New Roman" panose="02020603050405020304" pitchFamily="18" charset="0"/>
                        </a:rPr>
                        <a:t>Regular </a:t>
                      </a:r>
                    </a:p>
                    <a:p>
                      <a:pPr marL="0" marR="0" algn="ctr">
                        <a:lnSpc>
                          <a:spcPct val="100000"/>
                        </a:lnSpc>
                        <a:spcBef>
                          <a:spcPts val="0"/>
                        </a:spcBef>
                        <a:spcAft>
                          <a:spcPts val="1000"/>
                        </a:spcAft>
                      </a:pPr>
                      <a:r>
                        <a:rPr lang="en-US" sz="3200" b="1" dirty="0">
                          <a:solidFill>
                            <a:schemeClr val="bg1"/>
                          </a:solidFill>
                          <a:effectLst/>
                          <a:latin typeface="+mj-lt"/>
                          <a:ea typeface="MS Mincho" panose="02020609040205080304" pitchFamily="49" charset="-128"/>
                          <a:cs typeface="Times New Roman" panose="02020603050405020304" pitchFamily="18" charset="0"/>
                        </a:rPr>
                        <a:t>Private</a:t>
                      </a:r>
                    </a:p>
                  </a:txBody>
                  <a:tcPr marL="9525" marR="9525" marT="9525" marB="9525" anchor="ctr">
                    <a:solidFill>
                      <a:srgbClr val="F68712"/>
                    </a:solidFill>
                  </a:tcPr>
                </a:tc>
                <a:tc>
                  <a:txBody>
                    <a:bodyPr/>
                    <a:lstStyle/>
                    <a:p>
                      <a:pPr marL="0" marR="0" algn="ctr">
                        <a:lnSpc>
                          <a:spcPct val="100000"/>
                        </a:lnSpc>
                        <a:spcBef>
                          <a:spcPts val="0"/>
                        </a:spcBef>
                        <a:spcAft>
                          <a:spcPts val="1000"/>
                        </a:spcAft>
                      </a:pPr>
                      <a:r>
                        <a:rPr lang="en-US" sz="3200" b="1" dirty="0">
                          <a:solidFill>
                            <a:schemeClr val="bg1"/>
                          </a:solidFill>
                          <a:effectLst/>
                          <a:latin typeface="+mj-lt"/>
                          <a:ea typeface="MS Mincho" panose="02020609040205080304" pitchFamily="49" charset="-128"/>
                          <a:cs typeface="Times New Roman" panose="02020603050405020304" pitchFamily="18" charset="0"/>
                        </a:rPr>
                        <a:t>Regular </a:t>
                      </a:r>
                    </a:p>
                    <a:p>
                      <a:pPr marL="0" marR="0" algn="ctr">
                        <a:lnSpc>
                          <a:spcPct val="100000"/>
                        </a:lnSpc>
                        <a:spcBef>
                          <a:spcPts val="0"/>
                        </a:spcBef>
                        <a:spcAft>
                          <a:spcPts val="1000"/>
                        </a:spcAft>
                      </a:pPr>
                      <a:r>
                        <a:rPr lang="en-US" sz="3200" b="1" dirty="0">
                          <a:solidFill>
                            <a:schemeClr val="bg1"/>
                          </a:solidFill>
                          <a:effectLst/>
                          <a:latin typeface="+mj-lt"/>
                          <a:ea typeface="MS Mincho" panose="02020609040205080304" pitchFamily="49" charset="-128"/>
                          <a:cs typeface="Times New Roman" panose="02020603050405020304" pitchFamily="18" charset="0"/>
                        </a:rPr>
                        <a:t>Private</a:t>
                      </a:r>
                    </a:p>
                  </a:txBody>
                  <a:tcPr marL="9525" marR="9525" marT="9525" marB="9525" anchor="ctr">
                    <a:solidFill>
                      <a:srgbClr val="F68712"/>
                    </a:solidFill>
                  </a:tcPr>
                </a:tc>
                <a:tc>
                  <a:txBody>
                    <a:bodyPr/>
                    <a:lstStyle/>
                    <a:p>
                      <a:pPr marL="0" marR="0" algn="ctr">
                        <a:lnSpc>
                          <a:spcPct val="115000"/>
                        </a:lnSpc>
                        <a:spcBef>
                          <a:spcPts val="0"/>
                        </a:spcBef>
                        <a:spcAft>
                          <a:spcPts val="1000"/>
                        </a:spcAft>
                      </a:pPr>
                      <a:r>
                        <a:rPr lang="en-US" sz="3200" b="1" dirty="0">
                          <a:solidFill>
                            <a:schemeClr val="bg1"/>
                          </a:solidFill>
                          <a:effectLst/>
                          <a:latin typeface="+mj-lt"/>
                          <a:ea typeface="MS Mincho" panose="02020609040205080304" pitchFamily="49" charset="-128"/>
                          <a:cs typeface="Times New Roman" panose="02020603050405020304" pitchFamily="18" charset="0"/>
                        </a:rPr>
                        <a:t>Semi-Private</a:t>
                      </a:r>
                    </a:p>
                  </a:txBody>
                  <a:tcPr marL="9525" marR="9525" marT="9525" marB="9525" anchor="ctr">
                    <a:solidFill>
                      <a:srgbClr val="F68712"/>
                    </a:solidFill>
                  </a:tcPr>
                </a:tc>
                <a:tc>
                  <a:txBody>
                    <a:bodyPr/>
                    <a:lstStyle/>
                    <a:p>
                      <a:pPr marL="0" marR="0" algn="ctr">
                        <a:lnSpc>
                          <a:spcPct val="115000"/>
                        </a:lnSpc>
                        <a:spcBef>
                          <a:spcPts val="0"/>
                        </a:spcBef>
                        <a:spcAft>
                          <a:spcPts val="1000"/>
                        </a:spcAft>
                      </a:pPr>
                      <a:r>
                        <a:rPr lang="en-US" sz="3200" b="1" dirty="0">
                          <a:solidFill>
                            <a:schemeClr val="bg1"/>
                          </a:solidFill>
                          <a:effectLst/>
                          <a:latin typeface="+mj-lt"/>
                          <a:ea typeface="MS Mincho" panose="02020609040205080304" pitchFamily="49" charset="-128"/>
                          <a:cs typeface="Times New Roman" panose="02020603050405020304" pitchFamily="18" charset="0"/>
                        </a:rPr>
                        <a:t>Ward</a:t>
                      </a:r>
                    </a:p>
                  </a:txBody>
                  <a:tcPr marL="9525" marR="9525" marT="9525" marB="9525" anchor="ctr">
                    <a:solidFill>
                      <a:srgbClr val="F68712"/>
                    </a:solidFill>
                  </a:tcPr>
                </a:tc>
                <a:extLst>
                  <a:ext uri="{0D108BD9-81ED-4DB2-BD59-A6C34878D82A}">
                    <a16:rowId xmlns:a16="http://schemas.microsoft.com/office/drawing/2014/main" val="639910731"/>
                  </a:ext>
                </a:extLst>
              </a:tr>
            </a:tbl>
          </a:graphicData>
        </a:graphic>
      </p:graphicFrame>
      <p:sp>
        <p:nvSpPr>
          <p:cNvPr id="9" name="Rectangle 8">
            <a:extLst>
              <a:ext uri="{FF2B5EF4-FFF2-40B4-BE49-F238E27FC236}">
                <a16:creationId xmlns:a16="http://schemas.microsoft.com/office/drawing/2014/main" id="{24A7A53C-375B-4182-B6D2-75F474A63D6F}"/>
              </a:ext>
            </a:extLst>
          </p:cNvPr>
          <p:cNvSpPr/>
          <p:nvPr/>
        </p:nvSpPr>
        <p:spPr>
          <a:xfrm>
            <a:off x="507368" y="6032807"/>
            <a:ext cx="12816201" cy="3621119"/>
          </a:xfrm>
          <a:prstGeom prst="rect">
            <a:avLst/>
          </a:prstGeom>
        </p:spPr>
        <p:txBody>
          <a:bodyPr wrap="none">
            <a:spAutoFit/>
          </a:bodyPr>
          <a:lstStyle/>
          <a:p>
            <a:pPr marL="685800" indent="-685800">
              <a:lnSpc>
                <a:spcPts val="7000"/>
              </a:lnSpc>
              <a:buFont typeface="Arial" panose="020B0604020202020204" pitchFamily="34" charset="0"/>
              <a:buChar char="•"/>
            </a:pPr>
            <a:r>
              <a:rPr lang="en-US" sz="4800" b="1" dirty="0"/>
              <a:t>Special Hospital Services</a:t>
            </a:r>
          </a:p>
          <a:p>
            <a:pPr marL="685800" indent="-685800">
              <a:lnSpc>
                <a:spcPts val="7000"/>
              </a:lnSpc>
              <a:buFont typeface="Arial" panose="020B0604020202020204" pitchFamily="34" charset="0"/>
              <a:buChar char="•"/>
            </a:pPr>
            <a:r>
              <a:rPr lang="en-US" sz="4800" b="1" dirty="0"/>
              <a:t>Surgical Benefit</a:t>
            </a:r>
          </a:p>
          <a:p>
            <a:pPr marL="685800" indent="-685800">
              <a:lnSpc>
                <a:spcPts val="7000"/>
              </a:lnSpc>
              <a:buFont typeface="Arial" panose="020B0604020202020204" pitchFamily="34" charset="0"/>
              <a:buChar char="•"/>
            </a:pPr>
            <a:r>
              <a:rPr lang="en-US" sz="4800" b="1" dirty="0"/>
              <a:t>Anesthesiologist’s Fee (50% of surgical benefit)</a:t>
            </a:r>
          </a:p>
          <a:p>
            <a:pPr marL="685800" indent="-685800">
              <a:lnSpc>
                <a:spcPts val="7000"/>
              </a:lnSpc>
              <a:buFont typeface="Arial" panose="020B0604020202020204" pitchFamily="34" charset="0"/>
              <a:buChar char="•"/>
            </a:pPr>
            <a:r>
              <a:rPr lang="en-US" sz="4800" b="1" dirty="0"/>
              <a:t>Physician’s Fee (per day, max 31 days)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fade">
                                      <p:cBhvr>
                                        <p:cTn id="12" dur="500"/>
                                        <p:tgtEl>
                                          <p:spTgt spid="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1" end="1"/>
                                            </p:txEl>
                                          </p:spTgt>
                                        </p:tgtEl>
                                        <p:attrNameLst>
                                          <p:attrName>style.visibility</p:attrName>
                                        </p:attrNameLst>
                                      </p:cBhvr>
                                      <p:to>
                                        <p:strVal val="visible"/>
                                      </p:to>
                                    </p:set>
                                    <p:animEffect transition="in" filter="fade">
                                      <p:cBhvr>
                                        <p:cTn id="17" dur="500"/>
                                        <p:tgtEl>
                                          <p:spTgt spid="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2" end="2"/>
                                            </p:txEl>
                                          </p:spTgt>
                                        </p:tgtEl>
                                        <p:attrNameLst>
                                          <p:attrName>style.visibility</p:attrName>
                                        </p:attrNameLst>
                                      </p:cBhvr>
                                      <p:to>
                                        <p:strVal val="visible"/>
                                      </p:to>
                                    </p:set>
                                    <p:animEffect transition="in" filter="fade">
                                      <p:cBhvr>
                                        <p:cTn id="22" dur="500"/>
                                        <p:tgtEl>
                                          <p:spTgt spid="9">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xEl>
                                              <p:pRg st="3" end="3"/>
                                            </p:txEl>
                                          </p:spTgt>
                                        </p:tgtEl>
                                        <p:attrNameLst>
                                          <p:attrName>style.visibility</p:attrName>
                                        </p:attrNameLst>
                                      </p:cBhvr>
                                      <p:to>
                                        <p:strVal val="visible"/>
                                      </p:to>
                                    </p:set>
                                    <p:animEffect transition="in" filter="fade">
                                      <p:cBhvr>
                                        <p:cTn id="27" dur="50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7" name="Group 17"/>
          <p:cNvGrpSpPr/>
          <p:nvPr/>
        </p:nvGrpSpPr>
        <p:grpSpPr>
          <a:xfrm>
            <a:off x="13414064" y="9452521"/>
            <a:ext cx="5147679" cy="1623340"/>
            <a:chOff x="0" y="0"/>
            <a:chExt cx="2214973" cy="698500"/>
          </a:xfrm>
        </p:grpSpPr>
        <p:sp>
          <p:nvSpPr>
            <p:cNvPr id="18" name="Freeform 18"/>
            <p:cNvSpPr/>
            <p:nvPr/>
          </p:nvSpPr>
          <p:spPr>
            <a:xfrm>
              <a:off x="0" y="0"/>
              <a:ext cx="2214973" cy="698500"/>
            </a:xfrm>
            <a:custGeom>
              <a:avLst/>
              <a:gdLst/>
              <a:ahLst/>
              <a:cxnLst/>
              <a:rect l="l" t="t" r="r" b="b"/>
              <a:pathLst>
                <a:path w="2214973" h="698500">
                  <a:moveTo>
                    <a:pt x="2214973" y="349250"/>
                  </a:moveTo>
                  <a:lnTo>
                    <a:pt x="2011773" y="698500"/>
                  </a:lnTo>
                  <a:lnTo>
                    <a:pt x="203200" y="698500"/>
                  </a:lnTo>
                  <a:lnTo>
                    <a:pt x="0" y="349250"/>
                  </a:lnTo>
                  <a:lnTo>
                    <a:pt x="203200" y="0"/>
                  </a:lnTo>
                  <a:lnTo>
                    <a:pt x="2011773" y="0"/>
                  </a:lnTo>
                  <a:lnTo>
                    <a:pt x="2214973" y="349250"/>
                  </a:lnTo>
                  <a:close/>
                </a:path>
              </a:pathLst>
            </a:custGeom>
            <a:solidFill>
              <a:srgbClr val="060644"/>
            </a:solidFill>
          </p:spPr>
        </p:sp>
        <p:sp>
          <p:nvSpPr>
            <p:cNvPr id="19" name="TextBox 19"/>
            <p:cNvSpPr txBox="1"/>
            <p:nvPr/>
          </p:nvSpPr>
          <p:spPr>
            <a:xfrm>
              <a:off x="114300" y="-57150"/>
              <a:ext cx="1986373"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0" name="Group 20"/>
          <p:cNvGrpSpPr/>
          <p:nvPr/>
        </p:nvGrpSpPr>
        <p:grpSpPr>
          <a:xfrm>
            <a:off x="15512888" y="7687327"/>
            <a:ext cx="5550223" cy="4856445"/>
            <a:chOff x="0" y="0"/>
            <a:chExt cx="812800" cy="711200"/>
          </a:xfrm>
        </p:grpSpPr>
        <p:sp>
          <p:nvSpPr>
            <p:cNvPr id="21" name="Freeform 21"/>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2" name="TextBox 22"/>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31" name="Group 31"/>
          <p:cNvGrpSpPr/>
          <p:nvPr/>
        </p:nvGrpSpPr>
        <p:grpSpPr>
          <a:xfrm>
            <a:off x="10599045" y="5887657"/>
            <a:ext cx="4105631" cy="3816954"/>
            <a:chOff x="0" y="-57150"/>
            <a:chExt cx="812800" cy="755650"/>
          </a:xfrm>
        </p:grpSpPr>
        <p:sp>
          <p:nvSpPr>
            <p:cNvPr id="32" name="Freeform 3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33" name="TextBox 33"/>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sp>
        <p:nvSpPr>
          <p:cNvPr id="44" name="TextBox 43">
            <a:extLst>
              <a:ext uri="{FF2B5EF4-FFF2-40B4-BE49-F238E27FC236}">
                <a16:creationId xmlns:a16="http://schemas.microsoft.com/office/drawing/2014/main" id="{5E55BD44-AD3B-45E5-9483-27AC669BEA80}"/>
              </a:ext>
            </a:extLst>
          </p:cNvPr>
          <p:cNvSpPr txBox="1"/>
          <p:nvPr/>
        </p:nvSpPr>
        <p:spPr>
          <a:xfrm>
            <a:off x="609600" y="638795"/>
            <a:ext cx="16306800" cy="1323439"/>
          </a:xfrm>
          <a:prstGeom prst="rect">
            <a:avLst/>
          </a:prstGeom>
          <a:noFill/>
          <a:ln>
            <a:noFill/>
          </a:ln>
        </p:spPr>
        <p:txBody>
          <a:bodyPr wrap="square" rtlCol="0">
            <a:spAutoFit/>
          </a:bodyPr>
          <a:lstStyle/>
          <a:p>
            <a:r>
              <a:rPr lang="en-US" sz="8000" b="1" dirty="0">
                <a:ln>
                  <a:solidFill>
                    <a:schemeClr val="tx1"/>
                  </a:solidFill>
                </a:ln>
                <a:solidFill>
                  <a:schemeClr val="tx2">
                    <a:lumMod val="50000"/>
                  </a:schemeClr>
                </a:solidFill>
                <a:latin typeface="+mj-lt"/>
              </a:rPr>
              <a:t>OUT-PATIENT BENEFITS (Up to MBL)</a:t>
            </a:r>
          </a:p>
        </p:txBody>
      </p:sp>
      <p:grpSp>
        <p:nvGrpSpPr>
          <p:cNvPr id="46" name="Group 34">
            <a:extLst>
              <a:ext uri="{FF2B5EF4-FFF2-40B4-BE49-F238E27FC236}">
                <a16:creationId xmlns:a16="http://schemas.microsoft.com/office/drawing/2014/main" id="{1AA96D5D-88A8-481D-9B18-AAD0AE6AA06F}"/>
              </a:ext>
            </a:extLst>
          </p:cNvPr>
          <p:cNvGrpSpPr/>
          <p:nvPr/>
        </p:nvGrpSpPr>
        <p:grpSpPr>
          <a:xfrm>
            <a:off x="14529187" y="6073687"/>
            <a:ext cx="3701846" cy="3205631"/>
            <a:chOff x="0" y="0"/>
            <a:chExt cx="4282440" cy="3708400"/>
          </a:xfrm>
          <a:solidFill>
            <a:schemeClr val="bg1"/>
          </a:solidFill>
        </p:grpSpPr>
        <p:sp>
          <p:nvSpPr>
            <p:cNvPr id="47" name="Freeform 35">
              <a:extLst>
                <a:ext uri="{FF2B5EF4-FFF2-40B4-BE49-F238E27FC236}">
                  <a16:creationId xmlns:a16="http://schemas.microsoft.com/office/drawing/2014/main" id="{70FC8A50-1E19-4075-ACCD-8B5A639A4F09}"/>
                </a:ext>
              </a:extLst>
            </p:cNvPr>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a:ln>
              <a:solidFill>
                <a:schemeClr val="tx1"/>
              </a:solidFill>
            </a:ln>
          </p:spPr>
        </p:sp>
      </p:grpSp>
      <p:pic>
        <p:nvPicPr>
          <p:cNvPr id="48" name="Picture 47">
            <a:extLst>
              <a:ext uri="{FF2B5EF4-FFF2-40B4-BE49-F238E27FC236}">
                <a16:creationId xmlns:a16="http://schemas.microsoft.com/office/drawing/2014/main" id="{6B1372A4-7F5B-4F5B-82EC-06D2231984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947788" y="6176334"/>
            <a:ext cx="2725919" cy="2725919"/>
          </a:xfrm>
          <a:prstGeom prst="rect">
            <a:avLst/>
          </a:prstGeom>
        </p:spPr>
      </p:pic>
      <p:sp>
        <p:nvSpPr>
          <p:cNvPr id="11" name="Rectangle 10">
            <a:extLst>
              <a:ext uri="{FF2B5EF4-FFF2-40B4-BE49-F238E27FC236}">
                <a16:creationId xmlns:a16="http://schemas.microsoft.com/office/drawing/2014/main" id="{48D264C2-8B19-47B4-82F8-9C78F98E8211}"/>
              </a:ext>
            </a:extLst>
          </p:cNvPr>
          <p:cNvSpPr/>
          <p:nvPr/>
        </p:nvSpPr>
        <p:spPr>
          <a:xfrm>
            <a:off x="727567" y="1873473"/>
            <a:ext cx="14092537" cy="8371523"/>
          </a:xfrm>
          <a:prstGeom prst="rect">
            <a:avLst/>
          </a:prstGeom>
        </p:spPr>
        <p:txBody>
          <a:bodyPr wrap="square">
            <a:spAutoFit/>
          </a:bodyPr>
          <a:lstStyle/>
          <a:p>
            <a:pPr marL="1143000" indent="-1143000">
              <a:buFont typeface="Arial" panose="020B0604020202020204" pitchFamily="34" charset="0"/>
              <a:buChar char="•"/>
            </a:pPr>
            <a:r>
              <a:rPr lang="en-US" sz="8800" b="1" dirty="0"/>
              <a:t>Consultation to Accredited Physicians</a:t>
            </a:r>
          </a:p>
          <a:p>
            <a:endParaRPr lang="en-US" sz="2400" b="1" dirty="0"/>
          </a:p>
          <a:p>
            <a:pPr marL="1143000" indent="-1143000">
              <a:buFont typeface="Arial" panose="020B0604020202020204" pitchFamily="34" charset="0"/>
              <a:buChar char="•"/>
            </a:pPr>
            <a:r>
              <a:rPr lang="en-US" sz="8800" b="1" dirty="0"/>
              <a:t>Outpatient Laboratories and Procedures</a:t>
            </a:r>
          </a:p>
          <a:p>
            <a:endParaRPr lang="en-US" sz="4800" b="1" dirty="0"/>
          </a:p>
          <a:p>
            <a:r>
              <a:rPr lang="en-US" sz="4800" b="1" dirty="0">
                <a:solidFill>
                  <a:srgbClr val="FF0000"/>
                </a:solidFill>
              </a:rPr>
              <a:t>Note: Other Laboratories and Tests under new modalities are covered up to PHP5,000.00</a:t>
            </a:r>
          </a:p>
        </p:txBody>
      </p:sp>
    </p:spTree>
    <p:extLst>
      <p:ext uri="{BB962C8B-B14F-4D97-AF65-F5344CB8AC3E}">
        <p14:creationId xmlns:p14="http://schemas.microsoft.com/office/powerpoint/2010/main" val="4666989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8" name="Group 8"/>
          <p:cNvGrpSpPr/>
          <p:nvPr/>
        </p:nvGrpSpPr>
        <p:grpSpPr>
          <a:xfrm>
            <a:off x="661247" y="4192381"/>
            <a:ext cx="5456629" cy="3004571"/>
            <a:chOff x="0" y="0"/>
            <a:chExt cx="1402049" cy="698500"/>
          </a:xfrm>
        </p:grpSpPr>
        <p:sp>
          <p:nvSpPr>
            <p:cNvPr id="9" name="Freeform 9"/>
            <p:cNvSpPr/>
            <p:nvPr/>
          </p:nvSpPr>
          <p:spPr>
            <a:xfrm>
              <a:off x="0" y="0"/>
              <a:ext cx="1402049" cy="698500"/>
            </a:xfrm>
            <a:custGeom>
              <a:avLst/>
              <a:gdLst/>
              <a:ahLst/>
              <a:cxnLst/>
              <a:rect l="l" t="t" r="r" b="b"/>
              <a:pathLst>
                <a:path w="1402049" h="698500">
                  <a:moveTo>
                    <a:pt x="1402049" y="349250"/>
                  </a:moveTo>
                  <a:lnTo>
                    <a:pt x="1198849" y="698500"/>
                  </a:lnTo>
                  <a:lnTo>
                    <a:pt x="203200" y="698500"/>
                  </a:lnTo>
                  <a:lnTo>
                    <a:pt x="0" y="349250"/>
                  </a:lnTo>
                  <a:lnTo>
                    <a:pt x="203200" y="0"/>
                  </a:lnTo>
                  <a:lnTo>
                    <a:pt x="1198849" y="0"/>
                  </a:lnTo>
                  <a:lnTo>
                    <a:pt x="1402049" y="349250"/>
                  </a:lnTo>
                  <a:close/>
                </a:path>
              </a:pathLst>
            </a:custGeom>
            <a:solidFill>
              <a:srgbClr val="F68712"/>
            </a:solidFill>
          </p:spPr>
        </p:sp>
        <p:sp>
          <p:nvSpPr>
            <p:cNvPr id="10" name="TextBox 10"/>
            <p:cNvSpPr txBox="1"/>
            <p:nvPr/>
          </p:nvSpPr>
          <p:spPr>
            <a:xfrm>
              <a:off x="114300" y="-57150"/>
              <a:ext cx="1173449"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4" name="Group 14"/>
          <p:cNvGrpSpPr/>
          <p:nvPr/>
        </p:nvGrpSpPr>
        <p:grpSpPr>
          <a:xfrm>
            <a:off x="5398661" y="5760253"/>
            <a:ext cx="5617457" cy="2922779"/>
            <a:chOff x="0" y="0"/>
            <a:chExt cx="1402049" cy="698500"/>
          </a:xfrm>
        </p:grpSpPr>
        <p:sp>
          <p:nvSpPr>
            <p:cNvPr id="15" name="Freeform 15"/>
            <p:cNvSpPr/>
            <p:nvPr/>
          </p:nvSpPr>
          <p:spPr>
            <a:xfrm>
              <a:off x="0" y="0"/>
              <a:ext cx="1402049" cy="698500"/>
            </a:xfrm>
            <a:custGeom>
              <a:avLst/>
              <a:gdLst/>
              <a:ahLst/>
              <a:cxnLst/>
              <a:rect l="l" t="t" r="r" b="b"/>
              <a:pathLst>
                <a:path w="1402049" h="698500">
                  <a:moveTo>
                    <a:pt x="1402049" y="349250"/>
                  </a:moveTo>
                  <a:lnTo>
                    <a:pt x="1198849" y="698500"/>
                  </a:lnTo>
                  <a:lnTo>
                    <a:pt x="203200" y="698500"/>
                  </a:lnTo>
                  <a:lnTo>
                    <a:pt x="0" y="349250"/>
                  </a:lnTo>
                  <a:lnTo>
                    <a:pt x="203200" y="0"/>
                  </a:lnTo>
                  <a:lnTo>
                    <a:pt x="1198849" y="0"/>
                  </a:lnTo>
                  <a:lnTo>
                    <a:pt x="1402049" y="349250"/>
                  </a:lnTo>
                  <a:close/>
                </a:path>
              </a:pathLst>
            </a:custGeom>
            <a:solidFill>
              <a:srgbClr val="F68712"/>
            </a:solidFill>
          </p:spPr>
        </p:sp>
        <p:sp>
          <p:nvSpPr>
            <p:cNvPr id="16" name="TextBox 16"/>
            <p:cNvSpPr txBox="1"/>
            <p:nvPr/>
          </p:nvSpPr>
          <p:spPr>
            <a:xfrm>
              <a:off x="114300" y="-57150"/>
              <a:ext cx="1173449"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7" name="Group 17"/>
          <p:cNvGrpSpPr/>
          <p:nvPr/>
        </p:nvGrpSpPr>
        <p:grpSpPr>
          <a:xfrm>
            <a:off x="13414064" y="9452521"/>
            <a:ext cx="5147679" cy="1623340"/>
            <a:chOff x="0" y="0"/>
            <a:chExt cx="2214973" cy="698500"/>
          </a:xfrm>
        </p:grpSpPr>
        <p:sp>
          <p:nvSpPr>
            <p:cNvPr id="18" name="Freeform 18"/>
            <p:cNvSpPr/>
            <p:nvPr/>
          </p:nvSpPr>
          <p:spPr>
            <a:xfrm>
              <a:off x="0" y="0"/>
              <a:ext cx="2214973" cy="698500"/>
            </a:xfrm>
            <a:custGeom>
              <a:avLst/>
              <a:gdLst/>
              <a:ahLst/>
              <a:cxnLst/>
              <a:rect l="l" t="t" r="r" b="b"/>
              <a:pathLst>
                <a:path w="2214973" h="698500">
                  <a:moveTo>
                    <a:pt x="2214973" y="349250"/>
                  </a:moveTo>
                  <a:lnTo>
                    <a:pt x="2011773" y="698500"/>
                  </a:lnTo>
                  <a:lnTo>
                    <a:pt x="203200" y="698500"/>
                  </a:lnTo>
                  <a:lnTo>
                    <a:pt x="0" y="349250"/>
                  </a:lnTo>
                  <a:lnTo>
                    <a:pt x="203200" y="0"/>
                  </a:lnTo>
                  <a:lnTo>
                    <a:pt x="2011773" y="0"/>
                  </a:lnTo>
                  <a:lnTo>
                    <a:pt x="2214973" y="349250"/>
                  </a:lnTo>
                  <a:close/>
                </a:path>
              </a:pathLst>
            </a:custGeom>
            <a:solidFill>
              <a:srgbClr val="060644"/>
            </a:solidFill>
          </p:spPr>
        </p:sp>
        <p:sp>
          <p:nvSpPr>
            <p:cNvPr id="19" name="TextBox 19"/>
            <p:cNvSpPr txBox="1"/>
            <p:nvPr/>
          </p:nvSpPr>
          <p:spPr>
            <a:xfrm>
              <a:off x="114300" y="-57150"/>
              <a:ext cx="1986373"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0" name="Group 20"/>
          <p:cNvGrpSpPr/>
          <p:nvPr/>
        </p:nvGrpSpPr>
        <p:grpSpPr>
          <a:xfrm>
            <a:off x="15512888" y="7687327"/>
            <a:ext cx="5550223" cy="4856445"/>
            <a:chOff x="0" y="0"/>
            <a:chExt cx="812800" cy="711200"/>
          </a:xfrm>
        </p:grpSpPr>
        <p:sp>
          <p:nvSpPr>
            <p:cNvPr id="21" name="Freeform 21"/>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2" name="TextBox 22"/>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3" name="Group 23"/>
          <p:cNvGrpSpPr/>
          <p:nvPr/>
        </p:nvGrpSpPr>
        <p:grpSpPr>
          <a:xfrm>
            <a:off x="11174905" y="-2087854"/>
            <a:ext cx="9007144" cy="7740514"/>
            <a:chOff x="0" y="0"/>
            <a:chExt cx="812800" cy="698500"/>
          </a:xfrm>
        </p:grpSpPr>
        <p:sp>
          <p:nvSpPr>
            <p:cNvPr id="24" name="Freeform 24"/>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p:spPr>
        </p:sp>
        <p:sp>
          <p:nvSpPr>
            <p:cNvPr id="25" name="TextBox 25"/>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6" name="Group 26"/>
          <p:cNvGrpSpPr/>
          <p:nvPr/>
        </p:nvGrpSpPr>
        <p:grpSpPr>
          <a:xfrm>
            <a:off x="10427039" y="1636917"/>
            <a:ext cx="9101552" cy="7821646"/>
            <a:chOff x="0" y="0"/>
            <a:chExt cx="812800" cy="698500"/>
          </a:xfrm>
        </p:grpSpPr>
        <p:sp>
          <p:nvSpPr>
            <p:cNvPr id="27" name="Freeform 27"/>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28" name="TextBox 28"/>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9" name="Group 29"/>
          <p:cNvGrpSpPr/>
          <p:nvPr/>
        </p:nvGrpSpPr>
        <p:grpSpPr>
          <a:xfrm>
            <a:off x="10692881" y="1837180"/>
            <a:ext cx="8569868" cy="7421120"/>
            <a:chOff x="0" y="0"/>
            <a:chExt cx="4282440" cy="3708400"/>
          </a:xfrm>
          <a:solidFill>
            <a:srgbClr val="F68712"/>
          </a:solidFill>
        </p:grpSpPr>
        <p:sp>
          <p:nvSpPr>
            <p:cNvPr id="30" name="Freeform 30"/>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p:spPr>
        </p:sp>
      </p:grpSp>
      <p:grpSp>
        <p:nvGrpSpPr>
          <p:cNvPr id="31" name="Group 31"/>
          <p:cNvGrpSpPr/>
          <p:nvPr/>
        </p:nvGrpSpPr>
        <p:grpSpPr>
          <a:xfrm>
            <a:off x="10599045" y="6176334"/>
            <a:ext cx="4105631" cy="3528277"/>
            <a:chOff x="0" y="0"/>
            <a:chExt cx="812800" cy="698500"/>
          </a:xfrm>
        </p:grpSpPr>
        <p:sp>
          <p:nvSpPr>
            <p:cNvPr id="32" name="Freeform 3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33" name="TextBox 33"/>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34" name="Group 34"/>
          <p:cNvGrpSpPr/>
          <p:nvPr/>
        </p:nvGrpSpPr>
        <p:grpSpPr>
          <a:xfrm>
            <a:off x="10800938" y="6337657"/>
            <a:ext cx="3701846" cy="3205631"/>
            <a:chOff x="0" y="0"/>
            <a:chExt cx="4282440" cy="3708400"/>
          </a:xfrm>
          <a:solidFill>
            <a:schemeClr val="bg1"/>
          </a:solidFill>
        </p:grpSpPr>
        <p:sp>
          <p:nvSpPr>
            <p:cNvPr id="35" name="Freeform 35"/>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a:ln>
              <a:solidFill>
                <a:schemeClr val="tx1"/>
              </a:solidFill>
            </a:ln>
          </p:spPr>
        </p:sp>
      </p:grpSp>
      <p:sp>
        <p:nvSpPr>
          <p:cNvPr id="40" name="TextBox 40"/>
          <p:cNvSpPr txBox="1"/>
          <p:nvPr/>
        </p:nvSpPr>
        <p:spPr>
          <a:xfrm>
            <a:off x="6481245" y="6018427"/>
            <a:ext cx="3767918" cy="525785"/>
          </a:xfrm>
          <a:prstGeom prst="rect">
            <a:avLst/>
          </a:prstGeom>
        </p:spPr>
        <p:txBody>
          <a:bodyPr wrap="square" lIns="0" tIns="0" rIns="0" bIns="0" rtlCol="0" anchor="t">
            <a:spAutoFit/>
          </a:bodyPr>
          <a:lstStyle/>
          <a:p>
            <a:pPr algn="ctr">
              <a:lnSpc>
                <a:spcPts val="4134"/>
              </a:lnSpc>
              <a:spcBef>
                <a:spcPct val="0"/>
              </a:spcBef>
            </a:pPr>
            <a:r>
              <a:rPr lang="en-US" sz="3600" b="1" dirty="0">
                <a:solidFill>
                  <a:srgbClr val="000000"/>
                </a:solidFill>
                <a:latin typeface="+mj-lt"/>
                <a:ea typeface="Poppins Bold"/>
                <a:cs typeface="Poppins Bold"/>
                <a:sym typeface="Poppins Bold"/>
              </a:rPr>
              <a:t>PHYSICAL THERAPY</a:t>
            </a:r>
          </a:p>
        </p:txBody>
      </p:sp>
      <p:sp>
        <p:nvSpPr>
          <p:cNvPr id="42" name="TextBox 42"/>
          <p:cNvSpPr txBox="1"/>
          <p:nvPr/>
        </p:nvSpPr>
        <p:spPr>
          <a:xfrm>
            <a:off x="1854595" y="4256594"/>
            <a:ext cx="3140985" cy="1020087"/>
          </a:xfrm>
          <a:prstGeom prst="rect">
            <a:avLst/>
          </a:prstGeom>
        </p:spPr>
        <p:txBody>
          <a:bodyPr lIns="0" tIns="0" rIns="0" bIns="0" rtlCol="0" anchor="t">
            <a:spAutoFit/>
          </a:bodyPr>
          <a:lstStyle/>
          <a:p>
            <a:pPr algn="ctr">
              <a:lnSpc>
                <a:spcPts val="4134"/>
              </a:lnSpc>
              <a:spcBef>
                <a:spcPct val="0"/>
              </a:spcBef>
            </a:pPr>
            <a:r>
              <a:rPr lang="en-US" sz="2953" b="1" dirty="0">
                <a:solidFill>
                  <a:srgbClr val="000000"/>
                </a:solidFill>
                <a:latin typeface="+mj-lt"/>
                <a:ea typeface="Poppins Bold"/>
                <a:cs typeface="Poppins Bold"/>
                <a:sym typeface="Poppins Bold"/>
              </a:rPr>
              <a:t>MENTAL HEALTH CONSULTATION</a:t>
            </a:r>
          </a:p>
        </p:txBody>
      </p:sp>
      <p:sp>
        <p:nvSpPr>
          <p:cNvPr id="43" name="TextBox 43"/>
          <p:cNvSpPr txBox="1"/>
          <p:nvPr/>
        </p:nvSpPr>
        <p:spPr>
          <a:xfrm>
            <a:off x="1434985" y="5366915"/>
            <a:ext cx="4493770" cy="1292662"/>
          </a:xfrm>
          <a:prstGeom prst="rect">
            <a:avLst/>
          </a:prstGeom>
        </p:spPr>
        <p:txBody>
          <a:bodyPr wrap="square" lIns="0" tIns="0" rIns="0" bIns="0" rtlCol="0" anchor="t">
            <a:spAutoFit/>
          </a:bodyPr>
          <a:lstStyle/>
          <a:p>
            <a:r>
              <a:rPr lang="en-US" sz="2800" b="1" dirty="0"/>
              <a:t>1,500 consultation assistance per year to AMAPHIL-accredited psychiatrist.</a:t>
            </a:r>
          </a:p>
        </p:txBody>
      </p:sp>
      <p:sp>
        <p:nvSpPr>
          <p:cNvPr id="44" name="TextBox 43">
            <a:extLst>
              <a:ext uri="{FF2B5EF4-FFF2-40B4-BE49-F238E27FC236}">
                <a16:creationId xmlns:a16="http://schemas.microsoft.com/office/drawing/2014/main" id="{5E55BD44-AD3B-45E5-9483-27AC669BEA80}"/>
              </a:ext>
            </a:extLst>
          </p:cNvPr>
          <p:cNvSpPr txBox="1"/>
          <p:nvPr/>
        </p:nvSpPr>
        <p:spPr>
          <a:xfrm>
            <a:off x="861397" y="909492"/>
            <a:ext cx="10178814" cy="1323439"/>
          </a:xfrm>
          <a:prstGeom prst="rect">
            <a:avLst/>
          </a:prstGeom>
          <a:noFill/>
          <a:ln>
            <a:noFill/>
          </a:ln>
        </p:spPr>
        <p:txBody>
          <a:bodyPr wrap="square" rtlCol="0">
            <a:spAutoFit/>
          </a:bodyPr>
          <a:lstStyle/>
          <a:p>
            <a:r>
              <a:rPr lang="en-US" sz="8000" b="1" dirty="0">
                <a:ln>
                  <a:solidFill>
                    <a:schemeClr val="tx1"/>
                  </a:solidFill>
                </a:ln>
                <a:latin typeface="+mj-lt"/>
              </a:rPr>
              <a:t>OUT-PATIENT BENEFITS</a:t>
            </a:r>
          </a:p>
        </p:txBody>
      </p:sp>
      <p:sp>
        <p:nvSpPr>
          <p:cNvPr id="45" name="TextBox 43">
            <a:extLst>
              <a:ext uri="{FF2B5EF4-FFF2-40B4-BE49-F238E27FC236}">
                <a16:creationId xmlns:a16="http://schemas.microsoft.com/office/drawing/2014/main" id="{EE3DCF61-7021-4AC6-BF71-16079D239B9D}"/>
              </a:ext>
            </a:extLst>
          </p:cNvPr>
          <p:cNvSpPr txBox="1"/>
          <p:nvPr/>
        </p:nvSpPr>
        <p:spPr>
          <a:xfrm>
            <a:off x="6409636" y="6708173"/>
            <a:ext cx="4347019" cy="1292662"/>
          </a:xfrm>
          <a:prstGeom prst="rect">
            <a:avLst/>
          </a:prstGeom>
        </p:spPr>
        <p:txBody>
          <a:bodyPr wrap="square" lIns="0" tIns="0" rIns="0" bIns="0" rtlCol="0" anchor="t">
            <a:spAutoFit/>
          </a:bodyPr>
          <a:lstStyle/>
          <a:p>
            <a:r>
              <a:rPr lang="en-US" sz="2800" b="1" dirty="0"/>
              <a:t>1,500 assistance per year to AMAPHIL-accredited PT centers or rehab doctors.</a:t>
            </a:r>
          </a:p>
        </p:txBody>
      </p:sp>
      <p:pic>
        <p:nvPicPr>
          <p:cNvPr id="37" name="Picture 36">
            <a:extLst>
              <a:ext uri="{FF2B5EF4-FFF2-40B4-BE49-F238E27FC236}">
                <a16:creationId xmlns:a16="http://schemas.microsoft.com/office/drawing/2014/main" id="{93BB29CF-1E14-4F3F-9B5C-7C82686BCBC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81960" y="6407884"/>
            <a:ext cx="2725919" cy="2725919"/>
          </a:xfrm>
          <a:prstGeom prst="rect">
            <a:avLst/>
          </a:prstGeom>
        </p:spPr>
      </p:pic>
      <p:sp>
        <p:nvSpPr>
          <p:cNvPr id="41" name="Rectangle 40">
            <a:extLst>
              <a:ext uri="{FF2B5EF4-FFF2-40B4-BE49-F238E27FC236}">
                <a16:creationId xmlns:a16="http://schemas.microsoft.com/office/drawing/2014/main" id="{BD9545B3-0400-42BB-9B36-52440EB0AA17}"/>
              </a:ext>
            </a:extLst>
          </p:cNvPr>
          <p:cNvSpPr/>
          <p:nvPr/>
        </p:nvSpPr>
        <p:spPr>
          <a:xfrm>
            <a:off x="874307" y="2361861"/>
            <a:ext cx="9813991" cy="1107996"/>
          </a:xfrm>
          <a:prstGeom prst="rect">
            <a:avLst/>
          </a:prstGeom>
        </p:spPr>
        <p:txBody>
          <a:bodyPr wrap="square">
            <a:spAutoFit/>
          </a:bodyPr>
          <a:lstStyle/>
          <a:p>
            <a:r>
              <a:rPr lang="en-US" sz="6600" b="1" dirty="0">
                <a:solidFill>
                  <a:schemeClr val="accent6">
                    <a:lumMod val="75000"/>
                  </a:schemeClr>
                </a:solidFill>
              </a:rPr>
              <a:t>COVERED for all Variants </a:t>
            </a:r>
          </a:p>
        </p:txBody>
      </p:sp>
    </p:spTree>
    <p:extLst>
      <p:ext uri="{BB962C8B-B14F-4D97-AF65-F5344CB8AC3E}">
        <p14:creationId xmlns:p14="http://schemas.microsoft.com/office/powerpoint/2010/main" val="3454235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2"/>
                                        </p:tgtEl>
                                        <p:attrNameLst>
                                          <p:attrName>style.visibility</p:attrName>
                                        </p:attrNameLst>
                                      </p:cBhvr>
                                      <p:to>
                                        <p:strVal val="visible"/>
                                      </p:to>
                                    </p:set>
                                    <p:animEffect transition="in" filter="fade">
                                      <p:cBhvr>
                                        <p:cTn id="10" dur="500"/>
                                        <p:tgtEl>
                                          <p:spTgt spid="4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3"/>
                                        </p:tgtEl>
                                        <p:attrNameLst>
                                          <p:attrName>style.visibility</p:attrName>
                                        </p:attrNameLst>
                                      </p:cBhvr>
                                      <p:to>
                                        <p:strVal val="visible"/>
                                      </p:to>
                                    </p:set>
                                    <p:animEffect transition="in" filter="fade">
                                      <p:cBhvr>
                                        <p:cTn id="13" dur="500"/>
                                        <p:tgtEl>
                                          <p:spTgt spid="4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0"/>
                                        </p:tgtEl>
                                        <p:attrNameLst>
                                          <p:attrName>style.visibility</p:attrName>
                                        </p:attrNameLst>
                                      </p:cBhvr>
                                      <p:to>
                                        <p:strVal val="visible"/>
                                      </p:to>
                                    </p:set>
                                    <p:animEffect transition="in" filter="fade">
                                      <p:cBhvr>
                                        <p:cTn id="21" dur="500"/>
                                        <p:tgtEl>
                                          <p:spTgt spid="4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5"/>
                                        </p:tgtEl>
                                        <p:attrNameLst>
                                          <p:attrName>style.visibility</p:attrName>
                                        </p:attrNameLst>
                                      </p:cBhvr>
                                      <p:to>
                                        <p:strVal val="visible"/>
                                      </p:to>
                                    </p:set>
                                    <p:animEffect transition="in" filter="fade">
                                      <p:cBhvr>
                                        <p:cTn id="24"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2" grpId="0"/>
      <p:bldP spid="43" grpId="0"/>
      <p:bldP spid="4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199301" y="9623971"/>
            <a:ext cx="4362442" cy="1326059"/>
            <a:chOff x="0" y="0"/>
            <a:chExt cx="2297912" cy="698500"/>
          </a:xfrm>
        </p:grpSpPr>
        <p:sp>
          <p:nvSpPr>
            <p:cNvPr id="3" name="Freeform 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4" name="TextBox 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2181221" y="-663029"/>
            <a:ext cx="5132233" cy="1326059"/>
            <a:chOff x="0" y="0"/>
            <a:chExt cx="2703398" cy="698500"/>
          </a:xfrm>
        </p:grpSpPr>
        <p:sp>
          <p:nvSpPr>
            <p:cNvPr id="6" name="Freeform 6"/>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7" name="TextBox 7"/>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8" name="Group 8"/>
          <p:cNvGrpSpPr/>
          <p:nvPr/>
        </p:nvGrpSpPr>
        <p:grpSpPr>
          <a:xfrm>
            <a:off x="15512888" y="7858777"/>
            <a:ext cx="5550223" cy="485644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0" name="TextBox 10"/>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1" name="Group 11"/>
          <p:cNvGrpSpPr/>
          <p:nvPr/>
        </p:nvGrpSpPr>
        <p:grpSpPr>
          <a:xfrm>
            <a:off x="-1543050" y="-1171172"/>
            <a:ext cx="3086100" cy="2700338"/>
            <a:chOff x="0" y="0"/>
            <a:chExt cx="812800" cy="711200"/>
          </a:xfrm>
        </p:grpSpPr>
        <p:sp>
          <p:nvSpPr>
            <p:cNvPr id="12" name="Freeform 1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3" name="TextBox 1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sp>
        <p:nvSpPr>
          <p:cNvPr id="16" name="TextBox 16"/>
          <p:cNvSpPr txBox="1"/>
          <p:nvPr/>
        </p:nvSpPr>
        <p:spPr>
          <a:xfrm>
            <a:off x="914400" y="1349748"/>
            <a:ext cx="11330673" cy="910506"/>
          </a:xfrm>
          <a:prstGeom prst="rect">
            <a:avLst/>
          </a:prstGeom>
        </p:spPr>
        <p:txBody>
          <a:bodyPr lIns="0" tIns="0" rIns="0" bIns="0" rtlCol="0" anchor="t">
            <a:spAutoFit/>
          </a:bodyPr>
          <a:lstStyle/>
          <a:p>
            <a:pPr algn="l">
              <a:lnSpc>
                <a:spcPts val="7050"/>
              </a:lnSpc>
              <a:spcBef>
                <a:spcPct val="0"/>
              </a:spcBef>
            </a:pPr>
            <a:r>
              <a:rPr lang="en-US" sz="6600" b="1" dirty="0">
                <a:solidFill>
                  <a:srgbClr val="000000"/>
                </a:solidFill>
                <a:latin typeface="+mj-lt"/>
                <a:ea typeface="Poppins Bold"/>
                <a:cs typeface="Poppins Bold"/>
                <a:sym typeface="Poppins Bold"/>
              </a:rPr>
              <a:t>EMERGENCY CARE</a:t>
            </a:r>
          </a:p>
        </p:txBody>
      </p:sp>
      <p:sp>
        <p:nvSpPr>
          <p:cNvPr id="23" name="TextBox 22">
            <a:extLst>
              <a:ext uri="{FF2B5EF4-FFF2-40B4-BE49-F238E27FC236}">
                <a16:creationId xmlns:a16="http://schemas.microsoft.com/office/drawing/2014/main" id="{DBAF4020-F01C-41B0-A5C9-C6357C3EB5D4}"/>
              </a:ext>
            </a:extLst>
          </p:cNvPr>
          <p:cNvSpPr txBox="1"/>
          <p:nvPr/>
        </p:nvSpPr>
        <p:spPr>
          <a:xfrm>
            <a:off x="228600" y="2985072"/>
            <a:ext cx="10287000" cy="7418121"/>
          </a:xfrm>
          <a:prstGeom prst="rect">
            <a:avLst/>
          </a:prstGeom>
          <a:noFill/>
        </p:spPr>
        <p:txBody>
          <a:bodyPr wrap="square" rtlCol="0">
            <a:spAutoFit/>
          </a:bodyPr>
          <a:lstStyle/>
          <a:p>
            <a:pPr marL="69850" marR="0">
              <a:lnSpc>
                <a:spcPts val="2500"/>
              </a:lnSpc>
              <a:spcBef>
                <a:spcPts val="60"/>
              </a:spcBef>
              <a:spcAft>
                <a:spcPts val="0"/>
              </a:spcAft>
            </a:pPr>
            <a:r>
              <a:rPr lang="en-US" sz="4400" b="1" dirty="0">
                <a:latin typeface="+mj-lt"/>
                <a:ea typeface="Arial MT"/>
                <a:cs typeface="Arial MT"/>
              </a:rPr>
              <a:t>In</a:t>
            </a:r>
            <a:r>
              <a:rPr lang="en-US" sz="4400" b="1" spc="-10" dirty="0">
                <a:latin typeface="+mj-lt"/>
                <a:ea typeface="Arial MT"/>
                <a:cs typeface="Arial MT"/>
              </a:rPr>
              <a:t> </a:t>
            </a:r>
            <a:r>
              <a:rPr lang="en-US" sz="4400" b="1" dirty="0">
                <a:latin typeface="+mj-lt"/>
                <a:ea typeface="Arial MT"/>
                <a:cs typeface="Arial MT"/>
              </a:rPr>
              <a:t>Affiliated</a:t>
            </a:r>
            <a:r>
              <a:rPr lang="en-US" sz="4400" b="1" spc="-10" dirty="0">
                <a:latin typeface="+mj-lt"/>
                <a:ea typeface="Arial MT"/>
                <a:cs typeface="Arial MT"/>
              </a:rPr>
              <a:t> Hospitals:</a:t>
            </a:r>
          </a:p>
          <a:p>
            <a:pPr marL="69850" marR="0">
              <a:lnSpc>
                <a:spcPts val="3000"/>
              </a:lnSpc>
              <a:spcBef>
                <a:spcPts val="60"/>
              </a:spcBef>
              <a:spcAft>
                <a:spcPts val="0"/>
              </a:spcAft>
            </a:pPr>
            <a:endParaRPr lang="en-US" sz="3600" b="1" spc="-10" dirty="0">
              <a:latin typeface="+mj-lt"/>
              <a:ea typeface="Arial MT"/>
              <a:cs typeface="Arial MT"/>
            </a:endParaRPr>
          </a:p>
          <a:p>
            <a:pPr marL="355600" marR="0" indent="-285750">
              <a:lnSpc>
                <a:spcPts val="3000"/>
              </a:lnSpc>
              <a:spcBef>
                <a:spcPts val="60"/>
              </a:spcBef>
              <a:spcAft>
                <a:spcPts val="0"/>
              </a:spcAft>
              <a:buFont typeface="Arial" panose="020B0604020202020204" pitchFamily="34" charset="0"/>
              <a:buChar char="•"/>
            </a:pPr>
            <a:r>
              <a:rPr lang="en-US" sz="3600" b="1" dirty="0">
                <a:latin typeface="+mj-lt"/>
                <a:ea typeface="Arial MT"/>
                <a:cs typeface="Arial MT"/>
              </a:rPr>
              <a:t>Physician's</a:t>
            </a:r>
            <a:r>
              <a:rPr lang="en-US" sz="3600" b="1" spc="285" dirty="0">
                <a:latin typeface="+mj-lt"/>
                <a:ea typeface="Arial MT"/>
                <a:cs typeface="Arial MT"/>
              </a:rPr>
              <a:t> </a:t>
            </a:r>
            <a:r>
              <a:rPr lang="en-US" sz="3600" b="1" spc="-10" dirty="0">
                <a:latin typeface="+mj-lt"/>
                <a:ea typeface="Arial MT"/>
                <a:cs typeface="Arial MT"/>
              </a:rPr>
              <a:t>services</a:t>
            </a:r>
          </a:p>
          <a:p>
            <a:pPr marL="355600" marR="0" indent="-285750">
              <a:lnSpc>
                <a:spcPts val="3000"/>
              </a:lnSpc>
              <a:spcBef>
                <a:spcPts val="60"/>
              </a:spcBef>
              <a:spcAft>
                <a:spcPts val="0"/>
              </a:spcAft>
              <a:buFont typeface="Arial" panose="020B0604020202020204" pitchFamily="34" charset="0"/>
              <a:buChar char="•"/>
            </a:pPr>
            <a:endParaRPr lang="en-US" sz="3600" b="1" spc="-10" dirty="0">
              <a:latin typeface="+mj-lt"/>
              <a:ea typeface="Arial MT"/>
              <a:cs typeface="Arial MT"/>
            </a:endParaRPr>
          </a:p>
          <a:p>
            <a:pPr marL="355600" marR="0" indent="-285750">
              <a:lnSpc>
                <a:spcPts val="3000"/>
              </a:lnSpc>
              <a:spcBef>
                <a:spcPts val="60"/>
              </a:spcBef>
              <a:spcAft>
                <a:spcPts val="0"/>
              </a:spcAft>
              <a:buFont typeface="Arial" panose="020B0604020202020204" pitchFamily="34" charset="0"/>
              <a:buChar char="•"/>
            </a:pPr>
            <a:r>
              <a:rPr lang="en-US" sz="3600" b="1" dirty="0">
                <a:latin typeface="+mj-lt"/>
                <a:ea typeface="Arial MT"/>
                <a:cs typeface="Arial MT"/>
              </a:rPr>
              <a:t>Emergency</a:t>
            </a:r>
            <a:r>
              <a:rPr lang="en-US" sz="3600" b="1" spc="-5" dirty="0">
                <a:latin typeface="+mj-lt"/>
                <a:ea typeface="Arial MT"/>
                <a:cs typeface="Arial MT"/>
              </a:rPr>
              <a:t> </a:t>
            </a:r>
            <a:r>
              <a:rPr lang="en-US" sz="3600" b="1" dirty="0">
                <a:latin typeface="+mj-lt"/>
                <a:ea typeface="Arial MT"/>
                <a:cs typeface="Arial MT"/>
              </a:rPr>
              <a:t>Room</a:t>
            </a:r>
            <a:r>
              <a:rPr lang="en-US" sz="3600" b="1" spc="-15" dirty="0">
                <a:latin typeface="+mj-lt"/>
                <a:ea typeface="Arial MT"/>
                <a:cs typeface="Arial MT"/>
              </a:rPr>
              <a:t> </a:t>
            </a:r>
            <a:r>
              <a:rPr lang="en-US" sz="3600" b="1" spc="-20" dirty="0">
                <a:latin typeface="+mj-lt"/>
                <a:ea typeface="Arial MT"/>
                <a:cs typeface="Arial MT"/>
              </a:rPr>
              <a:t>Fees</a:t>
            </a:r>
          </a:p>
          <a:p>
            <a:pPr marL="355600" marR="0" indent="-285750">
              <a:lnSpc>
                <a:spcPts val="3000"/>
              </a:lnSpc>
              <a:spcBef>
                <a:spcPts val="60"/>
              </a:spcBef>
              <a:spcAft>
                <a:spcPts val="0"/>
              </a:spcAft>
              <a:buFont typeface="Arial" panose="020B0604020202020204" pitchFamily="34" charset="0"/>
              <a:buChar char="•"/>
            </a:pPr>
            <a:endParaRPr lang="en-US" sz="3600" b="1" spc="-20" dirty="0">
              <a:latin typeface="+mj-lt"/>
              <a:ea typeface="Arial MT"/>
              <a:cs typeface="Arial MT"/>
            </a:endParaRPr>
          </a:p>
          <a:p>
            <a:pPr marL="355600" marR="0" indent="-285750">
              <a:lnSpc>
                <a:spcPts val="3000"/>
              </a:lnSpc>
              <a:spcBef>
                <a:spcPts val="65"/>
              </a:spcBef>
              <a:spcAft>
                <a:spcPts val="0"/>
              </a:spcAft>
              <a:buFont typeface="Arial" panose="020B0604020202020204" pitchFamily="34" charset="0"/>
              <a:buChar char="•"/>
            </a:pPr>
            <a:r>
              <a:rPr lang="en-US" sz="3600" b="1" dirty="0">
                <a:latin typeface="+mj-lt"/>
                <a:ea typeface="Arial MT"/>
                <a:cs typeface="Arial MT"/>
              </a:rPr>
              <a:t>Medicines</a:t>
            </a:r>
            <a:r>
              <a:rPr lang="en-US" sz="3600" b="1" spc="-20" dirty="0">
                <a:latin typeface="+mj-lt"/>
                <a:ea typeface="Arial MT"/>
                <a:cs typeface="Arial MT"/>
              </a:rPr>
              <a:t> </a:t>
            </a:r>
            <a:r>
              <a:rPr lang="en-US" sz="3600" b="1" dirty="0">
                <a:latin typeface="+mj-lt"/>
                <a:ea typeface="Arial MT"/>
                <a:cs typeface="Arial MT"/>
              </a:rPr>
              <a:t>used</a:t>
            </a:r>
            <a:r>
              <a:rPr lang="en-US" sz="3600" b="1" spc="-30" dirty="0">
                <a:latin typeface="+mj-lt"/>
                <a:ea typeface="Arial MT"/>
                <a:cs typeface="Arial MT"/>
              </a:rPr>
              <a:t> </a:t>
            </a:r>
            <a:r>
              <a:rPr lang="en-US" sz="3600" b="1" dirty="0">
                <a:latin typeface="+mj-lt"/>
                <a:ea typeface="Arial MT"/>
                <a:cs typeface="Arial MT"/>
              </a:rPr>
              <a:t>for</a:t>
            </a:r>
            <a:r>
              <a:rPr lang="en-US" sz="3600" b="1" spc="-20" dirty="0">
                <a:latin typeface="+mj-lt"/>
                <a:ea typeface="Arial MT"/>
                <a:cs typeface="Arial MT"/>
              </a:rPr>
              <a:t> </a:t>
            </a:r>
            <a:r>
              <a:rPr lang="en-US" sz="3600" b="1" dirty="0">
                <a:latin typeface="+mj-lt"/>
                <a:ea typeface="Arial MT"/>
                <a:cs typeface="Arial MT"/>
              </a:rPr>
              <a:t>immediate</a:t>
            </a:r>
            <a:r>
              <a:rPr lang="en-US" sz="3600" b="1" spc="-10" dirty="0">
                <a:latin typeface="+mj-lt"/>
                <a:ea typeface="Arial MT"/>
                <a:cs typeface="Arial MT"/>
              </a:rPr>
              <a:t> </a:t>
            </a:r>
            <a:r>
              <a:rPr lang="en-US" sz="3600" b="1" dirty="0">
                <a:latin typeface="+mj-lt"/>
                <a:ea typeface="Arial MT"/>
                <a:cs typeface="Arial MT"/>
              </a:rPr>
              <a:t>relief</a:t>
            </a:r>
            <a:r>
              <a:rPr lang="en-US" sz="3600" b="1" spc="-30" dirty="0">
                <a:latin typeface="+mj-lt"/>
                <a:ea typeface="Arial MT"/>
                <a:cs typeface="Arial MT"/>
              </a:rPr>
              <a:t> </a:t>
            </a:r>
            <a:r>
              <a:rPr lang="en-US" sz="3600" b="1" dirty="0">
                <a:latin typeface="+mj-lt"/>
                <a:ea typeface="Arial MT"/>
                <a:cs typeface="Arial MT"/>
              </a:rPr>
              <a:t>during</a:t>
            </a:r>
            <a:r>
              <a:rPr lang="en-US" sz="3600" b="1" spc="-30" dirty="0">
                <a:latin typeface="+mj-lt"/>
                <a:ea typeface="Arial MT"/>
                <a:cs typeface="Arial MT"/>
              </a:rPr>
              <a:t> </a:t>
            </a:r>
            <a:r>
              <a:rPr lang="en-US" sz="3600" b="1" spc="-10" dirty="0">
                <a:latin typeface="+mj-lt"/>
                <a:ea typeface="Arial MT"/>
                <a:cs typeface="Arial MT"/>
              </a:rPr>
              <a:t>treatment</a:t>
            </a:r>
          </a:p>
          <a:p>
            <a:pPr marL="355600" marR="0" indent="-285750">
              <a:lnSpc>
                <a:spcPts val="3000"/>
              </a:lnSpc>
              <a:spcBef>
                <a:spcPts val="65"/>
              </a:spcBef>
              <a:spcAft>
                <a:spcPts val="0"/>
              </a:spcAft>
              <a:buFont typeface="Arial" panose="020B0604020202020204" pitchFamily="34" charset="0"/>
              <a:buChar char="•"/>
            </a:pPr>
            <a:endParaRPr lang="en-US" sz="3600" b="1" spc="-10" dirty="0">
              <a:latin typeface="+mj-lt"/>
              <a:ea typeface="Arial MT"/>
              <a:cs typeface="Arial MT"/>
            </a:endParaRPr>
          </a:p>
          <a:p>
            <a:pPr marL="355600" marR="0" indent="-285750">
              <a:lnSpc>
                <a:spcPts val="3000"/>
              </a:lnSpc>
              <a:spcBef>
                <a:spcPts val="50"/>
              </a:spcBef>
              <a:spcAft>
                <a:spcPts val="0"/>
              </a:spcAft>
              <a:buFont typeface="Arial" panose="020B0604020202020204" pitchFamily="34" charset="0"/>
              <a:buChar char="•"/>
            </a:pPr>
            <a:r>
              <a:rPr lang="en-US" sz="3600" b="1" dirty="0">
                <a:latin typeface="+mj-lt"/>
                <a:ea typeface="Arial MT"/>
                <a:cs typeface="Arial MT"/>
              </a:rPr>
              <a:t>Oxygen,</a:t>
            </a:r>
            <a:r>
              <a:rPr lang="en-US" sz="3600" b="1" spc="-10" dirty="0">
                <a:latin typeface="+mj-lt"/>
                <a:ea typeface="Arial MT"/>
                <a:cs typeface="Arial MT"/>
              </a:rPr>
              <a:t> </a:t>
            </a:r>
            <a:r>
              <a:rPr lang="en-US" sz="3600" b="1" dirty="0">
                <a:latin typeface="+mj-lt"/>
                <a:ea typeface="Arial MT"/>
                <a:cs typeface="Arial MT"/>
              </a:rPr>
              <a:t>intravenous</a:t>
            </a:r>
            <a:r>
              <a:rPr lang="en-US" sz="3600" b="1" spc="-5" dirty="0">
                <a:latin typeface="+mj-lt"/>
                <a:ea typeface="Arial MT"/>
                <a:cs typeface="Arial MT"/>
              </a:rPr>
              <a:t> </a:t>
            </a:r>
            <a:r>
              <a:rPr lang="en-US" sz="3600" b="1" dirty="0">
                <a:latin typeface="+mj-lt"/>
                <a:ea typeface="Arial MT"/>
                <a:cs typeface="Arial MT"/>
              </a:rPr>
              <a:t>fluids</a:t>
            </a:r>
            <a:r>
              <a:rPr lang="en-US" sz="3600" b="1" spc="-35" dirty="0">
                <a:latin typeface="+mj-lt"/>
                <a:ea typeface="Arial MT"/>
                <a:cs typeface="Arial MT"/>
              </a:rPr>
              <a:t> </a:t>
            </a:r>
            <a:r>
              <a:rPr lang="en-US" sz="3600" b="1" dirty="0">
                <a:latin typeface="+mj-lt"/>
                <a:ea typeface="Arial MT"/>
                <a:cs typeface="Arial MT"/>
              </a:rPr>
              <a:t>and</a:t>
            </a:r>
            <a:r>
              <a:rPr lang="en-US" sz="3600" b="1" spc="-15" dirty="0">
                <a:latin typeface="+mj-lt"/>
                <a:ea typeface="Arial MT"/>
                <a:cs typeface="Arial MT"/>
              </a:rPr>
              <a:t> </a:t>
            </a:r>
            <a:r>
              <a:rPr lang="en-US" sz="3600" b="1" dirty="0">
                <a:latin typeface="+mj-lt"/>
                <a:ea typeface="Arial MT"/>
                <a:cs typeface="Arial MT"/>
              </a:rPr>
              <a:t>blood</a:t>
            </a:r>
            <a:r>
              <a:rPr lang="en-US" sz="3600" b="1" spc="-10" dirty="0">
                <a:latin typeface="+mj-lt"/>
                <a:ea typeface="Arial MT"/>
                <a:cs typeface="Arial MT"/>
              </a:rPr>
              <a:t> products</a:t>
            </a:r>
          </a:p>
          <a:p>
            <a:pPr marL="355600" marR="0" indent="-285750">
              <a:lnSpc>
                <a:spcPts val="3000"/>
              </a:lnSpc>
              <a:spcBef>
                <a:spcPts val="50"/>
              </a:spcBef>
              <a:spcAft>
                <a:spcPts val="0"/>
              </a:spcAft>
              <a:buFont typeface="Arial" panose="020B0604020202020204" pitchFamily="34" charset="0"/>
              <a:buChar char="•"/>
            </a:pPr>
            <a:endParaRPr lang="en-US" sz="3600" b="1" spc="-10" dirty="0">
              <a:latin typeface="+mj-lt"/>
              <a:ea typeface="Arial MT"/>
              <a:cs typeface="Arial MT"/>
            </a:endParaRPr>
          </a:p>
          <a:p>
            <a:pPr marL="355600" lvl="0" indent="-285750" defTabSz="914400">
              <a:lnSpc>
                <a:spcPts val="3000"/>
              </a:lnSpc>
              <a:spcBef>
                <a:spcPts val="50"/>
              </a:spcBef>
              <a:buFont typeface="Arial" panose="020B0604020202020204" pitchFamily="34" charset="0"/>
              <a:buChar char="•"/>
              <a:defRPr/>
            </a:pPr>
            <a:r>
              <a:rPr lang="en-US" sz="3600" b="1" dirty="0">
                <a:latin typeface="+mj-lt"/>
                <a:ea typeface="Arial MT"/>
                <a:cs typeface="Arial MT"/>
              </a:rPr>
              <a:t>Dressings,</a:t>
            </a:r>
            <a:r>
              <a:rPr lang="en-US" sz="3600" b="1" spc="-20" dirty="0">
                <a:latin typeface="+mj-lt"/>
                <a:ea typeface="Arial MT"/>
                <a:cs typeface="Arial MT"/>
              </a:rPr>
              <a:t> </a:t>
            </a:r>
            <a:r>
              <a:rPr lang="en-US" sz="3600" b="1" dirty="0">
                <a:latin typeface="+mj-lt"/>
                <a:ea typeface="Arial MT"/>
                <a:cs typeface="Arial MT"/>
              </a:rPr>
              <a:t>conventional</a:t>
            </a:r>
            <a:r>
              <a:rPr lang="en-US" sz="3600" b="1" spc="-15" dirty="0">
                <a:latin typeface="+mj-lt"/>
                <a:ea typeface="Arial MT"/>
                <a:cs typeface="Arial MT"/>
              </a:rPr>
              <a:t> </a:t>
            </a:r>
            <a:r>
              <a:rPr lang="en-US" sz="3600" b="1" dirty="0">
                <a:latin typeface="+mj-lt"/>
                <a:ea typeface="Arial MT"/>
                <a:cs typeface="Arial MT"/>
              </a:rPr>
              <a:t>casts</a:t>
            </a:r>
            <a:r>
              <a:rPr lang="en-US" sz="3600" b="1" spc="-20" dirty="0">
                <a:latin typeface="+mj-lt"/>
                <a:ea typeface="Arial MT"/>
                <a:cs typeface="Arial MT"/>
              </a:rPr>
              <a:t> </a:t>
            </a:r>
            <a:r>
              <a:rPr lang="en-US" sz="3600" b="1" dirty="0">
                <a:latin typeface="+mj-lt"/>
                <a:ea typeface="Arial MT"/>
                <a:cs typeface="Arial MT"/>
              </a:rPr>
              <a:t>(plaster</a:t>
            </a:r>
            <a:r>
              <a:rPr lang="en-US" sz="3600" b="1" spc="-15" dirty="0">
                <a:latin typeface="+mj-lt"/>
                <a:ea typeface="Arial MT"/>
                <a:cs typeface="Arial MT"/>
              </a:rPr>
              <a:t> </a:t>
            </a:r>
            <a:r>
              <a:rPr lang="en-US" sz="3600" b="1" dirty="0">
                <a:latin typeface="+mj-lt"/>
                <a:ea typeface="Arial MT"/>
                <a:cs typeface="Arial MT"/>
              </a:rPr>
              <a:t>of</a:t>
            </a:r>
            <a:r>
              <a:rPr lang="en-US" sz="3600" b="1" spc="-20" dirty="0">
                <a:latin typeface="+mj-lt"/>
                <a:ea typeface="Arial MT"/>
                <a:cs typeface="Arial MT"/>
              </a:rPr>
              <a:t> </a:t>
            </a:r>
            <a:r>
              <a:rPr lang="en-US" sz="3600" b="1" dirty="0">
                <a:latin typeface="+mj-lt"/>
                <a:ea typeface="Arial MT"/>
                <a:cs typeface="Arial MT"/>
              </a:rPr>
              <a:t>Paris)</a:t>
            </a:r>
            <a:r>
              <a:rPr lang="en-US" sz="3600" b="1" spc="-15" dirty="0">
                <a:latin typeface="+mj-lt"/>
                <a:ea typeface="Arial MT"/>
                <a:cs typeface="Arial MT"/>
              </a:rPr>
              <a:t> </a:t>
            </a:r>
            <a:r>
              <a:rPr lang="en-US" sz="3600" b="1" dirty="0">
                <a:latin typeface="+mj-lt"/>
                <a:ea typeface="Arial MT"/>
                <a:cs typeface="Arial MT"/>
              </a:rPr>
              <a:t>and</a:t>
            </a:r>
            <a:r>
              <a:rPr lang="en-US" sz="3600" b="1" spc="-20" dirty="0">
                <a:latin typeface="+mj-lt"/>
                <a:ea typeface="Arial MT"/>
                <a:cs typeface="Arial MT"/>
              </a:rPr>
              <a:t> </a:t>
            </a:r>
            <a:r>
              <a:rPr lang="en-US" sz="3600" b="1" spc="-10" dirty="0">
                <a:latin typeface="+mj-lt"/>
                <a:ea typeface="Arial MT"/>
                <a:cs typeface="Arial MT"/>
              </a:rPr>
              <a:t>sutures</a:t>
            </a:r>
          </a:p>
          <a:p>
            <a:pPr marL="355600" lvl="0" indent="-285750" defTabSz="914400">
              <a:lnSpc>
                <a:spcPts val="3000"/>
              </a:lnSpc>
              <a:spcBef>
                <a:spcPts val="50"/>
              </a:spcBef>
              <a:buFont typeface="Arial" panose="020B0604020202020204" pitchFamily="34" charset="0"/>
              <a:buChar char="•"/>
              <a:defRPr/>
            </a:pPr>
            <a:endParaRPr lang="en-US" sz="3600" b="1" spc="-10" dirty="0">
              <a:latin typeface="+mj-lt"/>
              <a:ea typeface="Arial MT"/>
              <a:cs typeface="Arial MT"/>
            </a:endParaRPr>
          </a:p>
          <a:p>
            <a:pPr marL="355600" lvl="0" indent="-285750" defTabSz="914400">
              <a:lnSpc>
                <a:spcPts val="3000"/>
              </a:lnSpc>
              <a:spcBef>
                <a:spcPts val="50"/>
              </a:spcBef>
              <a:buFont typeface="Arial" panose="020B0604020202020204" pitchFamily="34" charset="0"/>
              <a:buChar char="•"/>
              <a:defRPr/>
            </a:pPr>
            <a:r>
              <a:rPr lang="en-US" sz="3600" b="1" dirty="0">
                <a:latin typeface="+mj-lt"/>
                <a:ea typeface="Arial MT"/>
                <a:cs typeface="Arial MT"/>
              </a:rPr>
              <a:t>X-ray, laboratory , and diagnostic examinations, and other medical services related to the emergency treatment of the </a:t>
            </a:r>
            <a:r>
              <a:rPr lang="en-US" sz="3600" b="1" spc="-10" dirty="0">
                <a:latin typeface="+mj-lt"/>
                <a:ea typeface="Arial MT"/>
                <a:cs typeface="Arial MT"/>
              </a:rPr>
              <a:t>patient.</a:t>
            </a:r>
            <a:endParaRPr lang="en-US" sz="3600" b="1" dirty="0">
              <a:latin typeface="+mj-lt"/>
              <a:ea typeface="Arial MT"/>
              <a:cs typeface="Arial MT"/>
            </a:endParaRPr>
          </a:p>
          <a:p>
            <a:pPr marL="69850" lvl="0" defTabSz="914400">
              <a:lnSpc>
                <a:spcPts val="2500"/>
              </a:lnSpc>
              <a:spcBef>
                <a:spcPts val="50"/>
              </a:spcBef>
              <a:defRPr/>
            </a:pPr>
            <a:endParaRPr lang="en-US" sz="3600" b="1" dirty="0">
              <a:latin typeface="+mj-lt"/>
              <a:ea typeface="Arial MT"/>
              <a:cs typeface="Arial MT"/>
            </a:endParaRPr>
          </a:p>
          <a:p>
            <a:pPr>
              <a:lnSpc>
                <a:spcPts val="2500"/>
              </a:lnSpc>
            </a:pPr>
            <a:endParaRPr lang="en-US" sz="3600" dirty="0">
              <a:latin typeface="+mj-lt"/>
            </a:endParaRPr>
          </a:p>
        </p:txBody>
      </p:sp>
      <p:pic>
        <p:nvPicPr>
          <p:cNvPr id="1026" name="Picture 2" descr="Emergency Icons in SVG, PNG, AI to Download">
            <a:extLst>
              <a:ext uri="{FF2B5EF4-FFF2-40B4-BE49-F238E27FC236}">
                <a16:creationId xmlns:a16="http://schemas.microsoft.com/office/drawing/2014/main" id="{DEB73918-3DA9-44C9-B64A-C5FCBF4682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32264" y="727091"/>
            <a:ext cx="8441495" cy="84414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fade">
                                      <p:cBhvr>
                                        <p:cTn id="7" dur="500"/>
                                        <p:tgtEl>
                                          <p:spTgt spid="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xEl>
                                              <p:pRg st="2" end="2"/>
                                            </p:txEl>
                                          </p:spTgt>
                                        </p:tgtEl>
                                        <p:attrNameLst>
                                          <p:attrName>style.visibility</p:attrName>
                                        </p:attrNameLst>
                                      </p:cBhvr>
                                      <p:to>
                                        <p:strVal val="visible"/>
                                      </p:to>
                                    </p:set>
                                    <p:animEffect transition="in" filter="fade">
                                      <p:cBhvr>
                                        <p:cTn id="12" dur="500"/>
                                        <p:tgtEl>
                                          <p:spTgt spid="2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xEl>
                                              <p:pRg st="4" end="4"/>
                                            </p:txEl>
                                          </p:spTgt>
                                        </p:tgtEl>
                                        <p:attrNameLst>
                                          <p:attrName>style.visibility</p:attrName>
                                        </p:attrNameLst>
                                      </p:cBhvr>
                                      <p:to>
                                        <p:strVal val="visible"/>
                                      </p:to>
                                    </p:set>
                                    <p:animEffect transition="in" filter="fade">
                                      <p:cBhvr>
                                        <p:cTn id="17" dur="500"/>
                                        <p:tgtEl>
                                          <p:spTgt spid="2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xEl>
                                              <p:pRg st="6" end="6"/>
                                            </p:txEl>
                                          </p:spTgt>
                                        </p:tgtEl>
                                        <p:attrNameLst>
                                          <p:attrName>style.visibility</p:attrName>
                                        </p:attrNameLst>
                                      </p:cBhvr>
                                      <p:to>
                                        <p:strVal val="visible"/>
                                      </p:to>
                                    </p:set>
                                    <p:animEffect transition="in" filter="fade">
                                      <p:cBhvr>
                                        <p:cTn id="22" dur="500"/>
                                        <p:tgtEl>
                                          <p:spTgt spid="2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xEl>
                                              <p:pRg st="8" end="8"/>
                                            </p:txEl>
                                          </p:spTgt>
                                        </p:tgtEl>
                                        <p:attrNameLst>
                                          <p:attrName>style.visibility</p:attrName>
                                        </p:attrNameLst>
                                      </p:cBhvr>
                                      <p:to>
                                        <p:strVal val="visible"/>
                                      </p:to>
                                    </p:set>
                                    <p:animEffect transition="in" filter="fade">
                                      <p:cBhvr>
                                        <p:cTn id="27" dur="500"/>
                                        <p:tgtEl>
                                          <p:spTgt spid="23">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3">
                                            <p:txEl>
                                              <p:pRg st="10" end="10"/>
                                            </p:txEl>
                                          </p:spTgt>
                                        </p:tgtEl>
                                        <p:attrNameLst>
                                          <p:attrName>style.visibility</p:attrName>
                                        </p:attrNameLst>
                                      </p:cBhvr>
                                      <p:to>
                                        <p:strVal val="visible"/>
                                      </p:to>
                                    </p:set>
                                    <p:animEffect transition="in" filter="fade">
                                      <p:cBhvr>
                                        <p:cTn id="32" dur="500"/>
                                        <p:tgtEl>
                                          <p:spTgt spid="23">
                                            <p:txEl>
                                              <p:pRg st="10" end="1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3">
                                            <p:txEl>
                                              <p:pRg st="12" end="12"/>
                                            </p:txEl>
                                          </p:spTgt>
                                        </p:tgtEl>
                                        <p:attrNameLst>
                                          <p:attrName>style.visibility</p:attrName>
                                        </p:attrNameLst>
                                      </p:cBhvr>
                                      <p:to>
                                        <p:strVal val="visible"/>
                                      </p:to>
                                    </p:set>
                                    <p:animEffect transition="in" filter="fade">
                                      <p:cBhvr>
                                        <p:cTn id="37" dur="500"/>
                                        <p:tgtEl>
                                          <p:spTgt spid="2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199301" y="9623971"/>
            <a:ext cx="4362442" cy="1326059"/>
            <a:chOff x="0" y="0"/>
            <a:chExt cx="2297912" cy="698500"/>
          </a:xfrm>
        </p:grpSpPr>
        <p:sp>
          <p:nvSpPr>
            <p:cNvPr id="3" name="Freeform 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4" name="TextBox 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2181221" y="-663029"/>
            <a:ext cx="5132233" cy="1326059"/>
            <a:chOff x="0" y="0"/>
            <a:chExt cx="2703398" cy="698500"/>
          </a:xfrm>
        </p:grpSpPr>
        <p:sp>
          <p:nvSpPr>
            <p:cNvPr id="6" name="Freeform 6"/>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7" name="TextBox 7"/>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8" name="Group 8"/>
          <p:cNvGrpSpPr/>
          <p:nvPr/>
        </p:nvGrpSpPr>
        <p:grpSpPr>
          <a:xfrm>
            <a:off x="15512888" y="7858777"/>
            <a:ext cx="5550223" cy="485644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0" name="TextBox 10"/>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1" name="Group 11"/>
          <p:cNvGrpSpPr/>
          <p:nvPr/>
        </p:nvGrpSpPr>
        <p:grpSpPr>
          <a:xfrm>
            <a:off x="-1543050" y="-1171172"/>
            <a:ext cx="3086100" cy="2700338"/>
            <a:chOff x="0" y="0"/>
            <a:chExt cx="812800" cy="711200"/>
          </a:xfrm>
        </p:grpSpPr>
        <p:sp>
          <p:nvSpPr>
            <p:cNvPr id="12" name="Freeform 1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3" name="TextBox 1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sp>
        <p:nvSpPr>
          <p:cNvPr id="16" name="TextBox 16"/>
          <p:cNvSpPr txBox="1"/>
          <p:nvPr/>
        </p:nvSpPr>
        <p:spPr>
          <a:xfrm>
            <a:off x="914401" y="1083335"/>
            <a:ext cx="6629400" cy="910506"/>
          </a:xfrm>
          <a:prstGeom prst="rect">
            <a:avLst/>
          </a:prstGeom>
        </p:spPr>
        <p:txBody>
          <a:bodyPr wrap="square" lIns="0" tIns="0" rIns="0" bIns="0" rtlCol="0" anchor="t">
            <a:spAutoFit/>
          </a:bodyPr>
          <a:lstStyle/>
          <a:p>
            <a:pPr algn="l">
              <a:lnSpc>
                <a:spcPts val="7050"/>
              </a:lnSpc>
              <a:spcBef>
                <a:spcPct val="0"/>
              </a:spcBef>
            </a:pPr>
            <a:r>
              <a:rPr lang="en-US" sz="6600" b="1" dirty="0">
                <a:solidFill>
                  <a:srgbClr val="000000"/>
                </a:solidFill>
                <a:latin typeface="+mj-lt"/>
                <a:ea typeface="Poppins Bold"/>
                <a:cs typeface="Poppins Bold"/>
                <a:sym typeface="Poppins Bold"/>
              </a:rPr>
              <a:t>EMERGENCY CARE</a:t>
            </a:r>
          </a:p>
        </p:txBody>
      </p:sp>
      <p:sp>
        <p:nvSpPr>
          <p:cNvPr id="23" name="TextBox 22">
            <a:extLst>
              <a:ext uri="{FF2B5EF4-FFF2-40B4-BE49-F238E27FC236}">
                <a16:creationId xmlns:a16="http://schemas.microsoft.com/office/drawing/2014/main" id="{DBAF4020-F01C-41B0-A5C9-C6357C3EB5D4}"/>
              </a:ext>
            </a:extLst>
          </p:cNvPr>
          <p:cNvSpPr txBox="1"/>
          <p:nvPr/>
        </p:nvSpPr>
        <p:spPr>
          <a:xfrm>
            <a:off x="2639" y="2411484"/>
            <a:ext cx="18540961" cy="8463855"/>
          </a:xfrm>
          <a:prstGeom prst="rect">
            <a:avLst/>
          </a:prstGeom>
          <a:noFill/>
        </p:spPr>
        <p:txBody>
          <a:bodyPr wrap="square" rtlCol="0">
            <a:spAutoFit/>
          </a:bodyPr>
          <a:lstStyle/>
          <a:p>
            <a:r>
              <a:rPr lang="en-US" sz="3600" dirty="0">
                <a:latin typeface="+mj-lt"/>
              </a:rPr>
              <a:t>Emergency treatment in non-affiliated </a:t>
            </a:r>
          </a:p>
          <a:p>
            <a:r>
              <a:rPr lang="en-US" sz="3600" dirty="0">
                <a:latin typeface="+mj-lt"/>
              </a:rPr>
              <a:t>hospitals/clinics- </a:t>
            </a:r>
            <a:r>
              <a:rPr lang="en-US" sz="3600" b="1" dirty="0">
                <a:latin typeface="+mj-lt"/>
              </a:rPr>
              <a:t>80%</a:t>
            </a:r>
            <a:r>
              <a:rPr lang="en-US" sz="3600" dirty="0">
                <a:latin typeface="+mj-lt"/>
              </a:rPr>
              <a:t> reimbursement based </a:t>
            </a:r>
          </a:p>
          <a:p>
            <a:r>
              <a:rPr lang="en-US" sz="3600" dirty="0">
                <a:latin typeface="+mj-lt"/>
              </a:rPr>
              <a:t>on AMAPHIL RUV</a:t>
            </a:r>
          </a:p>
          <a:p>
            <a:endParaRPr lang="en-US" sz="3600" dirty="0">
              <a:latin typeface="+mj-lt"/>
            </a:endParaRPr>
          </a:p>
          <a:p>
            <a:endParaRPr lang="en-US" sz="3600" dirty="0">
              <a:latin typeface="+mj-lt"/>
            </a:endParaRPr>
          </a:p>
          <a:p>
            <a:r>
              <a:rPr lang="en-US" sz="3600" dirty="0">
                <a:latin typeface="+mj-lt"/>
              </a:rPr>
              <a:t>Emergency treatment in affiliated </a:t>
            </a:r>
          </a:p>
          <a:p>
            <a:r>
              <a:rPr lang="en-US" sz="3600" dirty="0">
                <a:latin typeface="+mj-lt"/>
              </a:rPr>
              <a:t>hospitals/clinics- </a:t>
            </a:r>
            <a:r>
              <a:rPr lang="en-US" sz="3600" b="1" dirty="0">
                <a:latin typeface="+mj-lt"/>
              </a:rPr>
              <a:t>100%</a:t>
            </a:r>
            <a:r>
              <a:rPr lang="en-US" sz="3600" dirty="0">
                <a:latin typeface="+mj-lt"/>
              </a:rPr>
              <a:t> reimbursement based </a:t>
            </a:r>
          </a:p>
          <a:p>
            <a:r>
              <a:rPr lang="en-US" sz="3600" dirty="0">
                <a:latin typeface="+mj-lt"/>
              </a:rPr>
              <a:t>on AMAPHIL RUV</a:t>
            </a:r>
          </a:p>
          <a:p>
            <a:endParaRPr lang="en-US" sz="3600" dirty="0">
              <a:latin typeface="+mj-lt"/>
            </a:endParaRPr>
          </a:p>
          <a:p>
            <a:endParaRPr lang="en-US" sz="3600" dirty="0">
              <a:latin typeface="+mj-lt"/>
            </a:endParaRPr>
          </a:p>
          <a:p>
            <a:r>
              <a:rPr lang="en-US" sz="3600" dirty="0">
                <a:latin typeface="+mj-lt"/>
              </a:rPr>
              <a:t>Emergency treatment in areas without affiliated</a:t>
            </a:r>
          </a:p>
          <a:p>
            <a:r>
              <a:rPr lang="en-US" sz="3600" dirty="0">
                <a:latin typeface="+mj-lt"/>
              </a:rPr>
              <a:t>hospitals/clinics (within a 15 km radius)  </a:t>
            </a:r>
          </a:p>
          <a:p>
            <a:r>
              <a:rPr lang="en-US" sz="3600" b="1" dirty="0">
                <a:latin typeface="+mj-lt"/>
              </a:rPr>
              <a:t>100% </a:t>
            </a:r>
            <a:r>
              <a:rPr lang="en-US" sz="3600" dirty="0">
                <a:latin typeface="+mj-lt"/>
              </a:rPr>
              <a:t>reimbursement based on AMAPHIL RUV</a:t>
            </a:r>
          </a:p>
          <a:p>
            <a:endParaRPr lang="en-US" sz="2000" dirty="0">
              <a:latin typeface="+mj-lt"/>
            </a:endParaRPr>
          </a:p>
          <a:p>
            <a:r>
              <a:rPr lang="en-US" sz="2000" b="1" dirty="0">
                <a:solidFill>
                  <a:srgbClr val="FF0000"/>
                </a:solidFill>
                <a:latin typeface="+mj-lt"/>
              </a:rPr>
              <a:t>NOTE: Subject to plan limits</a:t>
            </a:r>
          </a:p>
          <a:p>
            <a:endParaRPr lang="en-US" sz="3600" dirty="0">
              <a:latin typeface="+mj-lt"/>
            </a:endParaRPr>
          </a:p>
        </p:txBody>
      </p:sp>
      <p:pic>
        <p:nvPicPr>
          <p:cNvPr id="17" name="Picture 2" descr="Emergency Icons in SVG, PNG, AI to Download">
            <a:extLst>
              <a:ext uri="{FF2B5EF4-FFF2-40B4-BE49-F238E27FC236}">
                <a16:creationId xmlns:a16="http://schemas.microsoft.com/office/drawing/2014/main" id="{8E30B59A-D77C-4BE6-ACC7-33C1436393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32264" y="727091"/>
            <a:ext cx="8441495" cy="84414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0288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fade">
                                      <p:cBhvr>
                                        <p:cTn id="7" dur="500"/>
                                        <p:tgtEl>
                                          <p:spTgt spid="2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3">
                                            <p:txEl>
                                              <p:pRg st="1" end="1"/>
                                            </p:txEl>
                                          </p:spTgt>
                                        </p:tgtEl>
                                        <p:attrNameLst>
                                          <p:attrName>style.visibility</p:attrName>
                                        </p:attrNameLst>
                                      </p:cBhvr>
                                      <p:to>
                                        <p:strVal val="visible"/>
                                      </p:to>
                                    </p:set>
                                    <p:animEffect transition="in" filter="fade">
                                      <p:cBhvr>
                                        <p:cTn id="10" dur="500"/>
                                        <p:tgtEl>
                                          <p:spTgt spid="2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3">
                                            <p:txEl>
                                              <p:pRg st="2" end="2"/>
                                            </p:txEl>
                                          </p:spTgt>
                                        </p:tgtEl>
                                        <p:attrNameLst>
                                          <p:attrName>style.visibility</p:attrName>
                                        </p:attrNameLst>
                                      </p:cBhvr>
                                      <p:to>
                                        <p:strVal val="visible"/>
                                      </p:to>
                                    </p:set>
                                    <p:animEffect transition="in" filter="fade">
                                      <p:cBhvr>
                                        <p:cTn id="13" dur="500"/>
                                        <p:tgtEl>
                                          <p:spTgt spid="2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3">
                                            <p:txEl>
                                              <p:pRg st="5" end="5"/>
                                            </p:txEl>
                                          </p:spTgt>
                                        </p:tgtEl>
                                        <p:attrNameLst>
                                          <p:attrName>style.visibility</p:attrName>
                                        </p:attrNameLst>
                                      </p:cBhvr>
                                      <p:to>
                                        <p:strVal val="visible"/>
                                      </p:to>
                                    </p:set>
                                    <p:animEffect transition="in" filter="fade">
                                      <p:cBhvr>
                                        <p:cTn id="18" dur="500"/>
                                        <p:tgtEl>
                                          <p:spTgt spid="23">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3">
                                            <p:txEl>
                                              <p:pRg st="6" end="6"/>
                                            </p:txEl>
                                          </p:spTgt>
                                        </p:tgtEl>
                                        <p:attrNameLst>
                                          <p:attrName>style.visibility</p:attrName>
                                        </p:attrNameLst>
                                      </p:cBhvr>
                                      <p:to>
                                        <p:strVal val="visible"/>
                                      </p:to>
                                    </p:set>
                                    <p:animEffect transition="in" filter="fade">
                                      <p:cBhvr>
                                        <p:cTn id="21" dur="500"/>
                                        <p:tgtEl>
                                          <p:spTgt spid="23">
                                            <p:txEl>
                                              <p:pRg st="6" end="6"/>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23">
                                            <p:txEl>
                                              <p:pRg st="7" end="7"/>
                                            </p:txEl>
                                          </p:spTgt>
                                        </p:tgtEl>
                                        <p:attrNameLst>
                                          <p:attrName>style.visibility</p:attrName>
                                        </p:attrNameLst>
                                      </p:cBhvr>
                                      <p:to>
                                        <p:strVal val="visible"/>
                                      </p:to>
                                    </p:set>
                                    <p:animEffect transition="in" filter="fade">
                                      <p:cBhvr>
                                        <p:cTn id="24" dur="500"/>
                                        <p:tgtEl>
                                          <p:spTgt spid="23">
                                            <p:txEl>
                                              <p:pRg st="7" end="7"/>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3">
                                            <p:txEl>
                                              <p:pRg st="10" end="10"/>
                                            </p:txEl>
                                          </p:spTgt>
                                        </p:tgtEl>
                                        <p:attrNameLst>
                                          <p:attrName>style.visibility</p:attrName>
                                        </p:attrNameLst>
                                      </p:cBhvr>
                                      <p:to>
                                        <p:strVal val="visible"/>
                                      </p:to>
                                    </p:set>
                                    <p:animEffect transition="in" filter="fade">
                                      <p:cBhvr>
                                        <p:cTn id="29" dur="500"/>
                                        <p:tgtEl>
                                          <p:spTgt spid="23">
                                            <p:txEl>
                                              <p:pRg st="10" end="10"/>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23">
                                            <p:txEl>
                                              <p:pRg st="11" end="11"/>
                                            </p:txEl>
                                          </p:spTgt>
                                        </p:tgtEl>
                                        <p:attrNameLst>
                                          <p:attrName>style.visibility</p:attrName>
                                        </p:attrNameLst>
                                      </p:cBhvr>
                                      <p:to>
                                        <p:strVal val="visible"/>
                                      </p:to>
                                    </p:set>
                                    <p:animEffect transition="in" filter="fade">
                                      <p:cBhvr>
                                        <p:cTn id="32" dur="500"/>
                                        <p:tgtEl>
                                          <p:spTgt spid="23">
                                            <p:txEl>
                                              <p:pRg st="11" end="11"/>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23">
                                            <p:txEl>
                                              <p:pRg st="12" end="12"/>
                                            </p:txEl>
                                          </p:spTgt>
                                        </p:tgtEl>
                                        <p:attrNameLst>
                                          <p:attrName>style.visibility</p:attrName>
                                        </p:attrNameLst>
                                      </p:cBhvr>
                                      <p:to>
                                        <p:strVal val="visible"/>
                                      </p:to>
                                    </p:set>
                                    <p:animEffect transition="in" filter="fade">
                                      <p:cBhvr>
                                        <p:cTn id="35" dur="500"/>
                                        <p:tgtEl>
                                          <p:spTgt spid="23">
                                            <p:txEl>
                                              <p:pRg st="12" end="1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3">
                                            <p:txEl>
                                              <p:pRg st="14" end="14"/>
                                            </p:txEl>
                                          </p:spTgt>
                                        </p:tgtEl>
                                        <p:attrNameLst>
                                          <p:attrName>style.visibility</p:attrName>
                                        </p:attrNameLst>
                                      </p:cBhvr>
                                      <p:to>
                                        <p:strVal val="visible"/>
                                      </p:to>
                                    </p:set>
                                    <p:animEffect transition="in" filter="fade">
                                      <p:cBhvr>
                                        <p:cTn id="40" dur="500"/>
                                        <p:tgtEl>
                                          <p:spTgt spid="2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566687" y="9631318"/>
            <a:ext cx="4362442" cy="1326059"/>
            <a:chOff x="0" y="0"/>
            <a:chExt cx="2297912" cy="698500"/>
          </a:xfrm>
        </p:grpSpPr>
        <p:sp>
          <p:nvSpPr>
            <p:cNvPr id="4" name="Freeform 4"/>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5" name="TextBox 5"/>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3419993" y="6698755"/>
            <a:ext cx="5550223" cy="4856445"/>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8" name="TextBox 8"/>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5077867" y="-784225"/>
            <a:ext cx="6088480" cy="1326059"/>
            <a:chOff x="0" y="0"/>
            <a:chExt cx="3207100" cy="698500"/>
          </a:xfrm>
        </p:grpSpPr>
        <p:sp>
          <p:nvSpPr>
            <p:cNvPr id="10" name="Freeform 10"/>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11" name="TextBox 11"/>
            <p:cNvSpPr txBox="1"/>
            <p:nvPr/>
          </p:nvSpPr>
          <p:spPr>
            <a:xfrm>
              <a:off x="114300" y="-57150"/>
              <a:ext cx="2978500" cy="7556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6744950" y="-1063420"/>
            <a:ext cx="3086100" cy="2700338"/>
            <a:chOff x="0" y="0"/>
            <a:chExt cx="812800" cy="711200"/>
          </a:xfrm>
        </p:grpSpPr>
        <p:sp>
          <p:nvSpPr>
            <p:cNvPr id="13" name="Freeform 13"/>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4" name="TextBox 14"/>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sp>
        <p:nvSpPr>
          <p:cNvPr id="31" name="TextBox 31"/>
          <p:cNvSpPr txBox="1"/>
          <p:nvPr/>
        </p:nvSpPr>
        <p:spPr>
          <a:xfrm>
            <a:off x="2895600" y="77267"/>
            <a:ext cx="10704902" cy="884858"/>
          </a:xfrm>
          <a:prstGeom prst="rect">
            <a:avLst/>
          </a:prstGeom>
        </p:spPr>
        <p:txBody>
          <a:bodyPr lIns="0" tIns="0" rIns="0" bIns="0" rtlCol="0" anchor="t">
            <a:spAutoFit/>
          </a:bodyPr>
          <a:lstStyle/>
          <a:p>
            <a:pPr algn="r">
              <a:lnSpc>
                <a:spcPts val="6898"/>
              </a:lnSpc>
              <a:spcBef>
                <a:spcPct val="0"/>
              </a:spcBef>
            </a:pPr>
            <a:r>
              <a:rPr lang="en-US" sz="6000" b="1" dirty="0">
                <a:solidFill>
                  <a:srgbClr val="000000"/>
                </a:solidFill>
                <a:latin typeface="Poppins Bold"/>
                <a:ea typeface="Poppins Bold"/>
                <a:cs typeface="Poppins Bold"/>
                <a:sym typeface="Poppins Bold"/>
              </a:rPr>
              <a:t>ANNUAL PHYSICAL EXAM</a:t>
            </a:r>
          </a:p>
        </p:txBody>
      </p:sp>
      <p:sp>
        <p:nvSpPr>
          <p:cNvPr id="46" name="Freeform 10">
            <a:extLst>
              <a:ext uri="{FF2B5EF4-FFF2-40B4-BE49-F238E27FC236}">
                <a16:creationId xmlns:a16="http://schemas.microsoft.com/office/drawing/2014/main" id="{07E66B71-B7EA-41EC-9F2A-F76452F60932}"/>
              </a:ext>
            </a:extLst>
          </p:cNvPr>
          <p:cNvSpPr/>
          <p:nvPr/>
        </p:nvSpPr>
        <p:spPr>
          <a:xfrm>
            <a:off x="304800" y="1765179"/>
            <a:ext cx="12431089" cy="1326062"/>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F68712"/>
          </a:solidFill>
        </p:spPr>
        <p:txBody>
          <a:bodyPr anchor="ctr" anchorCtr="0"/>
          <a:lstStyle/>
          <a:p>
            <a:pPr algn="ctr"/>
            <a:r>
              <a:rPr lang="en-US" sz="7200" b="1" dirty="0"/>
              <a:t>Physical Examination</a:t>
            </a:r>
          </a:p>
        </p:txBody>
      </p:sp>
      <p:sp>
        <p:nvSpPr>
          <p:cNvPr id="49" name="Freeform 10">
            <a:extLst>
              <a:ext uri="{FF2B5EF4-FFF2-40B4-BE49-F238E27FC236}">
                <a16:creationId xmlns:a16="http://schemas.microsoft.com/office/drawing/2014/main" id="{173C7550-566C-4AB4-8651-28A0DA5E209C}"/>
              </a:ext>
            </a:extLst>
          </p:cNvPr>
          <p:cNvSpPr/>
          <p:nvPr/>
        </p:nvSpPr>
        <p:spPr>
          <a:xfrm>
            <a:off x="387328" y="3212979"/>
            <a:ext cx="12431089" cy="1326062"/>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F68712"/>
          </a:solidFill>
        </p:spPr>
        <p:txBody>
          <a:bodyPr anchor="ctr" anchorCtr="0"/>
          <a:lstStyle/>
          <a:p>
            <a:pPr algn="ctr"/>
            <a:r>
              <a:rPr lang="en-US" sz="7200" b="1" dirty="0"/>
              <a:t>Complete Blood Count</a:t>
            </a:r>
          </a:p>
        </p:txBody>
      </p:sp>
      <p:sp>
        <p:nvSpPr>
          <p:cNvPr id="50" name="Freeform 10">
            <a:extLst>
              <a:ext uri="{FF2B5EF4-FFF2-40B4-BE49-F238E27FC236}">
                <a16:creationId xmlns:a16="http://schemas.microsoft.com/office/drawing/2014/main" id="{C72B9FB4-EEAA-4F6F-A049-BAAAA1A593BA}"/>
              </a:ext>
            </a:extLst>
          </p:cNvPr>
          <p:cNvSpPr/>
          <p:nvPr/>
        </p:nvSpPr>
        <p:spPr>
          <a:xfrm>
            <a:off x="406378" y="4660779"/>
            <a:ext cx="12431089" cy="1326062"/>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F68712"/>
          </a:solidFill>
        </p:spPr>
        <p:txBody>
          <a:bodyPr anchor="ctr" anchorCtr="0"/>
          <a:lstStyle/>
          <a:p>
            <a:pPr algn="ctr"/>
            <a:r>
              <a:rPr lang="en-US" sz="7200" b="1" dirty="0"/>
              <a:t>Urinalysis</a:t>
            </a:r>
          </a:p>
        </p:txBody>
      </p:sp>
      <p:sp>
        <p:nvSpPr>
          <p:cNvPr id="51" name="Freeform 10">
            <a:extLst>
              <a:ext uri="{FF2B5EF4-FFF2-40B4-BE49-F238E27FC236}">
                <a16:creationId xmlns:a16="http://schemas.microsoft.com/office/drawing/2014/main" id="{728E1E9D-4F4A-4CE9-94CA-C0A76706D33D}"/>
              </a:ext>
            </a:extLst>
          </p:cNvPr>
          <p:cNvSpPr/>
          <p:nvPr/>
        </p:nvSpPr>
        <p:spPr>
          <a:xfrm>
            <a:off x="406378" y="6108579"/>
            <a:ext cx="12431089" cy="1326062"/>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F68712"/>
          </a:solidFill>
        </p:spPr>
        <p:txBody>
          <a:bodyPr anchor="ctr" anchorCtr="0"/>
          <a:lstStyle/>
          <a:p>
            <a:pPr algn="ctr"/>
            <a:r>
              <a:rPr lang="en-US" sz="7200" b="1" dirty="0" err="1"/>
              <a:t>Fecalysis</a:t>
            </a:r>
            <a:endParaRPr lang="en-US" sz="7200" b="1" dirty="0"/>
          </a:p>
        </p:txBody>
      </p:sp>
      <p:sp>
        <p:nvSpPr>
          <p:cNvPr id="52" name="Freeform 10">
            <a:extLst>
              <a:ext uri="{FF2B5EF4-FFF2-40B4-BE49-F238E27FC236}">
                <a16:creationId xmlns:a16="http://schemas.microsoft.com/office/drawing/2014/main" id="{FBA0B63C-0835-477D-A478-287B88859E83}"/>
              </a:ext>
            </a:extLst>
          </p:cNvPr>
          <p:cNvSpPr/>
          <p:nvPr/>
        </p:nvSpPr>
        <p:spPr>
          <a:xfrm>
            <a:off x="349228" y="7556379"/>
            <a:ext cx="12431089" cy="1326062"/>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F68712"/>
          </a:solidFill>
        </p:spPr>
        <p:txBody>
          <a:bodyPr anchor="ctr" anchorCtr="0"/>
          <a:lstStyle/>
          <a:p>
            <a:pPr algn="ctr"/>
            <a:r>
              <a:rPr lang="en-US" sz="7200" b="1" dirty="0"/>
              <a:t>Chest X-ray</a:t>
            </a:r>
          </a:p>
        </p:txBody>
      </p:sp>
      <p:pic>
        <p:nvPicPr>
          <p:cNvPr id="1026" name="Picture 2" descr="Examination - Free medical icons">
            <a:extLst>
              <a:ext uri="{FF2B5EF4-FFF2-40B4-BE49-F238E27FC236}">
                <a16:creationId xmlns:a16="http://schemas.microsoft.com/office/drawing/2014/main" id="{F7442293-6709-40F2-B28D-06175E30BB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15800" y="1705559"/>
            <a:ext cx="6661777" cy="666177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AC256174-88D6-4A8C-844B-71F4E7F7C1EC}"/>
              </a:ext>
            </a:extLst>
          </p:cNvPr>
          <p:cNvSpPr/>
          <p:nvPr/>
        </p:nvSpPr>
        <p:spPr>
          <a:xfrm>
            <a:off x="4116314" y="9095264"/>
            <a:ext cx="13409686" cy="1191736"/>
          </a:xfrm>
          <a:prstGeom prst="rect">
            <a:avLst/>
          </a:prstGeom>
        </p:spPr>
        <p:txBody>
          <a:bodyPr wrap="square">
            <a:spAutoFit/>
          </a:bodyPr>
          <a:lstStyle/>
          <a:p>
            <a:pPr>
              <a:lnSpc>
                <a:spcPct val="115000"/>
              </a:lnSpc>
              <a:spcAft>
                <a:spcPts val="1000"/>
              </a:spcAft>
            </a:pPr>
            <a:r>
              <a:rPr lang="en-US" sz="3200" dirty="0">
                <a:latin typeface="+mj-lt"/>
                <a:ea typeface="MS Mincho" panose="02020609040205080304" pitchFamily="49" charset="-128"/>
                <a:cs typeface="Times New Roman" panose="02020603050405020304" pitchFamily="18" charset="0"/>
              </a:rPr>
              <a:t>Can be availed at AMAPHIL accredited clinics with APE arrangements, or </a:t>
            </a:r>
            <a:r>
              <a:rPr lang="en-US" sz="3200" b="1" dirty="0">
                <a:latin typeface="+mj-lt"/>
                <a:ea typeface="MS Mincho" panose="02020609040205080304" pitchFamily="49" charset="-128"/>
                <a:cs typeface="Times New Roman" panose="02020603050405020304" pitchFamily="18" charset="0"/>
              </a:rPr>
              <a:t>APE assistance of up to ₱350</a:t>
            </a:r>
            <a:r>
              <a:rPr lang="en-US" sz="3200" dirty="0">
                <a:latin typeface="+mj-lt"/>
                <a:ea typeface="MS Mincho" panose="02020609040205080304" pitchFamily="49" charset="-128"/>
                <a:cs typeface="Times New Roman" panose="02020603050405020304" pitchFamily="18" charset="0"/>
              </a:rPr>
              <a:t>.</a:t>
            </a:r>
          </a:p>
        </p:txBody>
      </p:sp>
      <p:sp>
        <p:nvSpPr>
          <p:cNvPr id="22" name="Rectangle 21">
            <a:extLst>
              <a:ext uri="{FF2B5EF4-FFF2-40B4-BE49-F238E27FC236}">
                <a16:creationId xmlns:a16="http://schemas.microsoft.com/office/drawing/2014/main" id="{F24523FF-BEF5-48C2-9F53-8A8E8F981465}"/>
              </a:ext>
            </a:extLst>
          </p:cNvPr>
          <p:cNvSpPr/>
          <p:nvPr/>
        </p:nvSpPr>
        <p:spPr>
          <a:xfrm>
            <a:off x="6602872" y="858207"/>
            <a:ext cx="4641164" cy="584775"/>
          </a:xfrm>
          <a:prstGeom prst="rect">
            <a:avLst/>
          </a:prstGeom>
        </p:spPr>
        <p:txBody>
          <a:bodyPr wrap="square">
            <a:spAutoFit/>
          </a:bodyPr>
          <a:lstStyle/>
          <a:p>
            <a:r>
              <a:rPr lang="en-US" sz="3200" b="1" dirty="0">
                <a:solidFill>
                  <a:schemeClr val="accent6">
                    <a:lumMod val="75000"/>
                  </a:schemeClr>
                </a:solidFill>
              </a:rPr>
              <a:t>COVERED for all Variants </a:t>
            </a:r>
          </a:p>
        </p:txBody>
      </p:sp>
    </p:spTree>
    <p:extLst>
      <p:ext uri="{BB962C8B-B14F-4D97-AF65-F5344CB8AC3E}">
        <p14:creationId xmlns:p14="http://schemas.microsoft.com/office/powerpoint/2010/main" val="1570075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500"/>
                                        <p:tgtEl>
                                          <p:spTgt spid="4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9"/>
                                        </p:tgtEl>
                                        <p:attrNameLst>
                                          <p:attrName>style.visibility</p:attrName>
                                        </p:attrNameLst>
                                      </p:cBhvr>
                                      <p:to>
                                        <p:strVal val="visible"/>
                                      </p:to>
                                    </p:set>
                                    <p:animEffect transition="in" filter="fade">
                                      <p:cBhvr>
                                        <p:cTn id="20" dur="500"/>
                                        <p:tgtEl>
                                          <p:spTgt spid="4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50"/>
                                        </p:tgtEl>
                                        <p:attrNameLst>
                                          <p:attrName>style.visibility</p:attrName>
                                        </p:attrNameLst>
                                      </p:cBhvr>
                                      <p:to>
                                        <p:strVal val="visible"/>
                                      </p:to>
                                    </p:set>
                                    <p:animEffect transition="in" filter="fade">
                                      <p:cBhvr>
                                        <p:cTn id="25" dur="500"/>
                                        <p:tgtEl>
                                          <p:spTgt spid="5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51"/>
                                        </p:tgtEl>
                                        <p:attrNameLst>
                                          <p:attrName>style.visibility</p:attrName>
                                        </p:attrNameLst>
                                      </p:cBhvr>
                                      <p:to>
                                        <p:strVal val="visible"/>
                                      </p:to>
                                    </p:set>
                                    <p:animEffect transition="in" filter="fade">
                                      <p:cBhvr>
                                        <p:cTn id="30" dur="500"/>
                                        <p:tgtEl>
                                          <p:spTgt spid="5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52"/>
                                        </p:tgtEl>
                                        <p:attrNameLst>
                                          <p:attrName>style.visibility</p:attrName>
                                        </p:attrNameLst>
                                      </p:cBhvr>
                                      <p:to>
                                        <p:strVal val="visible"/>
                                      </p:to>
                                    </p:set>
                                    <p:animEffect transition="in" filter="fade">
                                      <p:cBhvr>
                                        <p:cTn id="35" dur="500"/>
                                        <p:tgtEl>
                                          <p:spTgt spid="5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
                                        </p:tgtEl>
                                        <p:attrNameLst>
                                          <p:attrName>style.visibility</p:attrName>
                                        </p:attrNameLst>
                                      </p:cBhvr>
                                      <p:to>
                                        <p:strVal val="visible"/>
                                      </p:to>
                                    </p:set>
                                    <p:animEffect transition="in" filter="fade">
                                      <p:cBhvr>
                                        <p:cTn id="4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46" grpId="0" animBg="1"/>
      <p:bldP spid="49" grpId="0" animBg="1"/>
      <p:bldP spid="50" grpId="0" animBg="1"/>
      <p:bldP spid="51" grpId="0" animBg="1"/>
      <p:bldP spid="52" grpId="0" animBg="1"/>
      <p:bldP spid="2" grpId="0"/>
      <p:bldP spid="2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 name="Picture 10" descr="Dental care - Free medical icons">
            <a:extLst>
              <a:ext uri="{FF2B5EF4-FFF2-40B4-BE49-F238E27FC236}">
                <a16:creationId xmlns:a16="http://schemas.microsoft.com/office/drawing/2014/main" id="{89F1F21C-ACBB-4EB0-9F4E-6F5C7B9D21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82600" y="2781300"/>
            <a:ext cx="5159946" cy="515994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3"/>
          <p:cNvGrpSpPr/>
          <p:nvPr/>
        </p:nvGrpSpPr>
        <p:grpSpPr>
          <a:xfrm>
            <a:off x="-566687" y="9631318"/>
            <a:ext cx="4362442" cy="1326059"/>
            <a:chOff x="0" y="0"/>
            <a:chExt cx="2297912" cy="698500"/>
          </a:xfrm>
        </p:grpSpPr>
        <p:sp>
          <p:nvSpPr>
            <p:cNvPr id="4" name="Freeform 4"/>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5" name="TextBox 5"/>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3419993" y="6698755"/>
            <a:ext cx="5550223" cy="4856445"/>
            <a:chOff x="0" y="0"/>
            <a:chExt cx="812800" cy="711200"/>
          </a:xfrm>
        </p:grpSpPr>
        <p:sp>
          <p:nvSpPr>
            <p:cNvPr id="14" name="Freeform 14"/>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5" name="TextBox 15"/>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5077867" y="-784225"/>
            <a:ext cx="6088480" cy="1326059"/>
            <a:chOff x="0" y="0"/>
            <a:chExt cx="3207100" cy="698500"/>
          </a:xfrm>
        </p:grpSpPr>
        <p:sp>
          <p:nvSpPr>
            <p:cNvPr id="17" name="Freeform 17"/>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18" name="TextBox 18"/>
            <p:cNvSpPr txBox="1"/>
            <p:nvPr/>
          </p:nvSpPr>
          <p:spPr>
            <a:xfrm>
              <a:off x="114300" y="-57150"/>
              <a:ext cx="2978500" cy="75565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6744950" y="-1063420"/>
            <a:ext cx="3086100" cy="2700338"/>
            <a:chOff x="0" y="0"/>
            <a:chExt cx="812800" cy="711200"/>
          </a:xfrm>
        </p:grpSpPr>
        <p:sp>
          <p:nvSpPr>
            <p:cNvPr id="20" name="Freeform 20"/>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21" name="TextBox 21"/>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sp>
        <p:nvSpPr>
          <p:cNvPr id="53" name="TextBox 52">
            <a:extLst>
              <a:ext uri="{FF2B5EF4-FFF2-40B4-BE49-F238E27FC236}">
                <a16:creationId xmlns:a16="http://schemas.microsoft.com/office/drawing/2014/main" id="{FB1AA43F-D7F5-4BF1-8B09-18CC78E0BDE1}"/>
              </a:ext>
            </a:extLst>
          </p:cNvPr>
          <p:cNvSpPr txBox="1"/>
          <p:nvPr/>
        </p:nvSpPr>
        <p:spPr>
          <a:xfrm>
            <a:off x="383221" y="-115297"/>
            <a:ext cx="13359347" cy="7909858"/>
          </a:xfrm>
          <a:prstGeom prst="rect">
            <a:avLst/>
          </a:prstGeom>
          <a:noFill/>
        </p:spPr>
        <p:txBody>
          <a:bodyPr wrap="square" rtlCol="0">
            <a:spAutoFit/>
          </a:bodyPr>
          <a:lstStyle/>
          <a:p>
            <a:r>
              <a:rPr lang="en-US" sz="6000" b="1" dirty="0"/>
              <a:t>DENTAL CARE BENEFITS</a:t>
            </a:r>
          </a:p>
          <a:p>
            <a:endParaRPr lang="en-US" sz="3200" b="1" dirty="0"/>
          </a:p>
          <a:p>
            <a:r>
              <a:rPr lang="en-US" sz="3200" dirty="0"/>
              <a:t>a.	Free &amp; unlimited consultation &amp; dental examinations</a:t>
            </a:r>
          </a:p>
          <a:p>
            <a:pPr marL="457200" indent="-457200">
              <a:buAutoNum type="alphaLcPeriod" startAt="2"/>
            </a:pPr>
            <a:r>
              <a:rPr lang="en-US" sz="3200" dirty="0"/>
              <a:t>     Simple tooth extraction, except surgery for impaction </a:t>
            </a:r>
          </a:p>
          <a:p>
            <a:r>
              <a:rPr lang="en-US" sz="3200" dirty="0"/>
              <a:t>          (unlimited/maximum of 3 teeth per day)</a:t>
            </a:r>
          </a:p>
          <a:p>
            <a:r>
              <a:rPr lang="en-US" sz="3200" dirty="0"/>
              <a:t>c.	Temporary fillings (up to 3 times a year)</a:t>
            </a:r>
          </a:p>
          <a:p>
            <a:pPr marL="457200" indent="-457200">
              <a:buAutoNum type="alphaLcPeriod" startAt="4"/>
            </a:pPr>
            <a:r>
              <a:rPr lang="en-US" sz="3200" dirty="0"/>
              <a:t>     Twice a year oral prophylaxis (mild to moderate) which can be availed of </a:t>
            </a:r>
          </a:p>
          <a:p>
            <a:r>
              <a:rPr lang="en-US" sz="3200" dirty="0"/>
              <a:t>          after active membership (premium paid)/ succeeding may be availed of</a:t>
            </a:r>
          </a:p>
          <a:p>
            <a:r>
              <a:rPr lang="en-US" sz="3200" dirty="0"/>
              <a:t>          six (6) months thereafter</a:t>
            </a:r>
          </a:p>
          <a:p>
            <a:r>
              <a:rPr lang="en-US" sz="3200" dirty="0"/>
              <a:t>e.	Adjustment of dentures</a:t>
            </a:r>
          </a:p>
          <a:p>
            <a:r>
              <a:rPr lang="en-US" sz="3200" dirty="0"/>
              <a:t>f.	</a:t>
            </a:r>
            <a:r>
              <a:rPr lang="en-US" sz="3200" dirty="0" err="1"/>
              <a:t>Recementation</a:t>
            </a:r>
            <a:r>
              <a:rPr lang="en-US" sz="3200" dirty="0"/>
              <a:t> of jacket crown inlays and </a:t>
            </a:r>
            <a:r>
              <a:rPr lang="en-US" sz="3200" dirty="0" err="1"/>
              <a:t>onlays</a:t>
            </a:r>
            <a:endParaRPr lang="en-US" sz="3200" dirty="0"/>
          </a:p>
          <a:p>
            <a:r>
              <a:rPr lang="en-US" sz="3200" dirty="0"/>
              <a:t>g.	Treatment of dental related pain excluding cost of prescribed medicines</a:t>
            </a:r>
          </a:p>
          <a:p>
            <a:r>
              <a:rPr lang="en-US" sz="3200" dirty="0"/>
              <a:t>h.	Emergency desensitization of hypersensitive teeth</a:t>
            </a:r>
          </a:p>
          <a:p>
            <a:r>
              <a:rPr lang="en-US" sz="3200" dirty="0" err="1"/>
              <a:t>i</a:t>
            </a:r>
            <a:r>
              <a:rPr lang="en-US" sz="3200" dirty="0"/>
              <a:t>.	Annual dental examination (within the dentist’s dental clinic only)</a:t>
            </a:r>
          </a:p>
          <a:p>
            <a:r>
              <a:rPr lang="en-US" sz="3200" dirty="0"/>
              <a:t>j.	Orthodontic and aesthetic dental consultation</a:t>
            </a:r>
          </a:p>
        </p:txBody>
      </p:sp>
      <p:sp>
        <p:nvSpPr>
          <p:cNvPr id="22" name="Rectangle 21">
            <a:extLst>
              <a:ext uri="{FF2B5EF4-FFF2-40B4-BE49-F238E27FC236}">
                <a16:creationId xmlns:a16="http://schemas.microsoft.com/office/drawing/2014/main" id="{8AF5F82C-82BF-4D6B-B27A-1BEE0133F04A}"/>
              </a:ext>
            </a:extLst>
          </p:cNvPr>
          <p:cNvSpPr/>
          <p:nvPr/>
        </p:nvSpPr>
        <p:spPr>
          <a:xfrm>
            <a:off x="1981200" y="723900"/>
            <a:ext cx="4641164" cy="584775"/>
          </a:xfrm>
          <a:prstGeom prst="rect">
            <a:avLst/>
          </a:prstGeom>
        </p:spPr>
        <p:txBody>
          <a:bodyPr wrap="square">
            <a:spAutoFit/>
          </a:bodyPr>
          <a:lstStyle/>
          <a:p>
            <a:r>
              <a:rPr lang="en-US" sz="3200" b="1" dirty="0">
                <a:solidFill>
                  <a:schemeClr val="accent6">
                    <a:lumMod val="75000"/>
                  </a:schemeClr>
                </a:solidFill>
              </a:rPr>
              <a:t>COVERED for all Variants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3">
                                            <p:txEl>
                                              <p:pRg st="0" end="0"/>
                                            </p:txEl>
                                          </p:spTgt>
                                        </p:tgtEl>
                                        <p:attrNameLst>
                                          <p:attrName>style.visibility</p:attrName>
                                        </p:attrNameLst>
                                      </p:cBhvr>
                                      <p:to>
                                        <p:strVal val="visible"/>
                                      </p:to>
                                    </p:set>
                                    <p:animEffect transition="in" filter="fade">
                                      <p:cBhvr>
                                        <p:cTn id="7" dur="500"/>
                                        <p:tgtEl>
                                          <p:spTgt spid="5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3">
                                            <p:txEl>
                                              <p:pRg st="2" end="2"/>
                                            </p:txEl>
                                          </p:spTgt>
                                        </p:tgtEl>
                                        <p:attrNameLst>
                                          <p:attrName>style.visibility</p:attrName>
                                        </p:attrNameLst>
                                      </p:cBhvr>
                                      <p:to>
                                        <p:strVal val="visible"/>
                                      </p:to>
                                    </p:set>
                                    <p:animEffect transition="in" filter="fade">
                                      <p:cBhvr>
                                        <p:cTn id="15" dur="500"/>
                                        <p:tgtEl>
                                          <p:spTgt spid="5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3">
                                            <p:txEl>
                                              <p:pRg st="3" end="3"/>
                                            </p:txEl>
                                          </p:spTgt>
                                        </p:tgtEl>
                                        <p:attrNameLst>
                                          <p:attrName>style.visibility</p:attrName>
                                        </p:attrNameLst>
                                      </p:cBhvr>
                                      <p:to>
                                        <p:strVal val="visible"/>
                                      </p:to>
                                    </p:set>
                                    <p:animEffect transition="in" filter="fade">
                                      <p:cBhvr>
                                        <p:cTn id="20" dur="500"/>
                                        <p:tgtEl>
                                          <p:spTgt spid="53">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53">
                                            <p:txEl>
                                              <p:pRg st="4" end="4"/>
                                            </p:txEl>
                                          </p:spTgt>
                                        </p:tgtEl>
                                        <p:attrNameLst>
                                          <p:attrName>style.visibility</p:attrName>
                                        </p:attrNameLst>
                                      </p:cBhvr>
                                      <p:to>
                                        <p:strVal val="visible"/>
                                      </p:to>
                                    </p:set>
                                    <p:animEffect transition="in" filter="fade">
                                      <p:cBhvr>
                                        <p:cTn id="23" dur="500"/>
                                        <p:tgtEl>
                                          <p:spTgt spid="5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53">
                                            <p:txEl>
                                              <p:pRg st="5" end="5"/>
                                            </p:txEl>
                                          </p:spTgt>
                                        </p:tgtEl>
                                        <p:attrNameLst>
                                          <p:attrName>style.visibility</p:attrName>
                                        </p:attrNameLst>
                                      </p:cBhvr>
                                      <p:to>
                                        <p:strVal val="visible"/>
                                      </p:to>
                                    </p:set>
                                    <p:animEffect transition="in" filter="fade">
                                      <p:cBhvr>
                                        <p:cTn id="28" dur="500"/>
                                        <p:tgtEl>
                                          <p:spTgt spid="5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53">
                                            <p:txEl>
                                              <p:pRg st="6" end="6"/>
                                            </p:txEl>
                                          </p:spTgt>
                                        </p:tgtEl>
                                        <p:attrNameLst>
                                          <p:attrName>style.visibility</p:attrName>
                                        </p:attrNameLst>
                                      </p:cBhvr>
                                      <p:to>
                                        <p:strVal val="visible"/>
                                      </p:to>
                                    </p:set>
                                    <p:animEffect transition="in" filter="fade">
                                      <p:cBhvr>
                                        <p:cTn id="33" dur="500"/>
                                        <p:tgtEl>
                                          <p:spTgt spid="53">
                                            <p:txEl>
                                              <p:pRg st="6" end="6"/>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53">
                                            <p:txEl>
                                              <p:pRg st="7" end="7"/>
                                            </p:txEl>
                                          </p:spTgt>
                                        </p:tgtEl>
                                        <p:attrNameLst>
                                          <p:attrName>style.visibility</p:attrName>
                                        </p:attrNameLst>
                                      </p:cBhvr>
                                      <p:to>
                                        <p:strVal val="visible"/>
                                      </p:to>
                                    </p:set>
                                    <p:animEffect transition="in" filter="fade">
                                      <p:cBhvr>
                                        <p:cTn id="36" dur="500"/>
                                        <p:tgtEl>
                                          <p:spTgt spid="53">
                                            <p:txEl>
                                              <p:pRg st="7" end="7"/>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53">
                                            <p:txEl>
                                              <p:pRg st="8" end="8"/>
                                            </p:txEl>
                                          </p:spTgt>
                                        </p:tgtEl>
                                        <p:attrNameLst>
                                          <p:attrName>style.visibility</p:attrName>
                                        </p:attrNameLst>
                                      </p:cBhvr>
                                      <p:to>
                                        <p:strVal val="visible"/>
                                      </p:to>
                                    </p:set>
                                    <p:animEffect transition="in" filter="fade">
                                      <p:cBhvr>
                                        <p:cTn id="39" dur="500"/>
                                        <p:tgtEl>
                                          <p:spTgt spid="53">
                                            <p:txEl>
                                              <p:pRg st="8" end="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53">
                                            <p:txEl>
                                              <p:pRg st="9" end="9"/>
                                            </p:txEl>
                                          </p:spTgt>
                                        </p:tgtEl>
                                        <p:attrNameLst>
                                          <p:attrName>style.visibility</p:attrName>
                                        </p:attrNameLst>
                                      </p:cBhvr>
                                      <p:to>
                                        <p:strVal val="visible"/>
                                      </p:to>
                                    </p:set>
                                    <p:animEffect transition="in" filter="fade">
                                      <p:cBhvr>
                                        <p:cTn id="44" dur="500"/>
                                        <p:tgtEl>
                                          <p:spTgt spid="53">
                                            <p:txEl>
                                              <p:pRg st="9" end="9"/>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53">
                                            <p:txEl>
                                              <p:pRg st="10" end="10"/>
                                            </p:txEl>
                                          </p:spTgt>
                                        </p:tgtEl>
                                        <p:attrNameLst>
                                          <p:attrName>style.visibility</p:attrName>
                                        </p:attrNameLst>
                                      </p:cBhvr>
                                      <p:to>
                                        <p:strVal val="visible"/>
                                      </p:to>
                                    </p:set>
                                    <p:animEffect transition="in" filter="fade">
                                      <p:cBhvr>
                                        <p:cTn id="49" dur="500"/>
                                        <p:tgtEl>
                                          <p:spTgt spid="53">
                                            <p:txEl>
                                              <p:pRg st="10" end="1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53">
                                            <p:txEl>
                                              <p:pRg st="11" end="11"/>
                                            </p:txEl>
                                          </p:spTgt>
                                        </p:tgtEl>
                                        <p:attrNameLst>
                                          <p:attrName>style.visibility</p:attrName>
                                        </p:attrNameLst>
                                      </p:cBhvr>
                                      <p:to>
                                        <p:strVal val="visible"/>
                                      </p:to>
                                    </p:set>
                                    <p:animEffect transition="in" filter="fade">
                                      <p:cBhvr>
                                        <p:cTn id="54" dur="500"/>
                                        <p:tgtEl>
                                          <p:spTgt spid="53">
                                            <p:txEl>
                                              <p:pRg st="11" end="11"/>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53">
                                            <p:txEl>
                                              <p:pRg st="12" end="12"/>
                                            </p:txEl>
                                          </p:spTgt>
                                        </p:tgtEl>
                                        <p:attrNameLst>
                                          <p:attrName>style.visibility</p:attrName>
                                        </p:attrNameLst>
                                      </p:cBhvr>
                                      <p:to>
                                        <p:strVal val="visible"/>
                                      </p:to>
                                    </p:set>
                                    <p:animEffect transition="in" filter="fade">
                                      <p:cBhvr>
                                        <p:cTn id="59" dur="500"/>
                                        <p:tgtEl>
                                          <p:spTgt spid="53">
                                            <p:txEl>
                                              <p:pRg st="12" end="12"/>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53">
                                            <p:txEl>
                                              <p:pRg st="13" end="13"/>
                                            </p:txEl>
                                          </p:spTgt>
                                        </p:tgtEl>
                                        <p:attrNameLst>
                                          <p:attrName>style.visibility</p:attrName>
                                        </p:attrNameLst>
                                      </p:cBhvr>
                                      <p:to>
                                        <p:strVal val="visible"/>
                                      </p:to>
                                    </p:set>
                                    <p:animEffect transition="in" filter="fade">
                                      <p:cBhvr>
                                        <p:cTn id="64" dur="500"/>
                                        <p:tgtEl>
                                          <p:spTgt spid="53">
                                            <p:txEl>
                                              <p:pRg st="13" end="13"/>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53">
                                            <p:txEl>
                                              <p:pRg st="14" end="14"/>
                                            </p:txEl>
                                          </p:spTgt>
                                        </p:tgtEl>
                                        <p:attrNameLst>
                                          <p:attrName>style.visibility</p:attrName>
                                        </p:attrNameLst>
                                      </p:cBhvr>
                                      <p:to>
                                        <p:strVal val="visible"/>
                                      </p:to>
                                    </p:set>
                                    <p:animEffect transition="in" filter="fade">
                                      <p:cBhvr>
                                        <p:cTn id="69" dur="500"/>
                                        <p:tgtEl>
                                          <p:spTgt spid="5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 name="Picture 10" descr="Dental care - Free medical icons">
            <a:extLst>
              <a:ext uri="{FF2B5EF4-FFF2-40B4-BE49-F238E27FC236}">
                <a16:creationId xmlns:a16="http://schemas.microsoft.com/office/drawing/2014/main" id="{89F1F21C-ACBB-4EB0-9F4E-6F5C7B9D21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82600" y="2781300"/>
            <a:ext cx="5159946" cy="515994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3"/>
          <p:cNvGrpSpPr/>
          <p:nvPr/>
        </p:nvGrpSpPr>
        <p:grpSpPr>
          <a:xfrm>
            <a:off x="-566687" y="9631318"/>
            <a:ext cx="4362442" cy="1326059"/>
            <a:chOff x="0" y="0"/>
            <a:chExt cx="2297912" cy="698500"/>
          </a:xfrm>
        </p:grpSpPr>
        <p:sp>
          <p:nvSpPr>
            <p:cNvPr id="4" name="Freeform 4"/>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5" name="TextBox 5"/>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3419993" y="6698755"/>
            <a:ext cx="5550223" cy="4856445"/>
            <a:chOff x="0" y="0"/>
            <a:chExt cx="812800" cy="711200"/>
          </a:xfrm>
        </p:grpSpPr>
        <p:sp>
          <p:nvSpPr>
            <p:cNvPr id="14" name="Freeform 14"/>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5" name="TextBox 15"/>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5077867" y="-784225"/>
            <a:ext cx="6088480" cy="1326059"/>
            <a:chOff x="0" y="0"/>
            <a:chExt cx="3207100" cy="698500"/>
          </a:xfrm>
        </p:grpSpPr>
        <p:sp>
          <p:nvSpPr>
            <p:cNvPr id="17" name="Freeform 17"/>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18" name="TextBox 18"/>
            <p:cNvSpPr txBox="1"/>
            <p:nvPr/>
          </p:nvSpPr>
          <p:spPr>
            <a:xfrm>
              <a:off x="114300" y="-57150"/>
              <a:ext cx="2978500" cy="75565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6744950" y="-1063420"/>
            <a:ext cx="3086100" cy="2700338"/>
            <a:chOff x="0" y="0"/>
            <a:chExt cx="812800" cy="711200"/>
          </a:xfrm>
        </p:grpSpPr>
        <p:sp>
          <p:nvSpPr>
            <p:cNvPr id="20" name="Freeform 20"/>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21" name="TextBox 21"/>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sp>
        <p:nvSpPr>
          <p:cNvPr id="53" name="TextBox 52">
            <a:extLst>
              <a:ext uri="{FF2B5EF4-FFF2-40B4-BE49-F238E27FC236}">
                <a16:creationId xmlns:a16="http://schemas.microsoft.com/office/drawing/2014/main" id="{FB1AA43F-D7F5-4BF1-8B09-18CC78E0BDE1}"/>
              </a:ext>
            </a:extLst>
          </p:cNvPr>
          <p:cNvSpPr txBox="1"/>
          <p:nvPr/>
        </p:nvSpPr>
        <p:spPr>
          <a:xfrm>
            <a:off x="383221" y="-115297"/>
            <a:ext cx="13359347" cy="1015663"/>
          </a:xfrm>
          <a:prstGeom prst="rect">
            <a:avLst/>
          </a:prstGeom>
          <a:noFill/>
        </p:spPr>
        <p:txBody>
          <a:bodyPr wrap="square" rtlCol="0">
            <a:spAutoFit/>
          </a:bodyPr>
          <a:lstStyle/>
          <a:p>
            <a:r>
              <a:rPr lang="en-US" sz="6000" b="1" dirty="0"/>
              <a:t>DENTAL CARE BENEFITS</a:t>
            </a:r>
          </a:p>
        </p:txBody>
      </p:sp>
      <p:sp>
        <p:nvSpPr>
          <p:cNvPr id="22" name="TextBox 21">
            <a:extLst>
              <a:ext uri="{FF2B5EF4-FFF2-40B4-BE49-F238E27FC236}">
                <a16:creationId xmlns:a16="http://schemas.microsoft.com/office/drawing/2014/main" id="{959221D9-A995-4607-B042-3EF51F982DE3}"/>
              </a:ext>
            </a:extLst>
          </p:cNvPr>
          <p:cNvSpPr txBox="1"/>
          <p:nvPr/>
        </p:nvSpPr>
        <p:spPr>
          <a:xfrm>
            <a:off x="1524000" y="692158"/>
            <a:ext cx="13359347" cy="1354217"/>
          </a:xfrm>
          <a:prstGeom prst="rect">
            <a:avLst/>
          </a:prstGeom>
          <a:noFill/>
        </p:spPr>
        <p:txBody>
          <a:bodyPr wrap="square" rtlCol="0">
            <a:spAutoFit/>
          </a:bodyPr>
          <a:lstStyle/>
          <a:p>
            <a:pPr algn="ctr"/>
            <a:r>
              <a:rPr lang="en-US" sz="5400" b="1" dirty="0" err="1"/>
              <a:t>Availment</a:t>
            </a:r>
            <a:r>
              <a:rPr lang="en-US" sz="5400" b="1" dirty="0"/>
              <a:t> Procedures</a:t>
            </a:r>
          </a:p>
          <a:p>
            <a:pPr algn="ctr"/>
            <a:r>
              <a:rPr lang="en-US" sz="2800" b="1" dirty="0"/>
              <a:t>Provider ( 1 World Wide Health Inc.)</a:t>
            </a:r>
          </a:p>
        </p:txBody>
      </p:sp>
      <p:sp>
        <p:nvSpPr>
          <p:cNvPr id="6" name="Rectangle 5">
            <a:extLst>
              <a:ext uri="{FF2B5EF4-FFF2-40B4-BE49-F238E27FC236}">
                <a16:creationId xmlns:a16="http://schemas.microsoft.com/office/drawing/2014/main" id="{CD277A8A-B4E9-458A-9118-61551EABDE59}"/>
              </a:ext>
            </a:extLst>
          </p:cNvPr>
          <p:cNvSpPr/>
          <p:nvPr/>
        </p:nvSpPr>
        <p:spPr>
          <a:xfrm>
            <a:off x="383220" y="2131765"/>
            <a:ext cx="12418379" cy="5724644"/>
          </a:xfrm>
          <a:prstGeom prst="rect">
            <a:avLst/>
          </a:prstGeom>
        </p:spPr>
        <p:txBody>
          <a:bodyPr wrap="square">
            <a:spAutoFit/>
          </a:bodyPr>
          <a:lstStyle/>
          <a:p>
            <a:r>
              <a:rPr lang="en-US" sz="5400" b="1" dirty="0"/>
              <a:t>General Provisions</a:t>
            </a:r>
          </a:p>
          <a:p>
            <a:endParaRPr lang="en-US" sz="2400" b="1" dirty="0"/>
          </a:p>
          <a:p>
            <a:pPr marL="285750" indent="-285750">
              <a:buFont typeface="Wingdings" panose="05000000000000000000" pitchFamily="2" charset="2"/>
              <a:buChar char="v"/>
            </a:pPr>
            <a:r>
              <a:rPr lang="en-US" sz="3600" dirty="0"/>
              <a:t>Members may avail themselves of their dental benefits through</a:t>
            </a:r>
          </a:p>
          <a:p>
            <a:r>
              <a:rPr lang="en-US" sz="3600" dirty="0"/>
              <a:t>    any accredited dentist within the 1WWH network.</a:t>
            </a:r>
          </a:p>
          <a:p>
            <a:endParaRPr lang="en-US" sz="3600" dirty="0"/>
          </a:p>
          <a:p>
            <a:pPr marL="285750" indent="-285750">
              <a:buFont typeface="Wingdings" panose="05000000000000000000" pitchFamily="2" charset="2"/>
              <a:buChar char="v"/>
            </a:pPr>
            <a:r>
              <a:rPr lang="en-US" sz="3600" dirty="0"/>
              <a:t>Dental services not covered by your plan will be charged </a:t>
            </a:r>
          </a:p>
          <a:p>
            <a:r>
              <a:rPr lang="en-US" sz="3600" dirty="0"/>
              <a:t>    directly to you and must be settled with the accredited dentist.</a:t>
            </a:r>
          </a:p>
          <a:p>
            <a:endParaRPr lang="en-US" sz="3600" dirty="0"/>
          </a:p>
          <a:p>
            <a:pPr marL="285750" indent="-285750">
              <a:buFont typeface="Wingdings" panose="05000000000000000000" pitchFamily="2" charset="2"/>
              <a:buChar char="v"/>
            </a:pPr>
            <a:r>
              <a:rPr lang="en-US" sz="3600" dirty="0"/>
              <a:t>Procedures done by non-accredited dentists are not covered</a:t>
            </a:r>
          </a:p>
          <a:p>
            <a:r>
              <a:rPr lang="en-US" sz="3600" dirty="0"/>
              <a:t>    and non-reimbursable.</a:t>
            </a:r>
            <a:endParaRPr lang="en-PH" dirty="0"/>
          </a:p>
        </p:txBody>
      </p:sp>
      <p:pic>
        <p:nvPicPr>
          <p:cNvPr id="7" name="Picture 6">
            <a:extLst>
              <a:ext uri="{FF2B5EF4-FFF2-40B4-BE49-F238E27FC236}">
                <a16:creationId xmlns:a16="http://schemas.microsoft.com/office/drawing/2014/main" id="{5BFB3A6B-D4EC-421B-8CB9-BDEA1576CA1F}"/>
              </a:ext>
            </a:extLst>
          </p:cNvPr>
          <p:cNvPicPr>
            <a:picLocks noChangeAspect="1"/>
          </p:cNvPicPr>
          <p:nvPr/>
        </p:nvPicPr>
        <p:blipFill>
          <a:blip r:embed="rId3"/>
          <a:stretch>
            <a:fillRect/>
          </a:stretch>
        </p:blipFill>
        <p:spPr>
          <a:xfrm>
            <a:off x="11598380" y="591077"/>
            <a:ext cx="1762371" cy="1733792"/>
          </a:xfrm>
          <a:prstGeom prst="rect">
            <a:avLst/>
          </a:prstGeom>
        </p:spPr>
      </p:pic>
    </p:spTree>
    <p:extLst>
      <p:ext uri="{BB962C8B-B14F-4D97-AF65-F5344CB8AC3E}">
        <p14:creationId xmlns:p14="http://schemas.microsoft.com/office/powerpoint/2010/main" val="3230227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3">
                                            <p:txEl>
                                              <p:pRg st="0" end="0"/>
                                            </p:txEl>
                                          </p:spTgt>
                                        </p:tgtEl>
                                        <p:attrNameLst>
                                          <p:attrName>style.visibility</p:attrName>
                                        </p:attrNameLst>
                                      </p:cBhvr>
                                      <p:to>
                                        <p:strVal val="visible"/>
                                      </p:to>
                                    </p:set>
                                    <p:animEffect transition="in" filter="fade">
                                      <p:cBhvr>
                                        <p:cTn id="7" dur="500"/>
                                        <p:tgtEl>
                                          <p:spTgt spid="5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xEl>
                                              <p:pRg st="0" end="0"/>
                                            </p:txEl>
                                          </p:spTgt>
                                        </p:tgtEl>
                                        <p:attrNameLst>
                                          <p:attrName>style.visibility</p:attrName>
                                        </p:attrNameLst>
                                      </p:cBhvr>
                                      <p:to>
                                        <p:strVal val="visible"/>
                                      </p:to>
                                    </p:set>
                                    <p:animEffect transition="in" filter="fade">
                                      <p:cBhvr>
                                        <p:cTn id="12" dur="500"/>
                                        <p:tgtEl>
                                          <p:spTgt spid="2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xEl>
                                              <p:pRg st="1" end="1"/>
                                            </p:txEl>
                                          </p:spTgt>
                                        </p:tgtEl>
                                        <p:attrNameLst>
                                          <p:attrName>style.visibility</p:attrName>
                                        </p:attrNameLst>
                                      </p:cBhvr>
                                      <p:to>
                                        <p:strVal val="visible"/>
                                      </p:to>
                                    </p:set>
                                    <p:animEffect transition="in" filter="fade">
                                      <p:cBhvr>
                                        <p:cTn id="17" dur="500"/>
                                        <p:tgtEl>
                                          <p:spTgt spid="22">
                                            <p:txEl>
                                              <p:pRg st="1" end="1"/>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Effect transition="in" filter="fade">
                                      <p:cBhvr>
                                        <p:cTn id="25" dur="500"/>
                                        <p:tgtEl>
                                          <p:spTgt spid="6">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6">
                                            <p:txEl>
                                              <p:pRg st="2" end="2"/>
                                            </p:txEl>
                                          </p:spTgt>
                                        </p:tgtEl>
                                        <p:attrNameLst>
                                          <p:attrName>style.visibility</p:attrName>
                                        </p:attrNameLst>
                                      </p:cBhvr>
                                      <p:to>
                                        <p:strVal val="visible"/>
                                      </p:to>
                                    </p:set>
                                    <p:animEffect transition="in" filter="fade">
                                      <p:cBhvr>
                                        <p:cTn id="30" dur="500"/>
                                        <p:tgtEl>
                                          <p:spTgt spid="6">
                                            <p:txEl>
                                              <p:pRg st="2" end="2"/>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6">
                                            <p:txEl>
                                              <p:pRg st="3" end="3"/>
                                            </p:txEl>
                                          </p:spTgt>
                                        </p:tgtEl>
                                        <p:attrNameLst>
                                          <p:attrName>style.visibility</p:attrName>
                                        </p:attrNameLst>
                                      </p:cBhvr>
                                      <p:to>
                                        <p:strVal val="visible"/>
                                      </p:to>
                                    </p:set>
                                    <p:animEffect transition="in" filter="fade">
                                      <p:cBhvr>
                                        <p:cTn id="33" dur="500"/>
                                        <p:tgtEl>
                                          <p:spTgt spid="6">
                                            <p:txEl>
                                              <p:pRg st="3" end="3"/>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6">
                                            <p:txEl>
                                              <p:pRg st="5" end="5"/>
                                            </p:txEl>
                                          </p:spTgt>
                                        </p:tgtEl>
                                        <p:attrNameLst>
                                          <p:attrName>style.visibility</p:attrName>
                                        </p:attrNameLst>
                                      </p:cBhvr>
                                      <p:to>
                                        <p:strVal val="visible"/>
                                      </p:to>
                                    </p:set>
                                    <p:animEffect transition="in" filter="fade">
                                      <p:cBhvr>
                                        <p:cTn id="38" dur="500"/>
                                        <p:tgtEl>
                                          <p:spTgt spid="6">
                                            <p:txEl>
                                              <p:pRg st="5" end="5"/>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6">
                                            <p:txEl>
                                              <p:pRg st="6" end="6"/>
                                            </p:txEl>
                                          </p:spTgt>
                                        </p:tgtEl>
                                        <p:attrNameLst>
                                          <p:attrName>style.visibility</p:attrName>
                                        </p:attrNameLst>
                                      </p:cBhvr>
                                      <p:to>
                                        <p:strVal val="visible"/>
                                      </p:to>
                                    </p:set>
                                    <p:animEffect transition="in" filter="fade">
                                      <p:cBhvr>
                                        <p:cTn id="41" dur="500"/>
                                        <p:tgtEl>
                                          <p:spTgt spid="6">
                                            <p:txEl>
                                              <p:pRg st="6" end="6"/>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6">
                                            <p:txEl>
                                              <p:pRg st="8" end="8"/>
                                            </p:txEl>
                                          </p:spTgt>
                                        </p:tgtEl>
                                        <p:attrNameLst>
                                          <p:attrName>style.visibility</p:attrName>
                                        </p:attrNameLst>
                                      </p:cBhvr>
                                      <p:to>
                                        <p:strVal val="visible"/>
                                      </p:to>
                                    </p:set>
                                    <p:animEffect transition="in" filter="fade">
                                      <p:cBhvr>
                                        <p:cTn id="46" dur="500"/>
                                        <p:tgtEl>
                                          <p:spTgt spid="6">
                                            <p:txEl>
                                              <p:pRg st="8" end="8"/>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6">
                                            <p:txEl>
                                              <p:pRg st="9" end="9"/>
                                            </p:txEl>
                                          </p:spTgt>
                                        </p:tgtEl>
                                        <p:attrNameLst>
                                          <p:attrName>style.visibility</p:attrName>
                                        </p:attrNameLst>
                                      </p:cBhvr>
                                      <p:to>
                                        <p:strVal val="visible"/>
                                      </p:to>
                                    </p:set>
                                    <p:animEffect transition="in" filter="fade">
                                      <p:cBhvr>
                                        <p:cTn id="49" dur="500"/>
                                        <p:tgtEl>
                                          <p:spTgt spid="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 name="Picture 10" descr="Dental care - Free medical icons">
            <a:extLst>
              <a:ext uri="{FF2B5EF4-FFF2-40B4-BE49-F238E27FC236}">
                <a16:creationId xmlns:a16="http://schemas.microsoft.com/office/drawing/2014/main" id="{89F1F21C-ACBB-4EB0-9F4E-6F5C7B9D21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82600" y="2781300"/>
            <a:ext cx="5159946" cy="515994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3"/>
          <p:cNvGrpSpPr/>
          <p:nvPr/>
        </p:nvGrpSpPr>
        <p:grpSpPr>
          <a:xfrm>
            <a:off x="-566687" y="9631318"/>
            <a:ext cx="4362442" cy="1326059"/>
            <a:chOff x="0" y="0"/>
            <a:chExt cx="2297912" cy="698500"/>
          </a:xfrm>
        </p:grpSpPr>
        <p:sp>
          <p:nvSpPr>
            <p:cNvPr id="4" name="Freeform 4"/>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5" name="TextBox 5"/>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3419993" y="6698755"/>
            <a:ext cx="5550223" cy="4856445"/>
            <a:chOff x="0" y="0"/>
            <a:chExt cx="812800" cy="711200"/>
          </a:xfrm>
        </p:grpSpPr>
        <p:sp>
          <p:nvSpPr>
            <p:cNvPr id="14" name="Freeform 14"/>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5" name="TextBox 15"/>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5077867" y="-784225"/>
            <a:ext cx="6088480" cy="1326059"/>
            <a:chOff x="0" y="0"/>
            <a:chExt cx="3207100" cy="698500"/>
          </a:xfrm>
        </p:grpSpPr>
        <p:sp>
          <p:nvSpPr>
            <p:cNvPr id="17" name="Freeform 17"/>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18" name="TextBox 18"/>
            <p:cNvSpPr txBox="1"/>
            <p:nvPr/>
          </p:nvSpPr>
          <p:spPr>
            <a:xfrm>
              <a:off x="114300" y="-57150"/>
              <a:ext cx="2978500" cy="75565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6744950" y="-1063420"/>
            <a:ext cx="3086100" cy="2700338"/>
            <a:chOff x="0" y="0"/>
            <a:chExt cx="812800" cy="711200"/>
          </a:xfrm>
        </p:grpSpPr>
        <p:sp>
          <p:nvSpPr>
            <p:cNvPr id="20" name="Freeform 20"/>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21" name="TextBox 21"/>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sp>
        <p:nvSpPr>
          <p:cNvPr id="53" name="TextBox 52">
            <a:extLst>
              <a:ext uri="{FF2B5EF4-FFF2-40B4-BE49-F238E27FC236}">
                <a16:creationId xmlns:a16="http://schemas.microsoft.com/office/drawing/2014/main" id="{FB1AA43F-D7F5-4BF1-8B09-18CC78E0BDE1}"/>
              </a:ext>
            </a:extLst>
          </p:cNvPr>
          <p:cNvSpPr txBox="1"/>
          <p:nvPr/>
        </p:nvSpPr>
        <p:spPr>
          <a:xfrm>
            <a:off x="383221" y="-115297"/>
            <a:ext cx="13359347" cy="1015663"/>
          </a:xfrm>
          <a:prstGeom prst="rect">
            <a:avLst/>
          </a:prstGeom>
          <a:noFill/>
        </p:spPr>
        <p:txBody>
          <a:bodyPr wrap="square" rtlCol="0">
            <a:spAutoFit/>
          </a:bodyPr>
          <a:lstStyle/>
          <a:p>
            <a:r>
              <a:rPr lang="en-US" sz="6000" b="1" dirty="0"/>
              <a:t>DENTAL CARE BENEFITS</a:t>
            </a:r>
          </a:p>
        </p:txBody>
      </p:sp>
      <p:sp>
        <p:nvSpPr>
          <p:cNvPr id="22" name="TextBox 21">
            <a:extLst>
              <a:ext uri="{FF2B5EF4-FFF2-40B4-BE49-F238E27FC236}">
                <a16:creationId xmlns:a16="http://schemas.microsoft.com/office/drawing/2014/main" id="{959221D9-A995-4607-B042-3EF51F982DE3}"/>
              </a:ext>
            </a:extLst>
          </p:cNvPr>
          <p:cNvSpPr txBox="1"/>
          <p:nvPr/>
        </p:nvSpPr>
        <p:spPr>
          <a:xfrm>
            <a:off x="1524000" y="692158"/>
            <a:ext cx="13359347" cy="1354217"/>
          </a:xfrm>
          <a:prstGeom prst="rect">
            <a:avLst/>
          </a:prstGeom>
          <a:noFill/>
        </p:spPr>
        <p:txBody>
          <a:bodyPr wrap="square" rtlCol="0">
            <a:spAutoFit/>
          </a:bodyPr>
          <a:lstStyle/>
          <a:p>
            <a:pPr algn="ctr"/>
            <a:r>
              <a:rPr lang="en-US" sz="5400" b="1" dirty="0" err="1"/>
              <a:t>Availment</a:t>
            </a:r>
            <a:r>
              <a:rPr lang="en-US" sz="5400" b="1" dirty="0"/>
              <a:t> Procedures</a:t>
            </a:r>
          </a:p>
          <a:p>
            <a:pPr algn="ctr"/>
            <a:r>
              <a:rPr lang="en-US" sz="2800" b="1" dirty="0"/>
              <a:t>Provider ( 1 World Wide Health Inc.)</a:t>
            </a:r>
          </a:p>
        </p:txBody>
      </p:sp>
      <p:sp>
        <p:nvSpPr>
          <p:cNvPr id="6" name="Rectangle 5">
            <a:extLst>
              <a:ext uri="{FF2B5EF4-FFF2-40B4-BE49-F238E27FC236}">
                <a16:creationId xmlns:a16="http://schemas.microsoft.com/office/drawing/2014/main" id="{CD277A8A-B4E9-458A-9118-61551EABDE59}"/>
              </a:ext>
            </a:extLst>
          </p:cNvPr>
          <p:cNvSpPr/>
          <p:nvPr/>
        </p:nvSpPr>
        <p:spPr>
          <a:xfrm>
            <a:off x="383220" y="2131765"/>
            <a:ext cx="13359347" cy="923330"/>
          </a:xfrm>
          <a:prstGeom prst="rect">
            <a:avLst/>
          </a:prstGeom>
        </p:spPr>
        <p:txBody>
          <a:bodyPr wrap="square">
            <a:spAutoFit/>
          </a:bodyPr>
          <a:lstStyle/>
          <a:p>
            <a:r>
              <a:rPr lang="en-US" sz="5400" b="1" dirty="0" err="1"/>
              <a:t>Availment</a:t>
            </a:r>
            <a:r>
              <a:rPr lang="en-US" sz="5400" b="1" dirty="0"/>
              <a:t> Steps:</a:t>
            </a:r>
          </a:p>
        </p:txBody>
      </p:sp>
      <p:pic>
        <p:nvPicPr>
          <p:cNvPr id="2" name="Picture 1">
            <a:extLst>
              <a:ext uri="{FF2B5EF4-FFF2-40B4-BE49-F238E27FC236}">
                <a16:creationId xmlns:a16="http://schemas.microsoft.com/office/drawing/2014/main" id="{F37692A9-4C59-4EE7-9C4F-2A42F4EFC2CB}"/>
              </a:ext>
            </a:extLst>
          </p:cNvPr>
          <p:cNvPicPr>
            <a:picLocks noChangeAspect="1"/>
          </p:cNvPicPr>
          <p:nvPr/>
        </p:nvPicPr>
        <p:blipFill>
          <a:blip r:embed="rId3"/>
          <a:stretch>
            <a:fillRect/>
          </a:stretch>
        </p:blipFill>
        <p:spPr>
          <a:xfrm>
            <a:off x="1143000" y="3000227"/>
            <a:ext cx="11739117" cy="3227088"/>
          </a:xfrm>
          <a:prstGeom prst="rect">
            <a:avLst/>
          </a:prstGeom>
        </p:spPr>
      </p:pic>
      <p:pic>
        <p:nvPicPr>
          <p:cNvPr id="7" name="Picture 6">
            <a:extLst>
              <a:ext uri="{FF2B5EF4-FFF2-40B4-BE49-F238E27FC236}">
                <a16:creationId xmlns:a16="http://schemas.microsoft.com/office/drawing/2014/main" id="{4D98B744-D1C0-4D41-8F9E-37596552465C}"/>
              </a:ext>
            </a:extLst>
          </p:cNvPr>
          <p:cNvPicPr>
            <a:picLocks noChangeAspect="1"/>
          </p:cNvPicPr>
          <p:nvPr/>
        </p:nvPicPr>
        <p:blipFill>
          <a:blip r:embed="rId4"/>
          <a:stretch>
            <a:fillRect/>
          </a:stretch>
        </p:blipFill>
        <p:spPr>
          <a:xfrm>
            <a:off x="1280936" y="6350602"/>
            <a:ext cx="9326277" cy="2019582"/>
          </a:xfrm>
          <a:prstGeom prst="rect">
            <a:avLst/>
          </a:prstGeom>
        </p:spPr>
      </p:pic>
      <p:pic>
        <p:nvPicPr>
          <p:cNvPr id="23" name="Picture 22">
            <a:extLst>
              <a:ext uri="{FF2B5EF4-FFF2-40B4-BE49-F238E27FC236}">
                <a16:creationId xmlns:a16="http://schemas.microsoft.com/office/drawing/2014/main" id="{9F3F4040-9A07-4736-809E-2AF9A5B85C20}"/>
              </a:ext>
            </a:extLst>
          </p:cNvPr>
          <p:cNvPicPr>
            <a:picLocks noChangeAspect="1"/>
          </p:cNvPicPr>
          <p:nvPr/>
        </p:nvPicPr>
        <p:blipFill>
          <a:blip r:embed="rId5"/>
          <a:stretch>
            <a:fillRect/>
          </a:stretch>
        </p:blipFill>
        <p:spPr>
          <a:xfrm>
            <a:off x="11598380" y="591077"/>
            <a:ext cx="1762371" cy="1733792"/>
          </a:xfrm>
          <a:prstGeom prst="rect">
            <a:avLst/>
          </a:prstGeom>
        </p:spPr>
      </p:pic>
    </p:spTree>
    <p:extLst>
      <p:ext uri="{BB962C8B-B14F-4D97-AF65-F5344CB8AC3E}">
        <p14:creationId xmlns:p14="http://schemas.microsoft.com/office/powerpoint/2010/main" val="1952943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 name="Picture 10" descr="Dental care - Free medical icons">
            <a:extLst>
              <a:ext uri="{FF2B5EF4-FFF2-40B4-BE49-F238E27FC236}">
                <a16:creationId xmlns:a16="http://schemas.microsoft.com/office/drawing/2014/main" id="{89F1F21C-ACBB-4EB0-9F4E-6F5C7B9D21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82600" y="2781300"/>
            <a:ext cx="5159946" cy="515994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3"/>
          <p:cNvGrpSpPr/>
          <p:nvPr/>
        </p:nvGrpSpPr>
        <p:grpSpPr>
          <a:xfrm>
            <a:off x="-566687" y="9631318"/>
            <a:ext cx="4362442" cy="1326059"/>
            <a:chOff x="0" y="0"/>
            <a:chExt cx="2297912" cy="698500"/>
          </a:xfrm>
        </p:grpSpPr>
        <p:sp>
          <p:nvSpPr>
            <p:cNvPr id="4" name="Freeform 4"/>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5" name="TextBox 5"/>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3419993" y="6698755"/>
            <a:ext cx="5550223" cy="4856445"/>
            <a:chOff x="0" y="0"/>
            <a:chExt cx="812800" cy="711200"/>
          </a:xfrm>
        </p:grpSpPr>
        <p:sp>
          <p:nvSpPr>
            <p:cNvPr id="14" name="Freeform 14"/>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5" name="TextBox 15"/>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5077867" y="-784225"/>
            <a:ext cx="6088480" cy="1326059"/>
            <a:chOff x="0" y="0"/>
            <a:chExt cx="3207100" cy="698500"/>
          </a:xfrm>
        </p:grpSpPr>
        <p:sp>
          <p:nvSpPr>
            <p:cNvPr id="17" name="Freeform 17"/>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18" name="TextBox 18"/>
            <p:cNvSpPr txBox="1"/>
            <p:nvPr/>
          </p:nvSpPr>
          <p:spPr>
            <a:xfrm>
              <a:off x="114300" y="-57150"/>
              <a:ext cx="2978500" cy="75565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6744950" y="-1063420"/>
            <a:ext cx="3086100" cy="2700338"/>
            <a:chOff x="0" y="0"/>
            <a:chExt cx="812800" cy="711200"/>
          </a:xfrm>
        </p:grpSpPr>
        <p:sp>
          <p:nvSpPr>
            <p:cNvPr id="20" name="Freeform 20"/>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21" name="TextBox 21"/>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sp>
        <p:nvSpPr>
          <p:cNvPr id="53" name="TextBox 52">
            <a:extLst>
              <a:ext uri="{FF2B5EF4-FFF2-40B4-BE49-F238E27FC236}">
                <a16:creationId xmlns:a16="http://schemas.microsoft.com/office/drawing/2014/main" id="{FB1AA43F-D7F5-4BF1-8B09-18CC78E0BDE1}"/>
              </a:ext>
            </a:extLst>
          </p:cNvPr>
          <p:cNvSpPr txBox="1"/>
          <p:nvPr/>
        </p:nvSpPr>
        <p:spPr>
          <a:xfrm>
            <a:off x="383221" y="-115297"/>
            <a:ext cx="13359347" cy="1015663"/>
          </a:xfrm>
          <a:prstGeom prst="rect">
            <a:avLst/>
          </a:prstGeom>
          <a:noFill/>
        </p:spPr>
        <p:txBody>
          <a:bodyPr wrap="square" rtlCol="0">
            <a:spAutoFit/>
          </a:bodyPr>
          <a:lstStyle/>
          <a:p>
            <a:r>
              <a:rPr lang="en-US" sz="6000" b="1" dirty="0"/>
              <a:t>DENTAL CARE BENEFITS</a:t>
            </a:r>
          </a:p>
        </p:txBody>
      </p:sp>
      <p:sp>
        <p:nvSpPr>
          <p:cNvPr id="22" name="TextBox 21">
            <a:extLst>
              <a:ext uri="{FF2B5EF4-FFF2-40B4-BE49-F238E27FC236}">
                <a16:creationId xmlns:a16="http://schemas.microsoft.com/office/drawing/2014/main" id="{959221D9-A995-4607-B042-3EF51F982DE3}"/>
              </a:ext>
            </a:extLst>
          </p:cNvPr>
          <p:cNvSpPr txBox="1"/>
          <p:nvPr/>
        </p:nvSpPr>
        <p:spPr>
          <a:xfrm>
            <a:off x="1524000" y="692158"/>
            <a:ext cx="13359347" cy="1354217"/>
          </a:xfrm>
          <a:prstGeom prst="rect">
            <a:avLst/>
          </a:prstGeom>
          <a:noFill/>
        </p:spPr>
        <p:txBody>
          <a:bodyPr wrap="square" rtlCol="0">
            <a:spAutoFit/>
          </a:bodyPr>
          <a:lstStyle/>
          <a:p>
            <a:pPr algn="ctr"/>
            <a:r>
              <a:rPr lang="en-US" sz="5400" b="1" dirty="0" err="1"/>
              <a:t>Availment</a:t>
            </a:r>
            <a:r>
              <a:rPr lang="en-US" sz="5400" b="1" dirty="0"/>
              <a:t> Procedures</a:t>
            </a:r>
          </a:p>
          <a:p>
            <a:pPr algn="ctr"/>
            <a:r>
              <a:rPr lang="en-US" sz="2800" b="1" dirty="0"/>
              <a:t>Provider ( 1 World Wide Health Inc.)</a:t>
            </a:r>
          </a:p>
        </p:txBody>
      </p:sp>
      <p:sp>
        <p:nvSpPr>
          <p:cNvPr id="6" name="Rectangle 5">
            <a:extLst>
              <a:ext uri="{FF2B5EF4-FFF2-40B4-BE49-F238E27FC236}">
                <a16:creationId xmlns:a16="http://schemas.microsoft.com/office/drawing/2014/main" id="{CD277A8A-B4E9-458A-9118-61551EABDE59}"/>
              </a:ext>
            </a:extLst>
          </p:cNvPr>
          <p:cNvSpPr/>
          <p:nvPr/>
        </p:nvSpPr>
        <p:spPr>
          <a:xfrm>
            <a:off x="383220" y="2131765"/>
            <a:ext cx="13359347" cy="923330"/>
          </a:xfrm>
          <a:prstGeom prst="rect">
            <a:avLst/>
          </a:prstGeom>
        </p:spPr>
        <p:txBody>
          <a:bodyPr wrap="square">
            <a:spAutoFit/>
          </a:bodyPr>
          <a:lstStyle/>
          <a:p>
            <a:r>
              <a:rPr lang="en-US" sz="5400" b="1" dirty="0" err="1"/>
              <a:t>Availment</a:t>
            </a:r>
            <a:r>
              <a:rPr lang="en-US" sz="5400" b="1" dirty="0"/>
              <a:t> Steps:</a:t>
            </a:r>
          </a:p>
        </p:txBody>
      </p:sp>
      <p:pic>
        <p:nvPicPr>
          <p:cNvPr id="23" name="Picture 22">
            <a:extLst>
              <a:ext uri="{FF2B5EF4-FFF2-40B4-BE49-F238E27FC236}">
                <a16:creationId xmlns:a16="http://schemas.microsoft.com/office/drawing/2014/main" id="{B5B54888-39DF-4E31-B3AF-464ECFD713E4}"/>
              </a:ext>
            </a:extLst>
          </p:cNvPr>
          <p:cNvPicPr>
            <a:picLocks noChangeAspect="1"/>
          </p:cNvPicPr>
          <p:nvPr/>
        </p:nvPicPr>
        <p:blipFill>
          <a:blip r:embed="rId3"/>
          <a:stretch>
            <a:fillRect/>
          </a:stretch>
        </p:blipFill>
        <p:spPr>
          <a:xfrm>
            <a:off x="11598380" y="591077"/>
            <a:ext cx="1762371" cy="1733792"/>
          </a:xfrm>
          <a:prstGeom prst="rect">
            <a:avLst/>
          </a:prstGeom>
        </p:spPr>
      </p:pic>
      <p:pic>
        <p:nvPicPr>
          <p:cNvPr id="8" name="Picture 7">
            <a:extLst>
              <a:ext uri="{FF2B5EF4-FFF2-40B4-BE49-F238E27FC236}">
                <a16:creationId xmlns:a16="http://schemas.microsoft.com/office/drawing/2014/main" id="{2B1EB7FA-802F-4030-A73B-13A79B54F0CB}"/>
              </a:ext>
            </a:extLst>
          </p:cNvPr>
          <p:cNvPicPr>
            <a:picLocks noChangeAspect="1"/>
          </p:cNvPicPr>
          <p:nvPr/>
        </p:nvPicPr>
        <p:blipFill>
          <a:blip r:embed="rId4"/>
          <a:stretch>
            <a:fillRect/>
          </a:stretch>
        </p:blipFill>
        <p:spPr>
          <a:xfrm>
            <a:off x="1832764" y="2943568"/>
            <a:ext cx="9938393" cy="3616888"/>
          </a:xfrm>
          <a:prstGeom prst="rect">
            <a:avLst/>
          </a:prstGeom>
        </p:spPr>
      </p:pic>
      <p:pic>
        <p:nvPicPr>
          <p:cNvPr id="9" name="Picture 8">
            <a:extLst>
              <a:ext uri="{FF2B5EF4-FFF2-40B4-BE49-F238E27FC236}">
                <a16:creationId xmlns:a16="http://schemas.microsoft.com/office/drawing/2014/main" id="{514E5F19-97DA-4B77-9B32-971E21645ED5}"/>
              </a:ext>
            </a:extLst>
          </p:cNvPr>
          <p:cNvPicPr>
            <a:picLocks noChangeAspect="1"/>
          </p:cNvPicPr>
          <p:nvPr/>
        </p:nvPicPr>
        <p:blipFill>
          <a:blip r:embed="rId5"/>
          <a:stretch>
            <a:fillRect/>
          </a:stretch>
        </p:blipFill>
        <p:spPr>
          <a:xfrm>
            <a:off x="1921137" y="6710868"/>
            <a:ext cx="8068801" cy="2476846"/>
          </a:xfrm>
          <a:prstGeom prst="rect">
            <a:avLst/>
          </a:prstGeom>
        </p:spPr>
      </p:pic>
    </p:spTree>
    <p:extLst>
      <p:ext uri="{BB962C8B-B14F-4D97-AF65-F5344CB8AC3E}">
        <p14:creationId xmlns:p14="http://schemas.microsoft.com/office/powerpoint/2010/main" val="327032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566687" y="9631318"/>
            <a:ext cx="4362442" cy="1326059"/>
            <a:chOff x="0" y="0"/>
            <a:chExt cx="2297912" cy="698500"/>
          </a:xfrm>
        </p:grpSpPr>
        <p:sp>
          <p:nvSpPr>
            <p:cNvPr id="4" name="Freeform 4"/>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5" name="TextBox 5"/>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3419993" y="6698755"/>
            <a:ext cx="5550223" cy="4856445"/>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8" name="TextBox 8"/>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5077867" y="-784225"/>
            <a:ext cx="6088480" cy="1326059"/>
            <a:chOff x="0" y="0"/>
            <a:chExt cx="3207100" cy="698500"/>
          </a:xfrm>
        </p:grpSpPr>
        <p:sp>
          <p:nvSpPr>
            <p:cNvPr id="10" name="Freeform 10"/>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11" name="TextBox 11"/>
            <p:cNvSpPr txBox="1"/>
            <p:nvPr/>
          </p:nvSpPr>
          <p:spPr>
            <a:xfrm>
              <a:off x="114300" y="-57150"/>
              <a:ext cx="2978500" cy="7556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6744950" y="-1063420"/>
            <a:ext cx="3086100" cy="2700338"/>
            <a:chOff x="0" y="0"/>
            <a:chExt cx="812800" cy="711200"/>
          </a:xfrm>
        </p:grpSpPr>
        <p:sp>
          <p:nvSpPr>
            <p:cNvPr id="13" name="Freeform 13"/>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4" name="TextBox 14"/>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sp>
        <p:nvSpPr>
          <p:cNvPr id="31" name="TextBox 31"/>
          <p:cNvSpPr txBox="1"/>
          <p:nvPr/>
        </p:nvSpPr>
        <p:spPr>
          <a:xfrm>
            <a:off x="1263007" y="1016420"/>
            <a:ext cx="15113103" cy="1008353"/>
          </a:xfrm>
          <a:prstGeom prst="rect">
            <a:avLst/>
          </a:prstGeom>
        </p:spPr>
        <p:txBody>
          <a:bodyPr wrap="square" lIns="0" tIns="0" rIns="0" bIns="0" rtlCol="0" anchor="t">
            <a:spAutoFit/>
          </a:bodyPr>
          <a:lstStyle/>
          <a:p>
            <a:pPr algn="r">
              <a:lnSpc>
                <a:spcPts val="6898"/>
              </a:lnSpc>
              <a:spcBef>
                <a:spcPct val="0"/>
              </a:spcBef>
            </a:pPr>
            <a:r>
              <a:rPr lang="en-US" sz="9600" b="1" dirty="0">
                <a:solidFill>
                  <a:srgbClr val="000000"/>
                </a:solidFill>
                <a:latin typeface="Poppins Bold"/>
                <a:ea typeface="Poppins Bold"/>
                <a:cs typeface="Poppins Bold"/>
                <a:sym typeface="Poppins Bold"/>
              </a:rPr>
              <a:t>FINANCIAL ASSISTANCE</a:t>
            </a:r>
          </a:p>
        </p:txBody>
      </p:sp>
      <p:sp>
        <p:nvSpPr>
          <p:cNvPr id="15" name="Rectangle 14">
            <a:extLst>
              <a:ext uri="{FF2B5EF4-FFF2-40B4-BE49-F238E27FC236}">
                <a16:creationId xmlns:a16="http://schemas.microsoft.com/office/drawing/2014/main" id="{7C3CD07D-8E41-416C-A7D1-237FC552296C}"/>
              </a:ext>
            </a:extLst>
          </p:cNvPr>
          <p:cNvSpPr/>
          <p:nvPr/>
        </p:nvSpPr>
        <p:spPr>
          <a:xfrm>
            <a:off x="617912" y="2957037"/>
            <a:ext cx="17689138" cy="5355312"/>
          </a:xfrm>
          <a:prstGeom prst="rect">
            <a:avLst/>
          </a:prstGeom>
        </p:spPr>
        <p:txBody>
          <a:bodyPr wrap="none">
            <a:spAutoFit/>
          </a:bodyPr>
          <a:lstStyle/>
          <a:p>
            <a:r>
              <a:rPr lang="en-US" sz="13800" b="1" dirty="0"/>
              <a:t>Natural Death – 10,000</a:t>
            </a:r>
          </a:p>
          <a:p>
            <a:endParaRPr lang="en-US" sz="6000" b="1" dirty="0"/>
          </a:p>
          <a:p>
            <a:r>
              <a:rPr lang="en-US" sz="13800" b="1" dirty="0"/>
              <a:t>Total Disability -  10,000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xEl>
                                              <p:pRg st="0" end="0"/>
                                            </p:txEl>
                                          </p:spTgt>
                                        </p:tgtEl>
                                        <p:attrNameLst>
                                          <p:attrName>style.visibility</p:attrName>
                                        </p:attrNameLst>
                                      </p:cBhvr>
                                      <p:to>
                                        <p:strVal val="visible"/>
                                      </p:to>
                                    </p:set>
                                    <p:animEffect transition="in" filter="fade">
                                      <p:cBhvr>
                                        <p:cTn id="12" dur="500"/>
                                        <p:tgtEl>
                                          <p:spTgt spid="1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xEl>
                                              <p:pRg st="2" end="2"/>
                                            </p:txEl>
                                          </p:spTgt>
                                        </p:tgtEl>
                                        <p:attrNameLst>
                                          <p:attrName>style.visibility</p:attrName>
                                        </p:attrNameLst>
                                      </p:cBhvr>
                                      <p:to>
                                        <p:strVal val="visible"/>
                                      </p:to>
                                    </p:set>
                                    <p:animEffect transition="in" filter="fade">
                                      <p:cBhvr>
                                        <p:cTn id="17" dur="500"/>
                                        <p:tgtEl>
                                          <p:spTgt spid="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566687" y="9631318"/>
            <a:ext cx="4362442" cy="1326059"/>
            <a:chOff x="0" y="0"/>
            <a:chExt cx="2297912" cy="698500"/>
          </a:xfrm>
        </p:grpSpPr>
        <p:sp>
          <p:nvSpPr>
            <p:cNvPr id="4" name="Freeform 4"/>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5" name="TextBox 5"/>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3419993" y="6698755"/>
            <a:ext cx="5550223" cy="4856445"/>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8" name="TextBox 8"/>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5077867" y="-784225"/>
            <a:ext cx="6088480" cy="1326059"/>
            <a:chOff x="0" y="0"/>
            <a:chExt cx="3207100" cy="698500"/>
          </a:xfrm>
        </p:grpSpPr>
        <p:sp>
          <p:nvSpPr>
            <p:cNvPr id="10" name="Freeform 10"/>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11" name="TextBox 11"/>
            <p:cNvSpPr txBox="1"/>
            <p:nvPr/>
          </p:nvSpPr>
          <p:spPr>
            <a:xfrm>
              <a:off x="114300" y="-57150"/>
              <a:ext cx="2978500" cy="7556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6744950" y="-1063420"/>
            <a:ext cx="3086100" cy="2700338"/>
            <a:chOff x="0" y="0"/>
            <a:chExt cx="812800" cy="711200"/>
          </a:xfrm>
        </p:grpSpPr>
        <p:sp>
          <p:nvSpPr>
            <p:cNvPr id="13" name="Freeform 13"/>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4" name="TextBox 14"/>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pic>
        <p:nvPicPr>
          <p:cNvPr id="15" name="Picture 14">
            <a:extLst>
              <a:ext uri="{FF2B5EF4-FFF2-40B4-BE49-F238E27FC236}">
                <a16:creationId xmlns:a16="http://schemas.microsoft.com/office/drawing/2014/main" id="{B2EC6574-4AA0-4DA2-BA31-162A018581AC}"/>
              </a:ext>
            </a:extLst>
          </p:cNvPr>
          <p:cNvPicPr>
            <a:picLocks noChangeAspect="1"/>
          </p:cNvPicPr>
          <p:nvPr/>
        </p:nvPicPr>
        <p:blipFill>
          <a:blip r:embed="rId2"/>
          <a:stretch>
            <a:fillRect/>
          </a:stretch>
        </p:blipFill>
        <p:spPr>
          <a:xfrm>
            <a:off x="169212" y="1140679"/>
            <a:ext cx="17949575" cy="6970110"/>
          </a:xfrm>
          <a:prstGeom prst="rect">
            <a:avLst/>
          </a:prstGeom>
        </p:spPr>
      </p:pic>
    </p:spTree>
    <p:extLst>
      <p:ext uri="{BB962C8B-B14F-4D97-AF65-F5344CB8AC3E}">
        <p14:creationId xmlns:p14="http://schemas.microsoft.com/office/powerpoint/2010/main" val="32878889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566687" y="9631318"/>
            <a:ext cx="4362442" cy="1326059"/>
            <a:chOff x="0" y="0"/>
            <a:chExt cx="2297912" cy="698500"/>
          </a:xfrm>
        </p:grpSpPr>
        <p:sp>
          <p:nvSpPr>
            <p:cNvPr id="4" name="Freeform 4"/>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5" name="TextBox 5"/>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3419993" y="6698755"/>
            <a:ext cx="5550223" cy="4856445"/>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8" name="TextBox 8"/>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5077867" y="-784225"/>
            <a:ext cx="6088480" cy="1326059"/>
            <a:chOff x="0" y="0"/>
            <a:chExt cx="3207100" cy="698500"/>
          </a:xfrm>
        </p:grpSpPr>
        <p:sp>
          <p:nvSpPr>
            <p:cNvPr id="10" name="Freeform 10"/>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11" name="TextBox 11"/>
            <p:cNvSpPr txBox="1"/>
            <p:nvPr/>
          </p:nvSpPr>
          <p:spPr>
            <a:xfrm>
              <a:off x="114300" y="-57150"/>
              <a:ext cx="2978500" cy="7556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6744950" y="-1063420"/>
            <a:ext cx="3086100" cy="2700338"/>
            <a:chOff x="0" y="0"/>
            <a:chExt cx="812800" cy="711200"/>
          </a:xfrm>
        </p:grpSpPr>
        <p:sp>
          <p:nvSpPr>
            <p:cNvPr id="13" name="Freeform 13"/>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4" name="TextBox 14"/>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pic>
        <p:nvPicPr>
          <p:cNvPr id="18" name="Picture 17">
            <a:extLst>
              <a:ext uri="{FF2B5EF4-FFF2-40B4-BE49-F238E27FC236}">
                <a16:creationId xmlns:a16="http://schemas.microsoft.com/office/drawing/2014/main" id="{DED9330D-6C91-4137-B76D-531FB0225992}"/>
              </a:ext>
            </a:extLst>
          </p:cNvPr>
          <p:cNvPicPr>
            <a:picLocks noChangeAspect="1"/>
          </p:cNvPicPr>
          <p:nvPr/>
        </p:nvPicPr>
        <p:blipFill>
          <a:blip r:embed="rId2"/>
          <a:stretch>
            <a:fillRect/>
          </a:stretch>
        </p:blipFill>
        <p:spPr>
          <a:xfrm>
            <a:off x="21425" y="1451226"/>
            <a:ext cx="18184400" cy="6533466"/>
          </a:xfrm>
          <a:prstGeom prst="rect">
            <a:avLst/>
          </a:prstGeom>
        </p:spPr>
      </p:pic>
    </p:spTree>
    <p:extLst>
      <p:ext uri="{BB962C8B-B14F-4D97-AF65-F5344CB8AC3E}">
        <p14:creationId xmlns:p14="http://schemas.microsoft.com/office/powerpoint/2010/main" val="35122272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3736143" y="1275299"/>
            <a:ext cx="14003173" cy="1346331"/>
          </a:xfrm>
          <a:prstGeom prst="rect">
            <a:avLst/>
          </a:prstGeom>
        </p:spPr>
        <p:txBody>
          <a:bodyPr wrap="square" lIns="0" tIns="0" rIns="0" bIns="0" rtlCol="0" anchor="t">
            <a:spAutoFit/>
          </a:bodyPr>
          <a:lstStyle/>
          <a:p>
            <a:pPr algn="r">
              <a:lnSpc>
                <a:spcPts val="10883"/>
              </a:lnSpc>
              <a:spcBef>
                <a:spcPct val="0"/>
              </a:spcBef>
            </a:pPr>
            <a:r>
              <a:rPr lang="en-US" sz="8800" b="1" dirty="0">
                <a:solidFill>
                  <a:srgbClr val="000000"/>
                </a:solidFill>
                <a:latin typeface="+mj-lt"/>
                <a:ea typeface="Poppins Bold"/>
                <a:cs typeface="Poppins Bold"/>
                <a:sym typeface="Poppins Bold"/>
              </a:rPr>
              <a:t>PRE EXISTING CONDITION</a:t>
            </a:r>
          </a:p>
        </p:txBody>
      </p:sp>
      <p:grpSp>
        <p:nvGrpSpPr>
          <p:cNvPr id="4" name="Group 4"/>
          <p:cNvGrpSpPr/>
          <p:nvPr/>
        </p:nvGrpSpPr>
        <p:grpSpPr>
          <a:xfrm>
            <a:off x="15077867" y="-784225"/>
            <a:ext cx="6088480" cy="1326059"/>
            <a:chOff x="0" y="0"/>
            <a:chExt cx="3207100" cy="698500"/>
          </a:xfrm>
        </p:grpSpPr>
        <p:sp>
          <p:nvSpPr>
            <p:cNvPr id="5" name="Freeform 5"/>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6" name="TextBox 6"/>
            <p:cNvSpPr txBox="1"/>
            <p:nvPr/>
          </p:nvSpPr>
          <p:spPr>
            <a:xfrm>
              <a:off x="114300" y="-57150"/>
              <a:ext cx="2978500" cy="75565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6744950" y="-1063420"/>
            <a:ext cx="3086100" cy="2700338"/>
            <a:chOff x="0" y="0"/>
            <a:chExt cx="812800" cy="711200"/>
          </a:xfrm>
        </p:grpSpPr>
        <p:sp>
          <p:nvSpPr>
            <p:cNvPr id="8" name="Freeform 8"/>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9" name="TextBox 9"/>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048089" y="3956739"/>
            <a:ext cx="6572265" cy="5750732"/>
            <a:chOff x="0" y="0"/>
            <a:chExt cx="812800" cy="711200"/>
          </a:xfrm>
        </p:grpSpPr>
        <p:sp>
          <p:nvSpPr>
            <p:cNvPr id="14" name="Freeform 14"/>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FFFFF"/>
            </a:solidFill>
          </p:spPr>
        </p:sp>
        <p:sp>
          <p:nvSpPr>
            <p:cNvPr id="15" name="TextBox 15"/>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4188235" y="1098680"/>
            <a:ext cx="10311405" cy="8903872"/>
            <a:chOff x="0" y="0"/>
            <a:chExt cx="803260" cy="693613"/>
          </a:xfrm>
        </p:grpSpPr>
        <p:sp>
          <p:nvSpPr>
            <p:cNvPr id="17" name="Freeform 17"/>
            <p:cNvSpPr/>
            <p:nvPr/>
          </p:nvSpPr>
          <p:spPr>
            <a:xfrm>
              <a:off x="0" y="0"/>
              <a:ext cx="803260" cy="693613"/>
            </a:xfrm>
            <a:custGeom>
              <a:avLst/>
              <a:gdLst/>
              <a:ahLst/>
              <a:cxnLst/>
              <a:rect l="l" t="t" r="r" b="b"/>
              <a:pathLst>
                <a:path w="803260" h="693613">
                  <a:moveTo>
                    <a:pt x="401630" y="693613"/>
                  </a:moveTo>
                  <a:lnTo>
                    <a:pt x="803260" y="0"/>
                  </a:lnTo>
                  <a:lnTo>
                    <a:pt x="0" y="0"/>
                  </a:lnTo>
                  <a:lnTo>
                    <a:pt x="401630" y="693613"/>
                  </a:lnTo>
                  <a:close/>
                </a:path>
              </a:pathLst>
            </a:custGeom>
            <a:solidFill>
              <a:srgbClr val="FFFFFF"/>
            </a:solidFill>
          </p:spPr>
        </p:sp>
        <p:sp>
          <p:nvSpPr>
            <p:cNvPr id="18" name="TextBox 18"/>
            <p:cNvSpPr txBox="1"/>
            <p:nvPr/>
          </p:nvSpPr>
          <p:spPr>
            <a:xfrm>
              <a:off x="125509" y="-7606"/>
              <a:ext cx="552241" cy="37918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566687" y="9580975"/>
            <a:ext cx="4528060" cy="1376402"/>
            <a:chOff x="0" y="0"/>
            <a:chExt cx="2297912" cy="698500"/>
          </a:xfrm>
        </p:grpSpPr>
        <p:sp>
          <p:nvSpPr>
            <p:cNvPr id="20" name="Freeform 20"/>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21" name="TextBox 21"/>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3341799" y="6677094"/>
            <a:ext cx="5550223" cy="4856445"/>
            <a:chOff x="0" y="0"/>
            <a:chExt cx="812800" cy="711200"/>
          </a:xfrm>
        </p:grpSpPr>
        <p:sp>
          <p:nvSpPr>
            <p:cNvPr id="23" name="Freeform 2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4" name="TextBox 24"/>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25" name="Group 25"/>
          <p:cNvGrpSpPr/>
          <p:nvPr/>
        </p:nvGrpSpPr>
        <p:grpSpPr>
          <a:xfrm>
            <a:off x="-3785367" y="1268752"/>
            <a:ext cx="9628133" cy="8337963"/>
            <a:chOff x="0" y="0"/>
            <a:chExt cx="6350000" cy="5499100"/>
          </a:xfrm>
          <a:solidFill>
            <a:srgbClr val="060644"/>
          </a:solidFill>
        </p:grpSpPr>
        <p:sp>
          <p:nvSpPr>
            <p:cNvPr id="26" name="Freeform 26"/>
            <p:cNvSpPr/>
            <p:nvPr/>
          </p:nvSpPr>
          <p:spPr>
            <a:xfrm>
              <a:off x="0" y="0"/>
              <a:ext cx="6350000" cy="5499100"/>
            </a:xfrm>
            <a:custGeom>
              <a:avLst/>
              <a:gdLst/>
              <a:ahLst/>
              <a:cxnLst/>
              <a:rect l="l" t="t" r="r" b="b"/>
              <a:pathLst>
                <a:path w="6350000" h="5499100">
                  <a:moveTo>
                    <a:pt x="3175000" y="0"/>
                  </a:moveTo>
                  <a:lnTo>
                    <a:pt x="0" y="0"/>
                  </a:lnTo>
                  <a:lnTo>
                    <a:pt x="1587500" y="2749550"/>
                  </a:lnTo>
                  <a:lnTo>
                    <a:pt x="3175000" y="5499100"/>
                  </a:lnTo>
                  <a:lnTo>
                    <a:pt x="4762500" y="2749550"/>
                  </a:lnTo>
                  <a:lnTo>
                    <a:pt x="6350000" y="0"/>
                  </a:lnTo>
                  <a:close/>
                </a:path>
              </a:pathLst>
            </a:custGeom>
            <a:grpFill/>
          </p:spPr>
        </p:sp>
      </p:grpSp>
      <p:grpSp>
        <p:nvGrpSpPr>
          <p:cNvPr id="27" name="Group 27"/>
          <p:cNvGrpSpPr/>
          <p:nvPr/>
        </p:nvGrpSpPr>
        <p:grpSpPr>
          <a:xfrm>
            <a:off x="1257649" y="4208920"/>
            <a:ext cx="6100430" cy="5246370"/>
            <a:chOff x="0" y="0"/>
            <a:chExt cx="6350000" cy="5461000"/>
          </a:xfrm>
          <a:solidFill>
            <a:srgbClr val="F68712"/>
          </a:solidFill>
        </p:grpSpPr>
        <p:sp>
          <p:nvSpPr>
            <p:cNvPr id="28" name="Freeform 28"/>
            <p:cNvSpPr/>
            <p:nvPr/>
          </p:nvSpPr>
          <p:spPr>
            <a:xfrm>
              <a:off x="59563" y="32385"/>
              <a:ext cx="6230874" cy="5396230"/>
            </a:xfrm>
            <a:custGeom>
              <a:avLst/>
              <a:gdLst/>
              <a:ahLst/>
              <a:cxnLst/>
              <a:rect l="l" t="t" r="r" b="b"/>
              <a:pathLst>
                <a:path w="6230874" h="5396230">
                  <a:moveTo>
                    <a:pt x="3115437" y="0"/>
                  </a:moveTo>
                  <a:lnTo>
                    <a:pt x="0" y="5396230"/>
                  </a:lnTo>
                  <a:lnTo>
                    <a:pt x="6230874" y="5396230"/>
                  </a:lnTo>
                  <a:close/>
                </a:path>
              </a:pathLst>
            </a:custGeom>
            <a:grpFill/>
          </p:spPr>
        </p:sp>
      </p:grpSp>
      <p:sp>
        <p:nvSpPr>
          <p:cNvPr id="36" name="Rectangle 35">
            <a:extLst>
              <a:ext uri="{FF2B5EF4-FFF2-40B4-BE49-F238E27FC236}">
                <a16:creationId xmlns:a16="http://schemas.microsoft.com/office/drawing/2014/main" id="{77EAAA9B-E2E7-40CA-B6AD-9030C01AAADA}"/>
              </a:ext>
            </a:extLst>
          </p:cNvPr>
          <p:cNvSpPr/>
          <p:nvPr/>
        </p:nvSpPr>
        <p:spPr>
          <a:xfrm>
            <a:off x="6736054" y="2792397"/>
            <a:ext cx="11435512" cy="6001643"/>
          </a:xfrm>
          <a:prstGeom prst="rect">
            <a:avLst/>
          </a:prstGeom>
        </p:spPr>
        <p:txBody>
          <a:bodyPr wrap="square">
            <a:spAutoFit/>
          </a:bodyPr>
          <a:lstStyle/>
          <a:p>
            <a:r>
              <a:rPr lang="en-US" sz="3200" b="1" dirty="0"/>
              <a:t>Illnesses, injuries, or medical conditions that existed prior to enrollment—such as hypertension, diabetes, asthma, tumors, or arthritis—are not covered unless specified under the plan after a designated waiting period, typically six (6) to twelve (12) months. Related complications or recurrences within the waiting period are likewise excluded.</a:t>
            </a:r>
          </a:p>
          <a:p>
            <a:endParaRPr lang="en-US" sz="3200" b="1" dirty="0"/>
          </a:p>
          <a:p>
            <a:r>
              <a:rPr lang="en-US" sz="3200" b="1" dirty="0"/>
              <a:t>However, the PEC exclusion is waived if at least 70% of eligible employees, with a minimum group size of </a:t>
            </a:r>
            <a:r>
              <a:rPr lang="en-US" sz="3200" b="1" dirty="0">
                <a:solidFill>
                  <a:srgbClr val="FF0000"/>
                </a:solidFill>
              </a:rPr>
              <a:t>50 members</a:t>
            </a:r>
            <a:r>
              <a:rPr lang="en-US" sz="3200" b="1" dirty="0"/>
              <a:t>, are enrolled under the plan. If this threshold is not met, pre-existing conditions will be covered after six (6) months of continuous membership.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6">
                                            <p:txEl>
                                              <p:pRg st="0" end="0"/>
                                            </p:txEl>
                                          </p:spTgt>
                                        </p:tgtEl>
                                        <p:attrNameLst>
                                          <p:attrName>style.visibility</p:attrName>
                                        </p:attrNameLst>
                                      </p:cBhvr>
                                      <p:to>
                                        <p:strVal val="visible"/>
                                      </p:to>
                                    </p:set>
                                    <p:animEffect transition="in" filter="fade">
                                      <p:cBhvr>
                                        <p:cTn id="12" dur="500"/>
                                        <p:tgtEl>
                                          <p:spTgt spid="3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6">
                                            <p:txEl>
                                              <p:pRg st="2" end="2"/>
                                            </p:txEl>
                                          </p:spTgt>
                                        </p:tgtEl>
                                        <p:attrNameLst>
                                          <p:attrName>style.visibility</p:attrName>
                                        </p:attrNameLst>
                                      </p:cBhvr>
                                      <p:to>
                                        <p:strVal val="visible"/>
                                      </p:to>
                                    </p:set>
                                    <p:animEffect transition="in" filter="fade">
                                      <p:cBhvr>
                                        <p:cTn id="17" dur="500"/>
                                        <p:tgtEl>
                                          <p:spTgt spid="3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sp>
        <p:nvSpPr>
          <p:cNvPr id="8" name="AutoShape 8"/>
          <p:cNvSpPr/>
          <p:nvPr/>
        </p:nvSpPr>
        <p:spPr>
          <a:xfrm>
            <a:off x="413888" y="1931256"/>
            <a:ext cx="5962175" cy="0"/>
          </a:xfrm>
          <a:prstGeom prst="line">
            <a:avLst/>
          </a:prstGeom>
          <a:ln w="85725" cap="rnd">
            <a:solidFill>
              <a:srgbClr val="000000"/>
            </a:solidFill>
            <a:prstDash val="solid"/>
            <a:headEnd type="none" w="sm" len="sm"/>
            <a:tailEnd type="none" w="sm" len="sm"/>
          </a:ln>
        </p:spPr>
      </p:sp>
      <p:grpSp>
        <p:nvGrpSpPr>
          <p:cNvPr id="9" name="Group 9"/>
          <p:cNvGrpSpPr/>
          <p:nvPr/>
        </p:nvGrpSpPr>
        <p:grpSpPr>
          <a:xfrm>
            <a:off x="14199301" y="9623971"/>
            <a:ext cx="4362442" cy="1326059"/>
            <a:chOff x="0" y="0"/>
            <a:chExt cx="2297912" cy="698500"/>
          </a:xfrm>
        </p:grpSpPr>
        <p:sp>
          <p:nvSpPr>
            <p:cNvPr id="10" name="Freeform 10"/>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11" name="TextBox 11"/>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5512888" y="7858777"/>
            <a:ext cx="5550223" cy="4856445"/>
            <a:chOff x="0" y="0"/>
            <a:chExt cx="812800" cy="711200"/>
          </a:xfrm>
        </p:grpSpPr>
        <p:sp>
          <p:nvSpPr>
            <p:cNvPr id="13" name="Freeform 1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4" name="TextBox 14"/>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1174905" y="-2087854"/>
            <a:ext cx="9007144" cy="7740514"/>
            <a:chOff x="0" y="0"/>
            <a:chExt cx="812800" cy="698500"/>
          </a:xfrm>
        </p:grpSpPr>
        <p:sp>
          <p:nvSpPr>
            <p:cNvPr id="16" name="Freeform 16"/>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p:spPr>
        </p:sp>
        <p:sp>
          <p:nvSpPr>
            <p:cNvPr id="17" name="TextBox 17"/>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0301655" y="1529165"/>
            <a:ext cx="9352319" cy="8037149"/>
            <a:chOff x="0" y="0"/>
            <a:chExt cx="812800" cy="698500"/>
          </a:xfrm>
        </p:grpSpPr>
        <p:sp>
          <p:nvSpPr>
            <p:cNvPr id="19" name="Freeform 19"/>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20" name="TextBox 20"/>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sp>
        <p:nvSpPr>
          <p:cNvPr id="29" name="TextBox 29"/>
          <p:cNvSpPr txBox="1"/>
          <p:nvPr/>
        </p:nvSpPr>
        <p:spPr>
          <a:xfrm>
            <a:off x="377769" y="649991"/>
            <a:ext cx="11406888" cy="1266052"/>
          </a:xfrm>
          <a:prstGeom prst="rect">
            <a:avLst/>
          </a:prstGeom>
        </p:spPr>
        <p:txBody>
          <a:bodyPr wrap="square" lIns="0" tIns="0" rIns="0" bIns="0" rtlCol="0" anchor="t">
            <a:spAutoFit/>
          </a:bodyPr>
          <a:lstStyle/>
          <a:p>
            <a:pPr algn="l">
              <a:lnSpc>
                <a:spcPts val="10364"/>
              </a:lnSpc>
              <a:spcBef>
                <a:spcPct val="0"/>
              </a:spcBef>
            </a:pPr>
            <a:r>
              <a:rPr lang="en-US" sz="7402" b="1" dirty="0">
                <a:solidFill>
                  <a:srgbClr val="000000"/>
                </a:solidFill>
                <a:latin typeface="Poppins Bold"/>
                <a:ea typeface="Poppins Bold"/>
                <a:cs typeface="Poppins Bold"/>
                <a:sym typeface="Poppins Bold"/>
              </a:rPr>
              <a:t>GENERAL EXCLUSIONS</a:t>
            </a:r>
          </a:p>
        </p:txBody>
      </p:sp>
      <p:pic>
        <p:nvPicPr>
          <p:cNvPr id="1026" name="Picture 2" descr="What are Project Exclusions? | Learn more - Key Consulting">
            <a:extLst>
              <a:ext uri="{FF2B5EF4-FFF2-40B4-BE49-F238E27FC236}">
                <a16:creationId xmlns:a16="http://schemas.microsoft.com/office/drawing/2014/main" id="{AEF52C94-6AA0-450A-90AB-5B4EF4DD04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59244" y="1819138"/>
            <a:ext cx="7150847" cy="7150847"/>
          </a:xfrm>
          <a:prstGeom prst="rect">
            <a:avLst/>
          </a:prstGeom>
          <a:noFill/>
          <a:extLst>
            <a:ext uri="{909E8E84-426E-40DD-AFC4-6F175D3DCCD1}">
              <a14:hiddenFill xmlns:a14="http://schemas.microsoft.com/office/drawing/2010/main">
                <a:solidFill>
                  <a:srgbClr val="FFFFFF"/>
                </a:solidFill>
              </a14:hiddenFill>
            </a:ext>
          </a:extLst>
        </p:spPr>
      </p:pic>
      <p:sp>
        <p:nvSpPr>
          <p:cNvPr id="35" name="Rectangle 34">
            <a:extLst>
              <a:ext uri="{FF2B5EF4-FFF2-40B4-BE49-F238E27FC236}">
                <a16:creationId xmlns:a16="http://schemas.microsoft.com/office/drawing/2014/main" id="{5F7C0197-D7DA-4E39-A3F3-CE5E3B5F9E79}"/>
              </a:ext>
            </a:extLst>
          </p:cNvPr>
          <p:cNvSpPr/>
          <p:nvPr/>
        </p:nvSpPr>
        <p:spPr>
          <a:xfrm>
            <a:off x="163228" y="1969793"/>
            <a:ext cx="11844696" cy="9233297"/>
          </a:xfrm>
          <a:prstGeom prst="rect">
            <a:avLst/>
          </a:prstGeom>
        </p:spPr>
        <p:txBody>
          <a:bodyPr wrap="square">
            <a:spAutoFit/>
          </a:bodyPr>
          <a:lstStyle/>
          <a:p>
            <a:r>
              <a:rPr lang="en-US" sz="2700" b="1" dirty="0">
                <a:latin typeface="+mj-lt"/>
              </a:rPr>
              <a:t>1. Non-Medically Necessary or Cosmetic Procedures</a:t>
            </a:r>
            <a:endParaRPr lang="en-US" sz="2700" dirty="0">
              <a:latin typeface="+mj-lt"/>
            </a:endParaRPr>
          </a:p>
          <a:p>
            <a:r>
              <a:rPr lang="en-US" sz="2700" dirty="0">
                <a:latin typeface="+mj-lt"/>
              </a:rPr>
              <a:t>Plastic or reconstructive surgery for cosmetic purposes (e.g., nose lift, liposuction, facelift). Treatment for obesity, weight reduction, or body contouring. Hair loss treatments, skin whitening, or tattoo removal. Corrective eye surgery for refractive errors (LASIK, etc.).</a:t>
            </a:r>
          </a:p>
          <a:p>
            <a:endParaRPr lang="en-US" sz="2700" dirty="0">
              <a:latin typeface="+mj-lt"/>
            </a:endParaRPr>
          </a:p>
          <a:p>
            <a:r>
              <a:rPr lang="en-US" sz="2700" b="1" dirty="0">
                <a:latin typeface="+mj-lt"/>
              </a:rPr>
              <a:t>2. Dental Services Beyond Coverage</a:t>
            </a:r>
            <a:endParaRPr lang="en-US" sz="2700" dirty="0">
              <a:latin typeface="+mj-lt"/>
            </a:endParaRPr>
          </a:p>
          <a:p>
            <a:pPr lvl="0"/>
            <a:r>
              <a:rPr lang="en-US" sz="2700" dirty="0">
                <a:latin typeface="+mj-lt"/>
              </a:rPr>
              <a:t>Orthodontic braces and retainers. Cosmetic dental procedures (veneers, bleaching). Dentures and prosthetics unless specifically included in the plan.</a:t>
            </a:r>
          </a:p>
          <a:p>
            <a:pPr lvl="0"/>
            <a:endParaRPr lang="en-US" sz="2700" dirty="0">
              <a:latin typeface="+mj-lt"/>
            </a:endParaRPr>
          </a:p>
          <a:p>
            <a:r>
              <a:rPr lang="en-US" sz="2700" b="1" dirty="0">
                <a:latin typeface="+mj-lt"/>
              </a:rPr>
              <a:t>3. Congenital, Genetic, or Developmental Conditions</a:t>
            </a:r>
            <a:endParaRPr lang="en-US" sz="2700" dirty="0">
              <a:latin typeface="+mj-lt"/>
            </a:endParaRPr>
          </a:p>
          <a:p>
            <a:pPr lvl="0"/>
            <a:r>
              <a:rPr lang="en-US" sz="2700" dirty="0">
                <a:latin typeface="+mj-lt"/>
              </a:rPr>
              <a:t>Congenital or hereditary diseases (unless included in special plans). Learning disabilities, speech therapy, or developmental therapy. Genetic testing and counseling.</a:t>
            </a:r>
          </a:p>
          <a:p>
            <a:pPr lvl="0"/>
            <a:endParaRPr lang="en-US" sz="2700" dirty="0">
              <a:latin typeface="+mj-lt"/>
            </a:endParaRPr>
          </a:p>
          <a:p>
            <a:r>
              <a:rPr lang="en-US" sz="2700" b="1" dirty="0">
                <a:latin typeface="+mj-lt"/>
              </a:rPr>
              <a:t>4. Maternity and Reproductive Services</a:t>
            </a:r>
            <a:endParaRPr lang="en-US" sz="2700" dirty="0">
              <a:latin typeface="+mj-lt"/>
            </a:endParaRPr>
          </a:p>
          <a:p>
            <a:pPr lvl="0"/>
            <a:r>
              <a:rPr lang="en-US" sz="2700" dirty="0">
                <a:latin typeface="+mj-lt"/>
              </a:rPr>
              <a:t>Normal pregnancy, childbirth, and postpartum care (unless maternity coverage is explicitly added). Fertility treatment, artificial insemination, in-vitro fertilization (IVF). Contraceptives, family planning procedures, or voluntary sterilization. Circumcision, except if medically necessary (e.g., infection).</a:t>
            </a:r>
          </a:p>
          <a:p>
            <a:pPr marL="285750" indent="-285750">
              <a:buFont typeface="Arial" panose="020B0604020202020204" pitchFamily="34" charset="0"/>
              <a:buChar char="•"/>
            </a:pPr>
            <a:endParaRPr lang="en-US" sz="2700" dirty="0">
              <a:latin typeface="+mj-lt"/>
            </a:endParaRPr>
          </a:p>
          <a:p>
            <a:pPr marL="285750" indent="-285750">
              <a:buFont typeface="Arial" panose="020B0604020202020204" pitchFamily="34" charset="0"/>
              <a:buChar char="•"/>
            </a:pPr>
            <a:endParaRPr lang="en-US" sz="2700" dirty="0">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xEl>
                                              <p:pRg st="0" end="0"/>
                                            </p:txEl>
                                          </p:spTgt>
                                        </p:tgtEl>
                                        <p:attrNameLst>
                                          <p:attrName>style.visibility</p:attrName>
                                        </p:attrNameLst>
                                      </p:cBhvr>
                                      <p:to>
                                        <p:strVal val="visible"/>
                                      </p:to>
                                    </p:set>
                                    <p:animEffect transition="in" filter="fade">
                                      <p:cBhvr>
                                        <p:cTn id="7" dur="500"/>
                                        <p:tgtEl>
                                          <p:spTgt spid="3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5">
                                            <p:txEl>
                                              <p:pRg st="1" end="1"/>
                                            </p:txEl>
                                          </p:spTgt>
                                        </p:tgtEl>
                                        <p:attrNameLst>
                                          <p:attrName>style.visibility</p:attrName>
                                        </p:attrNameLst>
                                      </p:cBhvr>
                                      <p:to>
                                        <p:strVal val="visible"/>
                                      </p:to>
                                    </p:set>
                                    <p:animEffect transition="in" filter="fade">
                                      <p:cBhvr>
                                        <p:cTn id="10" dur="500"/>
                                        <p:tgtEl>
                                          <p:spTgt spid="3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5">
                                            <p:txEl>
                                              <p:pRg st="3" end="3"/>
                                            </p:txEl>
                                          </p:spTgt>
                                        </p:tgtEl>
                                        <p:attrNameLst>
                                          <p:attrName>style.visibility</p:attrName>
                                        </p:attrNameLst>
                                      </p:cBhvr>
                                      <p:to>
                                        <p:strVal val="visible"/>
                                      </p:to>
                                    </p:set>
                                    <p:animEffect transition="in" filter="fade">
                                      <p:cBhvr>
                                        <p:cTn id="15" dur="500"/>
                                        <p:tgtEl>
                                          <p:spTgt spid="35">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5">
                                            <p:txEl>
                                              <p:pRg st="4" end="4"/>
                                            </p:txEl>
                                          </p:spTgt>
                                        </p:tgtEl>
                                        <p:attrNameLst>
                                          <p:attrName>style.visibility</p:attrName>
                                        </p:attrNameLst>
                                      </p:cBhvr>
                                      <p:to>
                                        <p:strVal val="visible"/>
                                      </p:to>
                                    </p:set>
                                    <p:animEffect transition="in" filter="fade">
                                      <p:cBhvr>
                                        <p:cTn id="18" dur="500"/>
                                        <p:tgtEl>
                                          <p:spTgt spid="35">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5">
                                            <p:txEl>
                                              <p:pRg st="6" end="6"/>
                                            </p:txEl>
                                          </p:spTgt>
                                        </p:tgtEl>
                                        <p:attrNameLst>
                                          <p:attrName>style.visibility</p:attrName>
                                        </p:attrNameLst>
                                      </p:cBhvr>
                                      <p:to>
                                        <p:strVal val="visible"/>
                                      </p:to>
                                    </p:set>
                                    <p:animEffect transition="in" filter="fade">
                                      <p:cBhvr>
                                        <p:cTn id="23" dur="500"/>
                                        <p:tgtEl>
                                          <p:spTgt spid="35">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5">
                                            <p:txEl>
                                              <p:pRg st="7" end="7"/>
                                            </p:txEl>
                                          </p:spTgt>
                                        </p:tgtEl>
                                        <p:attrNameLst>
                                          <p:attrName>style.visibility</p:attrName>
                                        </p:attrNameLst>
                                      </p:cBhvr>
                                      <p:to>
                                        <p:strVal val="visible"/>
                                      </p:to>
                                    </p:set>
                                    <p:animEffect transition="in" filter="fade">
                                      <p:cBhvr>
                                        <p:cTn id="26" dur="500"/>
                                        <p:tgtEl>
                                          <p:spTgt spid="35">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5">
                                            <p:txEl>
                                              <p:pRg st="9" end="9"/>
                                            </p:txEl>
                                          </p:spTgt>
                                        </p:tgtEl>
                                        <p:attrNameLst>
                                          <p:attrName>style.visibility</p:attrName>
                                        </p:attrNameLst>
                                      </p:cBhvr>
                                      <p:to>
                                        <p:strVal val="visible"/>
                                      </p:to>
                                    </p:set>
                                    <p:animEffect transition="in" filter="fade">
                                      <p:cBhvr>
                                        <p:cTn id="31" dur="500"/>
                                        <p:tgtEl>
                                          <p:spTgt spid="35">
                                            <p:txEl>
                                              <p:pRg st="9" end="9"/>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5">
                                            <p:txEl>
                                              <p:pRg st="10" end="10"/>
                                            </p:txEl>
                                          </p:spTgt>
                                        </p:tgtEl>
                                        <p:attrNameLst>
                                          <p:attrName>style.visibility</p:attrName>
                                        </p:attrNameLst>
                                      </p:cBhvr>
                                      <p:to>
                                        <p:strVal val="visible"/>
                                      </p:to>
                                    </p:set>
                                    <p:animEffect transition="in" filter="fade">
                                      <p:cBhvr>
                                        <p:cTn id="34" dur="500"/>
                                        <p:tgtEl>
                                          <p:spTgt spid="3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sp>
        <p:nvSpPr>
          <p:cNvPr id="8" name="AutoShape 8"/>
          <p:cNvSpPr/>
          <p:nvPr/>
        </p:nvSpPr>
        <p:spPr>
          <a:xfrm>
            <a:off x="413888" y="1931256"/>
            <a:ext cx="5962175" cy="0"/>
          </a:xfrm>
          <a:prstGeom prst="line">
            <a:avLst/>
          </a:prstGeom>
          <a:ln w="85725" cap="rnd">
            <a:solidFill>
              <a:srgbClr val="000000"/>
            </a:solidFill>
            <a:prstDash val="solid"/>
            <a:headEnd type="none" w="sm" len="sm"/>
            <a:tailEnd type="none" w="sm" len="sm"/>
          </a:ln>
        </p:spPr>
      </p:sp>
      <p:grpSp>
        <p:nvGrpSpPr>
          <p:cNvPr id="9" name="Group 9"/>
          <p:cNvGrpSpPr/>
          <p:nvPr/>
        </p:nvGrpSpPr>
        <p:grpSpPr>
          <a:xfrm>
            <a:off x="14199301" y="9623971"/>
            <a:ext cx="4362442" cy="1326059"/>
            <a:chOff x="0" y="0"/>
            <a:chExt cx="2297912" cy="698500"/>
          </a:xfrm>
        </p:grpSpPr>
        <p:sp>
          <p:nvSpPr>
            <p:cNvPr id="10" name="Freeform 10"/>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11" name="TextBox 11"/>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5512888" y="7858777"/>
            <a:ext cx="5550223" cy="4856445"/>
            <a:chOff x="0" y="0"/>
            <a:chExt cx="812800" cy="711200"/>
          </a:xfrm>
        </p:grpSpPr>
        <p:sp>
          <p:nvSpPr>
            <p:cNvPr id="13" name="Freeform 1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4" name="TextBox 14"/>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1174905" y="-2087854"/>
            <a:ext cx="9007144" cy="7740514"/>
            <a:chOff x="0" y="0"/>
            <a:chExt cx="812800" cy="698500"/>
          </a:xfrm>
        </p:grpSpPr>
        <p:sp>
          <p:nvSpPr>
            <p:cNvPr id="16" name="Freeform 16"/>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p:spPr>
        </p:sp>
        <p:sp>
          <p:nvSpPr>
            <p:cNvPr id="17" name="TextBox 17"/>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0301655" y="1529165"/>
            <a:ext cx="9352319" cy="8037149"/>
            <a:chOff x="0" y="0"/>
            <a:chExt cx="812800" cy="698500"/>
          </a:xfrm>
        </p:grpSpPr>
        <p:sp>
          <p:nvSpPr>
            <p:cNvPr id="19" name="Freeform 19"/>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20" name="TextBox 20"/>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sp>
        <p:nvSpPr>
          <p:cNvPr id="29" name="TextBox 29"/>
          <p:cNvSpPr txBox="1"/>
          <p:nvPr/>
        </p:nvSpPr>
        <p:spPr>
          <a:xfrm>
            <a:off x="377769" y="649991"/>
            <a:ext cx="11406888" cy="1266052"/>
          </a:xfrm>
          <a:prstGeom prst="rect">
            <a:avLst/>
          </a:prstGeom>
        </p:spPr>
        <p:txBody>
          <a:bodyPr wrap="square" lIns="0" tIns="0" rIns="0" bIns="0" rtlCol="0" anchor="t">
            <a:spAutoFit/>
          </a:bodyPr>
          <a:lstStyle/>
          <a:p>
            <a:pPr algn="l">
              <a:lnSpc>
                <a:spcPts val="10364"/>
              </a:lnSpc>
              <a:spcBef>
                <a:spcPct val="0"/>
              </a:spcBef>
            </a:pPr>
            <a:r>
              <a:rPr lang="en-US" sz="7402" b="1" dirty="0">
                <a:solidFill>
                  <a:srgbClr val="000000"/>
                </a:solidFill>
                <a:latin typeface="Poppins Bold"/>
                <a:ea typeface="Poppins Bold"/>
                <a:cs typeface="Poppins Bold"/>
                <a:sym typeface="Poppins Bold"/>
              </a:rPr>
              <a:t>GENERAL EXCLUSIONS</a:t>
            </a:r>
          </a:p>
        </p:txBody>
      </p:sp>
      <p:pic>
        <p:nvPicPr>
          <p:cNvPr id="1026" name="Picture 2" descr="What are Project Exclusions? | Learn more - Key Consulting">
            <a:extLst>
              <a:ext uri="{FF2B5EF4-FFF2-40B4-BE49-F238E27FC236}">
                <a16:creationId xmlns:a16="http://schemas.microsoft.com/office/drawing/2014/main" id="{AEF52C94-6AA0-450A-90AB-5B4EF4DD04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59244" y="1819138"/>
            <a:ext cx="7150847" cy="7150847"/>
          </a:xfrm>
          <a:prstGeom prst="rect">
            <a:avLst/>
          </a:prstGeom>
          <a:noFill/>
          <a:extLst>
            <a:ext uri="{909E8E84-426E-40DD-AFC4-6F175D3DCCD1}">
              <a14:hiddenFill xmlns:a14="http://schemas.microsoft.com/office/drawing/2010/main">
                <a:solidFill>
                  <a:srgbClr val="FFFFFF"/>
                </a:solidFill>
              </a14:hiddenFill>
            </a:ext>
          </a:extLst>
        </p:spPr>
      </p:pic>
      <p:sp>
        <p:nvSpPr>
          <p:cNvPr id="24" name="Rectangle 23">
            <a:extLst>
              <a:ext uri="{FF2B5EF4-FFF2-40B4-BE49-F238E27FC236}">
                <a16:creationId xmlns:a16="http://schemas.microsoft.com/office/drawing/2014/main" id="{BECDD442-BE09-42CE-A1C8-40B58AACB2A1}"/>
              </a:ext>
            </a:extLst>
          </p:cNvPr>
          <p:cNvSpPr/>
          <p:nvPr/>
        </p:nvSpPr>
        <p:spPr>
          <a:xfrm>
            <a:off x="144953" y="2016762"/>
            <a:ext cx="11254880" cy="8586966"/>
          </a:xfrm>
          <a:prstGeom prst="rect">
            <a:avLst/>
          </a:prstGeom>
        </p:spPr>
        <p:txBody>
          <a:bodyPr wrap="square">
            <a:spAutoFit/>
          </a:bodyPr>
          <a:lstStyle/>
          <a:p>
            <a:r>
              <a:rPr lang="en-US" sz="2400" b="1" dirty="0">
                <a:latin typeface="+mj-lt"/>
              </a:rPr>
              <a:t>5. Mental Health, Psychiatric, and Psychological Disorders</a:t>
            </a:r>
            <a:endParaRPr lang="en-US" sz="2400" dirty="0">
              <a:latin typeface="+mj-lt"/>
            </a:endParaRPr>
          </a:p>
          <a:p>
            <a:pPr lvl="0"/>
            <a:r>
              <a:rPr lang="en-US" sz="2400" dirty="0">
                <a:latin typeface="+mj-lt"/>
              </a:rPr>
              <a:t>Psychiatric evaluation, psychotherapy, counseling, and mental health admissions (except if explicitly covered).</a:t>
            </a:r>
          </a:p>
          <a:p>
            <a:pPr lvl="0"/>
            <a:r>
              <a:rPr lang="en-US" sz="2400" dirty="0">
                <a:latin typeface="+mj-lt"/>
              </a:rPr>
              <a:t>Drug or alcohol rehabilitation, detoxification programs.</a:t>
            </a:r>
          </a:p>
          <a:p>
            <a:pPr lvl="0"/>
            <a:endParaRPr lang="en-US" sz="2400" dirty="0">
              <a:latin typeface="+mj-lt"/>
            </a:endParaRPr>
          </a:p>
          <a:p>
            <a:r>
              <a:rPr lang="en-US" sz="2400" b="1" dirty="0">
                <a:latin typeface="+mj-lt"/>
              </a:rPr>
              <a:t>7. Occupational or Work-Related Injuries</a:t>
            </a:r>
            <a:endParaRPr lang="en-US" sz="2400" dirty="0">
              <a:latin typeface="+mj-lt"/>
            </a:endParaRPr>
          </a:p>
          <a:p>
            <a:pPr lvl="0"/>
            <a:r>
              <a:rPr lang="en-US" sz="2400" dirty="0">
                <a:latin typeface="+mj-lt"/>
              </a:rPr>
              <a:t>Work-related accidents covered by the Employees Compensation Commission (ECC) or PhilHealth. Injuries from employment hazards or while performing job duties.</a:t>
            </a:r>
          </a:p>
          <a:p>
            <a:pPr lvl="0"/>
            <a:endParaRPr lang="en-US" sz="2400" dirty="0">
              <a:latin typeface="+mj-lt"/>
            </a:endParaRPr>
          </a:p>
          <a:p>
            <a:r>
              <a:rPr lang="en-US" sz="2400" b="1" dirty="0">
                <a:latin typeface="+mj-lt"/>
              </a:rPr>
              <a:t>8. Self-Inflicted Injuries or Illegal Acts</a:t>
            </a:r>
            <a:endParaRPr lang="en-US" sz="2400" dirty="0">
              <a:latin typeface="+mj-lt"/>
            </a:endParaRPr>
          </a:p>
          <a:p>
            <a:r>
              <a:rPr lang="en-US" sz="2400" dirty="0">
                <a:latin typeface="+mj-lt"/>
              </a:rPr>
              <a:t>Suicide or attempted suicide. Self-inflicted harm. Injuries due to participation in criminal acts or resistance to lawful arrest.</a:t>
            </a:r>
          </a:p>
          <a:p>
            <a:endParaRPr lang="en-US" sz="2400" dirty="0">
              <a:latin typeface="+mj-lt"/>
            </a:endParaRPr>
          </a:p>
          <a:p>
            <a:r>
              <a:rPr lang="en-US" sz="2400" b="1" dirty="0">
                <a:latin typeface="+mj-lt"/>
              </a:rPr>
              <a:t>9. High-Risk or Hazardous Activities</a:t>
            </a:r>
            <a:endParaRPr lang="en-US" sz="2400" dirty="0">
              <a:latin typeface="+mj-lt"/>
            </a:endParaRPr>
          </a:p>
          <a:p>
            <a:pPr lvl="0"/>
            <a:r>
              <a:rPr lang="en-US" sz="2400" dirty="0">
                <a:latin typeface="+mj-lt"/>
              </a:rPr>
              <a:t>Injuries from extreme sports or activities (e.g., scuba diving, skydiving, racing, mountaineering, martial arts competitions). Accidents while under the influence of drugs or alcohol.</a:t>
            </a:r>
          </a:p>
          <a:p>
            <a:pPr lvl="0"/>
            <a:endParaRPr lang="en-US" sz="2400" dirty="0">
              <a:latin typeface="+mj-lt"/>
            </a:endParaRPr>
          </a:p>
          <a:p>
            <a:r>
              <a:rPr lang="en-US" sz="2400" b="1" dirty="0">
                <a:latin typeface="+mj-lt"/>
              </a:rPr>
              <a:t>10. Non-Prescription or Alternative Treatments</a:t>
            </a:r>
            <a:endParaRPr lang="en-US" sz="2400" dirty="0">
              <a:latin typeface="+mj-lt"/>
            </a:endParaRPr>
          </a:p>
          <a:p>
            <a:pPr lvl="0"/>
            <a:r>
              <a:rPr lang="en-US" sz="2400" dirty="0">
                <a:latin typeface="+mj-lt"/>
              </a:rPr>
              <a:t>Vitamins, supplements, herbal or alternative medicines (e.g., acupuncture, chiropractic care, traditional healers).</a:t>
            </a:r>
          </a:p>
          <a:p>
            <a:pPr lvl="0"/>
            <a:r>
              <a:rPr lang="en-US" sz="2400" dirty="0">
                <a:latin typeface="+mj-lt"/>
              </a:rPr>
              <a:t>Experimental or investigational treatments not approved by DOH or FDA.</a:t>
            </a:r>
          </a:p>
          <a:p>
            <a:endParaRPr lang="en-US" sz="2400" dirty="0">
              <a:latin typeface="+mj-lt"/>
            </a:endParaRPr>
          </a:p>
        </p:txBody>
      </p:sp>
    </p:spTree>
    <p:extLst>
      <p:ext uri="{BB962C8B-B14F-4D97-AF65-F5344CB8AC3E}">
        <p14:creationId xmlns:p14="http://schemas.microsoft.com/office/powerpoint/2010/main" val="3663468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Effect transition="in" filter="fade">
                                      <p:cBhvr>
                                        <p:cTn id="7" dur="500"/>
                                        <p:tgtEl>
                                          <p:spTgt spid="2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4">
                                            <p:txEl>
                                              <p:pRg st="1" end="1"/>
                                            </p:txEl>
                                          </p:spTgt>
                                        </p:tgtEl>
                                        <p:attrNameLst>
                                          <p:attrName>style.visibility</p:attrName>
                                        </p:attrNameLst>
                                      </p:cBhvr>
                                      <p:to>
                                        <p:strVal val="visible"/>
                                      </p:to>
                                    </p:set>
                                    <p:animEffect transition="in" filter="fade">
                                      <p:cBhvr>
                                        <p:cTn id="10" dur="500"/>
                                        <p:tgtEl>
                                          <p:spTgt spid="24">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4">
                                            <p:txEl>
                                              <p:pRg st="2" end="2"/>
                                            </p:txEl>
                                          </p:spTgt>
                                        </p:tgtEl>
                                        <p:attrNameLst>
                                          <p:attrName>style.visibility</p:attrName>
                                        </p:attrNameLst>
                                      </p:cBhvr>
                                      <p:to>
                                        <p:strVal val="visible"/>
                                      </p:to>
                                    </p:set>
                                    <p:animEffect transition="in" filter="fade">
                                      <p:cBhvr>
                                        <p:cTn id="13" dur="500"/>
                                        <p:tgtEl>
                                          <p:spTgt spid="24">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4">
                                            <p:txEl>
                                              <p:pRg st="4" end="4"/>
                                            </p:txEl>
                                          </p:spTgt>
                                        </p:tgtEl>
                                        <p:attrNameLst>
                                          <p:attrName>style.visibility</p:attrName>
                                        </p:attrNameLst>
                                      </p:cBhvr>
                                      <p:to>
                                        <p:strVal val="visible"/>
                                      </p:to>
                                    </p:set>
                                    <p:animEffect transition="in" filter="fade">
                                      <p:cBhvr>
                                        <p:cTn id="18" dur="500"/>
                                        <p:tgtEl>
                                          <p:spTgt spid="24">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4">
                                            <p:txEl>
                                              <p:pRg st="5" end="5"/>
                                            </p:txEl>
                                          </p:spTgt>
                                        </p:tgtEl>
                                        <p:attrNameLst>
                                          <p:attrName>style.visibility</p:attrName>
                                        </p:attrNameLst>
                                      </p:cBhvr>
                                      <p:to>
                                        <p:strVal val="visible"/>
                                      </p:to>
                                    </p:set>
                                    <p:animEffect transition="in" filter="fade">
                                      <p:cBhvr>
                                        <p:cTn id="21" dur="500"/>
                                        <p:tgtEl>
                                          <p:spTgt spid="24">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4">
                                            <p:txEl>
                                              <p:pRg st="7" end="7"/>
                                            </p:txEl>
                                          </p:spTgt>
                                        </p:tgtEl>
                                        <p:attrNameLst>
                                          <p:attrName>style.visibility</p:attrName>
                                        </p:attrNameLst>
                                      </p:cBhvr>
                                      <p:to>
                                        <p:strVal val="visible"/>
                                      </p:to>
                                    </p:set>
                                    <p:animEffect transition="in" filter="fade">
                                      <p:cBhvr>
                                        <p:cTn id="26" dur="500"/>
                                        <p:tgtEl>
                                          <p:spTgt spid="24">
                                            <p:txEl>
                                              <p:pRg st="7" end="7"/>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24">
                                            <p:txEl>
                                              <p:pRg st="8" end="8"/>
                                            </p:txEl>
                                          </p:spTgt>
                                        </p:tgtEl>
                                        <p:attrNameLst>
                                          <p:attrName>style.visibility</p:attrName>
                                        </p:attrNameLst>
                                      </p:cBhvr>
                                      <p:to>
                                        <p:strVal val="visible"/>
                                      </p:to>
                                    </p:set>
                                    <p:animEffect transition="in" filter="fade">
                                      <p:cBhvr>
                                        <p:cTn id="29" dur="500"/>
                                        <p:tgtEl>
                                          <p:spTgt spid="24">
                                            <p:txEl>
                                              <p:pRg st="8" end="8"/>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4">
                                            <p:txEl>
                                              <p:pRg st="10" end="10"/>
                                            </p:txEl>
                                          </p:spTgt>
                                        </p:tgtEl>
                                        <p:attrNameLst>
                                          <p:attrName>style.visibility</p:attrName>
                                        </p:attrNameLst>
                                      </p:cBhvr>
                                      <p:to>
                                        <p:strVal val="visible"/>
                                      </p:to>
                                    </p:set>
                                    <p:animEffect transition="in" filter="fade">
                                      <p:cBhvr>
                                        <p:cTn id="34" dur="500"/>
                                        <p:tgtEl>
                                          <p:spTgt spid="24">
                                            <p:txEl>
                                              <p:pRg st="10" end="10"/>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24">
                                            <p:txEl>
                                              <p:pRg st="11" end="11"/>
                                            </p:txEl>
                                          </p:spTgt>
                                        </p:tgtEl>
                                        <p:attrNameLst>
                                          <p:attrName>style.visibility</p:attrName>
                                        </p:attrNameLst>
                                      </p:cBhvr>
                                      <p:to>
                                        <p:strVal val="visible"/>
                                      </p:to>
                                    </p:set>
                                    <p:animEffect transition="in" filter="fade">
                                      <p:cBhvr>
                                        <p:cTn id="37" dur="500"/>
                                        <p:tgtEl>
                                          <p:spTgt spid="24">
                                            <p:txEl>
                                              <p:pRg st="11" end="1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4">
                                            <p:txEl>
                                              <p:pRg st="13" end="13"/>
                                            </p:txEl>
                                          </p:spTgt>
                                        </p:tgtEl>
                                        <p:attrNameLst>
                                          <p:attrName>style.visibility</p:attrName>
                                        </p:attrNameLst>
                                      </p:cBhvr>
                                      <p:to>
                                        <p:strVal val="visible"/>
                                      </p:to>
                                    </p:set>
                                    <p:animEffect transition="in" filter="fade">
                                      <p:cBhvr>
                                        <p:cTn id="42" dur="500"/>
                                        <p:tgtEl>
                                          <p:spTgt spid="24">
                                            <p:txEl>
                                              <p:pRg st="13" end="13"/>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24">
                                            <p:txEl>
                                              <p:pRg st="14" end="14"/>
                                            </p:txEl>
                                          </p:spTgt>
                                        </p:tgtEl>
                                        <p:attrNameLst>
                                          <p:attrName>style.visibility</p:attrName>
                                        </p:attrNameLst>
                                      </p:cBhvr>
                                      <p:to>
                                        <p:strVal val="visible"/>
                                      </p:to>
                                    </p:set>
                                    <p:animEffect transition="in" filter="fade">
                                      <p:cBhvr>
                                        <p:cTn id="45" dur="500"/>
                                        <p:tgtEl>
                                          <p:spTgt spid="24">
                                            <p:txEl>
                                              <p:pRg st="14" end="14"/>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24">
                                            <p:txEl>
                                              <p:pRg st="15" end="15"/>
                                            </p:txEl>
                                          </p:spTgt>
                                        </p:tgtEl>
                                        <p:attrNameLst>
                                          <p:attrName>style.visibility</p:attrName>
                                        </p:attrNameLst>
                                      </p:cBhvr>
                                      <p:to>
                                        <p:strVal val="visible"/>
                                      </p:to>
                                    </p:set>
                                    <p:animEffect transition="in" filter="fade">
                                      <p:cBhvr>
                                        <p:cTn id="48" dur="500"/>
                                        <p:tgtEl>
                                          <p:spTgt spid="24">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sp>
        <p:nvSpPr>
          <p:cNvPr id="8" name="AutoShape 8"/>
          <p:cNvSpPr/>
          <p:nvPr/>
        </p:nvSpPr>
        <p:spPr>
          <a:xfrm>
            <a:off x="413888" y="1931256"/>
            <a:ext cx="5962175" cy="0"/>
          </a:xfrm>
          <a:prstGeom prst="line">
            <a:avLst/>
          </a:prstGeom>
          <a:ln w="85725" cap="rnd">
            <a:solidFill>
              <a:srgbClr val="000000"/>
            </a:solidFill>
            <a:prstDash val="solid"/>
            <a:headEnd type="none" w="sm" len="sm"/>
            <a:tailEnd type="none" w="sm" len="sm"/>
          </a:ln>
        </p:spPr>
      </p:sp>
      <p:grpSp>
        <p:nvGrpSpPr>
          <p:cNvPr id="9" name="Group 9"/>
          <p:cNvGrpSpPr/>
          <p:nvPr/>
        </p:nvGrpSpPr>
        <p:grpSpPr>
          <a:xfrm>
            <a:off x="14199301" y="9623971"/>
            <a:ext cx="4362442" cy="1326059"/>
            <a:chOff x="0" y="0"/>
            <a:chExt cx="2297912" cy="698500"/>
          </a:xfrm>
        </p:grpSpPr>
        <p:sp>
          <p:nvSpPr>
            <p:cNvPr id="10" name="Freeform 10"/>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11" name="TextBox 11"/>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5512888" y="7858777"/>
            <a:ext cx="5550223" cy="4856445"/>
            <a:chOff x="0" y="0"/>
            <a:chExt cx="812800" cy="711200"/>
          </a:xfrm>
        </p:grpSpPr>
        <p:sp>
          <p:nvSpPr>
            <p:cNvPr id="13" name="Freeform 1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4" name="TextBox 14"/>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1174905" y="-2087854"/>
            <a:ext cx="9007144" cy="7740514"/>
            <a:chOff x="0" y="0"/>
            <a:chExt cx="812800" cy="698500"/>
          </a:xfrm>
        </p:grpSpPr>
        <p:sp>
          <p:nvSpPr>
            <p:cNvPr id="16" name="Freeform 16"/>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p:spPr>
        </p:sp>
        <p:sp>
          <p:nvSpPr>
            <p:cNvPr id="17" name="TextBox 17"/>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0301655" y="1529165"/>
            <a:ext cx="9352319" cy="8037149"/>
            <a:chOff x="0" y="0"/>
            <a:chExt cx="812800" cy="698500"/>
          </a:xfrm>
        </p:grpSpPr>
        <p:sp>
          <p:nvSpPr>
            <p:cNvPr id="19" name="Freeform 19"/>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20" name="TextBox 20"/>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sp>
        <p:nvSpPr>
          <p:cNvPr id="29" name="TextBox 29"/>
          <p:cNvSpPr txBox="1"/>
          <p:nvPr/>
        </p:nvSpPr>
        <p:spPr>
          <a:xfrm>
            <a:off x="377769" y="649991"/>
            <a:ext cx="11406888" cy="1266052"/>
          </a:xfrm>
          <a:prstGeom prst="rect">
            <a:avLst/>
          </a:prstGeom>
        </p:spPr>
        <p:txBody>
          <a:bodyPr wrap="square" lIns="0" tIns="0" rIns="0" bIns="0" rtlCol="0" anchor="t">
            <a:spAutoFit/>
          </a:bodyPr>
          <a:lstStyle/>
          <a:p>
            <a:pPr algn="l">
              <a:lnSpc>
                <a:spcPts val="10364"/>
              </a:lnSpc>
              <a:spcBef>
                <a:spcPct val="0"/>
              </a:spcBef>
            </a:pPr>
            <a:r>
              <a:rPr lang="en-US" sz="7402" b="1" dirty="0">
                <a:solidFill>
                  <a:srgbClr val="000000"/>
                </a:solidFill>
                <a:latin typeface="Poppins Bold"/>
                <a:ea typeface="Poppins Bold"/>
                <a:cs typeface="Poppins Bold"/>
                <a:sym typeface="Poppins Bold"/>
              </a:rPr>
              <a:t>GENERAL EXCLUSIONS</a:t>
            </a:r>
          </a:p>
        </p:txBody>
      </p:sp>
      <p:pic>
        <p:nvPicPr>
          <p:cNvPr id="1026" name="Picture 2" descr="What are Project Exclusions? | Learn more - Key Consulting">
            <a:extLst>
              <a:ext uri="{FF2B5EF4-FFF2-40B4-BE49-F238E27FC236}">
                <a16:creationId xmlns:a16="http://schemas.microsoft.com/office/drawing/2014/main" id="{AEF52C94-6AA0-450A-90AB-5B4EF4DD04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59244" y="1819138"/>
            <a:ext cx="7150847" cy="7150847"/>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24">
            <a:extLst>
              <a:ext uri="{FF2B5EF4-FFF2-40B4-BE49-F238E27FC236}">
                <a16:creationId xmlns:a16="http://schemas.microsoft.com/office/drawing/2014/main" id="{A8656E6F-0F8D-4167-ADC4-25CE3CF47584}"/>
              </a:ext>
            </a:extLst>
          </p:cNvPr>
          <p:cNvSpPr/>
          <p:nvPr/>
        </p:nvSpPr>
        <p:spPr>
          <a:xfrm>
            <a:off x="86813" y="2442534"/>
            <a:ext cx="11466484" cy="7848302"/>
          </a:xfrm>
          <a:prstGeom prst="rect">
            <a:avLst/>
          </a:prstGeom>
        </p:spPr>
        <p:txBody>
          <a:bodyPr wrap="square">
            <a:spAutoFit/>
          </a:bodyPr>
          <a:lstStyle/>
          <a:p>
            <a:r>
              <a:rPr lang="en-US" sz="2800" b="1" dirty="0">
                <a:latin typeface="+mj-lt"/>
              </a:rPr>
              <a:t>11. Non-Covered Diagnostic and Administrative Costs</a:t>
            </a:r>
            <a:endParaRPr lang="en-US" sz="2800" dirty="0">
              <a:latin typeface="+mj-lt"/>
            </a:endParaRPr>
          </a:p>
          <a:p>
            <a:pPr lvl="0"/>
            <a:r>
              <a:rPr lang="en-US" sz="2800" dirty="0">
                <a:latin typeface="+mj-lt"/>
              </a:rPr>
              <a:t>Executive check-ups are not listed in the APE coverage. Medical certificates, fit-to-work, travel clearance, or police report requirements. Medical supplies not medically necessary (e.g., personal comfort items, toiletries).</a:t>
            </a:r>
          </a:p>
          <a:p>
            <a:pPr lvl="0"/>
            <a:endParaRPr lang="en-US" sz="2800" dirty="0">
              <a:latin typeface="+mj-lt"/>
            </a:endParaRPr>
          </a:p>
          <a:p>
            <a:r>
              <a:rPr lang="en-US" sz="2800" b="1" dirty="0">
                <a:latin typeface="+mj-lt"/>
              </a:rPr>
              <a:t>12. Organ Transplants and Special Treatments</a:t>
            </a:r>
            <a:endParaRPr lang="en-US" sz="2800" dirty="0">
              <a:latin typeface="+mj-lt"/>
            </a:endParaRPr>
          </a:p>
          <a:p>
            <a:pPr lvl="0"/>
            <a:r>
              <a:rPr lang="en-US" sz="2800" dirty="0">
                <a:latin typeface="+mj-lt"/>
              </a:rPr>
              <a:t>Organ donor expenses. Dialysis, chemotherapy, radiation, or immunotherapy unless specifically included.</a:t>
            </a:r>
          </a:p>
          <a:p>
            <a:pPr lvl="0"/>
            <a:r>
              <a:rPr lang="en-US" sz="2800" dirty="0">
                <a:latin typeface="+mj-lt"/>
              </a:rPr>
              <a:t>Experimental surgical or medical procedures.</a:t>
            </a:r>
          </a:p>
          <a:p>
            <a:pPr lvl="0"/>
            <a:endParaRPr lang="en-US" sz="2800" dirty="0">
              <a:latin typeface="+mj-lt"/>
            </a:endParaRPr>
          </a:p>
          <a:p>
            <a:r>
              <a:rPr lang="en-US" sz="2800" b="1" dirty="0">
                <a:latin typeface="+mj-lt"/>
              </a:rPr>
              <a:t>13. Conditions Covered by Government or Other Insurance</a:t>
            </a:r>
            <a:endParaRPr lang="en-US" sz="2800" dirty="0">
              <a:latin typeface="+mj-lt"/>
            </a:endParaRPr>
          </a:p>
          <a:p>
            <a:r>
              <a:rPr lang="en-US" sz="2800" dirty="0">
                <a:latin typeface="+mj-lt"/>
              </a:rPr>
              <a:t>Treatments or conditions already covered by PhilHealth, SSS, or ECC benefits.</a:t>
            </a:r>
          </a:p>
          <a:p>
            <a:endParaRPr lang="en-US" sz="2800" dirty="0">
              <a:latin typeface="+mj-lt"/>
            </a:endParaRPr>
          </a:p>
          <a:p>
            <a:r>
              <a:rPr lang="en-US" sz="2800" b="1" dirty="0">
                <a:latin typeface="+mj-lt"/>
              </a:rPr>
              <a:t>14. Out-of-Network Services</a:t>
            </a:r>
            <a:endParaRPr lang="en-US" sz="2800" dirty="0">
              <a:latin typeface="+mj-lt"/>
            </a:endParaRPr>
          </a:p>
          <a:p>
            <a:pPr lvl="0"/>
            <a:r>
              <a:rPr lang="en-US" sz="2800" dirty="0">
                <a:latin typeface="+mj-lt"/>
              </a:rPr>
              <a:t>Consultations or treatments done outside affiliated hospitals/clinics (except for reimbursable emergencies). Overseas medical expenses (unless global coverage is stated).</a:t>
            </a:r>
          </a:p>
          <a:p>
            <a:pPr marL="285750" indent="-285750">
              <a:buFont typeface="Arial" panose="020B0604020202020204" pitchFamily="34" charset="0"/>
              <a:buChar char="•"/>
            </a:pPr>
            <a:endParaRPr lang="en-US" sz="2800" dirty="0">
              <a:latin typeface="+mj-lt"/>
            </a:endParaRPr>
          </a:p>
        </p:txBody>
      </p:sp>
    </p:spTree>
    <p:extLst>
      <p:ext uri="{BB962C8B-B14F-4D97-AF65-F5344CB8AC3E}">
        <p14:creationId xmlns:p14="http://schemas.microsoft.com/office/powerpoint/2010/main" val="1317063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fade">
                                      <p:cBhvr>
                                        <p:cTn id="7" dur="500"/>
                                        <p:tgtEl>
                                          <p:spTgt spid="2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5">
                                            <p:txEl>
                                              <p:pRg st="1" end="1"/>
                                            </p:txEl>
                                          </p:spTgt>
                                        </p:tgtEl>
                                        <p:attrNameLst>
                                          <p:attrName>style.visibility</p:attrName>
                                        </p:attrNameLst>
                                      </p:cBhvr>
                                      <p:to>
                                        <p:strVal val="visible"/>
                                      </p:to>
                                    </p:set>
                                    <p:animEffect transition="in" filter="fade">
                                      <p:cBhvr>
                                        <p:cTn id="10" dur="500"/>
                                        <p:tgtEl>
                                          <p:spTgt spid="2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5">
                                            <p:txEl>
                                              <p:pRg st="3" end="3"/>
                                            </p:txEl>
                                          </p:spTgt>
                                        </p:tgtEl>
                                        <p:attrNameLst>
                                          <p:attrName>style.visibility</p:attrName>
                                        </p:attrNameLst>
                                      </p:cBhvr>
                                      <p:to>
                                        <p:strVal val="visible"/>
                                      </p:to>
                                    </p:set>
                                    <p:animEffect transition="in" filter="fade">
                                      <p:cBhvr>
                                        <p:cTn id="15" dur="500"/>
                                        <p:tgtEl>
                                          <p:spTgt spid="25">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25">
                                            <p:txEl>
                                              <p:pRg st="4" end="4"/>
                                            </p:txEl>
                                          </p:spTgt>
                                        </p:tgtEl>
                                        <p:attrNameLst>
                                          <p:attrName>style.visibility</p:attrName>
                                        </p:attrNameLst>
                                      </p:cBhvr>
                                      <p:to>
                                        <p:strVal val="visible"/>
                                      </p:to>
                                    </p:set>
                                    <p:animEffect transition="in" filter="fade">
                                      <p:cBhvr>
                                        <p:cTn id="18" dur="500"/>
                                        <p:tgtEl>
                                          <p:spTgt spid="25">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5">
                                            <p:txEl>
                                              <p:pRg st="5" end="5"/>
                                            </p:txEl>
                                          </p:spTgt>
                                        </p:tgtEl>
                                        <p:attrNameLst>
                                          <p:attrName>style.visibility</p:attrName>
                                        </p:attrNameLst>
                                      </p:cBhvr>
                                      <p:to>
                                        <p:strVal val="visible"/>
                                      </p:to>
                                    </p:set>
                                    <p:animEffect transition="in" filter="fade">
                                      <p:cBhvr>
                                        <p:cTn id="21" dur="500"/>
                                        <p:tgtEl>
                                          <p:spTgt spid="25">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5">
                                            <p:txEl>
                                              <p:pRg st="7" end="7"/>
                                            </p:txEl>
                                          </p:spTgt>
                                        </p:tgtEl>
                                        <p:attrNameLst>
                                          <p:attrName>style.visibility</p:attrName>
                                        </p:attrNameLst>
                                      </p:cBhvr>
                                      <p:to>
                                        <p:strVal val="visible"/>
                                      </p:to>
                                    </p:set>
                                    <p:animEffect transition="in" filter="fade">
                                      <p:cBhvr>
                                        <p:cTn id="26" dur="500"/>
                                        <p:tgtEl>
                                          <p:spTgt spid="25">
                                            <p:txEl>
                                              <p:pRg st="7" end="7"/>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25">
                                            <p:txEl>
                                              <p:pRg st="8" end="8"/>
                                            </p:txEl>
                                          </p:spTgt>
                                        </p:tgtEl>
                                        <p:attrNameLst>
                                          <p:attrName>style.visibility</p:attrName>
                                        </p:attrNameLst>
                                      </p:cBhvr>
                                      <p:to>
                                        <p:strVal val="visible"/>
                                      </p:to>
                                    </p:set>
                                    <p:animEffect transition="in" filter="fade">
                                      <p:cBhvr>
                                        <p:cTn id="29" dur="500"/>
                                        <p:tgtEl>
                                          <p:spTgt spid="25">
                                            <p:txEl>
                                              <p:pRg st="8" end="8"/>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5">
                                            <p:txEl>
                                              <p:pRg st="10" end="10"/>
                                            </p:txEl>
                                          </p:spTgt>
                                        </p:tgtEl>
                                        <p:attrNameLst>
                                          <p:attrName>style.visibility</p:attrName>
                                        </p:attrNameLst>
                                      </p:cBhvr>
                                      <p:to>
                                        <p:strVal val="visible"/>
                                      </p:to>
                                    </p:set>
                                    <p:animEffect transition="in" filter="fade">
                                      <p:cBhvr>
                                        <p:cTn id="34" dur="500"/>
                                        <p:tgtEl>
                                          <p:spTgt spid="25">
                                            <p:txEl>
                                              <p:pRg st="10" end="10"/>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25">
                                            <p:txEl>
                                              <p:pRg st="11" end="11"/>
                                            </p:txEl>
                                          </p:spTgt>
                                        </p:tgtEl>
                                        <p:attrNameLst>
                                          <p:attrName>style.visibility</p:attrName>
                                        </p:attrNameLst>
                                      </p:cBhvr>
                                      <p:to>
                                        <p:strVal val="visible"/>
                                      </p:to>
                                    </p:set>
                                    <p:animEffect transition="in" filter="fade">
                                      <p:cBhvr>
                                        <p:cTn id="37" dur="500"/>
                                        <p:tgtEl>
                                          <p:spTgt spid="25">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199301" y="9623971"/>
            <a:ext cx="4362442" cy="1326059"/>
            <a:chOff x="0" y="0"/>
            <a:chExt cx="2297912" cy="698500"/>
          </a:xfrm>
        </p:grpSpPr>
        <p:sp>
          <p:nvSpPr>
            <p:cNvPr id="3" name="Freeform 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4" name="TextBox 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2181221" y="-663029"/>
            <a:ext cx="5132233" cy="1326059"/>
            <a:chOff x="0" y="0"/>
            <a:chExt cx="2703398" cy="698500"/>
          </a:xfrm>
        </p:grpSpPr>
        <p:sp>
          <p:nvSpPr>
            <p:cNvPr id="6" name="Freeform 6"/>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7" name="TextBox 7"/>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8" name="Group 8"/>
          <p:cNvGrpSpPr/>
          <p:nvPr/>
        </p:nvGrpSpPr>
        <p:grpSpPr>
          <a:xfrm>
            <a:off x="15512888" y="7858777"/>
            <a:ext cx="5550223" cy="485644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0" name="TextBox 10"/>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1" name="Group 11"/>
          <p:cNvGrpSpPr/>
          <p:nvPr/>
        </p:nvGrpSpPr>
        <p:grpSpPr>
          <a:xfrm>
            <a:off x="-1543050" y="-1171172"/>
            <a:ext cx="3086100" cy="2700338"/>
            <a:chOff x="0" y="0"/>
            <a:chExt cx="812800" cy="711200"/>
          </a:xfrm>
        </p:grpSpPr>
        <p:sp>
          <p:nvSpPr>
            <p:cNvPr id="12" name="Freeform 1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3" name="TextBox 1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pic>
        <p:nvPicPr>
          <p:cNvPr id="15" name="Picture 14">
            <a:extLst>
              <a:ext uri="{FF2B5EF4-FFF2-40B4-BE49-F238E27FC236}">
                <a16:creationId xmlns:a16="http://schemas.microsoft.com/office/drawing/2014/main" id="{0F5DBF4C-EE10-4666-BD80-8A69A7EC48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35978" y="31294"/>
            <a:ext cx="12307163" cy="10224412"/>
          </a:xfrm>
          <a:prstGeom prst="rect">
            <a:avLst/>
          </a:prstGeom>
        </p:spPr>
      </p:pic>
    </p:spTree>
    <p:extLst>
      <p:ext uri="{BB962C8B-B14F-4D97-AF65-F5344CB8AC3E}">
        <p14:creationId xmlns:p14="http://schemas.microsoft.com/office/powerpoint/2010/main" val="4222488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199301" y="9623971"/>
            <a:ext cx="4362442" cy="1326059"/>
            <a:chOff x="0" y="0"/>
            <a:chExt cx="2297912" cy="698500"/>
          </a:xfrm>
        </p:grpSpPr>
        <p:sp>
          <p:nvSpPr>
            <p:cNvPr id="3" name="Freeform 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4" name="TextBox 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2181221" y="-663029"/>
            <a:ext cx="5132233" cy="1326059"/>
            <a:chOff x="0" y="0"/>
            <a:chExt cx="2703398" cy="698500"/>
          </a:xfrm>
        </p:grpSpPr>
        <p:sp>
          <p:nvSpPr>
            <p:cNvPr id="6" name="Freeform 6"/>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7" name="TextBox 7"/>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8" name="Group 8"/>
          <p:cNvGrpSpPr/>
          <p:nvPr/>
        </p:nvGrpSpPr>
        <p:grpSpPr>
          <a:xfrm>
            <a:off x="15512888" y="7858777"/>
            <a:ext cx="5550223" cy="485644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0" name="TextBox 10"/>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1" name="Group 11"/>
          <p:cNvGrpSpPr/>
          <p:nvPr/>
        </p:nvGrpSpPr>
        <p:grpSpPr>
          <a:xfrm>
            <a:off x="-1543050" y="-1171172"/>
            <a:ext cx="3086100" cy="2700338"/>
            <a:chOff x="0" y="0"/>
            <a:chExt cx="812800" cy="711200"/>
          </a:xfrm>
        </p:grpSpPr>
        <p:sp>
          <p:nvSpPr>
            <p:cNvPr id="12" name="Freeform 1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3" name="TextBox 1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1" name="Group 20">
            <a:extLst>
              <a:ext uri="{FF2B5EF4-FFF2-40B4-BE49-F238E27FC236}">
                <a16:creationId xmlns:a16="http://schemas.microsoft.com/office/drawing/2014/main" id="{0F77015A-65FC-4003-AE0E-176022605039}"/>
              </a:ext>
            </a:extLst>
          </p:cNvPr>
          <p:cNvGrpSpPr>
            <a:grpSpLocks/>
          </p:cNvGrpSpPr>
          <p:nvPr/>
        </p:nvGrpSpPr>
        <p:grpSpPr>
          <a:xfrm>
            <a:off x="10629842" y="629692"/>
            <a:ext cx="7572900" cy="7985670"/>
            <a:chOff x="0" y="0"/>
            <a:chExt cx="4741037" cy="4586274"/>
          </a:xfrm>
        </p:grpSpPr>
        <p:pic>
          <p:nvPicPr>
            <p:cNvPr id="22" name="Image 53">
              <a:extLst>
                <a:ext uri="{FF2B5EF4-FFF2-40B4-BE49-F238E27FC236}">
                  <a16:creationId xmlns:a16="http://schemas.microsoft.com/office/drawing/2014/main" id="{420A87C8-F2E4-4627-BBC3-4AE79526A079}"/>
                </a:ext>
              </a:extLst>
            </p:cNvPr>
            <p:cNvPicPr/>
            <p:nvPr/>
          </p:nvPicPr>
          <p:blipFill>
            <a:blip r:embed="rId2" cstate="print"/>
            <a:stretch>
              <a:fillRect/>
            </a:stretch>
          </p:blipFill>
          <p:spPr>
            <a:xfrm>
              <a:off x="0" y="50"/>
              <a:ext cx="4722605" cy="4586224"/>
            </a:xfrm>
            <a:prstGeom prst="rect">
              <a:avLst/>
            </a:prstGeom>
          </p:spPr>
        </p:pic>
        <p:pic>
          <p:nvPicPr>
            <p:cNvPr id="24" name="Image 54">
              <a:extLst>
                <a:ext uri="{FF2B5EF4-FFF2-40B4-BE49-F238E27FC236}">
                  <a16:creationId xmlns:a16="http://schemas.microsoft.com/office/drawing/2014/main" id="{DB2082CF-B58D-4DBC-B9AD-77E776E09433}"/>
                </a:ext>
              </a:extLst>
            </p:cNvPr>
            <p:cNvPicPr/>
            <p:nvPr/>
          </p:nvPicPr>
          <p:blipFill>
            <a:blip r:embed="rId3" cstate="print"/>
            <a:stretch>
              <a:fillRect/>
            </a:stretch>
          </p:blipFill>
          <p:spPr>
            <a:xfrm>
              <a:off x="2369820" y="0"/>
              <a:ext cx="2371217" cy="4569714"/>
            </a:xfrm>
            <a:prstGeom prst="rect">
              <a:avLst/>
            </a:prstGeom>
          </p:spPr>
        </p:pic>
      </p:grpSp>
      <p:sp>
        <p:nvSpPr>
          <p:cNvPr id="25" name="Rectangle 24">
            <a:extLst>
              <a:ext uri="{FF2B5EF4-FFF2-40B4-BE49-F238E27FC236}">
                <a16:creationId xmlns:a16="http://schemas.microsoft.com/office/drawing/2014/main" id="{1C3DA8DB-11AB-4725-8880-BF648B612822}"/>
              </a:ext>
            </a:extLst>
          </p:cNvPr>
          <p:cNvSpPr/>
          <p:nvPr/>
        </p:nvSpPr>
        <p:spPr>
          <a:xfrm>
            <a:off x="104308" y="1637662"/>
            <a:ext cx="10792292" cy="7663636"/>
          </a:xfrm>
          <a:prstGeom prst="rect">
            <a:avLst/>
          </a:prstGeom>
        </p:spPr>
        <p:txBody>
          <a:bodyPr wrap="square">
            <a:spAutoFit/>
          </a:bodyPr>
          <a:lstStyle/>
          <a:p>
            <a:pPr algn="ctr" defTabSz="457200"/>
            <a:r>
              <a:rPr lang="en-US" sz="2800" b="1" dirty="0">
                <a:solidFill>
                  <a:prstClr val="black"/>
                </a:solidFill>
                <a:latin typeface="+mj-lt"/>
              </a:rPr>
              <a:t>	</a:t>
            </a:r>
            <a:r>
              <a:rPr lang="en-US" sz="4800" b="1" dirty="0">
                <a:solidFill>
                  <a:prstClr val="black"/>
                </a:solidFill>
                <a:latin typeface="+mj-lt"/>
              </a:rPr>
              <a:t>Member’s Mobile Application:</a:t>
            </a:r>
          </a:p>
          <a:p>
            <a:pPr defTabSz="457200"/>
            <a:endParaRPr lang="en-US" sz="2800" b="1" dirty="0">
              <a:solidFill>
                <a:prstClr val="black"/>
              </a:solidFill>
              <a:latin typeface="+mj-lt"/>
            </a:endParaRPr>
          </a:p>
          <a:p>
            <a:pPr defTabSz="457200"/>
            <a:r>
              <a:rPr lang="en-US" sz="2800" b="1" dirty="0">
                <a:solidFill>
                  <a:prstClr val="black"/>
                </a:solidFill>
                <a:latin typeface="+mj-lt"/>
              </a:rPr>
              <a:t>Through AMAPHIL’s mobile application, your employees may access</a:t>
            </a:r>
          </a:p>
          <a:p>
            <a:pPr defTabSz="457200"/>
            <a:r>
              <a:rPr lang="en-US" sz="2800" b="1" dirty="0">
                <a:solidFill>
                  <a:prstClr val="black"/>
                </a:solidFill>
                <a:latin typeface="+mj-lt"/>
              </a:rPr>
              <a:t> the following at their fingertips:</a:t>
            </a:r>
          </a:p>
          <a:p>
            <a:pPr defTabSz="457200"/>
            <a:endParaRPr lang="en-US" sz="2800" b="1" dirty="0">
              <a:solidFill>
                <a:prstClr val="black"/>
              </a:solidFill>
              <a:latin typeface="+mj-lt"/>
            </a:endParaRPr>
          </a:p>
          <a:p>
            <a:pPr marL="342900" indent="-342900" defTabSz="457200">
              <a:buFont typeface="Wingdings" panose="05000000000000000000" pitchFamily="2" charset="2"/>
              <a:buChar char="v"/>
            </a:pPr>
            <a:r>
              <a:rPr lang="en-US" sz="2800" b="1" dirty="0">
                <a:solidFill>
                  <a:prstClr val="black"/>
                </a:solidFill>
                <a:latin typeface="+mj-lt"/>
              </a:rPr>
              <a:t>	Request for LOA prior to </a:t>
            </a:r>
            <a:r>
              <a:rPr lang="en-US" sz="2800" b="1" dirty="0" err="1">
                <a:solidFill>
                  <a:prstClr val="black"/>
                </a:solidFill>
                <a:latin typeface="+mj-lt"/>
              </a:rPr>
              <a:t>availment</a:t>
            </a:r>
            <a:r>
              <a:rPr lang="en-US" sz="2800" b="1" dirty="0">
                <a:solidFill>
                  <a:prstClr val="black"/>
                </a:solidFill>
                <a:latin typeface="+mj-lt"/>
              </a:rPr>
              <a:t>;</a:t>
            </a:r>
          </a:p>
          <a:p>
            <a:pPr marL="342900" indent="-342900" defTabSz="457200">
              <a:buFont typeface="Wingdings" panose="05000000000000000000" pitchFamily="2" charset="2"/>
              <a:buChar char="v"/>
            </a:pPr>
            <a:endParaRPr lang="en-US" sz="2800" b="1" dirty="0">
              <a:solidFill>
                <a:prstClr val="black"/>
              </a:solidFill>
              <a:latin typeface="+mj-lt"/>
            </a:endParaRPr>
          </a:p>
          <a:p>
            <a:pPr marL="342900" indent="-342900" defTabSz="457200">
              <a:buFont typeface="Wingdings" panose="05000000000000000000" pitchFamily="2" charset="2"/>
              <a:buChar char="v"/>
            </a:pPr>
            <a:r>
              <a:rPr lang="en-US" sz="2800" b="1" dirty="0">
                <a:solidFill>
                  <a:prstClr val="black"/>
                </a:solidFill>
                <a:latin typeface="+mj-lt"/>
              </a:rPr>
              <a:t>	File for reimbursement;</a:t>
            </a:r>
          </a:p>
          <a:p>
            <a:pPr marL="342900" indent="-342900" defTabSz="457200">
              <a:buFont typeface="Wingdings" panose="05000000000000000000" pitchFamily="2" charset="2"/>
              <a:buChar char="v"/>
            </a:pPr>
            <a:endParaRPr lang="en-US" sz="2800" b="1" dirty="0">
              <a:solidFill>
                <a:prstClr val="black"/>
              </a:solidFill>
              <a:latin typeface="+mj-lt"/>
            </a:endParaRPr>
          </a:p>
          <a:p>
            <a:pPr marL="342900" indent="-342900" defTabSz="457200">
              <a:buFont typeface="Wingdings" panose="05000000000000000000" pitchFamily="2" charset="2"/>
              <a:buChar char="v"/>
            </a:pPr>
            <a:r>
              <a:rPr lang="en-US" sz="2800" b="1" dirty="0">
                <a:solidFill>
                  <a:prstClr val="black"/>
                </a:solidFill>
                <a:latin typeface="+mj-lt"/>
              </a:rPr>
              <a:t>	Review the list of benefits, exclusions and </a:t>
            </a:r>
            <a:r>
              <a:rPr lang="en-US" sz="2800" b="1" dirty="0" err="1">
                <a:solidFill>
                  <a:prstClr val="black"/>
                </a:solidFill>
                <a:latin typeface="+mj-lt"/>
              </a:rPr>
              <a:t>availment</a:t>
            </a:r>
            <a:r>
              <a:rPr lang="en-US" sz="2800" b="1" dirty="0">
                <a:solidFill>
                  <a:prstClr val="black"/>
                </a:solidFill>
                <a:latin typeface="+mj-lt"/>
              </a:rPr>
              <a:t> history;</a:t>
            </a:r>
          </a:p>
          <a:p>
            <a:pPr defTabSz="457200"/>
            <a:endParaRPr lang="en-US" sz="2800" b="1" dirty="0">
              <a:solidFill>
                <a:prstClr val="black"/>
              </a:solidFill>
              <a:latin typeface="+mj-lt"/>
            </a:endParaRPr>
          </a:p>
          <a:p>
            <a:pPr marL="342900" indent="-342900" defTabSz="457200">
              <a:buFont typeface="Wingdings" panose="05000000000000000000" pitchFamily="2" charset="2"/>
              <a:buChar char="v"/>
            </a:pPr>
            <a:r>
              <a:rPr lang="en-US" sz="2800" b="1" dirty="0">
                <a:solidFill>
                  <a:prstClr val="black"/>
                </a:solidFill>
                <a:latin typeface="+mj-lt"/>
              </a:rPr>
              <a:t>	View the latest list of providers;</a:t>
            </a:r>
          </a:p>
          <a:p>
            <a:pPr marL="342900" indent="-342900" defTabSz="457200">
              <a:buFont typeface="Wingdings" panose="05000000000000000000" pitchFamily="2" charset="2"/>
              <a:buChar char="v"/>
            </a:pPr>
            <a:endParaRPr lang="en-US" sz="2800" b="1" dirty="0">
              <a:solidFill>
                <a:prstClr val="black"/>
              </a:solidFill>
              <a:latin typeface="+mj-lt"/>
            </a:endParaRPr>
          </a:p>
          <a:p>
            <a:pPr marL="342900" indent="-342900" defTabSz="457200">
              <a:buFont typeface="Wingdings" panose="05000000000000000000" pitchFamily="2" charset="2"/>
              <a:buChar char="v"/>
            </a:pPr>
            <a:r>
              <a:rPr lang="en-US" sz="2800" b="1" dirty="0">
                <a:solidFill>
                  <a:prstClr val="black"/>
                </a:solidFill>
                <a:latin typeface="+mj-lt"/>
              </a:rPr>
              <a:t>	See the reason for declined services;</a:t>
            </a:r>
          </a:p>
          <a:p>
            <a:pPr marL="342900" indent="-342900" defTabSz="457200">
              <a:buFont typeface="Wingdings" panose="05000000000000000000" pitchFamily="2" charset="2"/>
              <a:buChar char="v"/>
            </a:pPr>
            <a:endParaRPr lang="en-US" sz="2800" b="1" dirty="0">
              <a:solidFill>
                <a:prstClr val="black"/>
              </a:solidFill>
              <a:latin typeface="+mj-lt"/>
            </a:endParaRPr>
          </a:p>
          <a:p>
            <a:pPr marL="342900" indent="-342900" defTabSz="457200">
              <a:buFont typeface="Wingdings" panose="05000000000000000000" pitchFamily="2" charset="2"/>
              <a:buChar char="v"/>
            </a:pPr>
            <a:r>
              <a:rPr lang="en-US" sz="2800" b="1" dirty="0">
                <a:solidFill>
                  <a:prstClr val="black"/>
                </a:solidFill>
                <a:latin typeface="+mj-lt"/>
              </a:rPr>
              <a:t>	Members can easily press Customer Service button in the Mobile   </a:t>
            </a:r>
          </a:p>
          <a:p>
            <a:pPr defTabSz="457200"/>
            <a:r>
              <a:rPr lang="en-US" sz="2800" b="1" dirty="0">
                <a:solidFill>
                  <a:prstClr val="black"/>
                </a:solidFill>
                <a:latin typeface="+mj-lt"/>
              </a:rPr>
              <a:t>     App and just wait for the AMAPHIL call.</a:t>
            </a:r>
          </a:p>
        </p:txBody>
      </p:sp>
    </p:spTree>
    <p:extLst>
      <p:ext uri="{BB962C8B-B14F-4D97-AF65-F5344CB8AC3E}">
        <p14:creationId xmlns:p14="http://schemas.microsoft.com/office/powerpoint/2010/main" val="753373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fade">
                                      <p:cBhvr>
                                        <p:cTn id="7" dur="500"/>
                                        <p:tgtEl>
                                          <p:spTgt spid="2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xEl>
                                              <p:pRg st="2" end="2"/>
                                            </p:txEl>
                                          </p:spTgt>
                                        </p:tgtEl>
                                        <p:attrNameLst>
                                          <p:attrName>style.visibility</p:attrName>
                                        </p:attrNameLst>
                                      </p:cBhvr>
                                      <p:to>
                                        <p:strVal val="visible"/>
                                      </p:to>
                                    </p:set>
                                    <p:animEffect transition="in" filter="fade">
                                      <p:cBhvr>
                                        <p:cTn id="17" dur="500"/>
                                        <p:tgtEl>
                                          <p:spTgt spid="25">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25">
                                            <p:txEl>
                                              <p:pRg st="3" end="3"/>
                                            </p:txEl>
                                          </p:spTgt>
                                        </p:tgtEl>
                                        <p:attrNameLst>
                                          <p:attrName>style.visibility</p:attrName>
                                        </p:attrNameLst>
                                      </p:cBhvr>
                                      <p:to>
                                        <p:strVal val="visible"/>
                                      </p:to>
                                    </p:set>
                                    <p:animEffect transition="in" filter="fade">
                                      <p:cBhvr>
                                        <p:cTn id="20" dur="500"/>
                                        <p:tgtEl>
                                          <p:spTgt spid="25">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5">
                                            <p:txEl>
                                              <p:pRg st="5" end="5"/>
                                            </p:txEl>
                                          </p:spTgt>
                                        </p:tgtEl>
                                        <p:attrNameLst>
                                          <p:attrName>style.visibility</p:attrName>
                                        </p:attrNameLst>
                                      </p:cBhvr>
                                      <p:to>
                                        <p:strVal val="visible"/>
                                      </p:to>
                                    </p:set>
                                    <p:animEffect transition="in" filter="fade">
                                      <p:cBhvr>
                                        <p:cTn id="25" dur="500"/>
                                        <p:tgtEl>
                                          <p:spTgt spid="25">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5">
                                            <p:txEl>
                                              <p:pRg st="7" end="7"/>
                                            </p:txEl>
                                          </p:spTgt>
                                        </p:tgtEl>
                                        <p:attrNameLst>
                                          <p:attrName>style.visibility</p:attrName>
                                        </p:attrNameLst>
                                      </p:cBhvr>
                                      <p:to>
                                        <p:strVal val="visible"/>
                                      </p:to>
                                    </p:set>
                                    <p:animEffect transition="in" filter="fade">
                                      <p:cBhvr>
                                        <p:cTn id="30" dur="500"/>
                                        <p:tgtEl>
                                          <p:spTgt spid="25">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5">
                                            <p:txEl>
                                              <p:pRg st="9" end="9"/>
                                            </p:txEl>
                                          </p:spTgt>
                                        </p:tgtEl>
                                        <p:attrNameLst>
                                          <p:attrName>style.visibility</p:attrName>
                                        </p:attrNameLst>
                                      </p:cBhvr>
                                      <p:to>
                                        <p:strVal val="visible"/>
                                      </p:to>
                                    </p:set>
                                    <p:animEffect transition="in" filter="fade">
                                      <p:cBhvr>
                                        <p:cTn id="35" dur="500"/>
                                        <p:tgtEl>
                                          <p:spTgt spid="25">
                                            <p:txEl>
                                              <p:pRg st="9" end="9"/>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5">
                                            <p:txEl>
                                              <p:pRg st="11" end="11"/>
                                            </p:txEl>
                                          </p:spTgt>
                                        </p:tgtEl>
                                        <p:attrNameLst>
                                          <p:attrName>style.visibility</p:attrName>
                                        </p:attrNameLst>
                                      </p:cBhvr>
                                      <p:to>
                                        <p:strVal val="visible"/>
                                      </p:to>
                                    </p:set>
                                    <p:animEffect transition="in" filter="fade">
                                      <p:cBhvr>
                                        <p:cTn id="40" dur="500"/>
                                        <p:tgtEl>
                                          <p:spTgt spid="25">
                                            <p:txEl>
                                              <p:pRg st="11" end="11"/>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5">
                                            <p:txEl>
                                              <p:pRg st="13" end="13"/>
                                            </p:txEl>
                                          </p:spTgt>
                                        </p:tgtEl>
                                        <p:attrNameLst>
                                          <p:attrName>style.visibility</p:attrName>
                                        </p:attrNameLst>
                                      </p:cBhvr>
                                      <p:to>
                                        <p:strVal val="visible"/>
                                      </p:to>
                                    </p:set>
                                    <p:animEffect transition="in" filter="fade">
                                      <p:cBhvr>
                                        <p:cTn id="45" dur="500"/>
                                        <p:tgtEl>
                                          <p:spTgt spid="25">
                                            <p:txEl>
                                              <p:pRg st="13" end="13"/>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25">
                                            <p:txEl>
                                              <p:pRg st="15" end="15"/>
                                            </p:txEl>
                                          </p:spTgt>
                                        </p:tgtEl>
                                        <p:attrNameLst>
                                          <p:attrName>style.visibility</p:attrName>
                                        </p:attrNameLst>
                                      </p:cBhvr>
                                      <p:to>
                                        <p:strVal val="visible"/>
                                      </p:to>
                                    </p:set>
                                    <p:animEffect transition="in" filter="fade">
                                      <p:cBhvr>
                                        <p:cTn id="50" dur="500"/>
                                        <p:tgtEl>
                                          <p:spTgt spid="25">
                                            <p:txEl>
                                              <p:pRg st="15" end="15"/>
                                            </p:txEl>
                                          </p:spTgt>
                                        </p:tgtEl>
                                      </p:cBhvr>
                                    </p:animEffect>
                                  </p:childTnLst>
                                </p:cTn>
                              </p:par>
                              <p:par>
                                <p:cTn id="51" presetID="10" presetClass="entr" presetSubtype="0" fill="hold" nodeType="withEffect">
                                  <p:stCondLst>
                                    <p:cond delay="0"/>
                                  </p:stCondLst>
                                  <p:childTnLst>
                                    <p:set>
                                      <p:cBhvr>
                                        <p:cTn id="52" dur="1" fill="hold">
                                          <p:stCondLst>
                                            <p:cond delay="0"/>
                                          </p:stCondLst>
                                        </p:cTn>
                                        <p:tgtEl>
                                          <p:spTgt spid="25">
                                            <p:txEl>
                                              <p:pRg st="16" end="16"/>
                                            </p:txEl>
                                          </p:spTgt>
                                        </p:tgtEl>
                                        <p:attrNameLst>
                                          <p:attrName>style.visibility</p:attrName>
                                        </p:attrNameLst>
                                      </p:cBhvr>
                                      <p:to>
                                        <p:strVal val="visible"/>
                                      </p:to>
                                    </p:set>
                                    <p:animEffect transition="in" filter="fade">
                                      <p:cBhvr>
                                        <p:cTn id="53" dur="500"/>
                                        <p:tgtEl>
                                          <p:spTgt spid="25">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199301" y="9623971"/>
            <a:ext cx="4362442" cy="1326059"/>
            <a:chOff x="0" y="0"/>
            <a:chExt cx="2297912" cy="698500"/>
          </a:xfrm>
        </p:grpSpPr>
        <p:sp>
          <p:nvSpPr>
            <p:cNvPr id="3" name="Freeform 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4" name="TextBox 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2181221" y="-663029"/>
            <a:ext cx="5132233" cy="1326059"/>
            <a:chOff x="0" y="0"/>
            <a:chExt cx="2703398" cy="698500"/>
          </a:xfrm>
        </p:grpSpPr>
        <p:sp>
          <p:nvSpPr>
            <p:cNvPr id="6" name="Freeform 6"/>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7" name="TextBox 7"/>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8" name="Group 8"/>
          <p:cNvGrpSpPr/>
          <p:nvPr/>
        </p:nvGrpSpPr>
        <p:grpSpPr>
          <a:xfrm>
            <a:off x="15512888" y="7858777"/>
            <a:ext cx="5550223" cy="485644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0" name="TextBox 10"/>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1" name="Group 11"/>
          <p:cNvGrpSpPr/>
          <p:nvPr/>
        </p:nvGrpSpPr>
        <p:grpSpPr>
          <a:xfrm>
            <a:off x="-1543050" y="-1171172"/>
            <a:ext cx="3086100" cy="2700338"/>
            <a:chOff x="0" y="0"/>
            <a:chExt cx="812800" cy="711200"/>
          </a:xfrm>
        </p:grpSpPr>
        <p:sp>
          <p:nvSpPr>
            <p:cNvPr id="12" name="Freeform 1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3" name="TextBox 1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pic>
        <p:nvPicPr>
          <p:cNvPr id="18" name="Image 58">
            <a:extLst>
              <a:ext uri="{FF2B5EF4-FFF2-40B4-BE49-F238E27FC236}">
                <a16:creationId xmlns:a16="http://schemas.microsoft.com/office/drawing/2014/main" id="{752E82DD-FD13-4872-82F7-C50CDEBFE462}"/>
              </a:ext>
            </a:extLst>
          </p:cNvPr>
          <p:cNvPicPr/>
          <p:nvPr/>
        </p:nvPicPr>
        <p:blipFill>
          <a:blip r:embed="rId2" cstate="print"/>
          <a:stretch>
            <a:fillRect/>
          </a:stretch>
        </p:blipFill>
        <p:spPr>
          <a:xfrm>
            <a:off x="0" y="961892"/>
            <a:ext cx="7391400" cy="9325107"/>
          </a:xfrm>
          <a:prstGeom prst="rect">
            <a:avLst/>
          </a:prstGeom>
        </p:spPr>
      </p:pic>
      <p:sp>
        <p:nvSpPr>
          <p:cNvPr id="19" name="Rectangle 18">
            <a:extLst>
              <a:ext uri="{FF2B5EF4-FFF2-40B4-BE49-F238E27FC236}">
                <a16:creationId xmlns:a16="http://schemas.microsoft.com/office/drawing/2014/main" id="{18822DB5-66A3-437D-A639-1E896F52522C}"/>
              </a:ext>
            </a:extLst>
          </p:cNvPr>
          <p:cNvSpPr/>
          <p:nvPr/>
        </p:nvSpPr>
        <p:spPr>
          <a:xfrm>
            <a:off x="7372350" y="663030"/>
            <a:ext cx="10523444" cy="8402300"/>
          </a:xfrm>
          <a:prstGeom prst="rect">
            <a:avLst/>
          </a:prstGeom>
        </p:spPr>
        <p:txBody>
          <a:bodyPr wrap="square">
            <a:spAutoFit/>
          </a:bodyPr>
          <a:lstStyle/>
          <a:p>
            <a:r>
              <a:rPr lang="en-US" sz="5400" b="1" dirty="0"/>
              <a:t>Members have immediate access to over 1,700 hospitals and clinics, and more than 51,000 doctors nationwide. Hence, there is no need to go through a tedious and expensive process of hospital and clinic affiliation.</a:t>
            </a:r>
          </a:p>
          <a:p>
            <a:endParaRPr lang="en-US" sz="5400" b="1" dirty="0"/>
          </a:p>
          <a:p>
            <a:r>
              <a:rPr lang="en-US" sz="5400" b="1" dirty="0"/>
              <a:t>Reduced patient wait times by using the AMAPHIL Mobile Application.</a:t>
            </a:r>
          </a:p>
        </p:txBody>
      </p:sp>
    </p:spTree>
    <p:extLst>
      <p:ext uri="{BB962C8B-B14F-4D97-AF65-F5344CB8AC3E}">
        <p14:creationId xmlns:p14="http://schemas.microsoft.com/office/powerpoint/2010/main" val="3388401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fade">
                                      <p:cBhvr>
                                        <p:cTn id="7" dur="500"/>
                                        <p:tgtEl>
                                          <p:spTgt spid="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xEl>
                                              <p:pRg st="2" end="2"/>
                                            </p:txEl>
                                          </p:spTgt>
                                        </p:tgtEl>
                                        <p:attrNameLst>
                                          <p:attrName>style.visibility</p:attrName>
                                        </p:attrNameLst>
                                      </p:cBhvr>
                                      <p:to>
                                        <p:strVal val="visible"/>
                                      </p:to>
                                    </p:set>
                                    <p:animEffect transition="in" filter="fade">
                                      <p:cBhvr>
                                        <p:cTn id="12" dur="500"/>
                                        <p:tgtEl>
                                          <p:spTgt spid="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199301" y="9623971"/>
            <a:ext cx="4362442" cy="1326059"/>
            <a:chOff x="0" y="0"/>
            <a:chExt cx="2297912" cy="698500"/>
          </a:xfrm>
        </p:grpSpPr>
        <p:sp>
          <p:nvSpPr>
            <p:cNvPr id="3" name="Freeform 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4" name="TextBox 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2181221" y="-663029"/>
            <a:ext cx="5132233" cy="1326059"/>
            <a:chOff x="0" y="0"/>
            <a:chExt cx="2703398" cy="698500"/>
          </a:xfrm>
        </p:grpSpPr>
        <p:sp>
          <p:nvSpPr>
            <p:cNvPr id="6" name="Freeform 6"/>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7" name="TextBox 7"/>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8" name="Group 8"/>
          <p:cNvGrpSpPr/>
          <p:nvPr/>
        </p:nvGrpSpPr>
        <p:grpSpPr>
          <a:xfrm>
            <a:off x="15512888" y="7858777"/>
            <a:ext cx="5550223" cy="485644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0" name="TextBox 10"/>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1" name="Group 11"/>
          <p:cNvGrpSpPr/>
          <p:nvPr/>
        </p:nvGrpSpPr>
        <p:grpSpPr>
          <a:xfrm>
            <a:off x="-1543050" y="-1171172"/>
            <a:ext cx="3086100" cy="2700338"/>
            <a:chOff x="0" y="0"/>
            <a:chExt cx="812800" cy="711200"/>
          </a:xfrm>
        </p:grpSpPr>
        <p:sp>
          <p:nvSpPr>
            <p:cNvPr id="12" name="Freeform 1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3" name="TextBox 1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sp>
        <p:nvSpPr>
          <p:cNvPr id="22" name="Rectangle 21">
            <a:extLst>
              <a:ext uri="{FF2B5EF4-FFF2-40B4-BE49-F238E27FC236}">
                <a16:creationId xmlns:a16="http://schemas.microsoft.com/office/drawing/2014/main" id="{7734330D-6BDE-463E-AD42-C7A7EF0370DA}"/>
              </a:ext>
            </a:extLst>
          </p:cNvPr>
          <p:cNvSpPr/>
          <p:nvPr/>
        </p:nvSpPr>
        <p:spPr>
          <a:xfrm>
            <a:off x="1079897" y="2547041"/>
            <a:ext cx="7461786" cy="2646878"/>
          </a:xfrm>
          <a:prstGeom prst="rect">
            <a:avLst/>
          </a:prstGeom>
        </p:spPr>
        <p:txBody>
          <a:bodyPr wrap="square">
            <a:spAutoFit/>
          </a:bodyPr>
          <a:lstStyle/>
          <a:p>
            <a:pPr lvl="0"/>
            <a:r>
              <a:rPr lang="en-US" sz="3600" b="1" dirty="0"/>
              <a:t>No Internet or Smartphone?</a:t>
            </a:r>
          </a:p>
          <a:p>
            <a:r>
              <a:rPr lang="en-US" b="1" dirty="0"/>
              <a:t> </a:t>
            </a:r>
          </a:p>
          <a:p>
            <a:pPr lvl="0"/>
            <a:endParaRPr lang="en-US" b="1" dirty="0"/>
          </a:p>
          <a:p>
            <a:pPr lvl="0"/>
            <a:endParaRPr lang="en-US" b="1" dirty="0"/>
          </a:p>
          <a:p>
            <a:pPr lvl="0"/>
            <a:r>
              <a:rPr lang="en-US" sz="4400" b="1" dirty="0"/>
              <a:t>AMAPHIL Physical Card</a:t>
            </a:r>
          </a:p>
          <a:p>
            <a:r>
              <a:rPr lang="en-US" b="1" dirty="0"/>
              <a:t> </a:t>
            </a:r>
          </a:p>
          <a:p>
            <a:r>
              <a:rPr lang="en-US" sz="1400" b="1" dirty="0">
                <a:latin typeface="Arial MT"/>
                <a:ea typeface="Arial MT"/>
                <a:cs typeface="Arial MT"/>
              </a:rPr>
              <a:t> </a:t>
            </a:r>
            <a:endParaRPr lang="en-US" sz="2000" b="1" dirty="0">
              <a:effectLst/>
              <a:latin typeface="Arial MT"/>
              <a:ea typeface="Arial MT"/>
              <a:cs typeface="Arial MT"/>
            </a:endParaRPr>
          </a:p>
        </p:txBody>
      </p:sp>
      <p:pic>
        <p:nvPicPr>
          <p:cNvPr id="14" name="Picture 13">
            <a:extLst>
              <a:ext uri="{FF2B5EF4-FFF2-40B4-BE49-F238E27FC236}">
                <a16:creationId xmlns:a16="http://schemas.microsoft.com/office/drawing/2014/main" id="{ABB808A2-B933-4A54-9B4D-57135753CEA6}"/>
              </a:ext>
            </a:extLst>
          </p:cNvPr>
          <p:cNvPicPr>
            <a:picLocks noChangeAspect="1"/>
          </p:cNvPicPr>
          <p:nvPr/>
        </p:nvPicPr>
        <p:blipFill>
          <a:blip r:embed="rId2"/>
          <a:stretch>
            <a:fillRect/>
          </a:stretch>
        </p:blipFill>
        <p:spPr>
          <a:xfrm>
            <a:off x="7467600" y="663030"/>
            <a:ext cx="10406603" cy="7474969"/>
          </a:xfrm>
          <a:prstGeom prst="rect">
            <a:avLst/>
          </a:prstGeom>
        </p:spPr>
      </p:pic>
    </p:spTree>
    <p:extLst>
      <p:ext uri="{BB962C8B-B14F-4D97-AF65-F5344CB8AC3E}">
        <p14:creationId xmlns:p14="http://schemas.microsoft.com/office/powerpoint/2010/main" val="290764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par>
                                <p:cTn id="13" presetID="10" presetClass="entr" presetSubtype="0" fill="hold" nodeType="withEffect">
                                  <p:stCondLst>
                                    <p:cond delay="0"/>
                                  </p:stCondLst>
                                  <p:childTnLst>
                                    <p:set>
                                      <p:cBhvr>
                                        <p:cTn id="14" dur="1" fill="hold">
                                          <p:stCondLst>
                                            <p:cond delay="0"/>
                                          </p:stCondLst>
                                        </p:cTn>
                                        <p:tgtEl>
                                          <p:spTgt spid="22">
                                            <p:txEl>
                                              <p:pRg st="4" end="4"/>
                                            </p:txEl>
                                          </p:spTgt>
                                        </p:tgtEl>
                                        <p:attrNameLst>
                                          <p:attrName>style.visibility</p:attrName>
                                        </p:attrNameLst>
                                      </p:cBhvr>
                                      <p:to>
                                        <p:strVal val="visible"/>
                                      </p:to>
                                    </p:set>
                                    <p:animEffect transition="in" filter="fade">
                                      <p:cBhvr>
                                        <p:cTn id="15" dur="500"/>
                                        <p:tgtEl>
                                          <p:spTgt spid="2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E74EE942-EB67-464D-A4F4-54C5B3EC307F}"/>
              </a:ext>
            </a:extLst>
          </p:cNvPr>
          <p:cNvPicPr>
            <a:picLocks noChangeAspect="1"/>
          </p:cNvPicPr>
          <p:nvPr/>
        </p:nvPicPr>
        <p:blipFill>
          <a:blip r:embed="rId2"/>
          <a:stretch>
            <a:fillRect/>
          </a:stretch>
        </p:blipFill>
        <p:spPr>
          <a:xfrm>
            <a:off x="4482" y="0"/>
            <a:ext cx="18250714" cy="10287000"/>
          </a:xfrm>
          <a:prstGeom prst="rect">
            <a:avLst/>
          </a:prstGeom>
        </p:spPr>
      </p:pic>
    </p:spTree>
    <p:extLst>
      <p:ext uri="{BB962C8B-B14F-4D97-AF65-F5344CB8AC3E}">
        <p14:creationId xmlns:p14="http://schemas.microsoft.com/office/powerpoint/2010/main" val="11248856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566687" y="9631318"/>
            <a:ext cx="4362442" cy="1326059"/>
            <a:chOff x="0" y="0"/>
            <a:chExt cx="2297912" cy="698500"/>
          </a:xfrm>
        </p:grpSpPr>
        <p:sp>
          <p:nvSpPr>
            <p:cNvPr id="4" name="Freeform 4"/>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5" name="TextBox 5"/>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3419993" y="6698755"/>
            <a:ext cx="5550223" cy="4856445"/>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8" name="TextBox 8"/>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8683897" y="-77494"/>
            <a:ext cx="9544044" cy="8265142"/>
            <a:chOff x="0" y="0"/>
            <a:chExt cx="6350000" cy="5499100"/>
          </a:xfrm>
        </p:grpSpPr>
        <p:sp>
          <p:nvSpPr>
            <p:cNvPr id="10" name="Freeform 10"/>
            <p:cNvSpPr/>
            <p:nvPr/>
          </p:nvSpPr>
          <p:spPr>
            <a:xfrm>
              <a:off x="0" y="0"/>
              <a:ext cx="6350000" cy="5499100"/>
            </a:xfrm>
            <a:custGeom>
              <a:avLst/>
              <a:gdLst/>
              <a:ahLst/>
              <a:cxnLst/>
              <a:rect l="l" t="t" r="r" b="b"/>
              <a:pathLst>
                <a:path w="6350000" h="5499100">
                  <a:moveTo>
                    <a:pt x="3175000" y="0"/>
                  </a:moveTo>
                  <a:lnTo>
                    <a:pt x="0" y="0"/>
                  </a:lnTo>
                  <a:lnTo>
                    <a:pt x="1587500" y="2749550"/>
                  </a:lnTo>
                  <a:lnTo>
                    <a:pt x="3175000" y="5499100"/>
                  </a:lnTo>
                  <a:lnTo>
                    <a:pt x="4762500" y="2749550"/>
                  </a:lnTo>
                  <a:lnTo>
                    <a:pt x="6350000" y="0"/>
                  </a:lnTo>
                  <a:close/>
                </a:path>
              </a:pathLst>
            </a:custGeom>
            <a:blipFill>
              <a:blip r:embed="rId2"/>
              <a:stretch>
                <a:fillRect l="-29105" r="-876"/>
              </a:stretch>
            </a:blipFill>
          </p:spPr>
        </p:sp>
      </p:grpSp>
      <p:grpSp>
        <p:nvGrpSpPr>
          <p:cNvPr id="11" name="Group 11"/>
          <p:cNvGrpSpPr/>
          <p:nvPr/>
        </p:nvGrpSpPr>
        <p:grpSpPr>
          <a:xfrm rot="-1845706">
            <a:off x="10502371" y="-1901008"/>
            <a:ext cx="1121419" cy="14856622"/>
            <a:chOff x="0" y="0"/>
            <a:chExt cx="314096" cy="4161162"/>
          </a:xfrm>
        </p:grpSpPr>
        <p:sp>
          <p:nvSpPr>
            <p:cNvPr id="12" name="Freeform 12"/>
            <p:cNvSpPr/>
            <p:nvPr/>
          </p:nvSpPr>
          <p:spPr>
            <a:xfrm>
              <a:off x="0" y="0"/>
              <a:ext cx="314096" cy="4161162"/>
            </a:xfrm>
            <a:custGeom>
              <a:avLst/>
              <a:gdLst/>
              <a:ahLst/>
              <a:cxnLst/>
              <a:rect l="l" t="t" r="r" b="b"/>
              <a:pathLst>
                <a:path w="314096" h="4161162">
                  <a:moveTo>
                    <a:pt x="0" y="0"/>
                  </a:moveTo>
                  <a:lnTo>
                    <a:pt x="314096" y="0"/>
                  </a:lnTo>
                  <a:lnTo>
                    <a:pt x="314096" y="4161162"/>
                  </a:lnTo>
                  <a:lnTo>
                    <a:pt x="0" y="4161162"/>
                  </a:lnTo>
                  <a:close/>
                </a:path>
              </a:pathLst>
            </a:custGeom>
            <a:solidFill>
              <a:srgbClr val="060644"/>
            </a:solidFill>
          </p:spPr>
        </p:sp>
        <p:sp>
          <p:nvSpPr>
            <p:cNvPr id="13" name="TextBox 13"/>
            <p:cNvSpPr txBox="1"/>
            <p:nvPr/>
          </p:nvSpPr>
          <p:spPr>
            <a:xfrm>
              <a:off x="0" y="-57150"/>
              <a:ext cx="314096" cy="4218312"/>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13590269" y="2442936"/>
            <a:ext cx="13614956" cy="11700353"/>
            <a:chOff x="0" y="0"/>
            <a:chExt cx="812800" cy="698500"/>
          </a:xfrm>
        </p:grpSpPr>
        <p:sp>
          <p:nvSpPr>
            <p:cNvPr id="15" name="Freeform 15"/>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a:ln w="38100" cap="sq">
              <a:solidFill>
                <a:srgbClr val="060644"/>
              </a:solidFill>
              <a:prstDash val="solid"/>
              <a:miter/>
            </a:ln>
          </p:spPr>
        </p:sp>
        <p:sp>
          <p:nvSpPr>
            <p:cNvPr id="16" name="TextBox 16"/>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7039398" y="-2258624"/>
            <a:ext cx="5219028" cy="4566650"/>
            <a:chOff x="0" y="0"/>
            <a:chExt cx="812800" cy="711200"/>
          </a:xfrm>
        </p:grpSpPr>
        <p:sp>
          <p:nvSpPr>
            <p:cNvPr id="18" name="Freeform 18"/>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9" name="TextBox 19"/>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8372383" y="6450294"/>
            <a:ext cx="4772521" cy="4042664"/>
            <a:chOff x="0" y="0"/>
            <a:chExt cx="812800" cy="688499"/>
          </a:xfrm>
        </p:grpSpPr>
        <p:sp>
          <p:nvSpPr>
            <p:cNvPr id="21" name="Freeform 21"/>
            <p:cNvSpPr/>
            <p:nvPr/>
          </p:nvSpPr>
          <p:spPr>
            <a:xfrm>
              <a:off x="0" y="0"/>
              <a:ext cx="812800" cy="688499"/>
            </a:xfrm>
            <a:custGeom>
              <a:avLst/>
              <a:gdLst/>
              <a:ahLst/>
              <a:cxnLst/>
              <a:rect l="l" t="t" r="r" b="b"/>
              <a:pathLst>
                <a:path w="812800" h="688499">
                  <a:moveTo>
                    <a:pt x="406400" y="0"/>
                  </a:moveTo>
                  <a:lnTo>
                    <a:pt x="812800" y="688499"/>
                  </a:lnTo>
                  <a:lnTo>
                    <a:pt x="0" y="688499"/>
                  </a:lnTo>
                  <a:lnTo>
                    <a:pt x="406400" y="0"/>
                  </a:lnTo>
                  <a:close/>
                </a:path>
              </a:pathLst>
            </a:custGeom>
            <a:solidFill>
              <a:srgbClr val="F68712"/>
            </a:solidFill>
          </p:spPr>
        </p:sp>
        <p:sp>
          <p:nvSpPr>
            <p:cNvPr id="22" name="TextBox 22"/>
            <p:cNvSpPr txBox="1"/>
            <p:nvPr/>
          </p:nvSpPr>
          <p:spPr>
            <a:xfrm>
              <a:off x="127000" y="262510"/>
              <a:ext cx="558800" cy="376810"/>
            </a:xfrm>
            <a:prstGeom prst="rect">
              <a:avLst/>
            </a:prstGeom>
          </p:spPr>
          <p:txBody>
            <a:bodyPr lIns="50800" tIns="50800" rIns="50800" bIns="50800" rtlCol="0" anchor="ctr"/>
            <a:lstStyle/>
            <a:p>
              <a:pPr algn="ctr">
                <a:lnSpc>
                  <a:spcPts val="2659"/>
                </a:lnSpc>
              </a:pPr>
              <a:endParaRPr/>
            </a:p>
          </p:txBody>
        </p:sp>
      </p:grpSp>
      <p:sp>
        <p:nvSpPr>
          <p:cNvPr id="23" name="TextBox 23"/>
          <p:cNvSpPr txBox="1"/>
          <p:nvPr/>
        </p:nvSpPr>
        <p:spPr>
          <a:xfrm>
            <a:off x="1263007" y="7467350"/>
            <a:ext cx="8253282" cy="1850341"/>
          </a:xfrm>
          <a:prstGeom prst="rect">
            <a:avLst/>
          </a:prstGeom>
        </p:spPr>
        <p:txBody>
          <a:bodyPr lIns="0" tIns="0" rIns="0" bIns="0" rtlCol="0" anchor="t">
            <a:spAutoFit/>
          </a:bodyPr>
          <a:lstStyle/>
          <a:p>
            <a:pPr algn="l">
              <a:lnSpc>
                <a:spcPts val="14312"/>
              </a:lnSpc>
              <a:spcBef>
                <a:spcPct val="0"/>
              </a:spcBef>
            </a:pPr>
            <a:r>
              <a:rPr lang="en-US" sz="10223" b="1" dirty="0">
                <a:solidFill>
                  <a:srgbClr val="060644"/>
                </a:solidFill>
                <a:latin typeface="Poppins Bold"/>
                <a:ea typeface="Poppins Bold"/>
                <a:cs typeface="Poppins Bold"/>
                <a:sym typeface="Poppins Bold"/>
              </a:rPr>
              <a:t>THANK YOU!</a:t>
            </a:r>
          </a:p>
        </p:txBody>
      </p:sp>
      <p:pic>
        <p:nvPicPr>
          <p:cNvPr id="29" name="Picture 28">
            <a:extLst>
              <a:ext uri="{FF2B5EF4-FFF2-40B4-BE49-F238E27FC236}">
                <a16:creationId xmlns:a16="http://schemas.microsoft.com/office/drawing/2014/main" id="{C6946659-EA1C-41D3-B74F-8338A78F47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220" y="-1054546"/>
            <a:ext cx="9753600" cy="9753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465</TotalTime>
  <Words>1901</Words>
  <Application>Microsoft Office PowerPoint</Application>
  <PresentationFormat>Custom</PresentationFormat>
  <Paragraphs>338</Paragraphs>
  <Slides>42</Slides>
  <Notes>1</Notes>
  <HiddenSlides>0</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42</vt:i4>
      </vt:variant>
    </vt:vector>
  </HeadingPairs>
  <TitlesOfParts>
    <vt:vector size="60" baseType="lpstr">
      <vt:lpstr>Poppins</vt:lpstr>
      <vt:lpstr>MS Mincho</vt:lpstr>
      <vt:lpstr>Arial</vt:lpstr>
      <vt:lpstr>Aharoni</vt:lpstr>
      <vt:lpstr>Wingdings</vt:lpstr>
      <vt:lpstr>Anantason SemiExpanded Bold</vt:lpstr>
      <vt:lpstr>Anantason SemiExpanded Italics</vt:lpstr>
      <vt:lpstr>Prachason Neue SemiExpanded Italics</vt:lpstr>
      <vt:lpstr>Times New Roman</vt:lpstr>
      <vt:lpstr>Open Sans Bold</vt:lpstr>
      <vt:lpstr>Cambria</vt:lpstr>
      <vt:lpstr>Calibri</vt:lpstr>
      <vt:lpstr>Arial MT</vt:lpstr>
      <vt:lpstr>Open Sans Italics</vt:lpstr>
      <vt:lpstr>Poppins Bold</vt:lpstr>
      <vt:lpstr>Prachason Neue SemiExpanded</vt:lpstr>
      <vt:lpstr>Prachason Neue SemiExpanded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Jaden Chael</dc:creator>
  <cp:lastModifiedBy>RMC2 Philip Sanchez</cp:lastModifiedBy>
  <cp:revision>152</cp:revision>
  <dcterms:created xsi:type="dcterms:W3CDTF">2006-08-16T00:00:00Z</dcterms:created>
  <dcterms:modified xsi:type="dcterms:W3CDTF">2026-01-22T06:51:05Z</dcterms:modified>
  <dc:identifier>DAG1ugVYjfw</dc:identifier>
</cp:coreProperties>
</file>