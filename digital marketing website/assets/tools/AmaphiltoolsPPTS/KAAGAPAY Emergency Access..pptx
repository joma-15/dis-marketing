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377" r:id="rId3"/>
    <p:sldId id="257" r:id="rId4"/>
    <p:sldId id="378" r:id="rId5"/>
    <p:sldId id="379" r:id="rId6"/>
    <p:sldId id="380" r:id="rId7"/>
    <p:sldId id="384" r:id="rId8"/>
    <p:sldId id="385" r:id="rId9"/>
    <p:sldId id="387" r:id="rId10"/>
    <p:sldId id="278" r:id="rId11"/>
    <p:sldId id="394" r:id="rId12"/>
    <p:sldId id="258" r:id="rId13"/>
    <p:sldId id="260" r:id="rId14"/>
    <p:sldId id="261" r:id="rId15"/>
    <p:sldId id="262" r:id="rId16"/>
    <p:sldId id="263" r:id="rId17"/>
    <p:sldId id="265" r:id="rId18"/>
    <p:sldId id="266" r:id="rId19"/>
    <p:sldId id="269" r:id="rId20"/>
    <p:sldId id="270" r:id="rId21"/>
    <p:sldId id="272" r:id="rId22"/>
    <p:sldId id="390" r:id="rId23"/>
    <p:sldId id="268" r:id="rId24"/>
    <p:sldId id="388" r:id="rId25"/>
    <p:sldId id="389" r:id="rId26"/>
    <p:sldId id="274" r:id="rId27"/>
    <p:sldId id="279" r:id="rId28"/>
    <p:sldId id="280" r:id="rId29"/>
    <p:sldId id="282" r:id="rId30"/>
    <p:sldId id="283" r:id="rId31"/>
    <p:sldId id="271" r:id="rId32"/>
    <p:sldId id="284" r:id="rId33"/>
    <p:sldId id="287" r:id="rId34"/>
    <p:sldId id="289" r:id="rId35"/>
    <p:sldId id="304" r:id="rId36"/>
    <p:sldId id="286" r:id="rId37"/>
    <p:sldId id="292" r:id="rId38"/>
    <p:sldId id="294" r:id="rId39"/>
    <p:sldId id="297" r:id="rId40"/>
    <p:sldId id="299" r:id="rId41"/>
    <p:sldId id="300" r:id="rId42"/>
    <p:sldId id="301" r:id="rId43"/>
    <p:sldId id="303" r:id="rId44"/>
  </p:sldIdLst>
  <p:sldSz cx="18288000" cy="10287000"/>
  <p:notesSz cx="6858000" cy="9144000"/>
  <p:embeddedFontLst>
    <p:embeddedFont>
      <p:font typeface="Anantason SemiExpanded Bold" panose="020B0604020202020204" charset="0"/>
      <p:regular r:id="rId46"/>
    </p:embeddedFont>
    <p:embeddedFont>
      <p:font typeface="Anantason SemiExpanded Italics" panose="020B0604020202020204" charset="0"/>
      <p:regular r:id="rId47"/>
    </p:embeddedFont>
    <p:embeddedFont>
      <p:font typeface="Archivo Black" panose="020B0604020202020204" charset="0"/>
      <p:regular r:id="rId48"/>
    </p:embeddedFont>
    <p:embeddedFont>
      <p:font typeface="Arimo" panose="020B0604020202020204" charset="0"/>
      <p:bold r:id="rId49"/>
      <p:boldItalic r:id="rId50"/>
    </p:embeddedFont>
    <p:embeddedFont>
      <p:font typeface="Century Gothic" panose="020B0502020202020204" pitchFamily="34" charset="0"/>
      <p:regular r:id="rId51"/>
      <p:bold r:id="rId52"/>
      <p:italic r:id="rId53"/>
      <p:boldItalic r:id="rId54"/>
    </p:embeddedFont>
    <p:embeddedFont>
      <p:font typeface="Open Sans Bold" panose="020B0604020202020204" charset="0"/>
      <p:regular r:id="rId55"/>
      <p:bold r:id="rId56"/>
    </p:embeddedFont>
    <p:embeddedFont>
      <p:font typeface="Open Sans Italics" panose="020B0604020202020204" charset="0"/>
      <p:regular r:id="rId57"/>
    </p:embeddedFont>
    <p:embeddedFont>
      <p:font typeface="Prachason Neue SemiExpanded" panose="020B0604020202020204" charset="0"/>
      <p:regular r:id="rId58"/>
    </p:embeddedFont>
    <p:embeddedFont>
      <p:font typeface="Prachason Neue SemiExpanded Bold" panose="020B0604020202020204" charset="0"/>
      <p:regular r:id="rId59"/>
    </p:embeddedFont>
    <p:embeddedFont>
      <p:font typeface="Prachason Neue SemiExpanded Italics" panose="020B0604020202020204" charset="0"/>
      <p:regular r:id="rId6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2" roundtripDataSignature="AMtx7mg9J2umpYEChQI3XH0h/w6nVgxbM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96" autoAdjust="0"/>
    <p:restoredTop sz="76959" autoAdjust="0"/>
  </p:normalViewPr>
  <p:slideViewPr>
    <p:cSldViewPr snapToGrid="0">
      <p:cViewPr varScale="1">
        <p:scale>
          <a:sx n="42" d="100"/>
          <a:sy n="42" d="100"/>
        </p:scale>
        <p:origin x="1133" y="9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font" Target="fonts/font10.fntdata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font" Target="fonts/font8.fntdata"/><Relationship Id="rId58" Type="http://schemas.openxmlformats.org/officeDocument/2006/relationships/font" Target="fonts/font13.fntdata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56" Type="http://schemas.openxmlformats.org/officeDocument/2006/relationships/font" Target="fonts/font11.fntdata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59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9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Relationship Id="rId57" Type="http://schemas.openxmlformats.org/officeDocument/2006/relationships/font" Target="fonts/font12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7.fntdata"/><Relationship Id="rId60" Type="http://schemas.openxmlformats.org/officeDocument/2006/relationships/font" Target="fonts/font15.fntdata"/><Relationship Id="rId73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462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7080837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1773181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214E93-671E-4CCD-9DA3-6B549C10719A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5116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92290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695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D506C8DC-E8C5-C756-7AE8-E4A12DB5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6CEA04D8-E323-9170-836F-C571CB1C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D7BF7724-1A1B-CC1D-DBC6-CE77A0C747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00326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ACAD8809-F801-A9D6-D0F1-960185B7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FC8A126C-593E-092F-BE90-A6C93806CD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BC8A3261-AEAA-0323-58B4-B4B826F10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81180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endParaRPr dirty="0"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0" name="Google Shape;16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6" name="Google Shape;1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3" name="Google Shape;19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209" name="Google Shape;20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30E6AFDD-40FD-601B-705C-52460DCBF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>
            <a:extLst>
              <a:ext uri="{FF2B5EF4-FFF2-40B4-BE49-F238E27FC236}">
                <a16:creationId xmlns:a16="http://schemas.microsoft.com/office/drawing/2014/main" id="{65420887-CC18-9F6D-EA43-5FD6F8010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dirty="0"/>
          </a:p>
        </p:txBody>
      </p:sp>
      <p:sp>
        <p:nvSpPr>
          <p:cNvPr id="209" name="Google Shape;209;p17:notes">
            <a:extLst>
              <a:ext uri="{FF2B5EF4-FFF2-40B4-BE49-F238E27FC236}">
                <a16:creationId xmlns:a16="http://schemas.microsoft.com/office/drawing/2014/main" id="{97222011-0188-DF39-6730-66D664892F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4205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0817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5285179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>
          <a:extLst>
            <a:ext uri="{FF2B5EF4-FFF2-40B4-BE49-F238E27FC236}">
              <a16:creationId xmlns:a16="http://schemas.microsoft.com/office/drawing/2014/main" id="{D1E387CA-6D10-46B9-19F5-87661A37D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7:notes">
            <a:extLst>
              <a:ext uri="{FF2B5EF4-FFF2-40B4-BE49-F238E27FC236}">
                <a16:creationId xmlns:a16="http://schemas.microsoft.com/office/drawing/2014/main" id="{77A39506-FA9B-3249-67FF-7B76650571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p17:notes">
            <a:extLst>
              <a:ext uri="{FF2B5EF4-FFF2-40B4-BE49-F238E27FC236}">
                <a16:creationId xmlns:a16="http://schemas.microsoft.com/office/drawing/2014/main" id="{B26D22BD-01B2-56D7-6443-66ED8EAE0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76347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0EA1EF79-39A8-A40F-399B-A1E20F89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AA7D5969-470D-11E6-B058-52F0B98663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D3A3B5C7-C28B-E676-B496-666E931404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55721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94BDA714-0E6A-3029-7342-30369F06F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624AC66E-9222-B50D-E228-457A783C0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B1DB830F-C6CB-3389-6DF8-C9CA344CC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90094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D0895001-E33D-E3C3-CCAB-5E67CA713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43ACCCB7-765B-57AA-CBA2-98A80AAD9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65737229-4C07-5E3A-C24A-E7A90E1E97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60065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705BE901-F97F-1722-B0A6-7EA597A4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766FBEAC-E5CD-9531-BBCF-AF7664F00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endParaRPr lang="en-US" sz="1100" b="0" i="0" u="none" strike="noStrike" cap="none" dirty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782B72EC-9997-CA90-867D-1F8857CB2E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596063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2508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120A8C70-DD95-E4CF-7A0C-0F2FA4FE9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2F08E4CD-FA47-C97A-F510-46486022E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360EB721-A655-6C89-FAA8-89C64B4777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429305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8861940C-2761-B208-DAE6-2EE48EA3A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90159AE6-9AE3-D341-D06D-DE2F2EB38D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8E3E227C-4817-8C19-4627-46706660BA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295593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82448D68-1640-0630-B5AD-6F10E0131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2718B08A-A3E7-A0E4-E02B-C6F85ED8C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6AA709AA-AD71-12AE-61A6-6AF93CF98C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61953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5E94E3B-1657-918F-429E-FFECE2C27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6C65A05E-77BB-BA67-5612-80BF9DAC7E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665E0BD2-17BB-05D5-2BD7-3FE01C900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89957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C20372EA-3972-F56B-4146-661BAE0C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21735AD3-3A27-5BF3-B7C3-548F088EA7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56FA3F7F-B5DD-F47D-CAAF-5AA11D49F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62932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5FC53C35-48CC-1F84-9C07-2D6F89CF6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F66BBE97-4D31-3B6E-2399-FF1C4244A4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CF903281-BA83-3FD2-6FE5-9EAAFAA7C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888615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9A50976F-BCE7-D5CE-442B-99E7F86F3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0E7F2587-0138-CFAE-72F2-2248C7CFC2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A17CDE35-CEB4-3211-A7C1-D2BDE2BFFB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29929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16BBA1AE-AAFC-23CE-2FCB-003C554BB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322AF6D8-B876-770E-0463-FB5C7C354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55D13F96-C82E-A0B6-F08A-E7A7991252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671584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BC9E416E-9D0A-DE71-EBB8-029DF9C87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7E1443A3-210F-62A7-237C-B897F6185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D2A406AB-86B8-998E-B8A8-2E4968A7E3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23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7EDAF0A2-D2A8-E57D-8686-5B746EC7F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E2D58D60-3D1D-274F-8483-9654209385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573B235C-946C-EC20-FC07-57E87E6CF9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92817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CB44B528-E104-30E8-E3AB-ED9BFC486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6E220BEC-F813-53AF-3A22-3179BF1AC0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63A54EA7-718A-712B-A4A8-E974D6C6C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943332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A1A3FF9B-10D8-7F73-E52D-5F1C3E28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:notes">
            <a:extLst>
              <a:ext uri="{FF2B5EF4-FFF2-40B4-BE49-F238E27FC236}">
                <a16:creationId xmlns:a16="http://schemas.microsoft.com/office/drawing/2014/main" id="{B36CD428-0D32-1B7E-0029-29913A35E6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n-US" dirty="0"/>
          </a:p>
        </p:txBody>
      </p:sp>
      <p:sp>
        <p:nvSpPr>
          <p:cNvPr id="221" name="Google Shape;221;p19:notes">
            <a:extLst>
              <a:ext uri="{FF2B5EF4-FFF2-40B4-BE49-F238E27FC236}">
                <a16:creationId xmlns:a16="http://schemas.microsoft.com/office/drawing/2014/main" id="{5838C44E-70A3-E7C2-23CC-1BCB3578FF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0761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2.svg"/><Relationship Id="rId10" Type="http://schemas.openxmlformats.org/officeDocument/2006/relationships/image" Target="../media/image13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8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jp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2.png"/><Relationship Id="rId9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svg"/><Relationship Id="rId13" Type="http://schemas.openxmlformats.org/officeDocument/2006/relationships/image" Target="../media/image62.sv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sv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2.png"/><Relationship Id="rId9" Type="http://schemas.openxmlformats.org/officeDocument/2006/relationships/image" Target="../media/image5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3" Type="http://schemas.openxmlformats.org/officeDocument/2006/relationships/image" Target="../media/image1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9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svg"/><Relationship Id="rId5" Type="http://schemas.openxmlformats.org/officeDocument/2006/relationships/image" Target="../media/image67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0B3EA45A-CABA-A65C-C0C0-E8E8FD6167C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85" name="Google Shape;85;p1"/>
          <p:cNvSpPr/>
          <p:nvPr/>
        </p:nvSpPr>
        <p:spPr>
          <a:xfrm>
            <a:off x="15379516" y="8028740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86" name="Google Shape;86;p1"/>
          <p:cNvSpPr txBox="1"/>
          <p:nvPr/>
        </p:nvSpPr>
        <p:spPr>
          <a:xfrm>
            <a:off x="-198114" y="-283043"/>
            <a:ext cx="18616733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0" b="0" i="0" u="none" strike="noStrike" cap="none" dirty="0">
                <a:ln>
                  <a:solidFill>
                    <a:schemeClr val="tx1"/>
                  </a:solidFill>
                </a:ln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PRODUCT LAUNCHING</a:t>
            </a:r>
            <a:endParaRPr sz="110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559664" y="8891073"/>
            <a:ext cx="8866330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8"/>
              </a:lnSpc>
            </a:pPr>
            <a:r>
              <a:rPr lang="en-US" sz="4400" b="1" dirty="0">
                <a:solidFill>
                  <a:srgbClr val="080D58"/>
                </a:solidFill>
                <a:latin typeface="Arimo"/>
                <a:ea typeface="Arimo"/>
                <a:cs typeface="Arimo"/>
                <a:sym typeface="Arimo"/>
              </a:rPr>
              <a:t>January 30, 2026</a:t>
            </a:r>
            <a:endParaRPr sz="4400" b="1" dirty="0">
              <a:solidFill>
                <a:srgbClr val="080D58"/>
              </a:solidFill>
              <a:latin typeface="Arimo"/>
              <a:ea typeface="Arimo"/>
              <a:cs typeface="Arimo"/>
            </a:endParaRPr>
          </a:p>
        </p:txBody>
      </p:sp>
      <p:sp>
        <p:nvSpPr>
          <p:cNvPr id="2" name="Google Shape;100;p3">
            <a:extLst>
              <a:ext uri="{FF2B5EF4-FFF2-40B4-BE49-F238E27FC236}">
                <a16:creationId xmlns:a16="http://schemas.microsoft.com/office/drawing/2014/main" id="{45FB94C5-01FA-BBBE-9B38-D58C5E57BC23}"/>
              </a:ext>
            </a:extLst>
          </p:cNvPr>
          <p:cNvSpPr/>
          <p:nvPr/>
        </p:nvSpPr>
        <p:spPr>
          <a:xfrm>
            <a:off x="4229436" y="2086837"/>
            <a:ext cx="10629564" cy="6521193"/>
          </a:xfrm>
          <a:custGeom>
            <a:avLst/>
            <a:gdLst/>
            <a:ahLst/>
            <a:cxnLst/>
            <a:rect l="l" t="t" r="r" b="b"/>
            <a:pathLst>
              <a:path w="8107839" h="5106418" extrusionOk="0">
                <a:moveTo>
                  <a:pt x="0" y="0"/>
                </a:moveTo>
                <a:lnTo>
                  <a:pt x="8107839" y="0"/>
                </a:lnTo>
                <a:lnTo>
                  <a:pt x="8107839" y="5106418"/>
                </a:lnTo>
                <a:lnTo>
                  <a:pt x="0" y="5106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55" r="-56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70000">
            <a:off x="-705703" y="-5248072"/>
            <a:ext cx="19699402" cy="20587176"/>
          </a:xfrm>
          <a:custGeom>
            <a:avLst/>
            <a:gdLst/>
            <a:ahLst/>
            <a:cxnLst/>
            <a:rect l="l" t="t" r="r" b="b"/>
            <a:pathLst>
              <a:path w="19699402" h="20587176">
                <a:moveTo>
                  <a:pt x="7822296" y="0"/>
                </a:moveTo>
                <a:lnTo>
                  <a:pt x="19699402" y="13906304"/>
                </a:lnTo>
                <a:lnTo>
                  <a:pt x="11877106" y="20587176"/>
                </a:lnTo>
                <a:lnTo>
                  <a:pt x="0" y="6680872"/>
                </a:lnTo>
                <a:lnTo>
                  <a:pt x="7822296" y="0"/>
                </a:lnTo>
                <a:close/>
              </a:path>
            </a:pathLst>
          </a:custGeom>
          <a:blipFill>
            <a:blip r:embed="rId3"/>
            <a:stretch>
              <a:fillRect l="-29935" t="-960" r="-29935" b="-960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080249" y="1528865"/>
            <a:ext cx="8780085" cy="8758135"/>
          </a:xfrm>
          <a:custGeom>
            <a:avLst/>
            <a:gdLst/>
            <a:ahLst/>
            <a:cxnLst/>
            <a:rect l="l" t="t" r="r" b="b"/>
            <a:pathLst>
              <a:path w="8780085" h="8758135">
                <a:moveTo>
                  <a:pt x="8780085" y="0"/>
                </a:moveTo>
                <a:lnTo>
                  <a:pt x="0" y="0"/>
                </a:lnTo>
                <a:lnTo>
                  <a:pt x="0" y="8758135"/>
                </a:lnTo>
                <a:lnTo>
                  <a:pt x="8780085" y="8758135"/>
                </a:lnTo>
                <a:lnTo>
                  <a:pt x="878008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1005720" y="687712"/>
            <a:ext cx="5785700" cy="1543050"/>
            <a:chOff x="0" y="0"/>
            <a:chExt cx="1523806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23806" cy="406400"/>
            </a:xfrm>
            <a:custGeom>
              <a:avLst/>
              <a:gdLst/>
              <a:ahLst/>
              <a:cxnLst/>
              <a:rect l="l" t="t" r="r" b="b"/>
              <a:pathLst>
                <a:path w="1523806" h="406400">
                  <a:moveTo>
                    <a:pt x="1320606" y="0"/>
                  </a:moveTo>
                  <a:cubicBezTo>
                    <a:pt x="1432830" y="0"/>
                    <a:pt x="1523806" y="90976"/>
                    <a:pt x="1523806" y="203200"/>
                  </a:cubicBezTo>
                  <a:cubicBezTo>
                    <a:pt x="1523806" y="315424"/>
                    <a:pt x="1432830" y="406400"/>
                    <a:pt x="132060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104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523806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080249" y="1748133"/>
            <a:ext cx="7160426" cy="716042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1048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81770" y="2072322"/>
            <a:ext cx="6434715" cy="643471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9202" t="-2072" r="-7704" b="-14834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750071" y="7404805"/>
            <a:ext cx="6059818" cy="1102232"/>
            <a:chOff x="0" y="0"/>
            <a:chExt cx="8079757" cy="1469643"/>
          </a:xfrm>
        </p:grpSpPr>
        <p:grpSp>
          <p:nvGrpSpPr>
            <p:cNvPr id="13" name="Group 13"/>
            <p:cNvGrpSpPr/>
            <p:nvPr/>
          </p:nvGrpSpPr>
          <p:grpSpPr>
            <a:xfrm>
              <a:off x="0" y="0"/>
              <a:ext cx="8079757" cy="1469643"/>
              <a:chOff x="0" y="0"/>
              <a:chExt cx="2234293" cy="4064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34293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234293" h="406400">
                    <a:moveTo>
                      <a:pt x="2031093" y="0"/>
                    </a:moveTo>
                    <a:cubicBezTo>
                      <a:pt x="2143317" y="0"/>
                      <a:pt x="2234293" y="90976"/>
                      <a:pt x="2234293" y="203200"/>
                    </a:cubicBezTo>
                    <a:cubicBezTo>
                      <a:pt x="2234293" y="315424"/>
                      <a:pt x="2143317" y="406400"/>
                      <a:pt x="2031093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10F48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38100"/>
                <a:ext cx="2234293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71315" y="156683"/>
              <a:ext cx="7737127" cy="1156277"/>
              <a:chOff x="0" y="0"/>
              <a:chExt cx="2719391" cy="4064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719391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2719391" h="406400">
                    <a:moveTo>
                      <a:pt x="2516191" y="0"/>
                    </a:moveTo>
                    <a:cubicBezTo>
                      <a:pt x="2628415" y="0"/>
                      <a:pt x="2719391" y="90976"/>
                      <a:pt x="2719391" y="203200"/>
                    </a:cubicBezTo>
                    <a:cubicBezTo>
                      <a:pt x="2719391" y="315424"/>
                      <a:pt x="2628415" y="406400"/>
                      <a:pt x="2516191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10F48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2719391" cy="444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9" name="Freeform 19"/>
            <p:cNvSpPr/>
            <p:nvPr/>
          </p:nvSpPr>
          <p:spPr>
            <a:xfrm>
              <a:off x="375800" y="272124"/>
              <a:ext cx="925395" cy="925395"/>
            </a:xfrm>
            <a:custGeom>
              <a:avLst/>
              <a:gdLst/>
              <a:ahLst/>
              <a:cxnLst/>
              <a:rect l="l" t="t" r="r" b="b"/>
              <a:pathLst>
                <a:path w="925395" h="925395">
                  <a:moveTo>
                    <a:pt x="0" y="0"/>
                  </a:moveTo>
                  <a:lnTo>
                    <a:pt x="925395" y="0"/>
                  </a:lnTo>
                  <a:lnTo>
                    <a:pt x="925395" y="925395"/>
                  </a:lnTo>
                  <a:lnTo>
                    <a:pt x="0" y="925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1510073" y="372871"/>
              <a:ext cx="6398369" cy="590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0"/>
                </a:lnSpc>
              </a:pPr>
              <a:r>
                <a:rPr lang="en-US" sz="2300" spc="-23">
                  <a:solidFill>
                    <a:srgbClr val="FFFFFF"/>
                  </a:solidFill>
                  <a:latin typeface="Prachason Neue SemiExpanded"/>
                  <a:ea typeface="Prachason Neue SemiExpanded"/>
                  <a:cs typeface="Prachason Neue SemiExpanded"/>
                  <a:sym typeface="Prachason Neue SemiExpanded"/>
                </a:rPr>
                <a:t>www.rmc2consultancycorp.com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17130" y="2978133"/>
            <a:ext cx="9051549" cy="19578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89"/>
              </a:lnSpc>
              <a:spcBef>
                <a:spcPct val="0"/>
              </a:spcBef>
            </a:pPr>
            <a:r>
              <a:rPr lang="en-US" sz="11421" b="1" dirty="0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RMC2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81647" y="4489893"/>
            <a:ext cx="9520840" cy="1111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  <a:spcBef>
                <a:spcPct val="0"/>
              </a:spcBef>
            </a:pPr>
            <a:r>
              <a:rPr lang="en-US" sz="6500" b="1">
                <a:solidFill>
                  <a:srgbClr val="FF7E3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CONSULTANCY CORP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9001" y="5784108"/>
            <a:ext cx="8067807" cy="752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15"/>
              </a:lnSpc>
            </a:pPr>
            <a:r>
              <a:rPr lang="en-US" sz="2096" i="1" spc="-20">
                <a:solidFill>
                  <a:srgbClr val="010F48"/>
                </a:solidFill>
                <a:latin typeface="Prachason Neue SemiExpanded Italics"/>
                <a:ea typeface="Prachason Neue SemiExpanded Italics"/>
                <a:cs typeface="Prachason Neue SemiExpanded Italics"/>
                <a:sym typeface="Prachason Neue SemiExpanded Italics"/>
              </a:rPr>
              <a:t>Your trusted partner in Health, Life and Non-Life Coverage</a:t>
            </a:r>
          </a:p>
          <a:p>
            <a:pPr algn="just">
              <a:lnSpc>
                <a:spcPts val="2515"/>
              </a:lnSpc>
            </a:pPr>
            <a:endParaRPr lang="en-US" sz="2096" i="1" spc="-20">
              <a:solidFill>
                <a:srgbClr val="010F48"/>
              </a:solidFill>
              <a:latin typeface="Prachason Neue SemiExpanded Italics"/>
              <a:ea typeface="Prachason Neue SemiExpanded Italics"/>
              <a:cs typeface="Prachason Neue SemiExpanded Italics"/>
              <a:sym typeface="Prachason Neue SemiExpanded Italic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218" y="1082658"/>
            <a:ext cx="431197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999" b="1" spc="-29" dirty="0">
                <a:solidFill>
                  <a:srgbClr val="FFFFFF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COMPANY 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0" y="0"/>
            <a:ext cx="7029213" cy="7118190"/>
          </a:xfrm>
          <a:custGeom>
            <a:avLst/>
            <a:gdLst/>
            <a:ahLst/>
            <a:cxnLst/>
            <a:rect l="l" t="t" r="r" b="b"/>
            <a:pathLst>
              <a:path w="7029213" h="7118190">
                <a:moveTo>
                  <a:pt x="0" y="7118190"/>
                </a:moveTo>
                <a:lnTo>
                  <a:pt x="7029213" y="7118190"/>
                </a:lnTo>
                <a:lnTo>
                  <a:pt x="7029213" y="0"/>
                </a:lnTo>
                <a:lnTo>
                  <a:pt x="0" y="0"/>
                </a:lnTo>
                <a:lnTo>
                  <a:pt x="0" y="711819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748133"/>
            <a:ext cx="7160426" cy="71604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F4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52889" y="2072322"/>
            <a:ext cx="6512047" cy="651204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t="-6149" b="-2242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144000" y="251732"/>
            <a:ext cx="8457485" cy="140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5"/>
              </a:lnSpc>
              <a:spcBef>
                <a:spcPct val="0"/>
              </a:spcBef>
            </a:pPr>
            <a:r>
              <a:rPr lang="en-US" sz="8196" b="1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WHO </a:t>
            </a:r>
            <a:r>
              <a:rPr lang="en-US" sz="8196" b="1">
                <a:solidFill>
                  <a:srgbClr val="FF7E2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WE ARE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14513" y="1832291"/>
            <a:ext cx="8255581" cy="7310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At </a:t>
            </a:r>
            <a:r>
              <a:rPr lang="en-US" sz="2000" b="1" spc="-20" dirty="0">
                <a:solidFill>
                  <a:srgbClr val="000000"/>
                </a:solidFill>
                <a:highlight>
                  <a:srgbClr val="F68712"/>
                </a:highlight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RMC2 Consultancy Corp</a:t>
            </a: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, we believe that health and financial security should be accessible to everyone. Founded by </a:t>
            </a:r>
            <a:r>
              <a:rPr lang="en-US" sz="2000" b="1" spc="-20" dirty="0">
                <a:solidFill>
                  <a:srgbClr val="000000"/>
                </a:solidFill>
                <a:highlight>
                  <a:srgbClr val="F68712"/>
                </a:highlight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Rosemarie Fernandez</a:t>
            </a:r>
            <a:r>
              <a:rPr lang="en-US" sz="2000" b="1" spc="-20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,</a:t>
            </a: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who has been in the insurance industry for over 23 years, RMC2 was established with a passion for making a difference. Rosemarie has been exposed to the various needs of the market and decided to create a bridge for Filipinos who are overwhelmed by the process of insurance, making it more accessible and understandable.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We specialize in providing affordable, convenient, and reliable HMO, Life, and Non-Life Insurance solutions tailored to meet diverse needs. 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Our mission is simple: to bridge the gap between people and quality healthcare by offering plans that prioritize accessibility and peace of mind. We understand that navigating insurance options can be overwhelming — that's why we take pride in guiding our clients every step of the way, ensuring clarity, compassion, and personalized service.</a:t>
            </a: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With a commitment to building lasting relationships, RMC2 Consultancy Corp stands as a trusted partner in safeguarding the well-being and future of individuals, families, and businesses alike.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Let us help you protect what matters most.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8762144" y="4059472"/>
            <a:ext cx="9525856" cy="6227528"/>
          </a:xfrm>
          <a:custGeom>
            <a:avLst/>
            <a:gdLst/>
            <a:ahLst/>
            <a:cxnLst/>
            <a:rect l="l" t="t" r="r" b="b"/>
            <a:pathLst>
              <a:path w="9525856" h="6227528">
                <a:moveTo>
                  <a:pt x="9525856" y="0"/>
                </a:moveTo>
                <a:lnTo>
                  <a:pt x="0" y="0"/>
                </a:lnTo>
                <a:lnTo>
                  <a:pt x="0" y="6227528"/>
                </a:lnTo>
                <a:lnTo>
                  <a:pt x="9525856" y="6227528"/>
                </a:lnTo>
                <a:lnTo>
                  <a:pt x="952585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352105" y="1748133"/>
            <a:ext cx="7160426" cy="71604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F4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76294" y="2072322"/>
            <a:ext cx="6512047" cy="651204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7752" t="-3510" r="-8190" b="-1243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28700" y="1295355"/>
            <a:ext cx="6268095" cy="140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75"/>
              </a:lnSpc>
              <a:spcBef>
                <a:spcPct val="0"/>
              </a:spcBef>
            </a:pPr>
            <a:r>
              <a:rPr lang="en-US" sz="8196" b="1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ABOUT </a:t>
            </a:r>
            <a:r>
              <a:rPr lang="en-US" sz="8196" b="1">
                <a:solidFill>
                  <a:srgbClr val="FF7E2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6942" y="2857500"/>
            <a:ext cx="7209868" cy="697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At RMC2, we are dedicated to redefining the insurance experience. We specialize in providing </a:t>
            </a:r>
            <a:r>
              <a:rPr lang="en-US" sz="2000" b="1" spc="-20" dirty="0">
                <a:solidFill>
                  <a:srgbClr val="000000"/>
                </a:solidFill>
                <a:highlight>
                  <a:srgbClr val="F68712"/>
                </a:highlight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HMO, Life, and Non-Life Insurance solution</a:t>
            </a:r>
            <a:r>
              <a:rPr lang="en-US" sz="2000" b="1" spc="-20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s</a:t>
            </a: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that put people first, ensuring that protection isn’t just a privilege but a right for all. Our approach is built on three core principles: </a:t>
            </a:r>
            <a:r>
              <a:rPr lang="en-US" sz="2000" b="1" spc="-20" dirty="0">
                <a:solidFill>
                  <a:srgbClr val="000000"/>
                </a:solidFill>
                <a:highlight>
                  <a:srgbClr val="F68712"/>
                </a:highlight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Affordability, Accessibility, and Convenience.</a:t>
            </a:r>
          </a:p>
          <a:p>
            <a:pPr algn="just">
              <a:lnSpc>
                <a:spcPts val="2600"/>
              </a:lnSpc>
            </a:pPr>
            <a:endParaRPr lang="en-US" sz="2000" b="1" spc="-20" dirty="0">
              <a:solidFill>
                <a:srgbClr val="000000"/>
              </a:solidFill>
              <a:latin typeface="Prachason Neue SemiExpanded Bold"/>
              <a:ea typeface="Prachason Neue SemiExpanded Bold"/>
              <a:cs typeface="Prachason Neue SemiExpanded Bold"/>
              <a:sym typeface="Prachason Neue SemiExpanded Bold"/>
            </a:endParaRP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We understand that navigating insurance can feel overwhelming, so we’ve made it our mission to simplify the process. From personalized plans to hassle-free assistance, we’re here every step of the way, helping individuals, families, and businesses secure their future with peace of mind.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At the heart of RMC2 is a commitment to building lasting relationships. Whether it’s ensuring quick access to healthcare or offering life protection tailored to your needs, we’re more than just an insurance provider. 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  <a:p>
            <a:pPr algn="just">
              <a:lnSpc>
                <a:spcPts val="2600"/>
              </a:lnSpc>
            </a:pPr>
            <a:r>
              <a:rPr lang="en-US" sz="2000" spc="-2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We are your trusted partner in safeguarding what matters most which is protecting lives and empowering futures.</a:t>
            </a:r>
          </a:p>
          <a:p>
            <a:pPr algn="just">
              <a:lnSpc>
                <a:spcPts val="2600"/>
              </a:lnSpc>
            </a:pPr>
            <a:endParaRPr lang="en-US" sz="2000" spc="-20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4902240" y="5080800"/>
            <a:ext cx="2012485" cy="2037960"/>
          </a:xfrm>
          <a:custGeom>
            <a:avLst/>
            <a:gdLst/>
            <a:ahLst/>
            <a:cxnLst/>
            <a:rect l="l" t="t" r="r" b="b"/>
            <a:pathLst>
              <a:path w="2012485" h="2037960">
                <a:moveTo>
                  <a:pt x="0" y="2037960"/>
                </a:moveTo>
                <a:lnTo>
                  <a:pt x="2012485" y="2037960"/>
                </a:lnTo>
                <a:lnTo>
                  <a:pt x="2012485" y="0"/>
                </a:lnTo>
                <a:lnTo>
                  <a:pt x="0" y="0"/>
                </a:lnTo>
                <a:lnTo>
                  <a:pt x="0" y="20379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5196760" y="5581296"/>
            <a:ext cx="2050052" cy="205005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F4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289577" y="5674112"/>
            <a:ext cx="1864419" cy="1864419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t="-1085" b="-108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flipV="1">
            <a:off x="9344164" y="5072930"/>
            <a:ext cx="2012485" cy="2037960"/>
          </a:xfrm>
          <a:custGeom>
            <a:avLst/>
            <a:gdLst/>
            <a:ahLst/>
            <a:cxnLst/>
            <a:rect l="l" t="t" r="r" b="b"/>
            <a:pathLst>
              <a:path w="2012485" h="2037960">
                <a:moveTo>
                  <a:pt x="0" y="2037960"/>
                </a:moveTo>
                <a:lnTo>
                  <a:pt x="2012485" y="2037960"/>
                </a:lnTo>
                <a:lnTo>
                  <a:pt x="2012485" y="0"/>
                </a:lnTo>
                <a:lnTo>
                  <a:pt x="0" y="0"/>
                </a:lnTo>
                <a:lnTo>
                  <a:pt x="0" y="20379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638684" y="5573426"/>
            <a:ext cx="2050052" cy="205005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F4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31500" y="5666242"/>
            <a:ext cx="1864419" cy="186441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5429" t="-26048" r="-11379" b="-29697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72209" y="4991084"/>
            <a:ext cx="2846198" cy="4038616"/>
            <a:chOff x="0" y="0"/>
            <a:chExt cx="3794931" cy="5384821"/>
          </a:xfrm>
        </p:grpSpPr>
        <p:sp>
          <p:nvSpPr>
            <p:cNvPr id="16" name="Freeform 16"/>
            <p:cNvSpPr/>
            <p:nvPr/>
          </p:nvSpPr>
          <p:spPr>
            <a:xfrm flipV="1">
              <a:off x="138071" y="0"/>
              <a:ext cx="2683314" cy="2717280"/>
            </a:xfrm>
            <a:custGeom>
              <a:avLst/>
              <a:gdLst/>
              <a:ahLst/>
              <a:cxnLst/>
              <a:rect l="l" t="t" r="r" b="b"/>
              <a:pathLst>
                <a:path w="2683314" h="2717280">
                  <a:moveTo>
                    <a:pt x="0" y="2717280"/>
                  </a:moveTo>
                  <a:lnTo>
                    <a:pt x="2683313" y="2717280"/>
                  </a:lnTo>
                  <a:lnTo>
                    <a:pt x="2683313" y="0"/>
                  </a:lnTo>
                  <a:lnTo>
                    <a:pt x="0" y="0"/>
                  </a:lnTo>
                  <a:lnTo>
                    <a:pt x="0" y="271728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7" name="Group 17"/>
            <p:cNvGrpSpPr/>
            <p:nvPr/>
          </p:nvGrpSpPr>
          <p:grpSpPr>
            <a:xfrm>
              <a:off x="530764" y="667328"/>
              <a:ext cx="2733403" cy="2733403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F48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54519" y="791083"/>
              <a:ext cx="2485892" cy="248589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 b="-56000"/>
                </a:stretch>
              </a:blipFill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0" y="4859874"/>
              <a:ext cx="3794931" cy="5249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6"/>
                </a:lnSpc>
                <a:spcBef>
                  <a:spcPct val="0"/>
                </a:spcBef>
              </a:pPr>
              <a:r>
                <a:rPr lang="en-US" sz="2433" i="1" dirty="0">
                  <a:solidFill>
                    <a:srgbClr val="010F48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BOARD OF DIRECTOR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400" y="3666931"/>
              <a:ext cx="3784130" cy="524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6"/>
                </a:lnSpc>
                <a:spcBef>
                  <a:spcPct val="0"/>
                </a:spcBef>
              </a:pPr>
              <a:r>
                <a:rPr lang="en-US" sz="2433" b="1">
                  <a:solidFill>
                    <a:srgbClr val="010F4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MICHELLE GUINTO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497968" y="5067300"/>
            <a:ext cx="4275682" cy="3898909"/>
            <a:chOff x="0" y="0"/>
            <a:chExt cx="5700909" cy="5198546"/>
          </a:xfrm>
        </p:grpSpPr>
        <p:sp>
          <p:nvSpPr>
            <p:cNvPr id="25" name="Freeform 25"/>
            <p:cNvSpPr/>
            <p:nvPr/>
          </p:nvSpPr>
          <p:spPr>
            <a:xfrm flipV="1">
              <a:off x="949868" y="0"/>
              <a:ext cx="2683314" cy="2717280"/>
            </a:xfrm>
            <a:custGeom>
              <a:avLst/>
              <a:gdLst/>
              <a:ahLst/>
              <a:cxnLst/>
              <a:rect l="l" t="t" r="r" b="b"/>
              <a:pathLst>
                <a:path w="2683314" h="2717280">
                  <a:moveTo>
                    <a:pt x="0" y="2717280"/>
                  </a:moveTo>
                  <a:lnTo>
                    <a:pt x="2683313" y="2717280"/>
                  </a:lnTo>
                  <a:lnTo>
                    <a:pt x="2683313" y="0"/>
                  </a:lnTo>
                  <a:lnTo>
                    <a:pt x="0" y="0"/>
                  </a:lnTo>
                  <a:lnTo>
                    <a:pt x="0" y="271728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26" name="Group 26"/>
            <p:cNvGrpSpPr/>
            <p:nvPr/>
          </p:nvGrpSpPr>
          <p:grpSpPr>
            <a:xfrm>
              <a:off x="1342561" y="667328"/>
              <a:ext cx="2733403" cy="2733403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F48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952989" y="4673601"/>
              <a:ext cx="3794930" cy="524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6"/>
                </a:lnSpc>
                <a:spcBef>
                  <a:spcPct val="0"/>
                </a:spcBef>
              </a:pPr>
              <a:r>
                <a:rPr lang="en-US" sz="2433" i="1" dirty="0">
                  <a:solidFill>
                    <a:srgbClr val="010F48"/>
                  </a:solidFill>
                  <a:latin typeface="Open Sans Italics"/>
                  <a:ea typeface="Open Sans Italics"/>
                  <a:cs typeface="Open Sans Italics"/>
                  <a:sym typeface="Open Sans Italics"/>
                </a:rPr>
                <a:t>BOARD OF DIRECTOR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3557803"/>
              <a:ext cx="5700909" cy="524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06"/>
                </a:lnSpc>
                <a:spcBef>
                  <a:spcPct val="0"/>
                </a:spcBef>
              </a:pPr>
              <a:r>
                <a:rPr lang="en-US" sz="2433" b="1">
                  <a:solidFill>
                    <a:srgbClr val="010F48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CHARLES MARK UYBENGKEE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1501182" y="823351"/>
              <a:ext cx="2400370" cy="2400370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88723" t="-19589" r="-104326" b="-309789"/>
                </a:stretch>
              </a:blipFill>
            </p:spPr>
          </p:sp>
        </p:grpSp>
      </p:grpSp>
      <p:grpSp>
        <p:nvGrpSpPr>
          <p:cNvPr id="33" name="Group 33"/>
          <p:cNvGrpSpPr/>
          <p:nvPr/>
        </p:nvGrpSpPr>
        <p:grpSpPr>
          <a:xfrm>
            <a:off x="6024399" y="2012393"/>
            <a:ext cx="2344572" cy="2550548"/>
            <a:chOff x="0" y="0"/>
            <a:chExt cx="3126096" cy="3400730"/>
          </a:xfrm>
        </p:grpSpPr>
        <p:sp>
          <p:nvSpPr>
            <p:cNvPr id="34" name="Freeform 34"/>
            <p:cNvSpPr/>
            <p:nvPr/>
          </p:nvSpPr>
          <p:spPr>
            <a:xfrm flipV="1">
              <a:off x="0" y="0"/>
              <a:ext cx="2683314" cy="2717280"/>
            </a:xfrm>
            <a:custGeom>
              <a:avLst/>
              <a:gdLst/>
              <a:ahLst/>
              <a:cxnLst/>
              <a:rect l="l" t="t" r="r" b="b"/>
              <a:pathLst>
                <a:path w="2683314" h="2717280">
                  <a:moveTo>
                    <a:pt x="0" y="2717280"/>
                  </a:moveTo>
                  <a:lnTo>
                    <a:pt x="2683314" y="2717280"/>
                  </a:lnTo>
                  <a:lnTo>
                    <a:pt x="2683314" y="0"/>
                  </a:lnTo>
                  <a:lnTo>
                    <a:pt x="0" y="0"/>
                  </a:lnTo>
                  <a:lnTo>
                    <a:pt x="0" y="271728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5" name="Group 35"/>
            <p:cNvGrpSpPr/>
            <p:nvPr/>
          </p:nvGrpSpPr>
          <p:grpSpPr>
            <a:xfrm>
              <a:off x="392693" y="667328"/>
              <a:ext cx="2733403" cy="2733403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10F48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/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516448" y="791083"/>
              <a:ext cx="2485892" cy="2485892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16448" y="791083"/>
              <a:ext cx="2485892" cy="2485892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 t="-6149" b="-22421"/>
                </a:stretch>
              </a:blipFill>
            </p:spPr>
          </p:sp>
        </p:grpSp>
      </p:grpSp>
      <p:sp>
        <p:nvSpPr>
          <p:cNvPr id="42" name="TextBox 42"/>
          <p:cNvSpPr txBox="1"/>
          <p:nvPr/>
        </p:nvSpPr>
        <p:spPr>
          <a:xfrm>
            <a:off x="4398009" y="354818"/>
            <a:ext cx="9491981" cy="1143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7"/>
              </a:lnSpc>
              <a:spcBef>
                <a:spcPct val="0"/>
              </a:spcBef>
            </a:pPr>
            <a:r>
              <a:rPr lang="en-US" sz="6741" b="1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THE MANAGEMENT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277292" y="3872156"/>
            <a:ext cx="2411444" cy="4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i="1" dirty="0">
                <a:solidFill>
                  <a:srgbClr val="010F4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PRESIDENT &amp; CEO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735756" y="2993273"/>
            <a:ext cx="3700172" cy="4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>
                <a:solidFill>
                  <a:srgbClr val="010F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ROSEMARIE FERNANDEZ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904581" y="8626465"/>
            <a:ext cx="2846198" cy="4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i="1" dirty="0">
                <a:solidFill>
                  <a:srgbClr val="010F4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BOARD OF DIRECTOR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095131" y="7739627"/>
            <a:ext cx="2465098" cy="4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 dirty="0">
                <a:solidFill>
                  <a:srgbClr val="010F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CHERRY CORTEZ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416045" y="8626465"/>
            <a:ext cx="2846198" cy="4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i="1" dirty="0">
                <a:solidFill>
                  <a:srgbClr val="010F4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BOARD OF DIRECTOR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08546" y="7731757"/>
            <a:ext cx="4261197" cy="403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sz="2433" b="1">
                <a:solidFill>
                  <a:srgbClr val="010F4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CLEMENT DOLF FERNANDEZ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1422802" y="6182872"/>
            <a:ext cx="6995650" cy="7687527"/>
          </a:xfrm>
          <a:custGeom>
            <a:avLst/>
            <a:gdLst/>
            <a:ahLst/>
            <a:cxnLst/>
            <a:rect l="l" t="t" r="r" b="b"/>
            <a:pathLst>
              <a:path w="6995650" h="7687527">
                <a:moveTo>
                  <a:pt x="6995650" y="0"/>
                </a:moveTo>
                <a:lnTo>
                  <a:pt x="0" y="0"/>
                </a:lnTo>
                <a:lnTo>
                  <a:pt x="0" y="7687527"/>
                </a:lnTo>
                <a:lnTo>
                  <a:pt x="6995650" y="7687527"/>
                </a:lnTo>
                <a:lnTo>
                  <a:pt x="699565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080249" y="1748133"/>
            <a:ext cx="7160426" cy="71604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F4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04438" y="2072322"/>
            <a:ext cx="6512047" cy="651204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9224" t="-2049" r="-8785" b="-15959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40026" y="1541941"/>
            <a:ext cx="5145167" cy="140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75"/>
              </a:lnSpc>
              <a:spcBef>
                <a:spcPct val="0"/>
              </a:spcBef>
            </a:pPr>
            <a:r>
              <a:rPr lang="en-US" sz="8196" b="1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VISION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0026" y="2575493"/>
            <a:ext cx="6441805" cy="140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75"/>
              </a:lnSpc>
              <a:spcBef>
                <a:spcPct val="0"/>
              </a:spcBef>
            </a:pPr>
            <a:r>
              <a:rPr lang="en-US" sz="8196" b="1">
                <a:solidFill>
                  <a:srgbClr val="FF7E2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&amp; MISSION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252003"/>
            <a:ext cx="8115300" cy="181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</a:t>
            </a:r>
            <a:r>
              <a:rPr lang="en-US" sz="2547" b="1" spc="-25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V &gt;</a:t>
            </a: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To break barriers where quality health and life protection is within everyone’s reach, ensuring affordability and accessibility for all.</a:t>
            </a:r>
          </a:p>
          <a:p>
            <a:pPr algn="just">
              <a:lnSpc>
                <a:spcPts val="3311"/>
              </a:lnSpc>
            </a:pPr>
            <a:endParaRPr lang="en-US" sz="2547" spc="-25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6343731"/>
            <a:ext cx="8115300" cy="1815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</a:t>
            </a:r>
            <a:r>
              <a:rPr lang="en-US" sz="2547" b="1" spc="-25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M &gt;</a:t>
            </a: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 To safeguard lives by delivering affordable and accessible HMO, Life, Non-Life Insurance solutions, ensuring everyone has the security and care they deserve.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-2391312" y="-111894"/>
            <a:ext cx="5914486" cy="5989353"/>
          </a:xfrm>
          <a:custGeom>
            <a:avLst/>
            <a:gdLst/>
            <a:ahLst/>
            <a:cxnLst/>
            <a:rect l="l" t="t" r="r" b="b"/>
            <a:pathLst>
              <a:path w="5914486" h="5989353">
                <a:moveTo>
                  <a:pt x="0" y="5989352"/>
                </a:moveTo>
                <a:lnTo>
                  <a:pt x="5914486" y="5989352"/>
                </a:lnTo>
                <a:lnTo>
                  <a:pt x="5914486" y="0"/>
                </a:lnTo>
                <a:lnTo>
                  <a:pt x="0" y="0"/>
                </a:lnTo>
                <a:lnTo>
                  <a:pt x="0" y="59893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764826" y="-111894"/>
            <a:ext cx="5914486" cy="5989353"/>
          </a:xfrm>
          <a:custGeom>
            <a:avLst/>
            <a:gdLst/>
            <a:ahLst/>
            <a:cxnLst/>
            <a:rect l="l" t="t" r="r" b="b"/>
            <a:pathLst>
              <a:path w="5914486" h="5989353">
                <a:moveTo>
                  <a:pt x="5914486" y="5989352"/>
                </a:moveTo>
                <a:lnTo>
                  <a:pt x="0" y="5989352"/>
                </a:lnTo>
                <a:lnTo>
                  <a:pt x="0" y="0"/>
                </a:lnTo>
                <a:lnTo>
                  <a:pt x="5914486" y="0"/>
                </a:lnTo>
                <a:lnTo>
                  <a:pt x="5914486" y="598935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18225" y="6998314"/>
            <a:ext cx="606237" cy="626749"/>
          </a:xfrm>
          <a:custGeom>
            <a:avLst/>
            <a:gdLst/>
            <a:ahLst/>
            <a:cxnLst/>
            <a:rect l="l" t="t" r="r" b="b"/>
            <a:pathLst>
              <a:path w="606237" h="626749">
                <a:moveTo>
                  <a:pt x="0" y="0"/>
                </a:moveTo>
                <a:lnTo>
                  <a:pt x="606237" y="0"/>
                </a:lnTo>
                <a:lnTo>
                  <a:pt x="606237" y="626749"/>
                </a:lnTo>
                <a:lnTo>
                  <a:pt x="0" y="626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07747" y="6998314"/>
            <a:ext cx="606237" cy="626749"/>
          </a:xfrm>
          <a:custGeom>
            <a:avLst/>
            <a:gdLst/>
            <a:ahLst/>
            <a:cxnLst/>
            <a:rect l="l" t="t" r="r" b="b"/>
            <a:pathLst>
              <a:path w="606237" h="626749">
                <a:moveTo>
                  <a:pt x="0" y="0"/>
                </a:moveTo>
                <a:lnTo>
                  <a:pt x="606237" y="0"/>
                </a:lnTo>
                <a:lnTo>
                  <a:pt x="606237" y="626749"/>
                </a:lnTo>
                <a:lnTo>
                  <a:pt x="0" y="626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998324" y="6998314"/>
            <a:ext cx="606237" cy="626749"/>
          </a:xfrm>
          <a:custGeom>
            <a:avLst/>
            <a:gdLst/>
            <a:ahLst/>
            <a:cxnLst/>
            <a:rect l="l" t="t" r="r" b="b"/>
            <a:pathLst>
              <a:path w="606237" h="626749">
                <a:moveTo>
                  <a:pt x="0" y="0"/>
                </a:moveTo>
                <a:lnTo>
                  <a:pt x="606237" y="0"/>
                </a:lnTo>
                <a:lnTo>
                  <a:pt x="606237" y="626749"/>
                </a:lnTo>
                <a:lnTo>
                  <a:pt x="0" y="6267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451226" y="1192571"/>
            <a:ext cx="13591383" cy="109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5"/>
              </a:lnSpc>
              <a:spcBef>
                <a:spcPct val="0"/>
              </a:spcBef>
            </a:pPr>
            <a:r>
              <a:rPr lang="en-US" sz="6396" b="1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OUR GROWING NETWORK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91694" y="3874372"/>
            <a:ext cx="11460880" cy="168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29"/>
              </a:lnSpc>
            </a:pPr>
            <a:r>
              <a:rPr lang="en-US" sz="3099" spc="-30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A growing consultancy firm for insurance solution with a strong client network, committed to promoting wellness, preventive health, and lifestyle benefits for its members.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65705" y="2806582"/>
            <a:ext cx="11712858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 u="sng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RMC2 CONSULTANCY CORP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0350" y="7744755"/>
            <a:ext cx="6051527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SALES ADVISORS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7765" y="6450941"/>
            <a:ext cx="3071664" cy="155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b="1" dirty="0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1,200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154921" y="6450941"/>
            <a:ext cx="3848249" cy="155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b="1" dirty="0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15,300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9734" y="7769521"/>
            <a:ext cx="4594250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GROUP ENROLLEES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10330" y="6516973"/>
            <a:ext cx="2308994" cy="155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39"/>
              </a:lnSpc>
              <a:spcBef>
                <a:spcPct val="0"/>
              </a:spcBef>
            </a:pPr>
            <a:r>
              <a:rPr lang="en-US" sz="9099" b="1" dirty="0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900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58088" y="7769521"/>
            <a:ext cx="5186288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INDIVIDUAL ACCOUNT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790" y="9940925"/>
            <a:ext cx="2582714" cy="346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i="1">
                <a:solidFill>
                  <a:srgbClr val="000000"/>
                </a:solidFill>
                <a:latin typeface="Anantason SemiExpanded Italics"/>
                <a:ea typeface="Anantason SemiExpanded Italics"/>
                <a:cs typeface="Anantason SemiExpanded Italics"/>
                <a:sym typeface="Anantason SemiExpanded Italics"/>
              </a:rPr>
              <a:t>*DATA FROM </a:t>
            </a:r>
          </a:p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i="1">
                <a:solidFill>
                  <a:srgbClr val="000000"/>
                </a:solidFill>
                <a:latin typeface="Anantason SemiExpanded Italics"/>
                <a:ea typeface="Anantason SemiExpanded Italics"/>
                <a:cs typeface="Anantason SemiExpanded Italics"/>
                <a:sym typeface="Anantason SemiExpanded Italics"/>
              </a:rPr>
              <a:t>SEPTEMBER 2024 - NOVEMBER 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982828" y="5787091"/>
            <a:ext cx="7560213" cy="5594557"/>
          </a:xfrm>
          <a:custGeom>
            <a:avLst/>
            <a:gdLst/>
            <a:ahLst/>
            <a:cxnLst/>
            <a:rect l="l" t="t" r="r" b="b"/>
            <a:pathLst>
              <a:path w="7560213" h="5594557">
                <a:moveTo>
                  <a:pt x="0" y="0"/>
                </a:moveTo>
                <a:lnTo>
                  <a:pt x="7560213" y="0"/>
                </a:lnTo>
                <a:lnTo>
                  <a:pt x="7560213" y="5594557"/>
                </a:lnTo>
                <a:lnTo>
                  <a:pt x="0" y="55945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748133"/>
            <a:ext cx="7160426" cy="7160426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0F48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52889" y="2072322"/>
            <a:ext cx="6512047" cy="6512047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4246" r="-2781" b="-702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857915" y="454389"/>
            <a:ext cx="5492561" cy="140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75"/>
              </a:lnSpc>
              <a:spcBef>
                <a:spcPct val="0"/>
              </a:spcBef>
            </a:pPr>
            <a:r>
              <a:rPr lang="en-US" sz="8196" b="1">
                <a:solidFill>
                  <a:srgbClr val="000000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OUR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57915" y="1487941"/>
            <a:ext cx="6876747" cy="1401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75"/>
              </a:lnSpc>
              <a:spcBef>
                <a:spcPct val="0"/>
              </a:spcBef>
            </a:pPr>
            <a:r>
              <a:rPr lang="en-US" sz="8196" b="1">
                <a:solidFill>
                  <a:srgbClr val="FF7E2F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OFFICES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212037" y="2913123"/>
            <a:ext cx="5300504" cy="5893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11"/>
              </a:lnSpc>
            </a:pPr>
            <a:r>
              <a:rPr lang="en-US" sz="2547" b="1" spc="-25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LUZON: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Cainta - HEAD OFFICE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Antipolo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Taytay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Bulacan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Valenzuela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 err="1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Lipa</a:t>
            </a:r>
            <a:endParaRPr lang="en-US" sz="2547" spc="-25" dirty="0">
              <a:solidFill>
                <a:srgbClr val="000000"/>
              </a:solidFill>
              <a:latin typeface="Prachason Neue SemiExpanded"/>
              <a:ea typeface="Prachason Neue SemiExpanded"/>
              <a:cs typeface="Prachason Neue SemiExpanded"/>
              <a:sym typeface="Prachason Neue SemiExpanded"/>
            </a:endParaRP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Pampanga - OPENING SOON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La Union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Baguio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Isabela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Bicol - OPENING SOON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Quezon City 1 &amp; 2</a:t>
            </a:r>
          </a:p>
          <a:p>
            <a:pPr algn="just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Ilagan 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2585" y="4802718"/>
            <a:ext cx="4216456" cy="814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547" b="1" spc="-25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MINDANAO:</a:t>
            </a:r>
          </a:p>
          <a:p>
            <a:pPr algn="l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General Santos City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91635" y="2946794"/>
            <a:ext cx="6888837" cy="1396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1"/>
              </a:lnSpc>
            </a:pPr>
            <a:r>
              <a:rPr lang="en-US" sz="2547" b="1" spc="-25" dirty="0">
                <a:solidFill>
                  <a:srgbClr val="000000"/>
                </a:solidFill>
                <a:latin typeface="Prachason Neue SemiExpanded Bold"/>
                <a:ea typeface="Prachason Neue SemiExpanded Bold"/>
                <a:cs typeface="Prachason Neue SemiExpanded Bold"/>
                <a:sym typeface="Prachason Neue SemiExpanded Bold"/>
              </a:rPr>
              <a:t>VISAYAS:</a:t>
            </a:r>
          </a:p>
          <a:p>
            <a:pPr algn="l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Mandaue City - REGIONAL HEAD OFFICE</a:t>
            </a:r>
          </a:p>
          <a:p>
            <a:pPr algn="l">
              <a:lnSpc>
                <a:spcPts val="3311"/>
              </a:lnSpc>
            </a:pPr>
            <a:r>
              <a:rPr lang="en-US" sz="2547" spc="-25" dirty="0">
                <a:solidFill>
                  <a:srgbClr val="000000"/>
                </a:solidFill>
                <a:latin typeface="Prachason Neue SemiExpanded"/>
                <a:ea typeface="Prachason Neue SemiExpanded"/>
                <a:cs typeface="Prachason Neue SemiExpanded"/>
                <a:sym typeface="Prachason Neue SemiExpanded"/>
              </a:rPr>
              <a:t>Cebu City - OPENING SOON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566687" y="9631318"/>
            <a:ext cx="4362442" cy="1326059"/>
            <a:chOff x="0" y="0"/>
            <a:chExt cx="2297912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97912" cy="698500"/>
            </a:xfrm>
            <a:custGeom>
              <a:avLst/>
              <a:gdLst/>
              <a:ahLst/>
              <a:cxnLst/>
              <a:rect l="l" t="t" r="r" b="b"/>
              <a:pathLst>
                <a:path w="2297912" h="698500">
                  <a:moveTo>
                    <a:pt x="2297912" y="349250"/>
                  </a:moveTo>
                  <a:lnTo>
                    <a:pt x="20947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2094712" y="0"/>
                  </a:lnTo>
                  <a:lnTo>
                    <a:pt x="2297912" y="349250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57150"/>
              <a:ext cx="2069312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419993" y="6698755"/>
            <a:ext cx="5550223" cy="4856445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8712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24796" y="15196"/>
            <a:ext cx="9484184" cy="8213304"/>
            <a:chOff x="0" y="0"/>
            <a:chExt cx="6350000" cy="549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3"/>
              <a:stretch>
                <a:fillRect l="-7733" r="-7733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 rot="-1845706">
            <a:off x="10431865" y="-1796881"/>
            <a:ext cx="1114386" cy="14763443"/>
            <a:chOff x="0" y="0"/>
            <a:chExt cx="314096" cy="41611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4096" cy="4161162"/>
            </a:xfrm>
            <a:custGeom>
              <a:avLst/>
              <a:gdLst/>
              <a:ahLst/>
              <a:cxnLst/>
              <a:rect l="l" t="t" r="r" b="b"/>
              <a:pathLst>
                <a:path w="314096" h="4161162">
                  <a:moveTo>
                    <a:pt x="0" y="0"/>
                  </a:moveTo>
                  <a:lnTo>
                    <a:pt x="314096" y="0"/>
                  </a:lnTo>
                  <a:lnTo>
                    <a:pt x="314096" y="4161162"/>
                  </a:lnTo>
                  <a:lnTo>
                    <a:pt x="0" y="4161162"/>
                  </a:lnTo>
                  <a:close/>
                </a:path>
              </a:pathLst>
            </a:custGeom>
            <a:solidFill>
              <a:srgbClr val="06064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14096" cy="42183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500395" y="2519818"/>
            <a:ext cx="13529565" cy="11626970"/>
            <a:chOff x="0" y="0"/>
            <a:chExt cx="812800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60644"/>
            </a:solidFill>
            <a:ln w="38100" cap="sq">
              <a:solidFill>
                <a:srgbClr val="060644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927892" y="-2152254"/>
            <a:ext cx="5186295" cy="4538008"/>
            <a:chOff x="0" y="0"/>
            <a:chExt cx="812800" cy="711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871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127000" y="2730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036642" y="7029882"/>
            <a:ext cx="3904831" cy="3307669"/>
            <a:chOff x="0" y="0"/>
            <a:chExt cx="812800" cy="68849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88499"/>
            </a:xfrm>
            <a:custGeom>
              <a:avLst/>
              <a:gdLst/>
              <a:ahLst/>
              <a:cxnLst/>
              <a:rect l="l" t="t" r="r" b="b"/>
              <a:pathLst>
                <a:path w="812800" h="688499">
                  <a:moveTo>
                    <a:pt x="406400" y="0"/>
                  </a:moveTo>
                  <a:lnTo>
                    <a:pt x="812800" y="688499"/>
                  </a:lnTo>
                  <a:lnTo>
                    <a:pt x="0" y="688499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68712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27000" y="262510"/>
              <a:ext cx="558800" cy="3768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3790946" y="9539806"/>
            <a:ext cx="564846" cy="564846"/>
          </a:xfrm>
          <a:custGeom>
            <a:avLst/>
            <a:gdLst/>
            <a:ahLst/>
            <a:cxnLst/>
            <a:rect l="l" t="t" r="r" b="b"/>
            <a:pathLst>
              <a:path w="564846" h="564846">
                <a:moveTo>
                  <a:pt x="0" y="0"/>
                </a:moveTo>
                <a:lnTo>
                  <a:pt x="564846" y="0"/>
                </a:lnTo>
                <a:lnTo>
                  <a:pt x="564846" y="564846"/>
                </a:lnTo>
                <a:lnTo>
                  <a:pt x="0" y="564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272653" y="1098643"/>
            <a:ext cx="8040597" cy="503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+mj-lt"/>
                <a:ea typeface="Poppins"/>
                <a:cs typeface="Poppins"/>
                <a:sym typeface="Poppins"/>
              </a:rPr>
              <a:t>OUR NETWORK PROVIDER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506986" y="9524414"/>
            <a:ext cx="4989995" cy="47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19"/>
              </a:lnSpc>
              <a:spcBef>
                <a:spcPct val="0"/>
              </a:spcBef>
            </a:pPr>
            <a:r>
              <a:rPr lang="en-US" sz="2799" dirty="0">
                <a:solidFill>
                  <a:srgbClr val="000000"/>
                </a:solidFill>
                <a:latin typeface="+mj-lt"/>
                <a:ea typeface="Poppins"/>
                <a:cs typeface="Poppins"/>
                <a:sym typeface="Poppins"/>
              </a:rPr>
              <a:t>www. amaphil.com.ph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2623C7D-2E25-4EC5-BAC4-C374CEAB0FC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6627" y="1602179"/>
            <a:ext cx="3033202" cy="1313591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68E02C16-8F12-43B6-9D69-2DAA8B004DE3}"/>
              </a:ext>
            </a:extLst>
          </p:cNvPr>
          <p:cNvSpPr/>
          <p:nvPr/>
        </p:nvSpPr>
        <p:spPr>
          <a:xfrm>
            <a:off x="361793" y="3101442"/>
            <a:ext cx="8782207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552"/>
              </a:lnSpc>
            </a:pPr>
            <a:r>
              <a:rPr lang="en-US" sz="3200" b="1" dirty="0">
                <a:solidFill>
                  <a:srgbClr val="000000"/>
                </a:solidFill>
                <a:latin typeface="+mj-lt"/>
                <a:ea typeface="Poppins"/>
                <a:cs typeface="Poppins"/>
                <a:sym typeface="Poppins"/>
              </a:rPr>
              <a:t>Nationwide hospital and clinic accreditation thru our network provider AMAPHIL</a:t>
            </a:r>
          </a:p>
          <a:p>
            <a:pPr algn="just">
              <a:lnSpc>
                <a:spcPts val="3552"/>
              </a:lnSpc>
            </a:pPr>
            <a:endParaRPr lang="en-US" sz="2400" b="1" dirty="0">
              <a:solidFill>
                <a:srgbClr val="000000"/>
              </a:solidFill>
              <a:latin typeface="+mj-lt"/>
              <a:ea typeface="Poppins"/>
              <a:cs typeface="Poppins"/>
              <a:sym typeface="Poppins"/>
            </a:endParaRPr>
          </a:p>
          <a:p>
            <a:pPr algn="just">
              <a:lnSpc>
                <a:spcPts val="3552"/>
              </a:lnSpc>
            </a:pPr>
            <a:r>
              <a:rPr lang="en-US" sz="3200" dirty="0">
                <a:solidFill>
                  <a:srgbClr val="000000"/>
                </a:solidFill>
                <a:latin typeface="+mj-lt"/>
                <a:ea typeface="Poppins"/>
                <a:cs typeface="Poppins"/>
                <a:sym typeface="Poppins"/>
              </a:rPr>
              <a:t>AMAPHIL, or Advanced Medical Access Philippines, Inc., is a technology-powered Third Party Administrator (TPA) that was founded in 2016 to manage self-funded corporate health plans. It connects members to a large network of accredited hospitals, clinics, and physicians, and provides technology-driven services like online consultations via the Doctor Anywhere app. AMAPHIL's goal is to provide cost-effective, high-quality healthcare solutions for companies and their employees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ED7F829-0DE9-F334-41F6-6EC015E96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ED13150-B0A5-79DA-F4FC-F57ACAC4E758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BCE1DF6D-6F92-ECE4-E5BB-B46804E88FAE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FEDEEE39-216A-BBB8-07F6-2396ED89013D}"/>
              </a:ext>
            </a:extLst>
          </p:cNvPr>
          <p:cNvSpPr/>
          <p:nvPr/>
        </p:nvSpPr>
        <p:spPr>
          <a:xfrm>
            <a:off x="1757102" y="3781058"/>
            <a:ext cx="1089539" cy="1009113"/>
          </a:xfrm>
          <a:custGeom>
            <a:avLst/>
            <a:gdLst/>
            <a:ahLst/>
            <a:cxnLst/>
            <a:rect l="l" t="t" r="r" b="b"/>
            <a:pathLst>
              <a:path w="1089539" h="1009113">
                <a:moveTo>
                  <a:pt x="0" y="0"/>
                </a:moveTo>
                <a:lnTo>
                  <a:pt x="1089539" y="0"/>
                </a:lnTo>
                <a:lnTo>
                  <a:pt x="1089539" y="1009113"/>
                </a:lnTo>
                <a:lnTo>
                  <a:pt x="0" y="1009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12FE9AE-7A94-8F26-CAFA-B12C643A07D1}"/>
              </a:ext>
            </a:extLst>
          </p:cNvPr>
          <p:cNvSpPr txBox="1"/>
          <p:nvPr/>
        </p:nvSpPr>
        <p:spPr>
          <a:xfrm>
            <a:off x="3137897" y="3914408"/>
            <a:ext cx="11163893" cy="91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2"/>
              </a:lnSpc>
            </a:pPr>
            <a:r>
              <a:rPr lang="en-US" sz="6900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BE PREPARED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6E3DBC67-7736-8D70-6F3D-2523D537FC57}"/>
              </a:ext>
            </a:extLst>
          </p:cNvPr>
          <p:cNvSpPr txBox="1"/>
          <p:nvPr/>
        </p:nvSpPr>
        <p:spPr>
          <a:xfrm>
            <a:off x="3137897" y="5589239"/>
            <a:ext cx="13393001" cy="916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62"/>
              </a:lnSpc>
            </a:pPr>
            <a:r>
              <a:rPr lang="en-US" sz="690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EARN BY HELPING OTHERS</a:t>
            </a: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DECAFA1C-48D4-5D66-6526-94110FFA4786}"/>
              </a:ext>
            </a:extLst>
          </p:cNvPr>
          <p:cNvSpPr/>
          <p:nvPr/>
        </p:nvSpPr>
        <p:spPr>
          <a:xfrm>
            <a:off x="1757102" y="5455889"/>
            <a:ext cx="1089539" cy="1009113"/>
          </a:xfrm>
          <a:custGeom>
            <a:avLst/>
            <a:gdLst/>
            <a:ahLst/>
            <a:cxnLst/>
            <a:rect l="l" t="t" r="r" b="b"/>
            <a:pathLst>
              <a:path w="1089539" h="1009113">
                <a:moveTo>
                  <a:pt x="0" y="0"/>
                </a:moveTo>
                <a:lnTo>
                  <a:pt x="1089539" y="0"/>
                </a:lnTo>
                <a:lnTo>
                  <a:pt x="1089539" y="1009113"/>
                </a:lnTo>
                <a:lnTo>
                  <a:pt x="0" y="10091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7D4713BB-A07A-6AA5-F09A-A6B305D8E5BF}"/>
              </a:ext>
            </a:extLst>
          </p:cNvPr>
          <p:cNvSpPr txBox="1"/>
          <p:nvPr/>
        </p:nvSpPr>
        <p:spPr>
          <a:xfrm>
            <a:off x="1552555" y="1874801"/>
            <a:ext cx="15182890" cy="1061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8000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SIMPLE BUT IMPORTANT</a:t>
            </a:r>
          </a:p>
        </p:txBody>
      </p:sp>
    </p:spTree>
    <p:extLst>
      <p:ext uri="{BB962C8B-B14F-4D97-AF65-F5344CB8AC3E}">
        <p14:creationId xmlns:p14="http://schemas.microsoft.com/office/powerpoint/2010/main" val="2931208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AC62459-B97F-1E52-6300-C57E86DE5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030B6D-EA66-6EAE-9030-74BE4965AE6B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C76F5E2E-EA6F-534A-CA75-6B859C1D69D4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8AFBF32-F3C4-95DA-E88F-BBA912CA4F2B}"/>
              </a:ext>
            </a:extLst>
          </p:cNvPr>
          <p:cNvGrpSpPr/>
          <p:nvPr/>
        </p:nvGrpSpPr>
        <p:grpSpPr>
          <a:xfrm>
            <a:off x="1177205" y="3605869"/>
            <a:ext cx="15933591" cy="3086100"/>
            <a:chOff x="0" y="0"/>
            <a:chExt cx="4196501" cy="8128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64A969DE-253C-B480-FA98-A6FE2A00297E}"/>
                </a:ext>
              </a:extLst>
            </p:cNvPr>
            <p:cNvSpPr/>
            <p:nvPr/>
          </p:nvSpPr>
          <p:spPr>
            <a:xfrm>
              <a:off x="0" y="0"/>
              <a:ext cx="4196501" cy="812800"/>
            </a:xfrm>
            <a:custGeom>
              <a:avLst/>
              <a:gdLst/>
              <a:ahLst/>
              <a:cxnLst/>
              <a:rect l="l" t="t" r="r" b="b"/>
              <a:pathLst>
                <a:path w="4196501" h="812800">
                  <a:moveTo>
                    <a:pt x="24780" y="0"/>
                  </a:moveTo>
                  <a:lnTo>
                    <a:pt x="4171721" y="0"/>
                  </a:lnTo>
                  <a:cubicBezTo>
                    <a:pt x="4185407" y="0"/>
                    <a:pt x="4196501" y="11094"/>
                    <a:pt x="4196501" y="24780"/>
                  </a:cubicBezTo>
                  <a:lnTo>
                    <a:pt x="4196501" y="788020"/>
                  </a:lnTo>
                  <a:cubicBezTo>
                    <a:pt x="4196501" y="801706"/>
                    <a:pt x="4185407" y="812800"/>
                    <a:pt x="4171721" y="812800"/>
                  </a:cubicBezTo>
                  <a:lnTo>
                    <a:pt x="24780" y="812800"/>
                  </a:lnTo>
                  <a:cubicBezTo>
                    <a:pt x="11094" y="812800"/>
                    <a:pt x="0" y="801706"/>
                    <a:pt x="0" y="788020"/>
                  </a:cubicBezTo>
                  <a:lnTo>
                    <a:pt x="0" y="24780"/>
                  </a:lnTo>
                  <a:cubicBezTo>
                    <a:pt x="0" y="11094"/>
                    <a:pt x="11094" y="0"/>
                    <a:pt x="24780" y="0"/>
                  </a:cubicBezTo>
                  <a:close/>
                </a:path>
              </a:pathLst>
            </a:custGeom>
            <a:solidFill>
              <a:srgbClr val="F77A42"/>
            </a:solid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411921-B42F-EFDB-95CE-3B4D421B78B3}"/>
                </a:ext>
              </a:extLst>
            </p:cNvPr>
            <p:cNvSpPr txBox="1"/>
            <p:nvPr/>
          </p:nvSpPr>
          <p:spPr>
            <a:xfrm>
              <a:off x="0" y="-47625"/>
              <a:ext cx="419650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436AB43-5E6B-E352-523D-118AA16E19B7}"/>
              </a:ext>
            </a:extLst>
          </p:cNvPr>
          <p:cNvSpPr txBox="1"/>
          <p:nvPr/>
        </p:nvSpPr>
        <p:spPr>
          <a:xfrm>
            <a:off x="2341463" y="1438657"/>
            <a:ext cx="13605074" cy="718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44"/>
              </a:lnSpc>
              <a:spcBef>
                <a:spcPct val="0"/>
              </a:spcBef>
            </a:pPr>
            <a:r>
              <a:rPr lang="en-US" sz="11603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THIS IS WHAT</a:t>
            </a:r>
          </a:p>
          <a:p>
            <a:pPr algn="ctr">
              <a:lnSpc>
                <a:spcPts val="24627"/>
              </a:lnSpc>
              <a:spcBef>
                <a:spcPct val="0"/>
              </a:spcBef>
            </a:pPr>
            <a:r>
              <a:rPr lang="en-US" sz="147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KAAGAPAY</a:t>
            </a:r>
          </a:p>
          <a:p>
            <a:pPr algn="ctr">
              <a:lnSpc>
                <a:spcPts val="16244"/>
              </a:lnSpc>
              <a:spcBef>
                <a:spcPct val="0"/>
              </a:spcBef>
            </a:pPr>
            <a:r>
              <a:rPr lang="en-US" sz="11603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IS ALL ABOUT</a:t>
            </a:r>
          </a:p>
        </p:txBody>
      </p:sp>
    </p:spTree>
    <p:extLst>
      <p:ext uri="{BB962C8B-B14F-4D97-AF65-F5344CB8AC3E}">
        <p14:creationId xmlns:p14="http://schemas.microsoft.com/office/powerpoint/2010/main" val="77431362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A964C443-79B0-6C0C-0516-862387D30B53}"/>
              </a:ext>
            </a:extLst>
          </p:cNvPr>
          <p:cNvSpPr/>
          <p:nvPr/>
        </p:nvSpPr>
        <p:spPr>
          <a:xfrm>
            <a:off x="-80154" y="0"/>
            <a:ext cx="18484268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00" name="Google Shape;100;p3"/>
          <p:cNvSpPr/>
          <p:nvPr/>
        </p:nvSpPr>
        <p:spPr>
          <a:xfrm>
            <a:off x="1036161" y="2506147"/>
            <a:ext cx="8107839" cy="5106418"/>
          </a:xfrm>
          <a:custGeom>
            <a:avLst/>
            <a:gdLst/>
            <a:ahLst/>
            <a:cxnLst/>
            <a:rect l="l" t="t" r="r" b="b"/>
            <a:pathLst>
              <a:path w="8107839" h="5106418" extrusionOk="0">
                <a:moveTo>
                  <a:pt x="0" y="0"/>
                </a:moveTo>
                <a:lnTo>
                  <a:pt x="8107839" y="0"/>
                </a:lnTo>
                <a:lnTo>
                  <a:pt x="8107839" y="5106418"/>
                </a:lnTo>
                <a:lnTo>
                  <a:pt x="0" y="5106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5" r="-56"/>
            </a:stretch>
          </a:blipFill>
          <a:ln>
            <a:noFill/>
          </a:ln>
        </p:spPr>
      </p:sp>
      <p:sp>
        <p:nvSpPr>
          <p:cNvPr id="101" name="Google Shape;101;p3"/>
          <p:cNvSpPr txBox="1"/>
          <p:nvPr/>
        </p:nvSpPr>
        <p:spPr>
          <a:xfrm>
            <a:off x="9044518" y="4317837"/>
            <a:ext cx="8849144" cy="144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82288" marR="0" lvl="1" indent="-85725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80D58"/>
              </a:buClr>
              <a:buSzPts val="6716"/>
              <a:buFont typeface="Wingdings" panose="05000000000000000000" pitchFamily="2" charset="2"/>
              <a:buChar char="ü"/>
            </a:pPr>
            <a:r>
              <a:rPr lang="en-US" sz="6716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rPr>
              <a:t>ONE-TIME USE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9044517" y="5333151"/>
            <a:ext cx="8492043" cy="144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82288" marR="0" lvl="1" indent="-85725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80D58"/>
              </a:buClr>
              <a:buSzPts val="6716"/>
              <a:buFont typeface="Wingdings" panose="05000000000000000000" pitchFamily="2" charset="2"/>
              <a:buChar char="ü"/>
            </a:pPr>
            <a:r>
              <a:rPr lang="en-US" sz="6716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rPr>
              <a:t>1 YEAR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9044516" y="6333982"/>
            <a:ext cx="8492043" cy="1446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582288" marR="0" lvl="1" indent="-857250" algn="l" rtl="0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080D58"/>
              </a:buClr>
              <a:buSzPts val="6716"/>
              <a:buFont typeface="Wingdings" panose="05000000000000000000" pitchFamily="2" charset="2"/>
              <a:buChar char="ü"/>
            </a:pPr>
            <a:r>
              <a:rPr lang="en-US" sz="6716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Archivo Black"/>
                <a:ea typeface="Archivo Black"/>
                <a:cs typeface="Archivo Black"/>
                <a:sym typeface="Archivo Black"/>
              </a:rPr>
              <a:t>NATIONWIDE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10014224" y="1222484"/>
            <a:ext cx="6939094" cy="2801659"/>
          </a:xfrm>
          <a:custGeom>
            <a:avLst/>
            <a:gdLst/>
            <a:ahLst/>
            <a:cxnLst/>
            <a:rect l="l" t="t" r="r" b="b"/>
            <a:pathLst>
              <a:path w="6939094" h="2801659" extrusionOk="0">
                <a:moveTo>
                  <a:pt x="0" y="0"/>
                </a:moveTo>
                <a:lnTo>
                  <a:pt x="6939094" y="0"/>
                </a:lnTo>
                <a:lnTo>
                  <a:pt x="6939094" y="2801659"/>
                </a:lnTo>
                <a:lnTo>
                  <a:pt x="0" y="28016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5" name="Google Shape;105;p3"/>
          <p:cNvSpPr txBox="1"/>
          <p:nvPr/>
        </p:nvSpPr>
        <p:spPr>
          <a:xfrm>
            <a:off x="10354537" y="1189888"/>
            <a:ext cx="5637944" cy="2657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335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₱</a:t>
            </a:r>
            <a:r>
              <a:rPr lang="en-US" sz="10300" b="0" i="0" u="none" strike="noStrike" cap="none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1,499</a:t>
            </a:r>
            <a:endParaRPr dirty="0"/>
          </a:p>
        </p:txBody>
      </p:sp>
      <p:sp>
        <p:nvSpPr>
          <p:cNvPr id="5" name="Google Shape;85;p1">
            <a:extLst>
              <a:ext uri="{FF2B5EF4-FFF2-40B4-BE49-F238E27FC236}">
                <a16:creationId xmlns:a16="http://schemas.microsoft.com/office/drawing/2014/main" id="{BABE51F0-E9C4-D6A6-9211-BAA2D5908DEB}"/>
              </a:ext>
            </a:extLst>
          </p:cNvPr>
          <p:cNvSpPr/>
          <p:nvPr/>
        </p:nvSpPr>
        <p:spPr>
          <a:xfrm>
            <a:off x="15379516" y="8350128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/>
      <p:bldP spid="102" grpId="0"/>
      <p:bldP spid="103" grpId="0"/>
      <p:bldP spid="10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F63831-88F0-6831-56B4-4407CF0EF829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20" name="Google Shape;120;p5"/>
          <p:cNvSpPr/>
          <p:nvPr/>
        </p:nvSpPr>
        <p:spPr>
          <a:xfrm>
            <a:off x="12066641" y="881234"/>
            <a:ext cx="3463928" cy="3325370"/>
          </a:xfrm>
          <a:custGeom>
            <a:avLst/>
            <a:gdLst/>
            <a:ahLst/>
            <a:cxnLst/>
            <a:rect l="l" t="t" r="r" b="b"/>
            <a:pathLst>
              <a:path w="3463928" h="3325370" extrusionOk="0">
                <a:moveTo>
                  <a:pt x="0" y="0"/>
                </a:moveTo>
                <a:lnTo>
                  <a:pt x="3463927" y="0"/>
                </a:lnTo>
                <a:lnTo>
                  <a:pt x="3463927" y="3325370"/>
                </a:lnTo>
                <a:lnTo>
                  <a:pt x="0" y="332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1" name="Google Shape;121;p5"/>
          <p:cNvSpPr/>
          <p:nvPr/>
        </p:nvSpPr>
        <p:spPr>
          <a:xfrm>
            <a:off x="2868401" y="881234"/>
            <a:ext cx="3636532" cy="3325370"/>
          </a:xfrm>
          <a:custGeom>
            <a:avLst/>
            <a:gdLst/>
            <a:ahLst/>
            <a:cxnLst/>
            <a:rect l="l" t="t" r="r" b="b"/>
            <a:pathLst>
              <a:path w="3636532" h="3325370" extrusionOk="0">
                <a:moveTo>
                  <a:pt x="0" y="0"/>
                </a:moveTo>
                <a:lnTo>
                  <a:pt x="3636531" y="0"/>
                </a:lnTo>
                <a:lnTo>
                  <a:pt x="3636531" y="3325370"/>
                </a:lnTo>
                <a:lnTo>
                  <a:pt x="0" y="33253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r="-624"/>
            </a:stretch>
          </a:blipFill>
          <a:ln>
            <a:noFill/>
          </a:ln>
        </p:spPr>
      </p:sp>
      <p:sp>
        <p:nvSpPr>
          <p:cNvPr id="122" name="Google Shape;122;p5"/>
          <p:cNvSpPr/>
          <p:nvPr/>
        </p:nvSpPr>
        <p:spPr>
          <a:xfrm>
            <a:off x="8078272" y="2543919"/>
            <a:ext cx="2415030" cy="1322229"/>
          </a:xfrm>
          <a:custGeom>
            <a:avLst/>
            <a:gdLst/>
            <a:ahLst/>
            <a:cxnLst/>
            <a:rect l="l" t="t" r="r" b="b"/>
            <a:pathLst>
              <a:path w="2415030" h="1322229" extrusionOk="0">
                <a:moveTo>
                  <a:pt x="0" y="0"/>
                </a:moveTo>
                <a:lnTo>
                  <a:pt x="2415029" y="0"/>
                </a:lnTo>
                <a:lnTo>
                  <a:pt x="2415029" y="1322228"/>
                </a:lnTo>
                <a:lnTo>
                  <a:pt x="0" y="13222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3" name="Google Shape;123;p5"/>
          <p:cNvSpPr txBox="1"/>
          <p:nvPr/>
        </p:nvSpPr>
        <p:spPr>
          <a:xfrm>
            <a:off x="1028700" y="4630182"/>
            <a:ext cx="7204620" cy="192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21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15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21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DAYS OLD</a:t>
            </a:r>
            <a:endParaRPr dirty="0"/>
          </a:p>
        </p:txBody>
      </p:sp>
      <p:sp>
        <p:nvSpPr>
          <p:cNvPr id="124" name="Google Shape;124;p5"/>
          <p:cNvSpPr txBox="1"/>
          <p:nvPr/>
        </p:nvSpPr>
        <p:spPr>
          <a:xfrm>
            <a:off x="10239838" y="4630182"/>
            <a:ext cx="7204620" cy="1926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21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70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421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YEARS OLD</a:t>
            </a:r>
            <a:endParaRPr dirty="0"/>
          </a:p>
        </p:txBody>
      </p:sp>
      <p:sp>
        <p:nvSpPr>
          <p:cNvPr id="125" name="Google Shape;125;p5"/>
          <p:cNvSpPr txBox="1"/>
          <p:nvPr/>
        </p:nvSpPr>
        <p:spPr>
          <a:xfrm>
            <a:off x="1909704" y="6655502"/>
            <a:ext cx="15534754" cy="161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36" b="0" i="0" u="none" strike="noStrike" cap="none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ELIGIBLE TO AVAIL</a:t>
            </a:r>
            <a:endParaRPr dirty="0"/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E8DBEE31-8CD1-3504-3779-C8148D9201F2}"/>
              </a:ext>
            </a:extLst>
          </p:cNvPr>
          <p:cNvSpPr/>
          <p:nvPr/>
        </p:nvSpPr>
        <p:spPr>
          <a:xfrm>
            <a:off x="15379516" y="8350128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/>
      <p:bldP spid="124" grpId="0"/>
      <p:bldP spid="1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D5FBEC8-014E-E7E8-020A-907AE35DF5B2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31" name="Google Shape;131;p6"/>
          <p:cNvSpPr txBox="1"/>
          <p:nvPr/>
        </p:nvSpPr>
        <p:spPr>
          <a:xfrm>
            <a:off x="-80154" y="1759106"/>
            <a:ext cx="18368154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15 DAYS OLD TO 59 YEARS OLD</a:t>
            </a:r>
            <a:endParaRPr dirty="0"/>
          </a:p>
        </p:txBody>
      </p:sp>
      <p:sp>
        <p:nvSpPr>
          <p:cNvPr id="132" name="Google Shape;132;p6"/>
          <p:cNvSpPr txBox="1"/>
          <p:nvPr/>
        </p:nvSpPr>
        <p:spPr>
          <a:xfrm>
            <a:off x="0" y="2848750"/>
            <a:ext cx="18288000" cy="173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9" b="0" i="0" u="none" strike="noStrike" cap="none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₱10,000.00</a:t>
            </a:r>
            <a:endParaRPr dirty="0"/>
          </a:p>
        </p:txBody>
      </p:sp>
      <p:sp>
        <p:nvSpPr>
          <p:cNvPr id="133" name="Google Shape;133;p6"/>
          <p:cNvSpPr txBox="1"/>
          <p:nvPr/>
        </p:nvSpPr>
        <p:spPr>
          <a:xfrm>
            <a:off x="-80154" y="5230247"/>
            <a:ext cx="18368154" cy="1077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60 TO 70 YEARS OLD</a:t>
            </a:r>
            <a:endParaRPr dirty="0"/>
          </a:p>
        </p:txBody>
      </p:sp>
      <p:sp>
        <p:nvSpPr>
          <p:cNvPr id="134" name="Google Shape;134;p6"/>
          <p:cNvSpPr txBox="1"/>
          <p:nvPr/>
        </p:nvSpPr>
        <p:spPr>
          <a:xfrm>
            <a:off x="0" y="6298118"/>
            <a:ext cx="18288000" cy="173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999" b="0" i="0" u="none" strike="noStrike" cap="none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₱5,000.00</a:t>
            </a:r>
            <a:endParaRPr dirty="0"/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6ED01E0D-51FC-D647-0789-F17ADB4A810A}"/>
              </a:ext>
            </a:extLst>
          </p:cNvPr>
          <p:cNvSpPr/>
          <p:nvPr/>
        </p:nvSpPr>
        <p:spPr>
          <a:xfrm>
            <a:off x="15379516" y="8350128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EBC20D5-97A1-27AA-7503-CB7C0E48394A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40" name="Google Shape;140;p7"/>
          <p:cNvSpPr/>
          <p:nvPr/>
        </p:nvSpPr>
        <p:spPr>
          <a:xfrm>
            <a:off x="5090080" y="827008"/>
            <a:ext cx="8107839" cy="5106418"/>
          </a:xfrm>
          <a:custGeom>
            <a:avLst/>
            <a:gdLst/>
            <a:ahLst/>
            <a:cxnLst/>
            <a:rect l="l" t="t" r="r" b="b"/>
            <a:pathLst>
              <a:path w="8107839" h="5106418" extrusionOk="0">
                <a:moveTo>
                  <a:pt x="0" y="0"/>
                </a:moveTo>
                <a:lnTo>
                  <a:pt x="8107840" y="0"/>
                </a:lnTo>
                <a:lnTo>
                  <a:pt x="8107840" y="5106418"/>
                </a:lnTo>
                <a:lnTo>
                  <a:pt x="0" y="51064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5" r="-56"/>
            </a:stretch>
          </a:blipFill>
          <a:ln>
            <a:noFill/>
          </a:ln>
        </p:spPr>
      </p:sp>
      <p:sp>
        <p:nvSpPr>
          <p:cNvPr id="141" name="Google Shape;141;p7"/>
          <p:cNvSpPr txBox="1"/>
          <p:nvPr/>
        </p:nvSpPr>
        <p:spPr>
          <a:xfrm>
            <a:off x="0" y="6311108"/>
            <a:ext cx="18288000" cy="2039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5" b="0" i="0" u="none" strike="noStrike" cap="none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REASONABLE AND CUSTOMARY MEDICAL EXPENSES</a:t>
            </a:r>
            <a:endParaRPr dirty="0"/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584CD9A8-33AC-F61A-7F93-FF664294702C}"/>
              </a:ext>
            </a:extLst>
          </p:cNvPr>
          <p:cNvSpPr/>
          <p:nvPr/>
        </p:nvSpPr>
        <p:spPr>
          <a:xfrm>
            <a:off x="15379516" y="8350128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E24693-9671-D2DA-DC17-0FE8998C3BD8}"/>
              </a:ext>
            </a:extLst>
          </p:cNvPr>
          <p:cNvSpPr/>
          <p:nvPr/>
        </p:nvSpPr>
        <p:spPr>
          <a:xfrm>
            <a:off x="-181754" y="0"/>
            <a:ext cx="184697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pic>
        <p:nvPicPr>
          <p:cNvPr id="147" name="Google Shape;147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5987" y="3523129"/>
            <a:ext cx="8858590" cy="535944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8"/>
          <p:cNvSpPr txBox="1"/>
          <p:nvPr/>
        </p:nvSpPr>
        <p:spPr>
          <a:xfrm>
            <a:off x="2504731" y="1553321"/>
            <a:ext cx="4009663" cy="1136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5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ILLNESS</a:t>
            </a:r>
            <a:endParaRPr dirty="0"/>
          </a:p>
        </p:txBody>
      </p:sp>
      <p:sp>
        <p:nvSpPr>
          <p:cNvPr id="149" name="Google Shape;149;p8"/>
          <p:cNvSpPr txBox="1"/>
          <p:nvPr/>
        </p:nvSpPr>
        <p:spPr>
          <a:xfrm>
            <a:off x="9200879" y="1572659"/>
            <a:ext cx="8453305" cy="142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5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BODILY INJURY</a:t>
            </a:r>
            <a:endParaRPr dirty="0"/>
          </a:p>
        </p:txBody>
      </p:sp>
      <p:sp>
        <p:nvSpPr>
          <p:cNvPr id="150" name="Google Shape;150;p8"/>
          <p:cNvSpPr txBox="1"/>
          <p:nvPr/>
        </p:nvSpPr>
        <p:spPr>
          <a:xfrm>
            <a:off x="5322457" y="4046599"/>
            <a:ext cx="6540002" cy="3479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5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PRE-EXISTING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5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CONDITIONS</a:t>
            </a:r>
            <a:endParaRPr dirty="0"/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5EB04888-DC82-9A51-887B-DCA3FCD3D989}"/>
              </a:ext>
            </a:extLst>
          </p:cNvPr>
          <p:cNvSpPr/>
          <p:nvPr/>
        </p:nvSpPr>
        <p:spPr>
          <a:xfrm>
            <a:off x="15379516" y="8350128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/>
      <p:bldP spid="149" grpId="0"/>
      <p:bldP spid="1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E17F9D-1664-1204-219C-EF8F9C6A9EEC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63" name="Google Shape;163;p10"/>
          <p:cNvSpPr txBox="1"/>
          <p:nvPr/>
        </p:nvSpPr>
        <p:spPr>
          <a:xfrm>
            <a:off x="570346" y="1695077"/>
            <a:ext cx="17147308" cy="706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P</a:t>
            </a: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rofessional fees of a licensed and qualified medical practitioner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emergency room facility and service fees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medications administered for immediate stabilization and emergency treatment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whole blood and human blood products when medically indicated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oxygen therapy and intravenous fluids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sutures, dressings, splints, and plaster casts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laboratory tests, imaging (x-ray), and diagnostic procedures directly related to emergency evaluation and management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anti-rabies vaccine (first passive dose only)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anti-venom serum (first passive dose only)</a:t>
            </a:r>
          </a:p>
          <a:p>
            <a:pPr marL="808286" lvl="1" indent="-457200">
              <a:lnSpc>
                <a:spcPct val="150000"/>
              </a:lnSpc>
              <a:buClr>
                <a:srgbClr val="080D58"/>
              </a:buClr>
              <a:buSzPts val="3252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</a:rPr>
              <a:t>anti-tetanus vaccine</a:t>
            </a:r>
            <a:endParaRPr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024391C5-5833-AB38-5D14-DA655BF47D2A}"/>
              </a:ext>
            </a:extLst>
          </p:cNvPr>
          <p:cNvSpPr/>
          <p:nvPr/>
        </p:nvSpPr>
        <p:spPr>
          <a:xfrm>
            <a:off x="15234374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4" name="Google Shape;157;p9">
            <a:extLst>
              <a:ext uri="{FF2B5EF4-FFF2-40B4-BE49-F238E27FC236}">
                <a16:creationId xmlns:a16="http://schemas.microsoft.com/office/drawing/2014/main" id="{42B76A77-4DF8-92FE-0B7E-6353AE1435A8}"/>
              </a:ext>
            </a:extLst>
          </p:cNvPr>
          <p:cNvSpPr txBox="1"/>
          <p:nvPr/>
        </p:nvSpPr>
        <p:spPr>
          <a:xfrm>
            <a:off x="870964" y="287766"/>
            <a:ext cx="13106293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EMERGENCY COVERAGE</a:t>
            </a:r>
            <a:endParaRPr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E85606C-28FE-F0E4-BE40-687D9DBD5C03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69" name="Google Shape;169;p11"/>
          <p:cNvSpPr txBox="1"/>
          <p:nvPr/>
        </p:nvSpPr>
        <p:spPr>
          <a:xfrm>
            <a:off x="668691" y="564977"/>
            <a:ext cx="15732452" cy="1449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>
                <a:solidFill>
                  <a:srgbClr val="FF7F30"/>
                </a:solidFill>
                <a:latin typeface="Archivo Black"/>
                <a:sym typeface="Archivo Black"/>
              </a:rPr>
              <a:t>QUALIFIED</a:t>
            </a:r>
            <a:r>
              <a:rPr lang="en-US" sz="6000" dirty="0">
                <a:solidFill>
                  <a:srgbClr val="FF7F30"/>
                </a:solidFill>
                <a:latin typeface="Archivo Black"/>
              </a:rPr>
              <a:t>  </a:t>
            </a:r>
            <a:r>
              <a:rPr lang="en-US" sz="6000" dirty="0">
                <a:solidFill>
                  <a:srgbClr val="FF7F30"/>
                </a:solidFill>
                <a:latin typeface="Archivo Black"/>
                <a:sym typeface="Archivo Black"/>
              </a:rPr>
              <a:t>EMERGENCY </a:t>
            </a:r>
            <a:r>
              <a:rPr lang="en-US" sz="6000" b="0" i="0" u="none" strike="noStrike" cap="none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CONDITION</a:t>
            </a:r>
            <a:endParaRPr sz="1000" dirty="0"/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C8530830-F4D4-D8AB-97F3-97CBEAE65160}"/>
              </a:ext>
            </a:extLst>
          </p:cNvPr>
          <p:cNvSpPr/>
          <p:nvPr/>
        </p:nvSpPr>
        <p:spPr>
          <a:xfrm>
            <a:off x="15234374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4" name="Google Shape;175;p12">
            <a:extLst>
              <a:ext uri="{FF2B5EF4-FFF2-40B4-BE49-F238E27FC236}">
                <a16:creationId xmlns:a16="http://schemas.microsoft.com/office/drawing/2014/main" id="{51C6EBAC-2819-E535-2F97-18336D10FB8D}"/>
              </a:ext>
            </a:extLst>
          </p:cNvPr>
          <p:cNvSpPr txBox="1"/>
          <p:nvPr/>
        </p:nvSpPr>
        <p:spPr>
          <a:xfrm>
            <a:off x="727231" y="2419925"/>
            <a:ext cx="16833537" cy="3265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198390" lvl="1" indent="-685800">
              <a:lnSpc>
                <a:spcPct val="150000"/>
              </a:lnSpc>
              <a:buClr>
                <a:srgbClr val="080D58"/>
              </a:buClr>
              <a:buSzPts val="4748"/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80D5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Serious jeopardy to the member’s life</a:t>
            </a:r>
          </a:p>
          <a:p>
            <a:pPr marL="1198390" lvl="1" indent="-685800">
              <a:lnSpc>
                <a:spcPct val="150000"/>
              </a:lnSpc>
              <a:buClr>
                <a:srgbClr val="080D58"/>
              </a:buClr>
              <a:buSzPts val="4748"/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80D5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Serious impairment of bodily functions</a:t>
            </a:r>
          </a:p>
          <a:p>
            <a:pPr marL="1198390" lvl="1" indent="-685800">
              <a:lnSpc>
                <a:spcPct val="150000"/>
              </a:lnSpc>
              <a:buClr>
                <a:srgbClr val="080D58"/>
              </a:buClr>
              <a:buSzPts val="4748"/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080D58"/>
                </a:solidFill>
                <a:latin typeface="Arimo" panose="020B0604020202020204" charset="0"/>
                <a:ea typeface="Arimo" panose="020B0604020202020204" charset="0"/>
                <a:cs typeface="Arimo" panose="020B0604020202020204" charset="0"/>
              </a:rPr>
              <a:t>Serious dysfunction of any body organ or part</a:t>
            </a:r>
          </a:p>
          <a:p>
            <a:pPr marL="1198390" marR="0" lvl="1" indent="-685800" algn="l" rtl="0">
              <a:lnSpc>
                <a:spcPct val="230012"/>
              </a:lnSpc>
              <a:spcBef>
                <a:spcPts val="0"/>
              </a:spcBef>
              <a:spcAft>
                <a:spcPts val="0"/>
              </a:spcAft>
              <a:buClr>
                <a:srgbClr val="080D58"/>
              </a:buClr>
              <a:buSzPts val="4748"/>
              <a:buFont typeface="Wingdings" panose="05000000000000000000" pitchFamily="2" charset="2"/>
              <a:buChar char="Ø"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DEA2658-B204-B049-ECAB-C9F547A49B48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90" name="Google Shape;190;p14"/>
          <p:cNvSpPr txBox="1"/>
          <p:nvPr/>
        </p:nvSpPr>
        <p:spPr>
          <a:xfrm>
            <a:off x="675436" y="1903705"/>
            <a:ext cx="16937127" cy="6463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Uncontrolled or sever bleeding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Coughing up or vomiting blood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Persistent or severe vomiting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Choking or Airway Obstruction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Acute respiratory distress, difficulty breathing or shortness of breath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Chest pain or symptoms suggestive of a cardiac event. 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Accidental ingestion, injection or exposure to toxic or poisonous substances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Sudden onset of altered mental status, confusion or disorientation.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Fainting, syncope or loss of consciousness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Acute head, neck or spinal injury. 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Traumatic injuries resulting from vehicular accidents, falls, burns, smoke inhalation, near drowning or deep and extensive wounds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Sudden onset of dizziness, weakness, numbness or visual disturbances.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Sudden and severe pain of unknown origin affecting any part of the body. </a:t>
            </a:r>
            <a:endParaRPr lang="en-US"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  <a:p>
            <a:pPr marL="625160" marR="0" lvl="1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4"/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rgbClr val="080D58"/>
                </a:solidFill>
                <a:latin typeface="Aritmo"/>
                <a:ea typeface="Arimo" panose="020B0604020202020204" charset="0"/>
                <a:cs typeface="Arimo" panose="020B0604020202020204" charset="0"/>
                <a:sym typeface="Archivo Black"/>
              </a:rPr>
              <a:t>Sudden and severe abdominal pain or pressure. </a:t>
            </a:r>
            <a:endParaRPr sz="2800" dirty="0">
              <a:solidFill>
                <a:srgbClr val="080D58"/>
              </a:solidFill>
              <a:latin typeface="Aritmo"/>
              <a:ea typeface="Arimo" panose="020B0604020202020204" charset="0"/>
              <a:cs typeface="Arimo" panose="020B0604020202020204" charset="0"/>
            </a:endParaRP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1FFE4892-5D40-4589-EE5B-CCFF1694778F}"/>
              </a:ext>
            </a:extLst>
          </p:cNvPr>
          <p:cNvSpPr/>
          <p:nvPr/>
        </p:nvSpPr>
        <p:spPr>
          <a:xfrm>
            <a:off x="15234374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4" name="Google Shape;169;p11">
            <a:extLst>
              <a:ext uri="{FF2B5EF4-FFF2-40B4-BE49-F238E27FC236}">
                <a16:creationId xmlns:a16="http://schemas.microsoft.com/office/drawing/2014/main" id="{98441194-809B-F2B4-1479-637E492C1887}"/>
              </a:ext>
            </a:extLst>
          </p:cNvPr>
          <p:cNvSpPr txBox="1"/>
          <p:nvPr/>
        </p:nvSpPr>
        <p:spPr>
          <a:xfrm>
            <a:off x="956164" y="454076"/>
            <a:ext cx="15732452" cy="130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5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FF7F30"/>
                </a:solidFill>
                <a:latin typeface="Archivo Black"/>
                <a:sym typeface="Archivo Black"/>
              </a:rPr>
              <a:t>QUALIFIED EMERGENCY </a:t>
            </a:r>
            <a:r>
              <a:rPr lang="en-US" sz="5400" b="0" i="0" u="none" strike="noStrike" cap="none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CONDITIONS</a:t>
            </a:r>
            <a:endParaRPr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9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041670A-54B6-1104-F810-B8712B818F0E}"/>
              </a:ext>
            </a:extLst>
          </p:cNvPr>
          <p:cNvSpPr/>
          <p:nvPr/>
        </p:nvSpPr>
        <p:spPr>
          <a:xfrm>
            <a:off x="-40077" y="-10160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196" name="Google Shape;196;p15"/>
          <p:cNvSpPr txBox="1"/>
          <p:nvPr/>
        </p:nvSpPr>
        <p:spPr>
          <a:xfrm>
            <a:off x="883021" y="3230896"/>
            <a:ext cx="16472992" cy="4247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800" b="0" i="0" u="none" strike="noStrike" cap="none" dirty="0">
                <a:ln>
                  <a:solidFill>
                    <a:schemeClr val="tx1"/>
                  </a:solidFill>
                </a:ln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15-DAY WAITING PERIOD</a:t>
            </a:r>
            <a:endParaRPr sz="24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2F9E8504-A946-8156-33A2-FA349D3DC9D4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61EDAF-D65F-B61F-D577-865295F47891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AC2D21F3-78B6-E000-2964-AF101BFD8FA1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4" name="Google Shape;244;p23">
            <a:extLst>
              <a:ext uri="{FF2B5EF4-FFF2-40B4-BE49-F238E27FC236}">
                <a16:creationId xmlns:a16="http://schemas.microsoft.com/office/drawing/2014/main" id="{B89F92D7-C97A-A28E-4411-B62FD1B70938}"/>
              </a:ext>
            </a:extLst>
          </p:cNvPr>
          <p:cNvSpPr txBox="1"/>
          <p:nvPr/>
        </p:nvSpPr>
        <p:spPr>
          <a:xfrm>
            <a:off x="711199" y="403908"/>
            <a:ext cx="16237099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Emergency (ER) </a:t>
            </a:r>
            <a:r>
              <a:rPr lang="en-US" sz="5400" b="0" i="0" u="none" strike="noStrike" cap="none" dirty="0" err="1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Availment</a:t>
            </a:r>
            <a:r>
              <a:rPr lang="en-US" sz="5400" b="0" i="0" u="none" strike="noStrike" cap="none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Process</a:t>
            </a:r>
            <a:endParaRPr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1972D7-1ED9-9424-3550-A2A333921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656" y="1705017"/>
            <a:ext cx="4224017" cy="8178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D548C4-9003-8EF7-71C8-416952BB95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2516" y="1838485"/>
            <a:ext cx="4224017" cy="7915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ACA38C19-57F2-7F20-538F-7E1EDAFAD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A4801D3-CA06-39C4-C90E-0D982B2B5B9C}"/>
              </a:ext>
            </a:extLst>
          </p:cNvPr>
          <p:cNvSpPr/>
          <p:nvPr/>
        </p:nvSpPr>
        <p:spPr>
          <a:xfrm>
            <a:off x="0" y="2023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F59AEA44-6092-9CB7-04AE-6915B664CBF5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4" name="Google Shape;244;p23">
            <a:extLst>
              <a:ext uri="{FF2B5EF4-FFF2-40B4-BE49-F238E27FC236}">
                <a16:creationId xmlns:a16="http://schemas.microsoft.com/office/drawing/2014/main" id="{6A05326B-68AA-C449-0872-DE45720E9825}"/>
              </a:ext>
            </a:extLst>
          </p:cNvPr>
          <p:cNvSpPr txBox="1"/>
          <p:nvPr/>
        </p:nvSpPr>
        <p:spPr>
          <a:xfrm>
            <a:off x="724685" y="323095"/>
            <a:ext cx="16237099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0" i="0" u="none" strike="noStrike" cap="none" dirty="0">
                <a:ln>
                  <a:solidFill>
                    <a:schemeClr val="tx1"/>
                  </a:solidFill>
                </a:ln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Emergency (ER) </a:t>
            </a:r>
            <a:r>
              <a:rPr lang="en-US" sz="6000" b="0" i="0" u="none" strike="noStrike" cap="none" dirty="0" err="1">
                <a:ln>
                  <a:solidFill>
                    <a:schemeClr val="tx1"/>
                  </a:solidFill>
                </a:ln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Availment</a:t>
            </a:r>
            <a:r>
              <a:rPr lang="en-US" sz="6000" b="0" i="0" u="none" strike="noStrike" cap="none" dirty="0">
                <a:ln>
                  <a:solidFill>
                    <a:schemeClr val="tx1"/>
                  </a:solidFill>
                </a:ln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 Process</a:t>
            </a:r>
            <a:endParaRPr sz="1000" dirty="0">
              <a:ln>
                <a:solidFill>
                  <a:schemeClr val="tx1"/>
                </a:solidFill>
              </a:ln>
            </a:endParaRPr>
          </a:p>
        </p:txBody>
      </p:sp>
      <p:pic>
        <p:nvPicPr>
          <p:cNvPr id="7" name="Picture 24" descr="Patient Icon in Virus Transmission Glyph">
            <a:extLst>
              <a:ext uri="{FF2B5EF4-FFF2-40B4-BE49-F238E27FC236}">
                <a16:creationId xmlns:a16="http://schemas.microsoft.com/office/drawing/2014/main" id="{2F257616-262B-74B8-5FCE-636CF3B7C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518" y="2449662"/>
            <a:ext cx="2325801" cy="2325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92C523-D133-FA5E-C8B2-C03112D1CA00}"/>
              </a:ext>
            </a:extLst>
          </p:cNvPr>
          <p:cNvSpPr txBox="1"/>
          <p:nvPr/>
        </p:nvSpPr>
        <p:spPr>
          <a:xfrm>
            <a:off x="2483518" y="4884487"/>
            <a:ext cx="20347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Member goes to accredited hospital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48FC4-C7BA-D06A-A7CB-C5E91EF45DCF}"/>
              </a:ext>
            </a:extLst>
          </p:cNvPr>
          <p:cNvSpPr txBox="1"/>
          <p:nvPr/>
        </p:nvSpPr>
        <p:spPr>
          <a:xfrm>
            <a:off x="7152071" y="4691597"/>
            <a:ext cx="30433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entury Gothic" panose="020B0502020202020204" pitchFamily="34" charset="0"/>
              </a:rPr>
              <a:t>Member reports his ER using his  AMAPHIL mobile app to the ER Dept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0DE027-5D19-F899-C6E1-790EEC74E90B}"/>
              </a:ext>
            </a:extLst>
          </p:cNvPr>
          <p:cNvSpPr txBox="1"/>
          <p:nvPr/>
        </p:nvSpPr>
        <p:spPr>
          <a:xfrm>
            <a:off x="11962726" y="4745987"/>
            <a:ext cx="3192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entury Gothic" panose="020B0502020202020204" pitchFamily="34" charset="0"/>
              </a:rPr>
              <a:t>Member is treated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9C731DF-A59A-A457-9563-7665BA061ECB}"/>
              </a:ext>
            </a:extLst>
          </p:cNvPr>
          <p:cNvCxnSpPr/>
          <p:nvPr/>
        </p:nvCxnSpPr>
        <p:spPr>
          <a:xfrm>
            <a:off x="5734950" y="3710483"/>
            <a:ext cx="744194" cy="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9848E36-5ED3-74CB-6084-B2455F7FA61A}"/>
              </a:ext>
            </a:extLst>
          </p:cNvPr>
          <p:cNvCxnSpPr/>
          <p:nvPr/>
        </p:nvCxnSpPr>
        <p:spPr>
          <a:xfrm>
            <a:off x="10707808" y="3717931"/>
            <a:ext cx="744194" cy="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8131E32-60A6-509C-C426-79852D46DC88}"/>
              </a:ext>
            </a:extLst>
          </p:cNvPr>
          <p:cNvCxnSpPr>
            <a:cxnSpLocks/>
          </p:cNvCxnSpPr>
          <p:nvPr/>
        </p:nvCxnSpPr>
        <p:spPr>
          <a:xfrm>
            <a:off x="15560615" y="4884487"/>
            <a:ext cx="0" cy="1415667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17FC0B6F-919A-EBE2-39FA-42D5256D22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623" y="2313097"/>
            <a:ext cx="1660229" cy="2184512"/>
          </a:xfrm>
          <a:prstGeom prst="rect">
            <a:avLst/>
          </a:prstGeom>
        </p:spPr>
      </p:pic>
      <p:pic>
        <p:nvPicPr>
          <p:cNvPr id="17" name="Picture 28" descr="office workers Icon - Free PNG &amp; SVG 2970916 - Noun Project">
            <a:extLst>
              <a:ext uri="{FF2B5EF4-FFF2-40B4-BE49-F238E27FC236}">
                <a16:creationId xmlns:a16="http://schemas.microsoft.com/office/drawing/2014/main" id="{F6F13B79-4704-CE2E-A197-FD54A94BD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9267" y="6110265"/>
            <a:ext cx="2226940" cy="2188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4" descr="625,122 Phone Icon Illustrations &amp; Clip Art - iStock">
            <a:extLst>
              <a:ext uri="{FF2B5EF4-FFF2-40B4-BE49-F238E27FC236}">
                <a16:creationId xmlns:a16="http://schemas.microsoft.com/office/drawing/2014/main" id="{5E7C2754-66B2-68EF-F412-5D9A2EE75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0218" y="6271101"/>
            <a:ext cx="958259" cy="94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529F23F-A89D-6D56-0EFB-486AE411128A}"/>
              </a:ext>
            </a:extLst>
          </p:cNvPr>
          <p:cNvSpPr txBox="1"/>
          <p:nvPr/>
        </p:nvSpPr>
        <p:spPr>
          <a:xfrm>
            <a:off x="12079305" y="8015498"/>
            <a:ext cx="30155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entury Gothic" panose="020B0502020202020204" pitchFamily="34" charset="0"/>
              </a:rPr>
              <a:t>Once ready for discharge and billing, hospital staff calls AMAPHIL to report the ER and request for LOA.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B29E946-279B-F728-8DE6-FEB571B0A2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8343" y="2536882"/>
            <a:ext cx="1982942" cy="211015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3D41DCB-0F1F-0EA8-F8FB-DD9C9E36D092}"/>
              </a:ext>
            </a:extLst>
          </p:cNvPr>
          <p:cNvCxnSpPr>
            <a:cxnSpLocks/>
          </p:cNvCxnSpPr>
          <p:nvPr/>
        </p:nvCxnSpPr>
        <p:spPr>
          <a:xfrm flipH="1">
            <a:off x="10707808" y="7312332"/>
            <a:ext cx="737196" cy="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9B52DD9-0DFF-6EF4-A19A-E254816805D2}"/>
              </a:ext>
            </a:extLst>
          </p:cNvPr>
          <p:cNvCxnSpPr>
            <a:cxnSpLocks/>
          </p:cNvCxnSpPr>
          <p:nvPr/>
        </p:nvCxnSpPr>
        <p:spPr>
          <a:xfrm flipH="1">
            <a:off x="5671406" y="7405409"/>
            <a:ext cx="737196" cy="0"/>
          </a:xfrm>
          <a:prstGeom prst="straightConnector1">
            <a:avLst/>
          </a:prstGeom>
          <a:ln w="1016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10" descr="Wallet - Free business icons">
            <a:extLst>
              <a:ext uri="{FF2B5EF4-FFF2-40B4-BE49-F238E27FC236}">
                <a16:creationId xmlns:a16="http://schemas.microsoft.com/office/drawing/2014/main" id="{8240095C-8539-591D-E9FF-832CE1F80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719" y="6241579"/>
            <a:ext cx="1632845" cy="1632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FBF8C92-906B-5C38-32E5-0631DCD13631}"/>
              </a:ext>
            </a:extLst>
          </p:cNvPr>
          <p:cNvSpPr txBox="1"/>
          <p:nvPr/>
        </p:nvSpPr>
        <p:spPr>
          <a:xfrm>
            <a:off x="2727385" y="7994165"/>
            <a:ext cx="203473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Century Gothic" panose="020B0502020202020204" pitchFamily="34" charset="0"/>
              </a:rPr>
              <a:t>Member to pay the excess (if applicable) to the hospital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23D17E-DA56-48F8-E71D-3E4D3C22F63C}"/>
              </a:ext>
            </a:extLst>
          </p:cNvPr>
          <p:cNvSpPr txBox="1"/>
          <p:nvPr/>
        </p:nvSpPr>
        <p:spPr>
          <a:xfrm>
            <a:off x="7410737" y="8114647"/>
            <a:ext cx="31366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entury Gothic" panose="020B0502020202020204" pitchFamily="34" charset="0"/>
              </a:rPr>
              <a:t>AMAPHIL issues LOA based on the member’s benefit</a:t>
            </a:r>
          </a:p>
        </p:txBody>
      </p:sp>
      <p:pic>
        <p:nvPicPr>
          <p:cNvPr id="27" name="Picture 2" descr="Transparent Call Center Agent Clipart - Call Center Agent Icon Png, Png  Download , Transparent Png Image - PNGitem">
            <a:extLst>
              <a:ext uri="{FF2B5EF4-FFF2-40B4-BE49-F238E27FC236}">
                <a16:creationId xmlns:a16="http://schemas.microsoft.com/office/drawing/2014/main" id="{65985D48-CE6D-EAC4-A5B1-9C33CF73BD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678" y="6241579"/>
            <a:ext cx="1797538" cy="1897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pproval - Free business and finance icons">
            <a:extLst>
              <a:ext uri="{FF2B5EF4-FFF2-40B4-BE49-F238E27FC236}">
                <a16:creationId xmlns:a16="http://schemas.microsoft.com/office/drawing/2014/main" id="{62434AA2-B660-2952-9CD5-D2BF9C584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0295" y="6241579"/>
            <a:ext cx="1382940" cy="132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82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9" grpId="0"/>
      <p:bldP spid="24" grpId="0"/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2">
            <a:extLst>
              <a:ext uri="{FF2B5EF4-FFF2-40B4-BE49-F238E27FC236}">
                <a16:creationId xmlns:a16="http://schemas.microsoft.com/office/drawing/2014/main" id="{1CC85DE2-B1A8-4086-BB1C-3197FBA9FBB8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55606" y="361614"/>
            <a:ext cx="4776788" cy="2068688"/>
          </a:xfrm>
          <a:custGeom>
            <a:avLst/>
            <a:gdLst/>
            <a:ahLst/>
            <a:cxnLst/>
            <a:rect l="l" t="t" r="r" b="b"/>
            <a:pathLst>
              <a:path w="4776788" h="2068688">
                <a:moveTo>
                  <a:pt x="0" y="0"/>
                </a:moveTo>
                <a:lnTo>
                  <a:pt x="4776788" y="0"/>
                </a:lnTo>
                <a:lnTo>
                  <a:pt x="4776788" y="2068688"/>
                </a:lnTo>
                <a:lnTo>
                  <a:pt x="0" y="20686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97315" y="3473634"/>
            <a:ext cx="2790310" cy="4896109"/>
          </a:xfrm>
          <a:custGeom>
            <a:avLst/>
            <a:gdLst/>
            <a:ahLst/>
            <a:cxnLst/>
            <a:rect l="l" t="t" r="r" b="b"/>
            <a:pathLst>
              <a:path w="2790310" h="4896109">
                <a:moveTo>
                  <a:pt x="0" y="0"/>
                </a:moveTo>
                <a:lnTo>
                  <a:pt x="2790311" y="0"/>
                </a:lnTo>
                <a:lnTo>
                  <a:pt x="2790311" y="4896109"/>
                </a:lnTo>
                <a:lnTo>
                  <a:pt x="0" y="4896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555636" b="-3048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315534" y="3385174"/>
            <a:ext cx="2774644" cy="4896109"/>
          </a:xfrm>
          <a:custGeom>
            <a:avLst/>
            <a:gdLst/>
            <a:ahLst/>
            <a:cxnLst/>
            <a:rect l="l" t="t" r="r" b="b"/>
            <a:pathLst>
              <a:path w="2774644" h="4896109">
                <a:moveTo>
                  <a:pt x="0" y="0"/>
                </a:moveTo>
                <a:lnTo>
                  <a:pt x="2774643" y="0"/>
                </a:lnTo>
                <a:lnTo>
                  <a:pt x="2774643" y="4896109"/>
                </a:lnTo>
                <a:lnTo>
                  <a:pt x="0" y="4896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5032" r="-468184" b="-3125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609387" y="3473634"/>
            <a:ext cx="2681443" cy="4896109"/>
          </a:xfrm>
          <a:custGeom>
            <a:avLst/>
            <a:gdLst/>
            <a:ahLst/>
            <a:cxnLst/>
            <a:rect l="l" t="t" r="r" b="b"/>
            <a:pathLst>
              <a:path w="2681443" h="4896109">
                <a:moveTo>
                  <a:pt x="0" y="0"/>
                </a:moveTo>
                <a:lnTo>
                  <a:pt x="2681442" y="0"/>
                </a:lnTo>
                <a:lnTo>
                  <a:pt x="2681442" y="4896109"/>
                </a:lnTo>
                <a:lnTo>
                  <a:pt x="0" y="4896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91456" r="-374021" b="-2727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114882" y="3473634"/>
            <a:ext cx="2665295" cy="4719189"/>
          </a:xfrm>
          <a:custGeom>
            <a:avLst/>
            <a:gdLst/>
            <a:ahLst/>
            <a:cxnLst/>
            <a:rect l="l" t="t" r="r" b="b"/>
            <a:pathLst>
              <a:path w="2665295" h="4719189">
                <a:moveTo>
                  <a:pt x="0" y="0"/>
                </a:moveTo>
                <a:lnTo>
                  <a:pt x="2665294" y="0"/>
                </a:lnTo>
                <a:lnTo>
                  <a:pt x="2665294" y="4719189"/>
                </a:lnTo>
                <a:lnTo>
                  <a:pt x="0" y="47191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5568" r="-279910" b="-31254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804880" y="3473634"/>
            <a:ext cx="2728561" cy="4807649"/>
          </a:xfrm>
          <a:custGeom>
            <a:avLst/>
            <a:gdLst/>
            <a:ahLst/>
            <a:cxnLst/>
            <a:rect l="l" t="t" r="r" b="b"/>
            <a:pathLst>
              <a:path w="2728561" h="4807649">
                <a:moveTo>
                  <a:pt x="0" y="0"/>
                </a:moveTo>
                <a:lnTo>
                  <a:pt x="2728562" y="0"/>
                </a:lnTo>
                <a:lnTo>
                  <a:pt x="2728562" y="4807649"/>
                </a:lnTo>
                <a:lnTo>
                  <a:pt x="0" y="48076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6124" r="-188294" b="-33669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698528" y="3473634"/>
            <a:ext cx="2792156" cy="4807649"/>
          </a:xfrm>
          <a:custGeom>
            <a:avLst/>
            <a:gdLst/>
            <a:ahLst/>
            <a:cxnLst/>
            <a:rect l="l" t="t" r="r" b="b"/>
            <a:pathLst>
              <a:path w="2792156" h="4807649">
                <a:moveTo>
                  <a:pt x="0" y="0"/>
                </a:moveTo>
                <a:lnTo>
                  <a:pt x="2792157" y="0"/>
                </a:lnTo>
                <a:lnTo>
                  <a:pt x="2792157" y="4807649"/>
                </a:lnTo>
                <a:lnTo>
                  <a:pt x="0" y="48076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0712" r="-88345" b="-33669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97315" y="8369743"/>
            <a:ext cx="2703913" cy="1574253"/>
          </a:xfrm>
          <a:custGeom>
            <a:avLst/>
            <a:gdLst/>
            <a:ahLst/>
            <a:cxnLst/>
            <a:rect l="l" t="t" r="r" b="b"/>
            <a:pathLst>
              <a:path w="2703913" h="1574253">
                <a:moveTo>
                  <a:pt x="0" y="0"/>
                </a:moveTo>
                <a:lnTo>
                  <a:pt x="2703913" y="0"/>
                </a:lnTo>
                <a:lnTo>
                  <a:pt x="2703913" y="1574253"/>
                </a:lnTo>
                <a:lnTo>
                  <a:pt x="0" y="1574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09902" r="-501" b="-32611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611621" y="8281283"/>
            <a:ext cx="2703913" cy="1680244"/>
          </a:xfrm>
          <a:custGeom>
            <a:avLst/>
            <a:gdLst/>
            <a:ahLst/>
            <a:cxnLst/>
            <a:rect l="l" t="t" r="r" b="b"/>
            <a:pathLst>
              <a:path w="2703913" h="1680244">
                <a:moveTo>
                  <a:pt x="0" y="0"/>
                </a:moveTo>
                <a:lnTo>
                  <a:pt x="2703913" y="0"/>
                </a:lnTo>
                <a:lnTo>
                  <a:pt x="2703913" y="1680244"/>
                </a:lnTo>
                <a:lnTo>
                  <a:pt x="0" y="16802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09902" t="-97144" r="-501" b="-20209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90829" y="8338433"/>
            <a:ext cx="2703913" cy="1728261"/>
          </a:xfrm>
          <a:custGeom>
            <a:avLst/>
            <a:gdLst/>
            <a:ahLst/>
            <a:cxnLst/>
            <a:rect l="l" t="t" r="r" b="b"/>
            <a:pathLst>
              <a:path w="2703913" h="1728261">
                <a:moveTo>
                  <a:pt x="0" y="0"/>
                </a:moveTo>
                <a:lnTo>
                  <a:pt x="2703913" y="0"/>
                </a:lnTo>
                <a:lnTo>
                  <a:pt x="2703913" y="1728261"/>
                </a:lnTo>
                <a:lnTo>
                  <a:pt x="0" y="17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09902" t="-191344" r="-501" b="-9679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144000" y="8471783"/>
            <a:ext cx="2808450" cy="1472213"/>
          </a:xfrm>
          <a:custGeom>
            <a:avLst/>
            <a:gdLst/>
            <a:ahLst/>
            <a:cxnLst/>
            <a:rect l="l" t="t" r="r" b="b"/>
            <a:pathLst>
              <a:path w="2808450" h="1472213">
                <a:moveTo>
                  <a:pt x="0" y="0"/>
                </a:moveTo>
                <a:lnTo>
                  <a:pt x="2808450" y="0"/>
                </a:lnTo>
                <a:lnTo>
                  <a:pt x="2808450" y="1472213"/>
                </a:lnTo>
                <a:lnTo>
                  <a:pt x="0" y="14722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366" t="-329581" r="-315465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96696" y="2391567"/>
            <a:ext cx="13591383" cy="88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5"/>
              </a:lnSpc>
              <a:spcBef>
                <a:spcPct val="0"/>
              </a:spcBef>
            </a:pPr>
            <a:r>
              <a:rPr lang="en-US" sz="5196" b="1">
                <a:solidFill>
                  <a:srgbClr val="010F48"/>
                </a:solidFill>
                <a:latin typeface="Anantason SemiExpanded Bold"/>
                <a:ea typeface="Anantason SemiExpanded Bold"/>
                <a:cs typeface="Anantason SemiExpanded Bold"/>
                <a:sym typeface="Anantason SemiExpanded Bold"/>
              </a:rPr>
              <a:t>PARTNERSHIP PERKS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017417" y="8522194"/>
            <a:ext cx="2747409" cy="1472213"/>
          </a:xfrm>
          <a:custGeom>
            <a:avLst/>
            <a:gdLst/>
            <a:ahLst/>
            <a:cxnLst/>
            <a:rect l="l" t="t" r="r" b="b"/>
            <a:pathLst>
              <a:path w="2747409" h="1472213">
                <a:moveTo>
                  <a:pt x="0" y="0"/>
                </a:moveTo>
                <a:lnTo>
                  <a:pt x="2747409" y="0"/>
                </a:lnTo>
                <a:lnTo>
                  <a:pt x="2747409" y="1472212"/>
                </a:lnTo>
                <a:lnTo>
                  <a:pt x="0" y="1472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30495" t="-329581" r="-228662"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CF262-0FE1-5A9C-EA64-A6FB1AF4B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94AA456-E406-09C2-3C07-09646E589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8975558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9896F95-AE5A-96B1-863C-9F316F459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558" y="0"/>
            <a:ext cx="9312443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42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>
          <a:extLst>
            <a:ext uri="{FF2B5EF4-FFF2-40B4-BE49-F238E27FC236}">
              <a16:creationId xmlns:a16="http://schemas.microsoft.com/office/drawing/2014/main" id="{7B9A1BBA-755A-52FF-9B96-F28158E51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11DDA67-84A6-CA6D-AF58-F2ECEC138A9C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212" name="Google Shape;212;p17">
            <a:extLst>
              <a:ext uri="{FF2B5EF4-FFF2-40B4-BE49-F238E27FC236}">
                <a16:creationId xmlns:a16="http://schemas.microsoft.com/office/drawing/2014/main" id="{F7D3A3F8-4800-B263-6C71-7F2069C6C083}"/>
              </a:ext>
            </a:extLst>
          </p:cNvPr>
          <p:cNvSpPr txBox="1"/>
          <p:nvPr/>
        </p:nvSpPr>
        <p:spPr>
          <a:xfrm>
            <a:off x="246290" y="1712279"/>
            <a:ext cx="17855114" cy="4890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018266" lvl="1" indent="-571500">
              <a:lnSpc>
                <a:spcPct val="140019"/>
              </a:lnSpc>
              <a:buSzPts val="4138"/>
              <a:buFont typeface="Wingdings" panose="05000000000000000000" pitchFamily="2" charset="2"/>
              <a:buChar char="ü"/>
            </a:pPr>
            <a:r>
              <a:rPr lang="en-US" sz="3600" dirty="0">
                <a:latin typeface="Aritmo"/>
              </a:rPr>
              <a:t>Affordable emergency protection for only ₱1,499</a:t>
            </a:r>
          </a:p>
          <a:p>
            <a:pPr marL="1018266" lvl="1" indent="-571500">
              <a:lnSpc>
                <a:spcPct val="140019"/>
              </a:lnSpc>
              <a:buSzPts val="4138"/>
              <a:buFont typeface="Wingdings" panose="05000000000000000000" pitchFamily="2" charset="2"/>
              <a:buChar char="ü"/>
            </a:pPr>
            <a:r>
              <a:rPr lang="en-US" sz="3600" dirty="0">
                <a:latin typeface="Aritmo"/>
              </a:rPr>
              <a:t>Nationwide availability through affiliated and public hospitals</a:t>
            </a:r>
          </a:p>
          <a:p>
            <a:pPr marL="1018266" lvl="1" indent="-571500">
              <a:lnSpc>
                <a:spcPct val="140019"/>
              </a:lnSpc>
              <a:buSzPts val="4138"/>
              <a:buFont typeface="Wingdings" panose="05000000000000000000" pitchFamily="2" charset="2"/>
              <a:buChar char="ü"/>
            </a:pPr>
            <a:r>
              <a:rPr lang="en-US" sz="3600" dirty="0">
                <a:latin typeface="Aritmo"/>
              </a:rPr>
              <a:t>Coverage for sudden illnesses and accidents, including emergencies related to </a:t>
            </a:r>
          </a:p>
          <a:p>
            <a:pPr marL="446766" lvl="1">
              <a:lnSpc>
                <a:spcPct val="140019"/>
              </a:lnSpc>
              <a:buSzPts val="4138"/>
            </a:pPr>
            <a:r>
              <a:rPr lang="en-US" sz="3600" dirty="0">
                <a:latin typeface="Aritmo"/>
              </a:rPr>
              <a:t>	  pre-existing conditions</a:t>
            </a:r>
          </a:p>
          <a:p>
            <a:pPr marL="1018266" lvl="1" indent="-571500">
              <a:lnSpc>
                <a:spcPct val="140019"/>
              </a:lnSpc>
              <a:buSzPts val="4138"/>
              <a:buFont typeface="Wingdings" panose="05000000000000000000" pitchFamily="2" charset="2"/>
              <a:buChar char="ü"/>
            </a:pPr>
            <a:r>
              <a:rPr lang="en-US" sz="3600" dirty="0">
                <a:latin typeface="Aritmo"/>
              </a:rPr>
              <a:t>Clear and defined emergency benefits, aligned with medical and insurance standards</a:t>
            </a:r>
          </a:p>
          <a:p>
            <a:pPr marL="1018266" lvl="1" indent="-571500">
              <a:lnSpc>
                <a:spcPct val="140019"/>
              </a:lnSpc>
              <a:buSzPts val="4138"/>
              <a:buFont typeface="Wingdings" panose="05000000000000000000" pitchFamily="2" charset="2"/>
              <a:buChar char="ü"/>
            </a:pPr>
            <a:r>
              <a:rPr lang="en-US" sz="3600" dirty="0">
                <a:latin typeface="Aritmo"/>
              </a:rPr>
              <a:t>Simple and easy-to-understand coverage, ideal for individuals and families</a:t>
            </a:r>
          </a:p>
          <a:p>
            <a:pPr marL="446766" lvl="1">
              <a:lnSpc>
                <a:spcPct val="140019"/>
              </a:lnSpc>
              <a:buSzPts val="4138"/>
            </a:pPr>
            <a:endParaRPr sz="1100" dirty="0"/>
          </a:p>
        </p:txBody>
      </p:sp>
      <p:sp>
        <p:nvSpPr>
          <p:cNvPr id="3" name="Google Shape;85;p1">
            <a:extLst>
              <a:ext uri="{FF2B5EF4-FFF2-40B4-BE49-F238E27FC236}">
                <a16:creationId xmlns:a16="http://schemas.microsoft.com/office/drawing/2014/main" id="{6455E1E0-1EDD-30BD-266C-82ADFD4135E6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4" name="Google Shape;244;p23">
            <a:extLst>
              <a:ext uri="{FF2B5EF4-FFF2-40B4-BE49-F238E27FC236}">
                <a16:creationId xmlns:a16="http://schemas.microsoft.com/office/drawing/2014/main" id="{6D352E5F-AF7B-62B8-ED60-1B12BD099DD0}"/>
              </a:ext>
            </a:extLst>
          </p:cNvPr>
          <p:cNvSpPr txBox="1"/>
          <p:nvPr/>
        </p:nvSpPr>
        <p:spPr>
          <a:xfrm>
            <a:off x="711199" y="403908"/>
            <a:ext cx="11644351" cy="1163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choose KAAGAPAY?</a:t>
            </a:r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354423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12E108-1B53-0B03-FFBC-2B47302A9D9E}"/>
              </a:ext>
            </a:extLst>
          </p:cNvPr>
          <p:cNvSpPr/>
          <p:nvPr/>
        </p:nvSpPr>
        <p:spPr>
          <a:xfrm>
            <a:off x="0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224" name="Google Shape;224;p19"/>
          <p:cNvSpPr/>
          <p:nvPr/>
        </p:nvSpPr>
        <p:spPr>
          <a:xfrm>
            <a:off x="5663474" y="661924"/>
            <a:ext cx="6961051" cy="4481576"/>
          </a:xfrm>
          <a:custGeom>
            <a:avLst/>
            <a:gdLst/>
            <a:ahLst/>
            <a:cxnLst/>
            <a:rect l="l" t="t" r="r" b="b"/>
            <a:pathLst>
              <a:path w="6573065" h="4139798" extrusionOk="0">
                <a:moveTo>
                  <a:pt x="0" y="0"/>
                </a:moveTo>
                <a:lnTo>
                  <a:pt x="6573065" y="0"/>
                </a:lnTo>
                <a:lnTo>
                  <a:pt x="6573065" y="4139798"/>
                </a:lnTo>
                <a:lnTo>
                  <a:pt x="0" y="4139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55" r="-56"/>
            </a:stretch>
          </a:blipFill>
          <a:ln>
            <a:noFill/>
          </a:ln>
        </p:spPr>
      </p:sp>
      <p:sp>
        <p:nvSpPr>
          <p:cNvPr id="225" name="Google Shape;225;p19"/>
          <p:cNvSpPr txBox="1"/>
          <p:nvPr/>
        </p:nvSpPr>
        <p:spPr>
          <a:xfrm>
            <a:off x="5112902" y="5356134"/>
            <a:ext cx="8062193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1" dirty="0">
                <a:solidFill>
                  <a:srgbClr val="080D58"/>
                </a:solidFill>
                <a:latin typeface="Archivo Black"/>
                <a:sym typeface="Archivo Black"/>
              </a:rPr>
              <a:t>A RELIABLE EMERGENCY SUPPORT</a:t>
            </a:r>
            <a:endParaRPr sz="3200" i="1" dirty="0">
              <a:solidFill>
                <a:srgbClr val="080D58"/>
              </a:solidFill>
              <a:latin typeface="Archivo Black"/>
            </a:endParaRPr>
          </a:p>
        </p:txBody>
      </p:sp>
      <p:sp>
        <p:nvSpPr>
          <p:cNvPr id="3" name="Google Shape;244;p23">
            <a:extLst>
              <a:ext uri="{FF2B5EF4-FFF2-40B4-BE49-F238E27FC236}">
                <a16:creationId xmlns:a16="http://schemas.microsoft.com/office/drawing/2014/main" id="{25E42E3B-CD51-E3B8-7E85-42B101B17988}"/>
              </a:ext>
            </a:extLst>
          </p:cNvPr>
          <p:cNvSpPr txBox="1"/>
          <p:nvPr/>
        </p:nvSpPr>
        <p:spPr>
          <a:xfrm>
            <a:off x="1160068" y="6308893"/>
            <a:ext cx="1632593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KAAGAPAY MO SA ORAS NG</a:t>
            </a:r>
            <a:endParaRPr sz="1050" dirty="0"/>
          </a:p>
        </p:txBody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57758122-8C02-AC1D-C064-99917CEA444E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5" name="Google Shape;244;p23">
            <a:extLst>
              <a:ext uri="{FF2B5EF4-FFF2-40B4-BE49-F238E27FC236}">
                <a16:creationId xmlns:a16="http://schemas.microsoft.com/office/drawing/2014/main" id="{090A3DB2-6D91-8834-5BCE-CF431B2AF963}"/>
              </a:ext>
            </a:extLst>
          </p:cNvPr>
          <p:cNvSpPr txBox="1"/>
          <p:nvPr/>
        </p:nvSpPr>
        <p:spPr>
          <a:xfrm>
            <a:off x="1160068" y="7337953"/>
            <a:ext cx="16325930" cy="1421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0" i="0" u="none" strike="noStrike" cap="none" dirty="0">
                <a:solidFill>
                  <a:srgbClr val="080D58"/>
                </a:solidFill>
                <a:latin typeface="Archivo Black"/>
                <a:ea typeface="Archivo Black"/>
                <a:cs typeface="Archivo Black"/>
                <a:sym typeface="Archivo Black"/>
              </a:rPr>
              <a:t>EMERGENCY</a:t>
            </a:r>
            <a:endParaRPr sz="105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" grpId="0"/>
      <p:bldP spid="3" grpId="0"/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2C376144-8A75-E00E-7F18-A0FD46974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BE20702-0D50-0273-2F12-1A55EDCCD9A4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EBC29BEF-7B85-D463-B96F-C007120E8BCB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165CA1B-8B76-01E0-EC8A-5B7E741ED430}"/>
              </a:ext>
            </a:extLst>
          </p:cNvPr>
          <p:cNvSpPr txBox="1"/>
          <p:nvPr/>
        </p:nvSpPr>
        <p:spPr>
          <a:xfrm>
            <a:off x="1765396" y="4488608"/>
            <a:ext cx="14757208" cy="1547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33"/>
              </a:lnSpc>
            </a:pPr>
            <a:r>
              <a:rPr lang="en-US" sz="11768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EXCITING PART!!!</a:t>
            </a:r>
          </a:p>
        </p:txBody>
      </p:sp>
    </p:spTree>
    <p:extLst>
      <p:ext uri="{BB962C8B-B14F-4D97-AF65-F5344CB8AC3E}">
        <p14:creationId xmlns:p14="http://schemas.microsoft.com/office/powerpoint/2010/main" val="415699771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29ACD7FB-7B1A-CA05-A6E5-29F79A334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A7353A-06AD-56CF-1F9C-CE6FDCF30BA5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C3C6C0BE-94E2-F3F4-3827-735A49F55405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89C6D70-BB18-02D1-1D65-E5DCC31CD339}"/>
              </a:ext>
            </a:extLst>
          </p:cNvPr>
          <p:cNvSpPr/>
          <p:nvPr/>
        </p:nvSpPr>
        <p:spPr>
          <a:xfrm>
            <a:off x="10668000" y="3314700"/>
            <a:ext cx="6784700" cy="6199520"/>
          </a:xfrm>
          <a:custGeom>
            <a:avLst/>
            <a:gdLst/>
            <a:ahLst/>
            <a:cxnLst/>
            <a:rect l="l" t="t" r="r" b="b"/>
            <a:pathLst>
              <a:path w="6784700" h="6199520">
                <a:moveTo>
                  <a:pt x="0" y="0"/>
                </a:moveTo>
                <a:lnTo>
                  <a:pt x="6784700" y="0"/>
                </a:lnTo>
                <a:lnTo>
                  <a:pt x="6784700" y="6199520"/>
                </a:lnTo>
                <a:lnTo>
                  <a:pt x="0" y="61995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F5D72-7F8F-97F0-7953-7B17E2A0251B}"/>
              </a:ext>
            </a:extLst>
          </p:cNvPr>
          <p:cNvSpPr txBox="1"/>
          <p:nvPr/>
        </p:nvSpPr>
        <p:spPr>
          <a:xfrm>
            <a:off x="1097446" y="1181752"/>
            <a:ext cx="9570554" cy="996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79"/>
              </a:lnSpc>
            </a:pPr>
            <a:r>
              <a:rPr lang="en-US" sz="7632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EXCITING PART!!!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FDA3FE-914D-3130-9650-43B2910088EE}"/>
              </a:ext>
            </a:extLst>
          </p:cNvPr>
          <p:cNvSpPr txBox="1"/>
          <p:nvPr/>
        </p:nvSpPr>
        <p:spPr>
          <a:xfrm>
            <a:off x="1097446" y="2601520"/>
            <a:ext cx="15535166" cy="3168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141"/>
              </a:lnSpc>
            </a:pPr>
            <a:r>
              <a:rPr lang="en-US" sz="12389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OPPORTUNITY TO EARN</a:t>
            </a:r>
          </a:p>
        </p:txBody>
      </p:sp>
    </p:spTree>
    <p:extLst>
      <p:ext uri="{BB962C8B-B14F-4D97-AF65-F5344CB8AC3E}">
        <p14:creationId xmlns:p14="http://schemas.microsoft.com/office/powerpoint/2010/main" val="2050773069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92852AF-88A2-929C-2BCC-600638A3D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75A72CF-90C1-A76D-EA7A-DCF56AC757A1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7D445BDF-28C5-CAC4-6BE0-C8813D2392FC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47392F-C69E-427F-33E4-D58853D6B573}"/>
              </a:ext>
            </a:extLst>
          </p:cNvPr>
          <p:cNvSpPr/>
          <p:nvPr/>
        </p:nvSpPr>
        <p:spPr>
          <a:xfrm>
            <a:off x="998220" y="3044311"/>
            <a:ext cx="5202597" cy="4480736"/>
          </a:xfrm>
          <a:custGeom>
            <a:avLst/>
            <a:gdLst/>
            <a:ahLst/>
            <a:cxnLst/>
            <a:rect l="l" t="t" r="r" b="b"/>
            <a:pathLst>
              <a:path w="5202597" h="4480736">
                <a:moveTo>
                  <a:pt x="0" y="0"/>
                </a:moveTo>
                <a:lnTo>
                  <a:pt x="5202597" y="0"/>
                </a:lnTo>
                <a:lnTo>
                  <a:pt x="5202597" y="4480736"/>
                </a:lnTo>
                <a:lnTo>
                  <a:pt x="0" y="4480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1B51A67-1540-474F-C193-42FA4DF69B10}"/>
              </a:ext>
            </a:extLst>
          </p:cNvPr>
          <p:cNvSpPr/>
          <p:nvPr/>
        </p:nvSpPr>
        <p:spPr>
          <a:xfrm>
            <a:off x="14234442" y="1606815"/>
            <a:ext cx="2244846" cy="2287741"/>
          </a:xfrm>
          <a:custGeom>
            <a:avLst/>
            <a:gdLst/>
            <a:ahLst/>
            <a:cxnLst/>
            <a:rect l="l" t="t" r="r" b="b"/>
            <a:pathLst>
              <a:path w="2244846" h="2287741">
                <a:moveTo>
                  <a:pt x="0" y="0"/>
                </a:moveTo>
                <a:lnTo>
                  <a:pt x="2244846" y="0"/>
                </a:lnTo>
                <a:lnTo>
                  <a:pt x="2244846" y="2287741"/>
                </a:lnTo>
                <a:lnTo>
                  <a:pt x="0" y="22877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0520F3E-BB06-7EF4-6D38-8DF5BBAB913B}"/>
              </a:ext>
            </a:extLst>
          </p:cNvPr>
          <p:cNvSpPr/>
          <p:nvPr/>
        </p:nvSpPr>
        <p:spPr>
          <a:xfrm>
            <a:off x="13132625" y="4446030"/>
            <a:ext cx="2539226" cy="2351959"/>
          </a:xfrm>
          <a:custGeom>
            <a:avLst/>
            <a:gdLst/>
            <a:ahLst/>
            <a:cxnLst/>
            <a:rect l="l" t="t" r="r" b="b"/>
            <a:pathLst>
              <a:path w="2539226" h="2351959">
                <a:moveTo>
                  <a:pt x="0" y="0"/>
                </a:moveTo>
                <a:lnTo>
                  <a:pt x="2539226" y="0"/>
                </a:lnTo>
                <a:lnTo>
                  <a:pt x="2539226" y="2351958"/>
                </a:lnTo>
                <a:lnTo>
                  <a:pt x="0" y="23519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F4D2312-A7D6-CDCE-EE28-33292291F68D}"/>
              </a:ext>
            </a:extLst>
          </p:cNvPr>
          <p:cNvSpPr/>
          <p:nvPr/>
        </p:nvSpPr>
        <p:spPr>
          <a:xfrm>
            <a:off x="10242755" y="7626521"/>
            <a:ext cx="4442330" cy="2387752"/>
          </a:xfrm>
          <a:custGeom>
            <a:avLst/>
            <a:gdLst/>
            <a:ahLst/>
            <a:cxnLst/>
            <a:rect l="l" t="t" r="r" b="b"/>
            <a:pathLst>
              <a:path w="4442330" h="2387752">
                <a:moveTo>
                  <a:pt x="0" y="0"/>
                </a:moveTo>
                <a:lnTo>
                  <a:pt x="4442330" y="0"/>
                </a:lnTo>
                <a:lnTo>
                  <a:pt x="4442330" y="2387752"/>
                </a:lnTo>
                <a:lnTo>
                  <a:pt x="0" y="23877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3EDB239-9DE3-456F-68A5-02317FC212BA}"/>
              </a:ext>
            </a:extLst>
          </p:cNvPr>
          <p:cNvSpPr/>
          <p:nvPr/>
        </p:nvSpPr>
        <p:spPr>
          <a:xfrm>
            <a:off x="7465986" y="4872320"/>
            <a:ext cx="4997934" cy="1499380"/>
          </a:xfrm>
          <a:custGeom>
            <a:avLst/>
            <a:gdLst/>
            <a:ahLst/>
            <a:cxnLst/>
            <a:rect l="l" t="t" r="r" b="b"/>
            <a:pathLst>
              <a:path w="4997934" h="1499380">
                <a:moveTo>
                  <a:pt x="0" y="0"/>
                </a:moveTo>
                <a:lnTo>
                  <a:pt x="4997934" y="0"/>
                </a:lnTo>
                <a:lnTo>
                  <a:pt x="4997934" y="1499380"/>
                </a:lnTo>
                <a:lnTo>
                  <a:pt x="0" y="14993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DDE64D50-B167-3588-B23C-90168076BE19}"/>
              </a:ext>
            </a:extLst>
          </p:cNvPr>
          <p:cNvSpPr/>
          <p:nvPr/>
        </p:nvSpPr>
        <p:spPr>
          <a:xfrm rot="-1235514" flipV="1">
            <a:off x="6981235" y="2905866"/>
            <a:ext cx="4997934" cy="1644775"/>
          </a:xfrm>
          <a:custGeom>
            <a:avLst/>
            <a:gdLst/>
            <a:ahLst/>
            <a:cxnLst/>
            <a:rect l="l" t="t" r="r" b="b"/>
            <a:pathLst>
              <a:path w="4997934" h="1644775">
                <a:moveTo>
                  <a:pt x="0" y="1644775"/>
                </a:moveTo>
                <a:lnTo>
                  <a:pt x="4997934" y="1644775"/>
                </a:lnTo>
                <a:lnTo>
                  <a:pt x="4997934" y="0"/>
                </a:lnTo>
                <a:lnTo>
                  <a:pt x="0" y="0"/>
                </a:lnTo>
                <a:lnTo>
                  <a:pt x="0" y="164477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2EAC5-DA12-AFC6-867C-7909A45B535F}"/>
              </a:ext>
            </a:extLst>
          </p:cNvPr>
          <p:cNvSpPr txBox="1"/>
          <p:nvPr/>
        </p:nvSpPr>
        <p:spPr>
          <a:xfrm>
            <a:off x="998220" y="1190625"/>
            <a:ext cx="12402123" cy="994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79"/>
              </a:lnSpc>
            </a:pPr>
            <a:r>
              <a:rPr lang="en-US" sz="7632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KAAGAPAY MEMBER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79D68B-1A0A-6B27-F7D4-7176FAA9A998}"/>
              </a:ext>
            </a:extLst>
          </p:cNvPr>
          <p:cNvSpPr txBox="1"/>
          <p:nvPr/>
        </p:nvSpPr>
        <p:spPr>
          <a:xfrm>
            <a:off x="998220" y="7873303"/>
            <a:ext cx="5437043" cy="653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8"/>
              </a:lnSpc>
            </a:pPr>
            <a:r>
              <a:rPr lang="en-US" sz="4967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EXTRA INCOME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E37EE18-DBE0-BAA7-CDA3-D174053CE054}"/>
              </a:ext>
            </a:extLst>
          </p:cNvPr>
          <p:cNvSpPr/>
          <p:nvPr/>
        </p:nvSpPr>
        <p:spPr>
          <a:xfrm rot="3219513">
            <a:off x="5874198" y="6641932"/>
            <a:ext cx="4997934" cy="1644775"/>
          </a:xfrm>
          <a:custGeom>
            <a:avLst/>
            <a:gdLst/>
            <a:ahLst/>
            <a:cxnLst/>
            <a:rect l="l" t="t" r="r" b="b"/>
            <a:pathLst>
              <a:path w="4997934" h="1644775">
                <a:moveTo>
                  <a:pt x="0" y="0"/>
                </a:moveTo>
                <a:lnTo>
                  <a:pt x="4997935" y="0"/>
                </a:lnTo>
                <a:lnTo>
                  <a:pt x="4997935" y="1644775"/>
                </a:lnTo>
                <a:lnTo>
                  <a:pt x="0" y="164477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15790457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30CB2072-610C-A75D-A787-7814728C8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0059C2-0957-4718-599B-12ABBAA5A383}"/>
              </a:ext>
            </a:extLst>
          </p:cNvPr>
          <p:cNvSpPr/>
          <p:nvPr/>
        </p:nvSpPr>
        <p:spPr>
          <a:xfrm>
            <a:off x="0" y="-113644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305EE940-613F-7F1A-4F3F-C8E7CFE9AA7F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5787B92B-D8BD-FD90-2FC0-C355F19E521B}"/>
              </a:ext>
            </a:extLst>
          </p:cNvPr>
          <p:cNvGrpSpPr/>
          <p:nvPr/>
        </p:nvGrpSpPr>
        <p:grpSpPr>
          <a:xfrm>
            <a:off x="1217281" y="4165592"/>
            <a:ext cx="15933591" cy="2064963"/>
            <a:chOff x="0" y="0"/>
            <a:chExt cx="4196501" cy="812800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E112E059-EC92-E2F7-14A4-A4E40F202A6C}"/>
                </a:ext>
              </a:extLst>
            </p:cNvPr>
            <p:cNvSpPr/>
            <p:nvPr/>
          </p:nvSpPr>
          <p:spPr>
            <a:xfrm>
              <a:off x="0" y="0"/>
              <a:ext cx="4196501" cy="812800"/>
            </a:xfrm>
            <a:custGeom>
              <a:avLst/>
              <a:gdLst/>
              <a:ahLst/>
              <a:cxnLst/>
              <a:rect l="l" t="t" r="r" b="b"/>
              <a:pathLst>
                <a:path w="4196501" h="812800">
                  <a:moveTo>
                    <a:pt x="24780" y="0"/>
                  </a:moveTo>
                  <a:lnTo>
                    <a:pt x="4171721" y="0"/>
                  </a:lnTo>
                  <a:cubicBezTo>
                    <a:pt x="4185407" y="0"/>
                    <a:pt x="4196501" y="11094"/>
                    <a:pt x="4196501" y="24780"/>
                  </a:cubicBezTo>
                  <a:lnTo>
                    <a:pt x="4196501" y="788020"/>
                  </a:lnTo>
                  <a:cubicBezTo>
                    <a:pt x="4196501" y="801706"/>
                    <a:pt x="4185407" y="812800"/>
                    <a:pt x="4171721" y="812800"/>
                  </a:cubicBezTo>
                  <a:lnTo>
                    <a:pt x="24780" y="812800"/>
                  </a:lnTo>
                  <a:cubicBezTo>
                    <a:pt x="11094" y="812800"/>
                    <a:pt x="0" y="801706"/>
                    <a:pt x="0" y="788020"/>
                  </a:cubicBezTo>
                  <a:lnTo>
                    <a:pt x="0" y="24780"/>
                  </a:lnTo>
                  <a:cubicBezTo>
                    <a:pt x="0" y="11094"/>
                    <a:pt x="11094" y="0"/>
                    <a:pt x="24780" y="0"/>
                  </a:cubicBezTo>
                  <a:close/>
                </a:path>
              </a:pathLst>
            </a:custGeom>
            <a:solidFill>
              <a:srgbClr val="F77A42"/>
            </a:solidFill>
          </p:spPr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C2F36C-54A5-23A9-D4C0-D32144AD828C}"/>
                </a:ext>
              </a:extLst>
            </p:cNvPr>
            <p:cNvSpPr txBox="1"/>
            <p:nvPr/>
          </p:nvSpPr>
          <p:spPr>
            <a:xfrm>
              <a:off x="0" y="-47625"/>
              <a:ext cx="4196501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AD2E6F05-CC4D-21CD-5293-08F9BF6E4B40}"/>
              </a:ext>
            </a:extLst>
          </p:cNvPr>
          <p:cNvSpPr txBox="1"/>
          <p:nvPr/>
        </p:nvSpPr>
        <p:spPr>
          <a:xfrm>
            <a:off x="2609934" y="2640386"/>
            <a:ext cx="14037228" cy="3262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11603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STRUCTURED</a:t>
            </a:r>
          </a:p>
          <a:p>
            <a:pPr>
              <a:spcBef>
                <a:spcPct val="0"/>
              </a:spcBef>
            </a:pPr>
            <a:r>
              <a:rPr lang="en-US" sz="8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INCENTIVE PROGRA</a:t>
            </a:r>
            <a:r>
              <a:rPr lang="en-US" sz="96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</a:t>
            </a:r>
            <a:endParaRPr lang="en-US" sz="14700" dirty="0">
              <a:solidFill>
                <a:srgbClr val="FFFFFF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3270870088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13763" y="1329245"/>
            <a:ext cx="16230600" cy="881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19"/>
              </a:lnSpc>
            </a:pPr>
            <a:r>
              <a:rPr lang="en-US" sz="6652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2 WAYS TO EARN INCENTIVES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5210" y="2796607"/>
            <a:ext cx="16091533" cy="1208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4801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429" dirty="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YOUR OWN SALES (DIRECT SALES – LEVEL 1)</a:t>
            </a:r>
          </a:p>
          <a:p>
            <a:pPr marL="457200" indent="-457200" algn="l">
              <a:lnSpc>
                <a:spcPts val="4801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429" dirty="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THE SALES OF YOUR NETWORK (LEVELS 2 TO 5)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5DCE86BE-4D47-EC41-6F46-DB4C39D6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D82172-F3EA-1EDC-3713-C279375DA0E3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FD0AC02C-3FBE-5E88-8712-67F9FF17B1A1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DFFF5B9-87B3-AD0B-8020-0790876018A1}"/>
              </a:ext>
            </a:extLst>
          </p:cNvPr>
          <p:cNvSpPr/>
          <p:nvPr/>
        </p:nvSpPr>
        <p:spPr>
          <a:xfrm>
            <a:off x="-4007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143D1C96-48D4-0058-8024-441AF49C80B3}"/>
              </a:ext>
            </a:extLst>
          </p:cNvPr>
          <p:cNvSpPr/>
          <p:nvPr/>
        </p:nvSpPr>
        <p:spPr>
          <a:xfrm>
            <a:off x="1270067" y="1613432"/>
            <a:ext cx="6318822" cy="7060137"/>
          </a:xfrm>
          <a:custGeom>
            <a:avLst/>
            <a:gdLst/>
            <a:ahLst/>
            <a:cxnLst/>
            <a:rect l="l" t="t" r="r" b="b"/>
            <a:pathLst>
              <a:path w="6318822" h="7060137">
                <a:moveTo>
                  <a:pt x="0" y="0"/>
                </a:moveTo>
                <a:lnTo>
                  <a:pt x="6318822" y="0"/>
                </a:lnTo>
                <a:lnTo>
                  <a:pt x="6318822" y="7060136"/>
                </a:lnTo>
                <a:lnTo>
                  <a:pt x="0" y="7060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A78D9F4E-79C5-B6E3-12AC-EDE6E1A03FC6}"/>
              </a:ext>
            </a:extLst>
          </p:cNvPr>
          <p:cNvGrpSpPr/>
          <p:nvPr/>
        </p:nvGrpSpPr>
        <p:grpSpPr>
          <a:xfrm>
            <a:off x="7806844" y="1521958"/>
            <a:ext cx="9366761" cy="3086100"/>
            <a:chOff x="0" y="0"/>
            <a:chExt cx="2466966" cy="8128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3BCD3A58-ABC3-4269-BDE9-A9471F0609A0}"/>
                </a:ext>
              </a:extLst>
            </p:cNvPr>
            <p:cNvSpPr/>
            <p:nvPr/>
          </p:nvSpPr>
          <p:spPr>
            <a:xfrm>
              <a:off x="0" y="0"/>
              <a:ext cx="2466966" cy="812800"/>
            </a:xfrm>
            <a:custGeom>
              <a:avLst/>
              <a:gdLst/>
              <a:ahLst/>
              <a:cxnLst/>
              <a:rect l="l" t="t" r="r" b="b"/>
              <a:pathLst>
                <a:path w="2466966" h="812800">
                  <a:moveTo>
                    <a:pt x="42153" y="0"/>
                  </a:moveTo>
                  <a:lnTo>
                    <a:pt x="2424813" y="0"/>
                  </a:lnTo>
                  <a:cubicBezTo>
                    <a:pt x="2435992" y="0"/>
                    <a:pt x="2446714" y="4441"/>
                    <a:pt x="2454619" y="12346"/>
                  </a:cubicBezTo>
                  <a:cubicBezTo>
                    <a:pt x="2462524" y="20252"/>
                    <a:pt x="2466966" y="30973"/>
                    <a:pt x="2466966" y="42153"/>
                  </a:cubicBezTo>
                  <a:lnTo>
                    <a:pt x="2466966" y="770647"/>
                  </a:lnTo>
                  <a:cubicBezTo>
                    <a:pt x="2466966" y="793927"/>
                    <a:pt x="2448093" y="812800"/>
                    <a:pt x="2424813" y="812800"/>
                  </a:cubicBezTo>
                  <a:lnTo>
                    <a:pt x="42153" y="812800"/>
                  </a:lnTo>
                  <a:cubicBezTo>
                    <a:pt x="30973" y="812800"/>
                    <a:pt x="20252" y="808359"/>
                    <a:pt x="12346" y="800454"/>
                  </a:cubicBezTo>
                  <a:cubicBezTo>
                    <a:pt x="4441" y="792548"/>
                    <a:pt x="0" y="781827"/>
                    <a:pt x="0" y="770647"/>
                  </a:cubicBezTo>
                  <a:lnTo>
                    <a:pt x="0" y="42153"/>
                  </a:lnTo>
                  <a:cubicBezTo>
                    <a:pt x="0" y="30973"/>
                    <a:pt x="4441" y="20252"/>
                    <a:pt x="12346" y="12346"/>
                  </a:cubicBezTo>
                  <a:cubicBezTo>
                    <a:pt x="20252" y="4441"/>
                    <a:pt x="30973" y="0"/>
                    <a:pt x="42153" y="0"/>
                  </a:cubicBezTo>
                  <a:close/>
                </a:path>
              </a:pathLst>
            </a:custGeom>
            <a:solidFill>
              <a:srgbClr val="FB7D32"/>
            </a:solidFill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6BFCB67C-1A70-C88A-7C14-2019BB94FCB2}"/>
                </a:ext>
              </a:extLst>
            </p:cNvPr>
            <p:cNvSpPr txBox="1"/>
            <p:nvPr/>
          </p:nvSpPr>
          <p:spPr>
            <a:xfrm>
              <a:off x="0" y="-47625"/>
              <a:ext cx="246696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AF1B88FE-E162-2F70-D8ED-BCD932C75496}"/>
              </a:ext>
            </a:extLst>
          </p:cNvPr>
          <p:cNvSpPr txBox="1"/>
          <p:nvPr/>
        </p:nvSpPr>
        <p:spPr>
          <a:xfrm>
            <a:off x="7806844" y="2177331"/>
            <a:ext cx="9366761" cy="1896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79"/>
              </a:lnSpc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Earn 5-10% Direct Sales Incentive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BD0B997-3BFE-86AA-284A-EC93F0C07F6B}"/>
              </a:ext>
            </a:extLst>
          </p:cNvPr>
          <p:cNvSpPr txBox="1"/>
          <p:nvPr/>
        </p:nvSpPr>
        <p:spPr>
          <a:xfrm>
            <a:off x="6943368" y="5582314"/>
            <a:ext cx="11078650" cy="239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8"/>
              </a:lnSpc>
              <a:spcBef>
                <a:spcPct val="0"/>
              </a:spcBef>
            </a:pPr>
            <a:r>
              <a:rPr lang="en-US" sz="4562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AS YOUR REFERRALS </a:t>
            </a:r>
            <a:r>
              <a:rPr lang="en-US" sz="4562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GROW</a:t>
            </a:r>
            <a:r>
              <a:rPr lang="en-US" sz="4562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, YOUR EARNING POTENTIAL ALSO </a:t>
            </a:r>
            <a:r>
              <a:rPr lang="en-US" sz="4562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INCREASES</a:t>
            </a:r>
          </a:p>
        </p:txBody>
      </p:sp>
    </p:spTree>
    <p:extLst>
      <p:ext uri="{BB962C8B-B14F-4D97-AF65-F5344CB8AC3E}">
        <p14:creationId xmlns:p14="http://schemas.microsoft.com/office/powerpoint/2010/main" val="3102816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9193363-7625-9CF5-A023-8A3199CA8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6EB332E-2EFD-F840-B2D1-722ECA955744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E4DBA8E9-48FE-6AE1-A6B5-182EFC4D2E62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4E567EA-E0ED-401B-F14B-88D206DBB4BD}"/>
              </a:ext>
            </a:extLst>
          </p:cNvPr>
          <p:cNvSpPr/>
          <p:nvPr/>
        </p:nvSpPr>
        <p:spPr>
          <a:xfrm>
            <a:off x="8431987" y="2624592"/>
            <a:ext cx="1424026" cy="1702640"/>
          </a:xfrm>
          <a:custGeom>
            <a:avLst/>
            <a:gdLst/>
            <a:ahLst/>
            <a:cxnLst/>
            <a:rect l="l" t="t" r="r" b="b"/>
            <a:pathLst>
              <a:path w="1424026" h="1702640">
                <a:moveTo>
                  <a:pt x="0" y="0"/>
                </a:moveTo>
                <a:lnTo>
                  <a:pt x="1424026" y="0"/>
                </a:lnTo>
                <a:lnTo>
                  <a:pt x="1424026" y="1702639"/>
                </a:lnTo>
                <a:lnTo>
                  <a:pt x="0" y="1702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BB379-F9DC-F4DD-DE9D-5EC0DDFA232F}"/>
              </a:ext>
            </a:extLst>
          </p:cNvPr>
          <p:cNvSpPr txBox="1"/>
          <p:nvPr/>
        </p:nvSpPr>
        <p:spPr>
          <a:xfrm>
            <a:off x="1028700" y="1095375"/>
            <a:ext cx="10633062" cy="4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747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OWN SALES (DIRECT SALES – LEVEL 1)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E24AC76-FEDF-DE33-0033-87BFE221C130}"/>
              </a:ext>
            </a:extLst>
          </p:cNvPr>
          <p:cNvSpPr/>
          <p:nvPr/>
        </p:nvSpPr>
        <p:spPr>
          <a:xfrm>
            <a:off x="1808035" y="4820897"/>
            <a:ext cx="1465772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F2A5F7FE-F18A-0DDC-8C2C-7CD1C9510431}"/>
              </a:ext>
            </a:extLst>
          </p:cNvPr>
          <p:cNvSpPr/>
          <p:nvPr/>
        </p:nvSpPr>
        <p:spPr>
          <a:xfrm>
            <a:off x="9144000" y="4327231"/>
            <a:ext cx="0" cy="4698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363AD07C-7828-22B7-C577-02A622E901BF}"/>
              </a:ext>
            </a:extLst>
          </p:cNvPr>
          <p:cNvSpPr/>
          <p:nvPr/>
        </p:nvSpPr>
        <p:spPr>
          <a:xfrm>
            <a:off x="1372439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CC1D9CD0-EF5F-3A13-0351-087AD8E7B5F1}"/>
              </a:ext>
            </a:extLst>
          </p:cNvPr>
          <p:cNvSpPr/>
          <p:nvPr/>
        </p:nvSpPr>
        <p:spPr>
          <a:xfrm>
            <a:off x="1829679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40293CB-3792-5D3D-6F1C-1E70A850F632}"/>
              </a:ext>
            </a:extLst>
          </p:cNvPr>
          <p:cNvSpPr/>
          <p:nvPr/>
        </p:nvSpPr>
        <p:spPr>
          <a:xfrm>
            <a:off x="2418344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E1ABAD7F-7239-84DC-CA52-C7014B0A4172}"/>
              </a:ext>
            </a:extLst>
          </p:cNvPr>
          <p:cNvSpPr/>
          <p:nvPr/>
        </p:nvSpPr>
        <p:spPr>
          <a:xfrm>
            <a:off x="2875584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ACB14AD-2C0D-C3DB-95FB-9A1BD17E9DAE}"/>
              </a:ext>
            </a:extLst>
          </p:cNvPr>
          <p:cNvSpPr/>
          <p:nvPr/>
        </p:nvSpPr>
        <p:spPr>
          <a:xfrm>
            <a:off x="3462691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2">
            <a:extLst>
              <a:ext uri="{FF2B5EF4-FFF2-40B4-BE49-F238E27FC236}">
                <a16:creationId xmlns:a16="http://schemas.microsoft.com/office/drawing/2014/main" id="{B6596055-A5B9-5934-BCDA-27353F877E8A}"/>
              </a:ext>
            </a:extLst>
          </p:cNvPr>
          <p:cNvSpPr/>
          <p:nvPr/>
        </p:nvSpPr>
        <p:spPr>
          <a:xfrm>
            <a:off x="3919931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9FE93B5-5905-FDC7-73D3-B572FEC8D155}"/>
              </a:ext>
            </a:extLst>
          </p:cNvPr>
          <p:cNvSpPr/>
          <p:nvPr/>
        </p:nvSpPr>
        <p:spPr>
          <a:xfrm>
            <a:off x="4507037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0115A6B1-FFE4-5629-3986-320120840A50}"/>
              </a:ext>
            </a:extLst>
          </p:cNvPr>
          <p:cNvSpPr/>
          <p:nvPr/>
        </p:nvSpPr>
        <p:spPr>
          <a:xfrm>
            <a:off x="4964277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FF375D53-B773-B87E-D464-6D286BBD8A41}"/>
              </a:ext>
            </a:extLst>
          </p:cNvPr>
          <p:cNvSpPr/>
          <p:nvPr/>
        </p:nvSpPr>
        <p:spPr>
          <a:xfrm>
            <a:off x="5552942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69F5B534-75EB-A36E-0426-115142A731EE}"/>
              </a:ext>
            </a:extLst>
          </p:cNvPr>
          <p:cNvSpPr/>
          <p:nvPr/>
        </p:nvSpPr>
        <p:spPr>
          <a:xfrm>
            <a:off x="6010182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CB58CFA-1C18-00FC-EADD-E59392530FC4}"/>
              </a:ext>
            </a:extLst>
          </p:cNvPr>
          <p:cNvSpPr/>
          <p:nvPr/>
        </p:nvSpPr>
        <p:spPr>
          <a:xfrm>
            <a:off x="6597288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9" name="AutoShape 18">
            <a:extLst>
              <a:ext uri="{FF2B5EF4-FFF2-40B4-BE49-F238E27FC236}">
                <a16:creationId xmlns:a16="http://schemas.microsoft.com/office/drawing/2014/main" id="{C8376C82-65BB-C358-A3CC-54C8C8766F41}"/>
              </a:ext>
            </a:extLst>
          </p:cNvPr>
          <p:cNvSpPr/>
          <p:nvPr/>
        </p:nvSpPr>
        <p:spPr>
          <a:xfrm>
            <a:off x="7054528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9B3F0B6A-7CA1-F239-AB5D-57FA89515F47}"/>
              </a:ext>
            </a:extLst>
          </p:cNvPr>
          <p:cNvSpPr/>
          <p:nvPr/>
        </p:nvSpPr>
        <p:spPr>
          <a:xfrm>
            <a:off x="7641634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AutoShape 20">
            <a:extLst>
              <a:ext uri="{FF2B5EF4-FFF2-40B4-BE49-F238E27FC236}">
                <a16:creationId xmlns:a16="http://schemas.microsoft.com/office/drawing/2014/main" id="{8F9C56C5-093D-CB60-5DFC-59ED1BBC4C6C}"/>
              </a:ext>
            </a:extLst>
          </p:cNvPr>
          <p:cNvSpPr/>
          <p:nvPr/>
        </p:nvSpPr>
        <p:spPr>
          <a:xfrm>
            <a:off x="8098874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0F03CB2-7599-9480-ACA0-7F91151C4AC7}"/>
              </a:ext>
            </a:extLst>
          </p:cNvPr>
          <p:cNvSpPr/>
          <p:nvPr/>
        </p:nvSpPr>
        <p:spPr>
          <a:xfrm>
            <a:off x="8687539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3" name="AutoShape 22">
            <a:extLst>
              <a:ext uri="{FF2B5EF4-FFF2-40B4-BE49-F238E27FC236}">
                <a16:creationId xmlns:a16="http://schemas.microsoft.com/office/drawing/2014/main" id="{B2B357EE-6A49-2245-8E8F-FB23ABEA7FD5}"/>
              </a:ext>
            </a:extLst>
          </p:cNvPr>
          <p:cNvSpPr/>
          <p:nvPr/>
        </p:nvSpPr>
        <p:spPr>
          <a:xfrm>
            <a:off x="9144779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515560F5-4BF7-E5FA-593A-971CD6FCFFA8}"/>
              </a:ext>
            </a:extLst>
          </p:cNvPr>
          <p:cNvSpPr/>
          <p:nvPr/>
        </p:nvSpPr>
        <p:spPr>
          <a:xfrm>
            <a:off x="9731886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38919C2C-C079-F6F3-6615-3940D212E50F}"/>
              </a:ext>
            </a:extLst>
          </p:cNvPr>
          <p:cNvSpPr/>
          <p:nvPr/>
        </p:nvSpPr>
        <p:spPr>
          <a:xfrm>
            <a:off x="10189126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5116062-004E-7E65-6F7B-EF63B7EBB73A}"/>
              </a:ext>
            </a:extLst>
          </p:cNvPr>
          <p:cNvSpPr/>
          <p:nvPr/>
        </p:nvSpPr>
        <p:spPr>
          <a:xfrm>
            <a:off x="10776232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7" name="AutoShape 26">
            <a:extLst>
              <a:ext uri="{FF2B5EF4-FFF2-40B4-BE49-F238E27FC236}">
                <a16:creationId xmlns:a16="http://schemas.microsoft.com/office/drawing/2014/main" id="{38D79807-B0FE-BF0B-49F9-6D4DAACF3FDD}"/>
              </a:ext>
            </a:extLst>
          </p:cNvPr>
          <p:cNvSpPr/>
          <p:nvPr/>
        </p:nvSpPr>
        <p:spPr>
          <a:xfrm>
            <a:off x="11233472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F255B2A-AA8E-7006-EB8F-FC915B9529A2}"/>
              </a:ext>
            </a:extLst>
          </p:cNvPr>
          <p:cNvSpPr/>
          <p:nvPr/>
        </p:nvSpPr>
        <p:spPr>
          <a:xfrm>
            <a:off x="11822137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9" name="AutoShape 28">
            <a:extLst>
              <a:ext uri="{FF2B5EF4-FFF2-40B4-BE49-F238E27FC236}">
                <a16:creationId xmlns:a16="http://schemas.microsoft.com/office/drawing/2014/main" id="{4AC29A04-4661-43FB-6C4D-3A1371CA5821}"/>
              </a:ext>
            </a:extLst>
          </p:cNvPr>
          <p:cNvSpPr/>
          <p:nvPr/>
        </p:nvSpPr>
        <p:spPr>
          <a:xfrm>
            <a:off x="12279377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11401E76-539C-6127-F28A-D56A9D936793}"/>
              </a:ext>
            </a:extLst>
          </p:cNvPr>
          <p:cNvSpPr/>
          <p:nvPr/>
        </p:nvSpPr>
        <p:spPr>
          <a:xfrm>
            <a:off x="12866483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AutoShape 30">
            <a:extLst>
              <a:ext uri="{FF2B5EF4-FFF2-40B4-BE49-F238E27FC236}">
                <a16:creationId xmlns:a16="http://schemas.microsoft.com/office/drawing/2014/main" id="{E4EBDD28-990E-3EBA-E793-FEE7BFCDC5F3}"/>
              </a:ext>
            </a:extLst>
          </p:cNvPr>
          <p:cNvSpPr/>
          <p:nvPr/>
        </p:nvSpPr>
        <p:spPr>
          <a:xfrm>
            <a:off x="13323723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8B5A8277-B32E-DA0E-E742-E90F81F34981}"/>
              </a:ext>
            </a:extLst>
          </p:cNvPr>
          <p:cNvSpPr/>
          <p:nvPr/>
        </p:nvSpPr>
        <p:spPr>
          <a:xfrm>
            <a:off x="13910829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3" name="AutoShape 32">
            <a:extLst>
              <a:ext uri="{FF2B5EF4-FFF2-40B4-BE49-F238E27FC236}">
                <a16:creationId xmlns:a16="http://schemas.microsoft.com/office/drawing/2014/main" id="{F2E97228-7CB7-AD28-B86B-67AD76580F85}"/>
              </a:ext>
            </a:extLst>
          </p:cNvPr>
          <p:cNvSpPr/>
          <p:nvPr/>
        </p:nvSpPr>
        <p:spPr>
          <a:xfrm>
            <a:off x="14368069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137AFCC7-D608-6E39-0021-DEE10FC25F51}"/>
              </a:ext>
            </a:extLst>
          </p:cNvPr>
          <p:cNvSpPr/>
          <p:nvPr/>
        </p:nvSpPr>
        <p:spPr>
          <a:xfrm>
            <a:off x="14956734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5" name="AutoShape 34">
            <a:extLst>
              <a:ext uri="{FF2B5EF4-FFF2-40B4-BE49-F238E27FC236}">
                <a16:creationId xmlns:a16="http://schemas.microsoft.com/office/drawing/2014/main" id="{992AAD95-53EB-F8EF-4763-F910ED63FB8A}"/>
              </a:ext>
            </a:extLst>
          </p:cNvPr>
          <p:cNvSpPr/>
          <p:nvPr/>
        </p:nvSpPr>
        <p:spPr>
          <a:xfrm>
            <a:off x="15413974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41852D1E-9776-1F39-C3D5-99DFB2CEAA08}"/>
              </a:ext>
            </a:extLst>
          </p:cNvPr>
          <p:cNvSpPr/>
          <p:nvPr/>
        </p:nvSpPr>
        <p:spPr>
          <a:xfrm>
            <a:off x="16001081" y="5354739"/>
            <a:ext cx="914480" cy="1093400"/>
          </a:xfrm>
          <a:custGeom>
            <a:avLst/>
            <a:gdLst/>
            <a:ahLst/>
            <a:cxnLst/>
            <a:rect l="l" t="t" r="r" b="b"/>
            <a:pathLst>
              <a:path w="914480" h="1093400">
                <a:moveTo>
                  <a:pt x="0" y="0"/>
                </a:moveTo>
                <a:lnTo>
                  <a:pt x="914480" y="0"/>
                </a:lnTo>
                <a:lnTo>
                  <a:pt x="914480" y="1093400"/>
                </a:lnTo>
                <a:lnTo>
                  <a:pt x="0" y="109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7" name="AutoShape 36">
            <a:extLst>
              <a:ext uri="{FF2B5EF4-FFF2-40B4-BE49-F238E27FC236}">
                <a16:creationId xmlns:a16="http://schemas.microsoft.com/office/drawing/2014/main" id="{6B81849A-4998-1D41-8FEB-2F414AF0AA00}"/>
              </a:ext>
            </a:extLst>
          </p:cNvPr>
          <p:cNvSpPr/>
          <p:nvPr/>
        </p:nvSpPr>
        <p:spPr>
          <a:xfrm>
            <a:off x="16458321" y="4820897"/>
            <a:ext cx="0" cy="533842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F95D79-1621-AD55-BB4F-BABFE56CCDA0}"/>
              </a:ext>
            </a:extLst>
          </p:cNvPr>
          <p:cNvSpPr txBox="1"/>
          <p:nvPr/>
        </p:nvSpPr>
        <p:spPr>
          <a:xfrm>
            <a:off x="1744947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1C66336-9C7A-39BE-A112-DF113E13DFDA}"/>
              </a:ext>
            </a:extLst>
          </p:cNvPr>
          <p:cNvSpPr txBox="1"/>
          <p:nvPr/>
        </p:nvSpPr>
        <p:spPr>
          <a:xfrm>
            <a:off x="2790851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2606B17-4B9C-BB54-782B-42B184D3DD23}"/>
              </a:ext>
            </a:extLst>
          </p:cNvPr>
          <p:cNvSpPr txBox="1"/>
          <p:nvPr/>
        </p:nvSpPr>
        <p:spPr>
          <a:xfrm>
            <a:off x="3837649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5F79D7-7A7B-C464-E8C8-FEE56F49EF7D}"/>
              </a:ext>
            </a:extLst>
          </p:cNvPr>
          <p:cNvSpPr txBox="1"/>
          <p:nvPr/>
        </p:nvSpPr>
        <p:spPr>
          <a:xfrm>
            <a:off x="4881996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D6EF82-C257-B631-2E50-2CD12231DADB}"/>
              </a:ext>
            </a:extLst>
          </p:cNvPr>
          <p:cNvSpPr txBox="1"/>
          <p:nvPr/>
        </p:nvSpPr>
        <p:spPr>
          <a:xfrm>
            <a:off x="5916817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788CBA-41D9-2C44-D8B7-F7099CEB1257}"/>
              </a:ext>
            </a:extLst>
          </p:cNvPr>
          <p:cNvSpPr txBox="1"/>
          <p:nvPr/>
        </p:nvSpPr>
        <p:spPr>
          <a:xfrm>
            <a:off x="6962722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11AE1B5-DC9B-CA4A-EF3C-DC1EC4ACCC5B}"/>
              </a:ext>
            </a:extLst>
          </p:cNvPr>
          <p:cNvSpPr txBox="1"/>
          <p:nvPr/>
        </p:nvSpPr>
        <p:spPr>
          <a:xfrm>
            <a:off x="8007068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7DEA76-24C4-F008-9AEF-D6492771CC27}"/>
              </a:ext>
            </a:extLst>
          </p:cNvPr>
          <p:cNvSpPr txBox="1"/>
          <p:nvPr/>
        </p:nvSpPr>
        <p:spPr>
          <a:xfrm>
            <a:off x="9051414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CC8E91-203F-E6AE-6EDB-68C52E4959CA}"/>
              </a:ext>
            </a:extLst>
          </p:cNvPr>
          <p:cNvSpPr txBox="1"/>
          <p:nvPr/>
        </p:nvSpPr>
        <p:spPr>
          <a:xfrm>
            <a:off x="10097319" y="5428845"/>
            <a:ext cx="169466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7E5AD3-BBBE-6B50-D426-7E8342A4BCD1}"/>
              </a:ext>
            </a:extLst>
          </p:cNvPr>
          <p:cNvSpPr txBox="1"/>
          <p:nvPr/>
        </p:nvSpPr>
        <p:spPr>
          <a:xfrm>
            <a:off x="11056933" y="5428845"/>
            <a:ext cx="3389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A2CFA59-3E64-AA3B-9575-8370EBD1EE1B}"/>
              </a:ext>
            </a:extLst>
          </p:cNvPr>
          <p:cNvSpPr txBox="1"/>
          <p:nvPr/>
        </p:nvSpPr>
        <p:spPr>
          <a:xfrm>
            <a:off x="12100287" y="5428845"/>
            <a:ext cx="3389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766DF1-2671-A71D-278E-A711F7021229}"/>
              </a:ext>
            </a:extLst>
          </p:cNvPr>
          <p:cNvSpPr txBox="1"/>
          <p:nvPr/>
        </p:nvSpPr>
        <p:spPr>
          <a:xfrm>
            <a:off x="13154257" y="5428845"/>
            <a:ext cx="3389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D5C2AD-A07C-B7FE-A60F-72257B704AF7}"/>
              </a:ext>
            </a:extLst>
          </p:cNvPr>
          <p:cNvSpPr txBox="1"/>
          <p:nvPr/>
        </p:nvSpPr>
        <p:spPr>
          <a:xfrm>
            <a:off x="14190538" y="5428845"/>
            <a:ext cx="3389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18F9B3-E1DA-0A29-C4FF-F25E4D2401A7}"/>
              </a:ext>
            </a:extLst>
          </p:cNvPr>
          <p:cNvSpPr txBox="1"/>
          <p:nvPr/>
        </p:nvSpPr>
        <p:spPr>
          <a:xfrm>
            <a:off x="15234884" y="5428845"/>
            <a:ext cx="3389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87B440B-99C6-CD25-EF50-FBCA493F1586}"/>
              </a:ext>
            </a:extLst>
          </p:cNvPr>
          <p:cNvSpPr txBox="1"/>
          <p:nvPr/>
        </p:nvSpPr>
        <p:spPr>
          <a:xfrm>
            <a:off x="16280789" y="5428845"/>
            <a:ext cx="33893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5F9BDD-F311-AD6B-A36D-0F9777FCA76E}"/>
              </a:ext>
            </a:extLst>
          </p:cNvPr>
          <p:cNvSpPr txBox="1"/>
          <p:nvPr/>
        </p:nvSpPr>
        <p:spPr>
          <a:xfrm>
            <a:off x="1617947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  <a:endParaRPr lang="en-US" sz="2000" dirty="0">
              <a:solidFill>
                <a:srgbClr val="FB7D32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B79B50-09FA-018A-1C77-D1608D941C1A}"/>
              </a:ext>
            </a:extLst>
          </p:cNvPr>
          <p:cNvSpPr txBox="1"/>
          <p:nvPr/>
        </p:nvSpPr>
        <p:spPr>
          <a:xfrm>
            <a:off x="2663851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58E125-795A-ED0B-1961-8BE9AEC70F7A}"/>
              </a:ext>
            </a:extLst>
          </p:cNvPr>
          <p:cNvSpPr txBox="1"/>
          <p:nvPr/>
        </p:nvSpPr>
        <p:spPr>
          <a:xfrm>
            <a:off x="3708198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B571A4-215A-E86A-A537-BE1CD0B76990}"/>
              </a:ext>
            </a:extLst>
          </p:cNvPr>
          <p:cNvSpPr txBox="1"/>
          <p:nvPr/>
        </p:nvSpPr>
        <p:spPr>
          <a:xfrm>
            <a:off x="4752544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A03915-1FF8-0E1E-C774-167CDA78CFFF}"/>
              </a:ext>
            </a:extLst>
          </p:cNvPr>
          <p:cNvSpPr txBox="1"/>
          <p:nvPr/>
        </p:nvSpPr>
        <p:spPr>
          <a:xfrm>
            <a:off x="5798449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F9E5616-919E-5397-A7BE-B25D77208CEE}"/>
              </a:ext>
            </a:extLst>
          </p:cNvPr>
          <p:cNvSpPr txBox="1"/>
          <p:nvPr/>
        </p:nvSpPr>
        <p:spPr>
          <a:xfrm>
            <a:off x="6842795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093C58-B21D-67AD-E8BD-CE744532F673}"/>
              </a:ext>
            </a:extLst>
          </p:cNvPr>
          <p:cNvSpPr txBox="1"/>
          <p:nvPr/>
        </p:nvSpPr>
        <p:spPr>
          <a:xfrm>
            <a:off x="7892768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C74E5A-1189-5923-BF54-5C4AF281B4B3}"/>
              </a:ext>
            </a:extLst>
          </p:cNvPr>
          <p:cNvSpPr txBox="1"/>
          <p:nvPr/>
        </p:nvSpPr>
        <p:spPr>
          <a:xfrm>
            <a:off x="8938673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FF458A-E954-0C8F-470B-9E980484B0CC}"/>
              </a:ext>
            </a:extLst>
          </p:cNvPr>
          <p:cNvSpPr txBox="1"/>
          <p:nvPr/>
        </p:nvSpPr>
        <p:spPr>
          <a:xfrm>
            <a:off x="9983019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82A102-E4F6-99BB-71D7-EBD0014DE41A}"/>
              </a:ext>
            </a:extLst>
          </p:cNvPr>
          <p:cNvSpPr txBox="1"/>
          <p:nvPr/>
        </p:nvSpPr>
        <p:spPr>
          <a:xfrm>
            <a:off x="11027366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A42E40-E649-805B-FADD-027C8240523F}"/>
              </a:ext>
            </a:extLst>
          </p:cNvPr>
          <p:cNvSpPr txBox="1"/>
          <p:nvPr/>
        </p:nvSpPr>
        <p:spPr>
          <a:xfrm>
            <a:off x="12073271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4C42AB8-4C93-158F-DBEA-16550E645FB1}"/>
              </a:ext>
            </a:extLst>
          </p:cNvPr>
          <p:cNvSpPr txBox="1"/>
          <p:nvPr/>
        </p:nvSpPr>
        <p:spPr>
          <a:xfrm>
            <a:off x="13117617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C9A1F4B-F7AB-3A9B-1785-75050B591248}"/>
              </a:ext>
            </a:extLst>
          </p:cNvPr>
          <p:cNvSpPr txBox="1"/>
          <p:nvPr/>
        </p:nvSpPr>
        <p:spPr>
          <a:xfrm>
            <a:off x="14147492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59C0EC-56FE-D254-FAE9-CF7AF3B7CF02}"/>
              </a:ext>
            </a:extLst>
          </p:cNvPr>
          <p:cNvSpPr txBox="1"/>
          <p:nvPr/>
        </p:nvSpPr>
        <p:spPr>
          <a:xfrm>
            <a:off x="15193397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58D3986-EA46-E604-D9A0-F8E360385B20}"/>
              </a:ext>
            </a:extLst>
          </p:cNvPr>
          <p:cNvSpPr txBox="1"/>
          <p:nvPr/>
        </p:nvSpPr>
        <p:spPr>
          <a:xfrm>
            <a:off x="16237743" y="6002968"/>
            <a:ext cx="423466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1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45A119-8513-32E3-8FE6-961F4C93B6B0}"/>
              </a:ext>
            </a:extLst>
          </p:cNvPr>
          <p:cNvSpPr txBox="1"/>
          <p:nvPr/>
        </p:nvSpPr>
        <p:spPr>
          <a:xfrm>
            <a:off x="1200570" y="7233161"/>
            <a:ext cx="17087430" cy="5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2800" dirty="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1ST TO 15TH SALE: </a:t>
            </a:r>
            <a:r>
              <a:rPr lang="en-US" sz="2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5% INCENTIVE (ABOUT ₱75 PER ACCESS)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990640D-8AAE-5494-2916-9F07F85A403D}"/>
              </a:ext>
            </a:extLst>
          </p:cNvPr>
          <p:cNvSpPr txBox="1"/>
          <p:nvPr/>
        </p:nvSpPr>
        <p:spPr>
          <a:xfrm>
            <a:off x="1154344" y="7843314"/>
            <a:ext cx="17081147" cy="5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2800" dirty="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16TH TO 30TH SALE: </a:t>
            </a:r>
            <a:r>
              <a:rPr lang="en-US" sz="2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7.5% INCENTIVE (ABOUT ₱112 PER ACCESS)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5A61BB6-EB1C-702E-0AFA-2D71B8594EEB}"/>
              </a:ext>
            </a:extLst>
          </p:cNvPr>
          <p:cNvSpPr txBox="1"/>
          <p:nvPr/>
        </p:nvSpPr>
        <p:spPr>
          <a:xfrm>
            <a:off x="1148061" y="8367013"/>
            <a:ext cx="17087430" cy="580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0"/>
              </a:lnSpc>
              <a:spcBef>
                <a:spcPct val="0"/>
              </a:spcBef>
            </a:pPr>
            <a:r>
              <a:rPr lang="en-US" sz="2800" dirty="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31ST SALE ONWARD: </a:t>
            </a:r>
            <a:r>
              <a:rPr lang="en-US" sz="2800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10% INCENTIVE (ABOUT ₱150 PER ACCESS)</a:t>
            </a:r>
          </a:p>
        </p:txBody>
      </p:sp>
    </p:spTree>
    <p:extLst>
      <p:ext uri="{BB962C8B-B14F-4D97-AF65-F5344CB8AC3E}">
        <p14:creationId xmlns:p14="http://schemas.microsoft.com/office/powerpoint/2010/main" val="21058390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EC0978C-9823-292D-4CB1-55D323D1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D2599F-CF36-19DE-D392-CD7FE3CE8506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3F7B4E39-4D2B-9640-52FE-87E3EFC13134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9FC9BED-FE2F-3B79-23FF-E70F0ADB4109}"/>
              </a:ext>
            </a:extLst>
          </p:cNvPr>
          <p:cNvGrpSpPr/>
          <p:nvPr/>
        </p:nvGrpSpPr>
        <p:grpSpPr>
          <a:xfrm>
            <a:off x="3361127" y="5279110"/>
            <a:ext cx="11565745" cy="3086100"/>
            <a:chOff x="0" y="0"/>
            <a:chExt cx="3046122" cy="8128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F30ED89-8A69-C885-ADDD-6B95C8994C55}"/>
                </a:ext>
              </a:extLst>
            </p:cNvPr>
            <p:cNvSpPr/>
            <p:nvPr/>
          </p:nvSpPr>
          <p:spPr>
            <a:xfrm>
              <a:off x="0" y="0"/>
              <a:ext cx="3046122" cy="812800"/>
            </a:xfrm>
            <a:custGeom>
              <a:avLst/>
              <a:gdLst/>
              <a:ahLst/>
              <a:cxnLst/>
              <a:rect l="l" t="t" r="r" b="b"/>
              <a:pathLst>
                <a:path w="3046122" h="812800">
                  <a:moveTo>
                    <a:pt x="34139" y="0"/>
                  </a:moveTo>
                  <a:lnTo>
                    <a:pt x="3011984" y="0"/>
                  </a:lnTo>
                  <a:cubicBezTo>
                    <a:pt x="3030838" y="0"/>
                    <a:pt x="3046122" y="15284"/>
                    <a:pt x="3046122" y="34139"/>
                  </a:cubicBezTo>
                  <a:lnTo>
                    <a:pt x="3046122" y="778661"/>
                  </a:lnTo>
                  <a:cubicBezTo>
                    <a:pt x="3046122" y="797516"/>
                    <a:pt x="3030838" y="812800"/>
                    <a:pt x="3011984" y="812800"/>
                  </a:cubicBezTo>
                  <a:lnTo>
                    <a:pt x="34139" y="812800"/>
                  </a:lnTo>
                  <a:cubicBezTo>
                    <a:pt x="15284" y="812800"/>
                    <a:pt x="0" y="797516"/>
                    <a:pt x="0" y="778661"/>
                  </a:cubicBezTo>
                  <a:lnTo>
                    <a:pt x="0" y="34139"/>
                  </a:lnTo>
                  <a:cubicBezTo>
                    <a:pt x="0" y="15284"/>
                    <a:pt x="15284" y="0"/>
                    <a:pt x="34139" y="0"/>
                  </a:cubicBezTo>
                  <a:close/>
                </a:path>
              </a:pathLst>
            </a:custGeom>
            <a:solidFill>
              <a:srgbClr val="FF7E2F"/>
            </a:solidFill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F8FD406-873A-BC3A-E458-774D36A4E69D}"/>
                </a:ext>
              </a:extLst>
            </p:cNvPr>
            <p:cNvSpPr txBox="1"/>
            <p:nvPr/>
          </p:nvSpPr>
          <p:spPr>
            <a:xfrm>
              <a:off x="0" y="-47625"/>
              <a:ext cx="3046122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36CF7E4-4C62-F353-A0C3-5296BA39BBF0}"/>
              </a:ext>
            </a:extLst>
          </p:cNvPr>
          <p:cNvSpPr txBox="1"/>
          <p:nvPr/>
        </p:nvSpPr>
        <p:spPr>
          <a:xfrm>
            <a:off x="1028700" y="1095375"/>
            <a:ext cx="10633062" cy="4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747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SAMPLE DIRECT EARNINGS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4EBA08-9A5C-008F-F295-0F2BED4986EA}"/>
              </a:ext>
            </a:extLst>
          </p:cNvPr>
          <p:cNvSpPr txBox="1"/>
          <p:nvPr/>
        </p:nvSpPr>
        <p:spPr>
          <a:xfrm>
            <a:off x="2263746" y="2124859"/>
            <a:ext cx="17087430" cy="1021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2309" lvl="1" indent="-636155" algn="l">
              <a:lnSpc>
                <a:spcPts val="8250"/>
              </a:lnSpc>
              <a:spcBef>
                <a:spcPct val="0"/>
              </a:spcBef>
              <a:buFont typeface="Arial"/>
              <a:buChar char="•"/>
            </a:pPr>
            <a:r>
              <a:rPr lang="en-US" sz="5893" dirty="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10 SALES → AROUND ₱750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2143EF-10C8-7F7F-4954-817C2B87A676}"/>
              </a:ext>
            </a:extLst>
          </p:cNvPr>
          <p:cNvSpPr txBox="1"/>
          <p:nvPr/>
        </p:nvSpPr>
        <p:spPr>
          <a:xfrm>
            <a:off x="2263746" y="2955029"/>
            <a:ext cx="17087430" cy="1021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2309" lvl="1" indent="-636155" algn="l">
              <a:lnSpc>
                <a:spcPts val="8250"/>
              </a:lnSpc>
              <a:spcBef>
                <a:spcPct val="0"/>
              </a:spcBef>
              <a:buFont typeface="Arial"/>
              <a:buChar char="•"/>
            </a:pPr>
            <a:r>
              <a:rPr lang="en-US" sz="5893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20 SALES → AROUND ₱1,685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52C48-D4D6-3320-6A8D-DC8612CA8415}"/>
              </a:ext>
            </a:extLst>
          </p:cNvPr>
          <p:cNvSpPr txBox="1"/>
          <p:nvPr/>
        </p:nvSpPr>
        <p:spPr>
          <a:xfrm>
            <a:off x="2263746" y="3780704"/>
            <a:ext cx="17087430" cy="1021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72309" lvl="1" indent="-636155" algn="l">
              <a:lnSpc>
                <a:spcPts val="8250"/>
              </a:lnSpc>
              <a:spcBef>
                <a:spcPct val="0"/>
              </a:spcBef>
              <a:buFont typeface="Arial"/>
              <a:buChar char="•"/>
            </a:pPr>
            <a:r>
              <a:rPr lang="en-US" sz="5893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35 SALES → AROUND ₱3,560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CCC157-CEE1-94D5-C016-8DB690B47C5A}"/>
              </a:ext>
            </a:extLst>
          </p:cNvPr>
          <p:cNvSpPr txBox="1"/>
          <p:nvPr/>
        </p:nvSpPr>
        <p:spPr>
          <a:xfrm>
            <a:off x="0" y="5725426"/>
            <a:ext cx="18288000" cy="2069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sz="589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MORE YOU SHARE</a:t>
            </a:r>
          </a:p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MORE YOU EARN</a:t>
            </a:r>
          </a:p>
        </p:txBody>
      </p:sp>
    </p:spTree>
    <p:extLst>
      <p:ext uri="{BB962C8B-B14F-4D97-AF65-F5344CB8AC3E}">
        <p14:creationId xmlns:p14="http://schemas.microsoft.com/office/powerpoint/2010/main" val="315596115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F9DA26C4-11A9-022C-3F0D-DFDFF197C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F37B31D-50EC-2281-8E3E-AAA51C40B856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0AD0A9A4-E2B5-3A0D-12D1-AFBE085C720E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D345707-7238-BCFC-6609-7AAC31A0C08C}"/>
              </a:ext>
            </a:extLst>
          </p:cNvPr>
          <p:cNvSpPr/>
          <p:nvPr/>
        </p:nvSpPr>
        <p:spPr>
          <a:xfrm>
            <a:off x="-40077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48713476-8490-F9EF-B289-8008B11229C5}"/>
              </a:ext>
            </a:extLst>
          </p:cNvPr>
          <p:cNvSpPr/>
          <p:nvPr/>
        </p:nvSpPr>
        <p:spPr>
          <a:xfrm>
            <a:off x="1270067" y="1613432"/>
            <a:ext cx="6318822" cy="7060137"/>
          </a:xfrm>
          <a:custGeom>
            <a:avLst/>
            <a:gdLst/>
            <a:ahLst/>
            <a:cxnLst/>
            <a:rect l="l" t="t" r="r" b="b"/>
            <a:pathLst>
              <a:path w="6318822" h="7060137">
                <a:moveTo>
                  <a:pt x="0" y="0"/>
                </a:moveTo>
                <a:lnTo>
                  <a:pt x="6318822" y="0"/>
                </a:lnTo>
                <a:lnTo>
                  <a:pt x="6318822" y="7060136"/>
                </a:lnTo>
                <a:lnTo>
                  <a:pt x="0" y="706013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408A6955-2449-5AEC-5AB4-D1FE70BD3239}"/>
              </a:ext>
            </a:extLst>
          </p:cNvPr>
          <p:cNvGrpSpPr/>
          <p:nvPr/>
        </p:nvGrpSpPr>
        <p:grpSpPr>
          <a:xfrm>
            <a:off x="7806844" y="1521958"/>
            <a:ext cx="9366761" cy="3086100"/>
            <a:chOff x="0" y="0"/>
            <a:chExt cx="2466966" cy="812800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F61806C1-16F1-AB53-8CF3-0C0D27C880EC}"/>
                </a:ext>
              </a:extLst>
            </p:cNvPr>
            <p:cNvSpPr/>
            <p:nvPr/>
          </p:nvSpPr>
          <p:spPr>
            <a:xfrm>
              <a:off x="0" y="0"/>
              <a:ext cx="2466966" cy="812800"/>
            </a:xfrm>
            <a:custGeom>
              <a:avLst/>
              <a:gdLst/>
              <a:ahLst/>
              <a:cxnLst/>
              <a:rect l="l" t="t" r="r" b="b"/>
              <a:pathLst>
                <a:path w="2466966" h="812800">
                  <a:moveTo>
                    <a:pt x="42153" y="0"/>
                  </a:moveTo>
                  <a:lnTo>
                    <a:pt x="2424813" y="0"/>
                  </a:lnTo>
                  <a:cubicBezTo>
                    <a:pt x="2435992" y="0"/>
                    <a:pt x="2446714" y="4441"/>
                    <a:pt x="2454619" y="12346"/>
                  </a:cubicBezTo>
                  <a:cubicBezTo>
                    <a:pt x="2462524" y="20252"/>
                    <a:pt x="2466966" y="30973"/>
                    <a:pt x="2466966" y="42153"/>
                  </a:cubicBezTo>
                  <a:lnTo>
                    <a:pt x="2466966" y="770647"/>
                  </a:lnTo>
                  <a:cubicBezTo>
                    <a:pt x="2466966" y="793927"/>
                    <a:pt x="2448093" y="812800"/>
                    <a:pt x="2424813" y="812800"/>
                  </a:cubicBezTo>
                  <a:lnTo>
                    <a:pt x="42153" y="812800"/>
                  </a:lnTo>
                  <a:cubicBezTo>
                    <a:pt x="30973" y="812800"/>
                    <a:pt x="20252" y="808359"/>
                    <a:pt x="12346" y="800454"/>
                  </a:cubicBezTo>
                  <a:cubicBezTo>
                    <a:pt x="4441" y="792548"/>
                    <a:pt x="0" y="781827"/>
                    <a:pt x="0" y="770647"/>
                  </a:cubicBezTo>
                  <a:lnTo>
                    <a:pt x="0" y="42153"/>
                  </a:lnTo>
                  <a:cubicBezTo>
                    <a:pt x="0" y="30973"/>
                    <a:pt x="4441" y="20252"/>
                    <a:pt x="12346" y="12346"/>
                  </a:cubicBezTo>
                  <a:cubicBezTo>
                    <a:pt x="20252" y="4441"/>
                    <a:pt x="30973" y="0"/>
                    <a:pt x="42153" y="0"/>
                  </a:cubicBezTo>
                  <a:close/>
                </a:path>
              </a:pathLst>
            </a:custGeom>
            <a:solidFill>
              <a:srgbClr val="FB7D32"/>
            </a:solidFill>
          </p:spPr>
        </p:sp>
        <p:sp>
          <p:nvSpPr>
            <p:cNvPr id="8" name="TextBox 6">
              <a:extLst>
                <a:ext uri="{FF2B5EF4-FFF2-40B4-BE49-F238E27FC236}">
                  <a16:creationId xmlns:a16="http://schemas.microsoft.com/office/drawing/2014/main" id="{4BA22477-0CA6-1CF2-E6BA-D20816F94DAA}"/>
                </a:ext>
              </a:extLst>
            </p:cNvPr>
            <p:cNvSpPr txBox="1"/>
            <p:nvPr/>
          </p:nvSpPr>
          <p:spPr>
            <a:xfrm>
              <a:off x="0" y="-47625"/>
              <a:ext cx="2466966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295F8132-CCDC-9F44-E224-4B9DE66C8D86}"/>
              </a:ext>
            </a:extLst>
          </p:cNvPr>
          <p:cNvSpPr txBox="1"/>
          <p:nvPr/>
        </p:nvSpPr>
        <p:spPr>
          <a:xfrm>
            <a:off x="7806844" y="2177331"/>
            <a:ext cx="9366761" cy="18969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79"/>
              </a:lnSpc>
            </a:pPr>
            <a:r>
              <a:rPr lang="en-US" sz="600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Earn 1% Network Sales Incentive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E385905C-B078-41B2-420E-7D3DA046C1EC}"/>
              </a:ext>
            </a:extLst>
          </p:cNvPr>
          <p:cNvSpPr txBox="1"/>
          <p:nvPr/>
        </p:nvSpPr>
        <p:spPr>
          <a:xfrm>
            <a:off x="6943368" y="5582314"/>
            <a:ext cx="11078650" cy="2398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88"/>
              </a:lnSpc>
              <a:spcBef>
                <a:spcPct val="0"/>
              </a:spcBef>
            </a:pPr>
            <a:r>
              <a:rPr lang="en-US" sz="4562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AS YOUR NETWORK </a:t>
            </a:r>
            <a:r>
              <a:rPr lang="en-US" sz="4562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GROW</a:t>
            </a:r>
            <a:r>
              <a:rPr lang="en-US" sz="4562" dirty="0">
                <a:solidFill>
                  <a:srgbClr val="1C246A"/>
                </a:solidFill>
                <a:latin typeface="Archivo Black"/>
                <a:ea typeface="Archivo Black"/>
                <a:cs typeface="Archivo Black"/>
                <a:sym typeface="Archivo Black"/>
              </a:rPr>
              <a:t>, YOUR EARNING POTENTIAL ALSO </a:t>
            </a:r>
            <a:r>
              <a:rPr lang="en-US" sz="4562" dirty="0">
                <a:solidFill>
                  <a:srgbClr val="FB7D32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INCREASES</a:t>
            </a:r>
          </a:p>
        </p:txBody>
      </p:sp>
    </p:spTree>
    <p:extLst>
      <p:ext uri="{BB962C8B-B14F-4D97-AF65-F5344CB8AC3E}">
        <p14:creationId xmlns:p14="http://schemas.microsoft.com/office/powerpoint/2010/main" val="248703378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4A02A43-846C-262B-EA02-2C824B0CE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1D2D05-11D1-9A02-7E2A-8CCF43E76B7D}"/>
              </a:ext>
            </a:extLst>
          </p:cNvPr>
          <p:cNvSpPr/>
          <p:nvPr/>
        </p:nvSpPr>
        <p:spPr>
          <a:xfrm>
            <a:off x="-80154" y="144976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4F9C2407-9C8D-31C5-3855-3D85FEB1A3BA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B3E966C-375B-9191-F44E-956F4F5E84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4521C79-1BF1-B0F5-ACDD-C0D7E81AC3ED}"/>
              </a:ext>
            </a:extLst>
          </p:cNvPr>
          <p:cNvSpPr txBox="1"/>
          <p:nvPr/>
        </p:nvSpPr>
        <p:spPr>
          <a:xfrm>
            <a:off x="1028700" y="1095375"/>
            <a:ext cx="17259300" cy="4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747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FROM THE SALES OF YOUR NETWORK (LEVELS 2 TO 5)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D52FDA2F-1F84-BDDA-7BD0-582480040C1A}"/>
              </a:ext>
            </a:extLst>
          </p:cNvPr>
          <p:cNvSpPr txBox="1"/>
          <p:nvPr/>
        </p:nvSpPr>
        <p:spPr>
          <a:xfrm>
            <a:off x="1114635" y="1982221"/>
            <a:ext cx="17087430" cy="61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C216D"/>
                </a:solidFill>
                <a:latin typeface="Archivo Black"/>
                <a:ea typeface="Archivo Black"/>
                <a:cs typeface="Archivo Black"/>
                <a:sym typeface="Archivo Black"/>
              </a:rPr>
              <a:t>IF EACH LEVEL SELLS 10 ACCESS, YOU EARN: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796E1E4B-7CE3-B66E-0111-1221C78C6A41}"/>
              </a:ext>
            </a:extLst>
          </p:cNvPr>
          <p:cNvSpPr txBox="1"/>
          <p:nvPr/>
        </p:nvSpPr>
        <p:spPr>
          <a:xfrm>
            <a:off x="2304112" y="2777814"/>
            <a:ext cx="12715199" cy="3301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6"/>
              </a:lnSpc>
              <a:spcBef>
                <a:spcPct val="0"/>
              </a:spcBef>
            </a:pPr>
            <a:r>
              <a:rPr lang="en-US" sz="4661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LEVEL 2: ₱150</a:t>
            </a:r>
          </a:p>
          <a:p>
            <a:pPr algn="l">
              <a:lnSpc>
                <a:spcPts val="6526"/>
              </a:lnSpc>
              <a:spcBef>
                <a:spcPct val="0"/>
              </a:spcBef>
            </a:pPr>
            <a:r>
              <a:rPr lang="en-US" sz="4661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LEVEL 3: ₱150</a:t>
            </a:r>
          </a:p>
          <a:p>
            <a:pPr algn="l">
              <a:lnSpc>
                <a:spcPts val="6526"/>
              </a:lnSpc>
              <a:spcBef>
                <a:spcPct val="0"/>
              </a:spcBef>
            </a:pPr>
            <a:r>
              <a:rPr lang="en-US" sz="4661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LEVEL 4: ₱150</a:t>
            </a:r>
          </a:p>
          <a:p>
            <a:pPr algn="l">
              <a:lnSpc>
                <a:spcPts val="6526"/>
              </a:lnSpc>
              <a:spcBef>
                <a:spcPct val="0"/>
              </a:spcBef>
            </a:pPr>
            <a:r>
              <a:rPr lang="en-US" sz="4661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• LEVEL 5: ₱150</a:t>
            </a: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B3AA12B5-5CBF-5029-5217-2B9289721D02}"/>
              </a:ext>
            </a:extLst>
          </p:cNvPr>
          <p:cNvGrpSpPr/>
          <p:nvPr/>
        </p:nvGrpSpPr>
        <p:grpSpPr>
          <a:xfrm>
            <a:off x="3361127" y="6785263"/>
            <a:ext cx="11565745" cy="1986608"/>
            <a:chOff x="0" y="0"/>
            <a:chExt cx="3046122" cy="523222"/>
          </a:xfrm>
        </p:grpSpPr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33ABA450-ABC8-06E6-D510-CBBE166C2D16}"/>
                </a:ext>
              </a:extLst>
            </p:cNvPr>
            <p:cNvSpPr/>
            <p:nvPr/>
          </p:nvSpPr>
          <p:spPr>
            <a:xfrm>
              <a:off x="0" y="0"/>
              <a:ext cx="3046122" cy="523222"/>
            </a:xfrm>
            <a:custGeom>
              <a:avLst/>
              <a:gdLst/>
              <a:ahLst/>
              <a:cxnLst/>
              <a:rect l="l" t="t" r="r" b="b"/>
              <a:pathLst>
                <a:path w="3046122" h="523222">
                  <a:moveTo>
                    <a:pt x="34139" y="0"/>
                  </a:moveTo>
                  <a:lnTo>
                    <a:pt x="3011984" y="0"/>
                  </a:lnTo>
                  <a:cubicBezTo>
                    <a:pt x="3030838" y="0"/>
                    <a:pt x="3046122" y="15284"/>
                    <a:pt x="3046122" y="34139"/>
                  </a:cubicBezTo>
                  <a:lnTo>
                    <a:pt x="3046122" y="489083"/>
                  </a:lnTo>
                  <a:cubicBezTo>
                    <a:pt x="3046122" y="507937"/>
                    <a:pt x="3030838" y="523222"/>
                    <a:pt x="3011984" y="523222"/>
                  </a:cubicBezTo>
                  <a:lnTo>
                    <a:pt x="34139" y="523222"/>
                  </a:lnTo>
                  <a:cubicBezTo>
                    <a:pt x="15284" y="523222"/>
                    <a:pt x="0" y="507937"/>
                    <a:pt x="0" y="489083"/>
                  </a:cubicBezTo>
                  <a:lnTo>
                    <a:pt x="0" y="34139"/>
                  </a:lnTo>
                  <a:cubicBezTo>
                    <a:pt x="0" y="15284"/>
                    <a:pt x="15284" y="0"/>
                    <a:pt x="34139" y="0"/>
                  </a:cubicBezTo>
                  <a:close/>
                </a:path>
              </a:pathLst>
            </a:custGeom>
            <a:solidFill>
              <a:srgbClr val="FF7E2F"/>
            </a:solidFill>
          </p:spPr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70ED6C2C-5E20-7908-6961-5B584EFC16A6}"/>
                </a:ext>
              </a:extLst>
            </p:cNvPr>
            <p:cNvSpPr txBox="1"/>
            <p:nvPr/>
          </p:nvSpPr>
          <p:spPr>
            <a:xfrm>
              <a:off x="0" y="-47625"/>
              <a:ext cx="3046122" cy="5708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9">
            <a:extLst>
              <a:ext uri="{FF2B5EF4-FFF2-40B4-BE49-F238E27FC236}">
                <a16:creationId xmlns:a16="http://schemas.microsoft.com/office/drawing/2014/main" id="{387236AD-77A4-991D-4858-852773BC47E1}"/>
              </a:ext>
            </a:extLst>
          </p:cNvPr>
          <p:cNvSpPr txBox="1"/>
          <p:nvPr/>
        </p:nvSpPr>
        <p:spPr>
          <a:xfrm>
            <a:off x="0" y="7231580"/>
            <a:ext cx="18288000" cy="1021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OF ₱600</a:t>
            </a:r>
          </a:p>
        </p:txBody>
      </p:sp>
      <p:sp>
        <p:nvSpPr>
          <p:cNvPr id="12" name="Google Shape;85;p1">
            <a:extLst>
              <a:ext uri="{FF2B5EF4-FFF2-40B4-BE49-F238E27FC236}">
                <a16:creationId xmlns:a16="http://schemas.microsoft.com/office/drawing/2014/main" id="{61B9753F-CFB2-9265-83DA-1F7F0F290D7B}"/>
              </a:ext>
            </a:extLst>
          </p:cNvPr>
          <p:cNvSpPr/>
          <p:nvPr/>
        </p:nvSpPr>
        <p:spPr>
          <a:xfrm>
            <a:off x="15345320" y="85194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06160116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8388BB59-A43B-40F8-5A66-FC0193A3B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9F1E66-8830-C15E-6EB4-F889E62CD892}"/>
              </a:ext>
            </a:extLst>
          </p:cNvPr>
          <p:cNvSpPr/>
          <p:nvPr/>
        </p:nvSpPr>
        <p:spPr>
          <a:xfrm>
            <a:off x="-40077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CB677054-7BD1-0008-D67C-C36DCEE2C335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A1D0D10-5C52-ADC2-479F-CFBA46456908}"/>
              </a:ext>
            </a:extLst>
          </p:cNvPr>
          <p:cNvGrpSpPr/>
          <p:nvPr/>
        </p:nvGrpSpPr>
        <p:grpSpPr>
          <a:xfrm>
            <a:off x="589805" y="289084"/>
            <a:ext cx="17198760" cy="2724623"/>
            <a:chOff x="0" y="0"/>
            <a:chExt cx="4529714" cy="71759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4CBED61-7121-36F1-AFB9-4AF98C40F5D5}"/>
                </a:ext>
              </a:extLst>
            </p:cNvPr>
            <p:cNvSpPr/>
            <p:nvPr/>
          </p:nvSpPr>
          <p:spPr>
            <a:xfrm>
              <a:off x="0" y="0"/>
              <a:ext cx="4529715" cy="717596"/>
            </a:xfrm>
            <a:custGeom>
              <a:avLst/>
              <a:gdLst/>
              <a:ahLst/>
              <a:cxnLst/>
              <a:rect l="l" t="t" r="r" b="b"/>
              <a:pathLst>
                <a:path w="4529715" h="717596">
                  <a:moveTo>
                    <a:pt x="9003" y="0"/>
                  </a:moveTo>
                  <a:lnTo>
                    <a:pt x="4520712" y="0"/>
                  </a:lnTo>
                  <a:cubicBezTo>
                    <a:pt x="4525684" y="0"/>
                    <a:pt x="4529715" y="4031"/>
                    <a:pt x="4529715" y="9003"/>
                  </a:cubicBezTo>
                  <a:lnTo>
                    <a:pt x="4529715" y="708593"/>
                  </a:lnTo>
                  <a:cubicBezTo>
                    <a:pt x="4529715" y="713566"/>
                    <a:pt x="4525684" y="717596"/>
                    <a:pt x="4520712" y="717596"/>
                  </a:cubicBezTo>
                  <a:lnTo>
                    <a:pt x="9003" y="717596"/>
                  </a:lnTo>
                  <a:cubicBezTo>
                    <a:pt x="4031" y="717596"/>
                    <a:pt x="0" y="713566"/>
                    <a:pt x="0" y="708593"/>
                  </a:cubicBezTo>
                  <a:lnTo>
                    <a:pt x="0" y="9003"/>
                  </a:lnTo>
                  <a:cubicBezTo>
                    <a:pt x="0" y="4031"/>
                    <a:pt x="4031" y="0"/>
                    <a:pt x="90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709E875-2A49-A916-B3FF-9E028DAA9EC6}"/>
                </a:ext>
              </a:extLst>
            </p:cNvPr>
            <p:cNvSpPr txBox="1"/>
            <p:nvPr/>
          </p:nvSpPr>
          <p:spPr>
            <a:xfrm>
              <a:off x="0" y="-47625"/>
              <a:ext cx="4529714" cy="7652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C90C8C-CDB2-3E5D-4A5F-1B0D13D3A572}"/>
              </a:ext>
            </a:extLst>
          </p:cNvPr>
          <p:cNvSpPr txBox="1"/>
          <p:nvPr/>
        </p:nvSpPr>
        <p:spPr>
          <a:xfrm>
            <a:off x="1073885" y="1437122"/>
            <a:ext cx="17259300" cy="4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747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LEVEL 1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57A38BD-1E7B-D9DF-CFF8-2953D52E1692}"/>
              </a:ext>
            </a:extLst>
          </p:cNvPr>
          <p:cNvSpPr/>
          <p:nvPr/>
        </p:nvSpPr>
        <p:spPr>
          <a:xfrm>
            <a:off x="4037015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9ECBB89D-D398-A97B-CC5A-0F55B86FE390}"/>
              </a:ext>
            </a:extLst>
          </p:cNvPr>
          <p:cNvSpPr/>
          <p:nvPr/>
        </p:nvSpPr>
        <p:spPr>
          <a:xfrm>
            <a:off x="4955517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BCCC921-396D-BA98-36F8-1AAF3DF6B1C4}"/>
              </a:ext>
            </a:extLst>
          </p:cNvPr>
          <p:cNvSpPr/>
          <p:nvPr/>
        </p:nvSpPr>
        <p:spPr>
          <a:xfrm>
            <a:off x="5872649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9E62E1EF-9101-16CE-F1B5-8DF5B04BC718}"/>
              </a:ext>
            </a:extLst>
          </p:cNvPr>
          <p:cNvSpPr/>
          <p:nvPr/>
        </p:nvSpPr>
        <p:spPr>
          <a:xfrm>
            <a:off x="6789782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C7C7CD7-7559-B62C-2070-0A66D25E7B92}"/>
              </a:ext>
            </a:extLst>
          </p:cNvPr>
          <p:cNvSpPr/>
          <p:nvPr/>
        </p:nvSpPr>
        <p:spPr>
          <a:xfrm>
            <a:off x="7708283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387F5499-E396-8709-8269-70E54A1948D1}"/>
              </a:ext>
            </a:extLst>
          </p:cNvPr>
          <p:cNvSpPr/>
          <p:nvPr/>
        </p:nvSpPr>
        <p:spPr>
          <a:xfrm>
            <a:off x="8628475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A4964BF7-9B40-179E-0F23-2C6FB325E223}"/>
              </a:ext>
            </a:extLst>
          </p:cNvPr>
          <p:cNvSpPr/>
          <p:nvPr/>
        </p:nvSpPr>
        <p:spPr>
          <a:xfrm>
            <a:off x="9546976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0E3D675D-2AF4-346F-DEF2-803E33E9B1F9}"/>
              </a:ext>
            </a:extLst>
          </p:cNvPr>
          <p:cNvSpPr/>
          <p:nvPr/>
        </p:nvSpPr>
        <p:spPr>
          <a:xfrm>
            <a:off x="10464108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9CDDA91B-BD2D-40ED-9942-AA620A7DAA97}"/>
              </a:ext>
            </a:extLst>
          </p:cNvPr>
          <p:cNvSpPr/>
          <p:nvPr/>
        </p:nvSpPr>
        <p:spPr>
          <a:xfrm>
            <a:off x="11381241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2490CBD5-DE38-A28D-6CE9-A43A5F0B46AB}"/>
              </a:ext>
            </a:extLst>
          </p:cNvPr>
          <p:cNvSpPr/>
          <p:nvPr/>
        </p:nvSpPr>
        <p:spPr>
          <a:xfrm>
            <a:off x="12299742" y="614978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EB02B5B3-1AA6-9293-15EC-080E501B21B3}"/>
              </a:ext>
            </a:extLst>
          </p:cNvPr>
          <p:cNvSpPr/>
          <p:nvPr/>
        </p:nvSpPr>
        <p:spPr>
          <a:xfrm>
            <a:off x="4027527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00B1F7A2-A420-D1AC-9706-5EDBCB218538}"/>
              </a:ext>
            </a:extLst>
          </p:cNvPr>
          <p:cNvSpPr/>
          <p:nvPr/>
        </p:nvSpPr>
        <p:spPr>
          <a:xfrm>
            <a:off x="4946028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00BB1468-09D8-A253-1F05-D453C04BC48B}"/>
              </a:ext>
            </a:extLst>
          </p:cNvPr>
          <p:cNvSpPr/>
          <p:nvPr/>
        </p:nvSpPr>
        <p:spPr>
          <a:xfrm>
            <a:off x="5863161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39366B0-7231-3201-3540-5B9936CB972D}"/>
              </a:ext>
            </a:extLst>
          </p:cNvPr>
          <p:cNvSpPr/>
          <p:nvPr/>
        </p:nvSpPr>
        <p:spPr>
          <a:xfrm>
            <a:off x="6780293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53BC7FC8-A448-777F-FD46-843C221A4223}"/>
              </a:ext>
            </a:extLst>
          </p:cNvPr>
          <p:cNvSpPr/>
          <p:nvPr/>
        </p:nvSpPr>
        <p:spPr>
          <a:xfrm>
            <a:off x="7698795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FDE6FE04-F4B2-4C7F-EABD-582C01CFF980}"/>
              </a:ext>
            </a:extLst>
          </p:cNvPr>
          <p:cNvSpPr/>
          <p:nvPr/>
        </p:nvSpPr>
        <p:spPr>
          <a:xfrm>
            <a:off x="8618987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F445D4A6-A63D-0ECA-5925-5253EB9AB420}"/>
              </a:ext>
            </a:extLst>
          </p:cNvPr>
          <p:cNvSpPr/>
          <p:nvPr/>
        </p:nvSpPr>
        <p:spPr>
          <a:xfrm>
            <a:off x="9537488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B1A2884-9260-22BD-5CE2-74E8841F9E6F}"/>
              </a:ext>
            </a:extLst>
          </p:cNvPr>
          <p:cNvSpPr/>
          <p:nvPr/>
        </p:nvSpPr>
        <p:spPr>
          <a:xfrm>
            <a:off x="10454620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7A46B35B-2FEB-BE2C-36E5-FE5C657C7F15}"/>
              </a:ext>
            </a:extLst>
          </p:cNvPr>
          <p:cNvSpPr/>
          <p:nvPr/>
        </p:nvSpPr>
        <p:spPr>
          <a:xfrm>
            <a:off x="11371753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5" y="0"/>
                </a:lnTo>
                <a:lnTo>
                  <a:pt x="803085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09C0704C-0D9A-6E5F-5648-8D773ADDBEBB}"/>
              </a:ext>
            </a:extLst>
          </p:cNvPr>
          <p:cNvSpPr/>
          <p:nvPr/>
        </p:nvSpPr>
        <p:spPr>
          <a:xfrm>
            <a:off x="12290254" y="1727602"/>
            <a:ext cx="803085" cy="960211"/>
          </a:xfrm>
          <a:custGeom>
            <a:avLst/>
            <a:gdLst/>
            <a:ahLst/>
            <a:cxnLst/>
            <a:rect l="l" t="t" r="r" b="b"/>
            <a:pathLst>
              <a:path w="803085" h="960211">
                <a:moveTo>
                  <a:pt x="0" y="0"/>
                </a:moveTo>
                <a:lnTo>
                  <a:pt x="803086" y="0"/>
                </a:lnTo>
                <a:lnTo>
                  <a:pt x="803086" y="960211"/>
                </a:lnTo>
                <a:lnTo>
                  <a:pt x="0" y="960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89E351A-FE29-A79B-2861-7B8135989FE0}"/>
              </a:ext>
            </a:extLst>
          </p:cNvPr>
          <p:cNvGrpSpPr/>
          <p:nvPr/>
        </p:nvGrpSpPr>
        <p:grpSpPr>
          <a:xfrm>
            <a:off x="589805" y="3176112"/>
            <a:ext cx="17801305" cy="5572884"/>
            <a:chOff x="0" y="0"/>
            <a:chExt cx="23735074" cy="7430512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E2B9F7E-070A-C6E9-AB55-862D092368B6}"/>
                </a:ext>
              </a:extLst>
            </p:cNvPr>
            <p:cNvGrpSpPr/>
            <p:nvPr/>
          </p:nvGrpSpPr>
          <p:grpSpPr>
            <a:xfrm>
              <a:off x="0" y="0"/>
              <a:ext cx="22931680" cy="7430512"/>
              <a:chOff x="0" y="0"/>
              <a:chExt cx="4529714" cy="1467755"/>
            </a:xfrm>
          </p:grpSpPr>
          <p:sp>
            <p:nvSpPr>
              <p:cNvPr id="74" name="Freeform 29">
                <a:extLst>
                  <a:ext uri="{FF2B5EF4-FFF2-40B4-BE49-F238E27FC236}">
                    <a16:creationId xmlns:a16="http://schemas.microsoft.com/office/drawing/2014/main" id="{C622729B-1625-985C-D0F5-F33F9FF6BD8B}"/>
                  </a:ext>
                </a:extLst>
              </p:cNvPr>
              <p:cNvSpPr/>
              <p:nvPr/>
            </p:nvSpPr>
            <p:spPr>
              <a:xfrm>
                <a:off x="0" y="0"/>
                <a:ext cx="4529715" cy="1467755"/>
              </a:xfrm>
              <a:custGeom>
                <a:avLst/>
                <a:gdLst/>
                <a:ahLst/>
                <a:cxnLst/>
                <a:rect l="l" t="t" r="r" b="b"/>
                <a:pathLst>
                  <a:path w="4529715" h="1467755">
                    <a:moveTo>
                      <a:pt x="9003" y="0"/>
                    </a:moveTo>
                    <a:lnTo>
                      <a:pt x="4520712" y="0"/>
                    </a:lnTo>
                    <a:cubicBezTo>
                      <a:pt x="4525684" y="0"/>
                      <a:pt x="4529715" y="4031"/>
                      <a:pt x="4529715" y="9003"/>
                    </a:cubicBezTo>
                    <a:lnTo>
                      <a:pt x="4529715" y="1458753"/>
                    </a:lnTo>
                    <a:cubicBezTo>
                      <a:pt x="4529715" y="1463725"/>
                      <a:pt x="4525684" y="1467755"/>
                      <a:pt x="4520712" y="1467755"/>
                    </a:cubicBezTo>
                    <a:lnTo>
                      <a:pt x="9003" y="1467755"/>
                    </a:lnTo>
                    <a:cubicBezTo>
                      <a:pt x="6615" y="1467755"/>
                      <a:pt x="4325" y="1466807"/>
                      <a:pt x="2637" y="1465119"/>
                    </a:cubicBezTo>
                    <a:cubicBezTo>
                      <a:pt x="949" y="1463430"/>
                      <a:pt x="0" y="1461140"/>
                      <a:pt x="0" y="1458753"/>
                    </a:cubicBezTo>
                    <a:lnTo>
                      <a:pt x="0" y="9003"/>
                    </a:lnTo>
                    <a:cubicBezTo>
                      <a:pt x="0" y="4031"/>
                      <a:pt x="4031" y="0"/>
                      <a:pt x="9003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5" name="TextBox 30">
                <a:extLst>
                  <a:ext uri="{FF2B5EF4-FFF2-40B4-BE49-F238E27FC236}">
                    <a16:creationId xmlns:a16="http://schemas.microsoft.com/office/drawing/2014/main" id="{0D224A17-0ACC-9A90-3B30-3335BE111D42}"/>
                  </a:ext>
                </a:extLst>
              </p:cNvPr>
              <p:cNvSpPr txBox="1"/>
              <p:nvPr/>
            </p:nvSpPr>
            <p:spPr>
              <a:xfrm>
                <a:off x="0" y="-47625"/>
                <a:ext cx="4529714" cy="15153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sp>
          <p:nvSpPr>
            <p:cNvPr id="30" name="TextBox 31">
              <a:extLst>
                <a:ext uri="{FF2B5EF4-FFF2-40B4-BE49-F238E27FC236}">
                  <a16:creationId xmlns:a16="http://schemas.microsoft.com/office/drawing/2014/main" id="{8A0938EE-74B1-028C-AC20-8F87ADFB98BE}"/>
                </a:ext>
              </a:extLst>
            </p:cNvPr>
            <p:cNvSpPr txBox="1"/>
            <p:nvPr/>
          </p:nvSpPr>
          <p:spPr>
            <a:xfrm>
              <a:off x="645440" y="524846"/>
              <a:ext cx="23012400" cy="682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3747">
                  <a:solidFill>
                    <a:srgbClr val="FF7F3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LEVEL 2</a:t>
              </a:r>
            </a:p>
          </p:txBody>
        </p:sp>
        <p:sp>
          <p:nvSpPr>
            <p:cNvPr id="31" name="Freeform 32">
              <a:extLst>
                <a:ext uri="{FF2B5EF4-FFF2-40B4-BE49-F238E27FC236}">
                  <a16:creationId xmlns:a16="http://schemas.microsoft.com/office/drawing/2014/main" id="{4B5E49B3-6FF4-F883-7835-F318F9038EFE}"/>
                </a:ext>
              </a:extLst>
            </p:cNvPr>
            <p:cNvSpPr/>
            <p:nvPr/>
          </p:nvSpPr>
          <p:spPr>
            <a:xfrm>
              <a:off x="4556471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3">
              <a:extLst>
                <a:ext uri="{FF2B5EF4-FFF2-40B4-BE49-F238E27FC236}">
                  <a16:creationId xmlns:a16="http://schemas.microsoft.com/office/drawing/2014/main" id="{C9A3FC81-7588-68E5-8691-D85B5B2B2945}"/>
                </a:ext>
              </a:extLst>
            </p:cNvPr>
            <p:cNvSpPr/>
            <p:nvPr/>
          </p:nvSpPr>
          <p:spPr>
            <a:xfrm>
              <a:off x="5602668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4">
              <a:extLst>
                <a:ext uri="{FF2B5EF4-FFF2-40B4-BE49-F238E27FC236}">
                  <a16:creationId xmlns:a16="http://schemas.microsoft.com/office/drawing/2014/main" id="{96C8C4C9-27C9-1824-CAC8-8CA09C7DA000}"/>
                </a:ext>
              </a:extLst>
            </p:cNvPr>
            <p:cNvSpPr/>
            <p:nvPr/>
          </p:nvSpPr>
          <p:spPr>
            <a:xfrm>
              <a:off x="6647307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Freeform 35">
              <a:extLst>
                <a:ext uri="{FF2B5EF4-FFF2-40B4-BE49-F238E27FC236}">
                  <a16:creationId xmlns:a16="http://schemas.microsoft.com/office/drawing/2014/main" id="{83D428D6-5317-9060-F57C-23C3AD34B7CE}"/>
                </a:ext>
              </a:extLst>
            </p:cNvPr>
            <p:cNvSpPr/>
            <p:nvPr/>
          </p:nvSpPr>
          <p:spPr>
            <a:xfrm>
              <a:off x="7691945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6">
              <a:extLst>
                <a:ext uri="{FF2B5EF4-FFF2-40B4-BE49-F238E27FC236}">
                  <a16:creationId xmlns:a16="http://schemas.microsoft.com/office/drawing/2014/main" id="{84FF188E-FD8D-95E7-A27E-A2F995BC079A}"/>
                </a:ext>
              </a:extLst>
            </p:cNvPr>
            <p:cNvSpPr/>
            <p:nvPr/>
          </p:nvSpPr>
          <p:spPr>
            <a:xfrm>
              <a:off x="8738142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7">
              <a:extLst>
                <a:ext uri="{FF2B5EF4-FFF2-40B4-BE49-F238E27FC236}">
                  <a16:creationId xmlns:a16="http://schemas.microsoft.com/office/drawing/2014/main" id="{3C563CE0-35D6-AF66-8CCF-672E6F805715}"/>
                </a:ext>
              </a:extLst>
            </p:cNvPr>
            <p:cNvSpPr/>
            <p:nvPr/>
          </p:nvSpPr>
          <p:spPr>
            <a:xfrm>
              <a:off x="9786265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8">
              <a:extLst>
                <a:ext uri="{FF2B5EF4-FFF2-40B4-BE49-F238E27FC236}">
                  <a16:creationId xmlns:a16="http://schemas.microsoft.com/office/drawing/2014/main" id="{1636ABA9-7E17-3E81-F257-882579DDBD15}"/>
                </a:ext>
              </a:extLst>
            </p:cNvPr>
            <p:cNvSpPr/>
            <p:nvPr/>
          </p:nvSpPr>
          <p:spPr>
            <a:xfrm>
              <a:off x="10832462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39">
              <a:extLst>
                <a:ext uri="{FF2B5EF4-FFF2-40B4-BE49-F238E27FC236}">
                  <a16:creationId xmlns:a16="http://schemas.microsoft.com/office/drawing/2014/main" id="{AD99103C-4AE7-52AF-1FF0-22325AE5AD80}"/>
                </a:ext>
              </a:extLst>
            </p:cNvPr>
            <p:cNvSpPr/>
            <p:nvPr/>
          </p:nvSpPr>
          <p:spPr>
            <a:xfrm>
              <a:off x="11877100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40">
              <a:extLst>
                <a:ext uri="{FF2B5EF4-FFF2-40B4-BE49-F238E27FC236}">
                  <a16:creationId xmlns:a16="http://schemas.microsoft.com/office/drawing/2014/main" id="{3B06E1ED-3D6F-F0F5-4816-5B8E70F06E29}"/>
                </a:ext>
              </a:extLst>
            </p:cNvPr>
            <p:cNvSpPr/>
            <p:nvPr/>
          </p:nvSpPr>
          <p:spPr>
            <a:xfrm>
              <a:off x="12921739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1">
              <a:extLst>
                <a:ext uri="{FF2B5EF4-FFF2-40B4-BE49-F238E27FC236}">
                  <a16:creationId xmlns:a16="http://schemas.microsoft.com/office/drawing/2014/main" id="{4DFD1AEB-E45D-26AA-B162-1D72AC031E55}"/>
                </a:ext>
              </a:extLst>
            </p:cNvPr>
            <p:cNvSpPr/>
            <p:nvPr/>
          </p:nvSpPr>
          <p:spPr>
            <a:xfrm>
              <a:off x="13967936" y="286629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2">
              <a:extLst>
                <a:ext uri="{FF2B5EF4-FFF2-40B4-BE49-F238E27FC236}">
                  <a16:creationId xmlns:a16="http://schemas.microsoft.com/office/drawing/2014/main" id="{F9B5F064-E8E1-6DE1-E183-4F8CDA66E05A}"/>
                </a:ext>
              </a:extLst>
            </p:cNvPr>
            <p:cNvSpPr txBox="1"/>
            <p:nvPr/>
          </p:nvSpPr>
          <p:spPr>
            <a:xfrm>
              <a:off x="693620" y="2407710"/>
              <a:ext cx="23012400" cy="682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3747">
                  <a:solidFill>
                    <a:srgbClr val="FF7F3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LEVEL 3</a:t>
              </a:r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B0670A66-03C4-40DF-FFEE-404513C7F1BF}"/>
                </a:ext>
              </a:extLst>
            </p:cNvPr>
            <p:cNvSpPr/>
            <p:nvPr/>
          </p:nvSpPr>
          <p:spPr>
            <a:xfrm>
              <a:off x="4604652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F6CB123D-3623-5E80-1322-7F25D4F98580}"/>
                </a:ext>
              </a:extLst>
            </p:cNvPr>
            <p:cNvSpPr/>
            <p:nvPr/>
          </p:nvSpPr>
          <p:spPr>
            <a:xfrm>
              <a:off x="5650849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5">
              <a:extLst>
                <a:ext uri="{FF2B5EF4-FFF2-40B4-BE49-F238E27FC236}">
                  <a16:creationId xmlns:a16="http://schemas.microsoft.com/office/drawing/2014/main" id="{44A20C3B-FD52-28FA-F6A1-E40A7DB16372}"/>
                </a:ext>
              </a:extLst>
            </p:cNvPr>
            <p:cNvSpPr/>
            <p:nvPr/>
          </p:nvSpPr>
          <p:spPr>
            <a:xfrm>
              <a:off x="6695487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1F53B560-3410-1FED-B21E-38A2F1D88E46}"/>
                </a:ext>
              </a:extLst>
            </p:cNvPr>
            <p:cNvSpPr/>
            <p:nvPr/>
          </p:nvSpPr>
          <p:spPr>
            <a:xfrm>
              <a:off x="7740125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7">
              <a:extLst>
                <a:ext uri="{FF2B5EF4-FFF2-40B4-BE49-F238E27FC236}">
                  <a16:creationId xmlns:a16="http://schemas.microsoft.com/office/drawing/2014/main" id="{CE18090F-A831-F281-2FBE-FD94A61FF42B}"/>
                </a:ext>
              </a:extLst>
            </p:cNvPr>
            <p:cNvSpPr/>
            <p:nvPr/>
          </p:nvSpPr>
          <p:spPr>
            <a:xfrm>
              <a:off x="8786323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557F48C5-79CF-88EB-C2A1-280BF0A7FC59}"/>
                </a:ext>
              </a:extLst>
            </p:cNvPr>
            <p:cNvSpPr/>
            <p:nvPr/>
          </p:nvSpPr>
          <p:spPr>
            <a:xfrm>
              <a:off x="9834446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9">
              <a:extLst>
                <a:ext uri="{FF2B5EF4-FFF2-40B4-BE49-F238E27FC236}">
                  <a16:creationId xmlns:a16="http://schemas.microsoft.com/office/drawing/2014/main" id="{3853F411-6C08-3192-1EC0-D850AEF8B088}"/>
                </a:ext>
              </a:extLst>
            </p:cNvPr>
            <p:cNvSpPr/>
            <p:nvPr/>
          </p:nvSpPr>
          <p:spPr>
            <a:xfrm>
              <a:off x="10880643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50">
              <a:extLst>
                <a:ext uri="{FF2B5EF4-FFF2-40B4-BE49-F238E27FC236}">
                  <a16:creationId xmlns:a16="http://schemas.microsoft.com/office/drawing/2014/main" id="{A8347188-C10A-93A8-9C5A-971E961D76D5}"/>
                </a:ext>
              </a:extLst>
            </p:cNvPr>
            <p:cNvSpPr/>
            <p:nvPr/>
          </p:nvSpPr>
          <p:spPr>
            <a:xfrm>
              <a:off x="11925281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Freeform 51">
              <a:extLst>
                <a:ext uri="{FF2B5EF4-FFF2-40B4-BE49-F238E27FC236}">
                  <a16:creationId xmlns:a16="http://schemas.microsoft.com/office/drawing/2014/main" id="{9AE0F5E5-7034-59B3-A80F-605DB5BB7119}"/>
                </a:ext>
              </a:extLst>
            </p:cNvPr>
            <p:cNvSpPr/>
            <p:nvPr/>
          </p:nvSpPr>
          <p:spPr>
            <a:xfrm>
              <a:off x="12969919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Freeform 52">
              <a:extLst>
                <a:ext uri="{FF2B5EF4-FFF2-40B4-BE49-F238E27FC236}">
                  <a16:creationId xmlns:a16="http://schemas.microsoft.com/office/drawing/2014/main" id="{904C134D-1E01-86F4-6E21-690B3932DA55}"/>
                </a:ext>
              </a:extLst>
            </p:cNvPr>
            <p:cNvSpPr/>
            <p:nvPr/>
          </p:nvSpPr>
          <p:spPr>
            <a:xfrm>
              <a:off x="14016117" y="2169493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TextBox 53">
              <a:extLst>
                <a:ext uri="{FF2B5EF4-FFF2-40B4-BE49-F238E27FC236}">
                  <a16:creationId xmlns:a16="http://schemas.microsoft.com/office/drawing/2014/main" id="{CFCAD33A-F555-2F69-2410-4AFBFC774F7D}"/>
                </a:ext>
              </a:extLst>
            </p:cNvPr>
            <p:cNvSpPr txBox="1"/>
            <p:nvPr/>
          </p:nvSpPr>
          <p:spPr>
            <a:xfrm>
              <a:off x="722674" y="4290575"/>
              <a:ext cx="23012400" cy="682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72"/>
                </a:lnSpc>
              </a:pPr>
              <a:r>
                <a:rPr lang="en-US" sz="3747">
                  <a:solidFill>
                    <a:srgbClr val="FF7F30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LEVEL 4</a:t>
              </a:r>
            </a:p>
          </p:txBody>
        </p:sp>
        <p:sp>
          <p:nvSpPr>
            <p:cNvPr id="53" name="Freeform 54">
              <a:extLst>
                <a:ext uri="{FF2B5EF4-FFF2-40B4-BE49-F238E27FC236}">
                  <a16:creationId xmlns:a16="http://schemas.microsoft.com/office/drawing/2014/main" id="{C59D95AA-6672-7E23-CB9F-EEE2216580AA}"/>
                </a:ext>
              </a:extLst>
            </p:cNvPr>
            <p:cNvSpPr/>
            <p:nvPr/>
          </p:nvSpPr>
          <p:spPr>
            <a:xfrm>
              <a:off x="4633705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5">
              <a:extLst>
                <a:ext uri="{FF2B5EF4-FFF2-40B4-BE49-F238E27FC236}">
                  <a16:creationId xmlns:a16="http://schemas.microsoft.com/office/drawing/2014/main" id="{23B31BD3-6C42-9DE5-B6B1-DB195E8CB88C}"/>
                </a:ext>
              </a:extLst>
            </p:cNvPr>
            <p:cNvSpPr/>
            <p:nvPr/>
          </p:nvSpPr>
          <p:spPr>
            <a:xfrm>
              <a:off x="5679902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Freeform 56">
              <a:extLst>
                <a:ext uri="{FF2B5EF4-FFF2-40B4-BE49-F238E27FC236}">
                  <a16:creationId xmlns:a16="http://schemas.microsoft.com/office/drawing/2014/main" id="{BCB3B4F5-D25E-6C9F-9CCE-CCF17FE88028}"/>
                </a:ext>
              </a:extLst>
            </p:cNvPr>
            <p:cNvSpPr/>
            <p:nvPr/>
          </p:nvSpPr>
          <p:spPr>
            <a:xfrm>
              <a:off x="6724541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Freeform 57">
              <a:extLst>
                <a:ext uri="{FF2B5EF4-FFF2-40B4-BE49-F238E27FC236}">
                  <a16:creationId xmlns:a16="http://schemas.microsoft.com/office/drawing/2014/main" id="{CBED5C63-CA39-38E0-4E11-45C47C70DB7D}"/>
                </a:ext>
              </a:extLst>
            </p:cNvPr>
            <p:cNvSpPr/>
            <p:nvPr/>
          </p:nvSpPr>
          <p:spPr>
            <a:xfrm>
              <a:off x="7769179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7" name="Freeform 58">
              <a:extLst>
                <a:ext uri="{FF2B5EF4-FFF2-40B4-BE49-F238E27FC236}">
                  <a16:creationId xmlns:a16="http://schemas.microsoft.com/office/drawing/2014/main" id="{A4B6F616-B5FA-F904-99A6-837070A06002}"/>
                </a:ext>
              </a:extLst>
            </p:cNvPr>
            <p:cNvSpPr/>
            <p:nvPr/>
          </p:nvSpPr>
          <p:spPr>
            <a:xfrm>
              <a:off x="8815376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Freeform 59">
              <a:extLst>
                <a:ext uri="{FF2B5EF4-FFF2-40B4-BE49-F238E27FC236}">
                  <a16:creationId xmlns:a16="http://schemas.microsoft.com/office/drawing/2014/main" id="{23DB9D1C-0043-01DB-F602-A78F0C8DAB9F}"/>
                </a:ext>
              </a:extLst>
            </p:cNvPr>
            <p:cNvSpPr/>
            <p:nvPr/>
          </p:nvSpPr>
          <p:spPr>
            <a:xfrm>
              <a:off x="9863499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9" name="Freeform 60">
              <a:extLst>
                <a:ext uri="{FF2B5EF4-FFF2-40B4-BE49-F238E27FC236}">
                  <a16:creationId xmlns:a16="http://schemas.microsoft.com/office/drawing/2014/main" id="{BEAC28C3-C8BC-BC8D-C89D-8B879BA511AF}"/>
                </a:ext>
              </a:extLst>
            </p:cNvPr>
            <p:cNvSpPr/>
            <p:nvPr/>
          </p:nvSpPr>
          <p:spPr>
            <a:xfrm>
              <a:off x="10909696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0" name="Freeform 61">
              <a:extLst>
                <a:ext uri="{FF2B5EF4-FFF2-40B4-BE49-F238E27FC236}">
                  <a16:creationId xmlns:a16="http://schemas.microsoft.com/office/drawing/2014/main" id="{3EF0A97A-5698-697F-D81C-54B2871FD775}"/>
                </a:ext>
              </a:extLst>
            </p:cNvPr>
            <p:cNvSpPr/>
            <p:nvPr/>
          </p:nvSpPr>
          <p:spPr>
            <a:xfrm>
              <a:off x="11954334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1" name="Freeform 62">
              <a:extLst>
                <a:ext uri="{FF2B5EF4-FFF2-40B4-BE49-F238E27FC236}">
                  <a16:creationId xmlns:a16="http://schemas.microsoft.com/office/drawing/2014/main" id="{81318409-EB47-CEE5-1251-DF97806B9ED4}"/>
                </a:ext>
              </a:extLst>
            </p:cNvPr>
            <p:cNvSpPr/>
            <p:nvPr/>
          </p:nvSpPr>
          <p:spPr>
            <a:xfrm>
              <a:off x="12998973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2" name="Freeform 63">
              <a:extLst>
                <a:ext uri="{FF2B5EF4-FFF2-40B4-BE49-F238E27FC236}">
                  <a16:creationId xmlns:a16="http://schemas.microsoft.com/office/drawing/2014/main" id="{9067E541-9D3D-144C-69E3-924532E5DF46}"/>
                </a:ext>
              </a:extLst>
            </p:cNvPr>
            <p:cNvSpPr/>
            <p:nvPr/>
          </p:nvSpPr>
          <p:spPr>
            <a:xfrm>
              <a:off x="14045170" y="4052358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5"/>
                  </a:lnTo>
                  <a:lnTo>
                    <a:pt x="0" y="10937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Freeform 64">
              <a:extLst>
                <a:ext uri="{FF2B5EF4-FFF2-40B4-BE49-F238E27FC236}">
                  <a16:creationId xmlns:a16="http://schemas.microsoft.com/office/drawing/2014/main" id="{C4EFAB4D-945D-37CC-4B9E-1ECE40C04F06}"/>
                </a:ext>
              </a:extLst>
            </p:cNvPr>
            <p:cNvSpPr/>
            <p:nvPr/>
          </p:nvSpPr>
          <p:spPr>
            <a:xfrm>
              <a:off x="4681886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4" name="Freeform 65">
              <a:extLst>
                <a:ext uri="{FF2B5EF4-FFF2-40B4-BE49-F238E27FC236}">
                  <a16:creationId xmlns:a16="http://schemas.microsoft.com/office/drawing/2014/main" id="{918322BC-AF3E-FDFE-F0E7-8BD5E794F7B7}"/>
                </a:ext>
              </a:extLst>
            </p:cNvPr>
            <p:cNvSpPr/>
            <p:nvPr/>
          </p:nvSpPr>
          <p:spPr>
            <a:xfrm>
              <a:off x="5728083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5" name="Freeform 66">
              <a:extLst>
                <a:ext uri="{FF2B5EF4-FFF2-40B4-BE49-F238E27FC236}">
                  <a16:creationId xmlns:a16="http://schemas.microsoft.com/office/drawing/2014/main" id="{01790F36-D006-6BD8-F028-756358FFFDEE}"/>
                </a:ext>
              </a:extLst>
            </p:cNvPr>
            <p:cNvSpPr/>
            <p:nvPr/>
          </p:nvSpPr>
          <p:spPr>
            <a:xfrm>
              <a:off x="6772721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6" name="Freeform 67">
              <a:extLst>
                <a:ext uri="{FF2B5EF4-FFF2-40B4-BE49-F238E27FC236}">
                  <a16:creationId xmlns:a16="http://schemas.microsoft.com/office/drawing/2014/main" id="{D73A5286-5124-8E98-46C2-625A1AA69267}"/>
                </a:ext>
              </a:extLst>
            </p:cNvPr>
            <p:cNvSpPr/>
            <p:nvPr/>
          </p:nvSpPr>
          <p:spPr>
            <a:xfrm>
              <a:off x="7817359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7" name="Freeform 68">
              <a:extLst>
                <a:ext uri="{FF2B5EF4-FFF2-40B4-BE49-F238E27FC236}">
                  <a16:creationId xmlns:a16="http://schemas.microsoft.com/office/drawing/2014/main" id="{845177BC-6749-04F3-EFAD-DAFFE9E18544}"/>
                </a:ext>
              </a:extLst>
            </p:cNvPr>
            <p:cNvSpPr/>
            <p:nvPr/>
          </p:nvSpPr>
          <p:spPr>
            <a:xfrm>
              <a:off x="8863557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8" name="Freeform 69">
              <a:extLst>
                <a:ext uri="{FF2B5EF4-FFF2-40B4-BE49-F238E27FC236}">
                  <a16:creationId xmlns:a16="http://schemas.microsoft.com/office/drawing/2014/main" id="{1D075572-C654-9B90-B35A-AB3C69610684}"/>
                </a:ext>
              </a:extLst>
            </p:cNvPr>
            <p:cNvSpPr/>
            <p:nvPr/>
          </p:nvSpPr>
          <p:spPr>
            <a:xfrm>
              <a:off x="9911680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9" name="Freeform 70">
              <a:extLst>
                <a:ext uri="{FF2B5EF4-FFF2-40B4-BE49-F238E27FC236}">
                  <a16:creationId xmlns:a16="http://schemas.microsoft.com/office/drawing/2014/main" id="{0C39BCBF-3897-BE79-790F-0BA4CEAB5E06}"/>
                </a:ext>
              </a:extLst>
            </p:cNvPr>
            <p:cNvSpPr/>
            <p:nvPr/>
          </p:nvSpPr>
          <p:spPr>
            <a:xfrm>
              <a:off x="10957877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0" name="Freeform 71">
              <a:extLst>
                <a:ext uri="{FF2B5EF4-FFF2-40B4-BE49-F238E27FC236}">
                  <a16:creationId xmlns:a16="http://schemas.microsoft.com/office/drawing/2014/main" id="{367E1FB4-25AA-839A-9EE7-F476BE6B5C1E}"/>
                </a:ext>
              </a:extLst>
            </p:cNvPr>
            <p:cNvSpPr/>
            <p:nvPr/>
          </p:nvSpPr>
          <p:spPr>
            <a:xfrm>
              <a:off x="12002515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1" name="Freeform 72">
              <a:extLst>
                <a:ext uri="{FF2B5EF4-FFF2-40B4-BE49-F238E27FC236}">
                  <a16:creationId xmlns:a16="http://schemas.microsoft.com/office/drawing/2014/main" id="{23B97FC0-7ADC-E851-670B-909CED02FBE2}"/>
                </a:ext>
              </a:extLst>
            </p:cNvPr>
            <p:cNvSpPr/>
            <p:nvPr/>
          </p:nvSpPr>
          <p:spPr>
            <a:xfrm>
              <a:off x="13047153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6" y="0"/>
                  </a:lnTo>
                  <a:lnTo>
                    <a:pt x="914736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2" name="Freeform 73">
              <a:extLst>
                <a:ext uri="{FF2B5EF4-FFF2-40B4-BE49-F238E27FC236}">
                  <a16:creationId xmlns:a16="http://schemas.microsoft.com/office/drawing/2014/main" id="{C4BAEA0A-77BD-B80E-FBCC-9BCE04AF4893}"/>
                </a:ext>
              </a:extLst>
            </p:cNvPr>
            <p:cNvSpPr/>
            <p:nvPr/>
          </p:nvSpPr>
          <p:spPr>
            <a:xfrm>
              <a:off x="14093351" y="5935222"/>
              <a:ext cx="914736" cy="1093706"/>
            </a:xfrm>
            <a:custGeom>
              <a:avLst/>
              <a:gdLst/>
              <a:ahLst/>
              <a:cxnLst/>
              <a:rect l="l" t="t" r="r" b="b"/>
              <a:pathLst>
                <a:path w="914736" h="1093706">
                  <a:moveTo>
                    <a:pt x="0" y="0"/>
                  </a:moveTo>
                  <a:lnTo>
                    <a:pt x="914735" y="0"/>
                  </a:lnTo>
                  <a:lnTo>
                    <a:pt x="914735" y="1093706"/>
                  </a:lnTo>
                  <a:lnTo>
                    <a:pt x="0" y="10937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3" name="TextBox 74">
              <a:extLst>
                <a:ext uri="{FF2B5EF4-FFF2-40B4-BE49-F238E27FC236}">
                  <a16:creationId xmlns:a16="http://schemas.microsoft.com/office/drawing/2014/main" id="{48B0A3E1-F064-33E4-5DF9-30AF26E9420F}"/>
                </a:ext>
              </a:extLst>
            </p:cNvPr>
            <p:cNvSpPr txBox="1"/>
            <p:nvPr/>
          </p:nvSpPr>
          <p:spPr>
            <a:xfrm>
              <a:off x="17637232" y="3407333"/>
              <a:ext cx="4270380" cy="682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3672"/>
                </a:lnSpc>
              </a:pPr>
              <a:r>
                <a:rPr lang="en-US" sz="3747">
                  <a:solidFill>
                    <a:srgbClr val="00BF63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₱600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B6BDF109-3B1A-7FD6-0C6B-958A73B834CC}"/>
              </a:ext>
            </a:extLst>
          </p:cNvPr>
          <p:cNvSpPr txBox="1"/>
          <p:nvPr/>
        </p:nvSpPr>
        <p:spPr>
          <a:xfrm>
            <a:off x="1167946" y="7822860"/>
            <a:ext cx="17259300" cy="4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747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LEVEL 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E03717-E1C3-E91F-7F81-8770ECD62E2E}"/>
              </a:ext>
            </a:extLst>
          </p:cNvPr>
          <p:cNvSpPr txBox="1"/>
          <p:nvPr/>
        </p:nvSpPr>
        <p:spPr>
          <a:xfrm>
            <a:off x="13817729" y="1437122"/>
            <a:ext cx="3202785" cy="495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72"/>
              </a:lnSpc>
            </a:pPr>
            <a:r>
              <a:rPr lang="en-US" sz="3747">
                <a:solidFill>
                  <a:srgbClr val="00BF63"/>
                </a:solidFill>
                <a:latin typeface="Archivo Black"/>
                <a:ea typeface="Archivo Black"/>
                <a:cs typeface="Archivo Black"/>
                <a:sym typeface="Archivo Black"/>
              </a:rPr>
              <a:t>₱1,685</a:t>
            </a:r>
          </a:p>
        </p:txBody>
      </p:sp>
      <p:sp>
        <p:nvSpPr>
          <p:cNvPr id="78" name="TextBox 3">
            <a:extLst>
              <a:ext uri="{FF2B5EF4-FFF2-40B4-BE49-F238E27FC236}">
                <a16:creationId xmlns:a16="http://schemas.microsoft.com/office/drawing/2014/main" id="{4E58EBA4-58D7-86AD-8BAA-7A9EA0E9509C}"/>
              </a:ext>
            </a:extLst>
          </p:cNvPr>
          <p:cNvSpPr txBox="1"/>
          <p:nvPr/>
        </p:nvSpPr>
        <p:spPr>
          <a:xfrm>
            <a:off x="3068894" y="9036021"/>
            <a:ext cx="11093323" cy="8772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77"/>
              </a:lnSpc>
            </a:pPr>
            <a:r>
              <a:rPr lang="en-US" sz="5400" dirty="0">
                <a:solidFill>
                  <a:srgbClr val="FF7F30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INCENTIVE = </a:t>
            </a:r>
            <a:r>
              <a:rPr lang="en-US" sz="5400" dirty="0">
                <a:solidFill>
                  <a:srgbClr val="00BF63"/>
                </a:solidFill>
                <a:latin typeface="Archivo Black"/>
                <a:ea typeface="Archivo Black"/>
                <a:cs typeface="Archivo Black"/>
                <a:sym typeface="Archivo Black"/>
              </a:rPr>
              <a:t>₱2,285</a:t>
            </a:r>
          </a:p>
        </p:txBody>
      </p:sp>
    </p:spTree>
    <p:extLst>
      <p:ext uri="{BB962C8B-B14F-4D97-AF65-F5344CB8AC3E}">
        <p14:creationId xmlns:p14="http://schemas.microsoft.com/office/powerpoint/2010/main" val="566999671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1691F02E-8B90-74DB-A1FE-2E2AE9D82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196E24-5E71-0C36-635F-BF3077039D2A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11046FFE-BF1E-C280-83D4-CBB8DFE49855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0D8B9DE-78FC-DF0C-A4BC-8700BAB25911}"/>
              </a:ext>
            </a:extLst>
          </p:cNvPr>
          <p:cNvSpPr txBox="1"/>
          <p:nvPr/>
        </p:nvSpPr>
        <p:spPr>
          <a:xfrm>
            <a:off x="2152662" y="874817"/>
            <a:ext cx="13902522" cy="2052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1"/>
              </a:lnSpc>
              <a:spcBef>
                <a:spcPct val="0"/>
              </a:spcBef>
            </a:pPr>
            <a:r>
              <a:rPr lang="en-US" sz="7200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MAKES </a:t>
            </a:r>
            <a:r>
              <a:rPr lang="en-US" sz="7200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KAAGAPAY</a:t>
            </a:r>
            <a:r>
              <a:rPr lang="en-US" sz="7200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 SPECIAL?</a:t>
            </a:r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6285F9A7-203E-A513-D493-EBC0704B0176}"/>
              </a:ext>
            </a:extLst>
          </p:cNvPr>
          <p:cNvGrpSpPr/>
          <p:nvPr/>
        </p:nvGrpSpPr>
        <p:grpSpPr>
          <a:xfrm>
            <a:off x="3112428" y="3450309"/>
            <a:ext cx="13264489" cy="4916704"/>
            <a:chOff x="0" y="0"/>
            <a:chExt cx="18362644" cy="8122317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2A0F7809-839D-9658-58DA-378E6D77B0E2}"/>
                </a:ext>
              </a:extLst>
            </p:cNvPr>
            <p:cNvSpPr/>
            <p:nvPr/>
          </p:nvSpPr>
          <p:spPr>
            <a:xfrm>
              <a:off x="0" y="0"/>
              <a:ext cx="6936796" cy="5974315"/>
            </a:xfrm>
            <a:custGeom>
              <a:avLst/>
              <a:gdLst/>
              <a:ahLst/>
              <a:cxnLst/>
              <a:rect l="l" t="t" r="r" b="b"/>
              <a:pathLst>
                <a:path w="6936796" h="5974315">
                  <a:moveTo>
                    <a:pt x="0" y="0"/>
                  </a:moveTo>
                  <a:lnTo>
                    <a:pt x="6936796" y="0"/>
                  </a:lnTo>
                  <a:lnTo>
                    <a:pt x="6936796" y="5974315"/>
                  </a:lnTo>
                  <a:lnTo>
                    <a:pt x="0" y="597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11735F21-0A17-B98B-EA8B-A604D10C136A}"/>
                </a:ext>
              </a:extLst>
            </p:cNvPr>
            <p:cNvSpPr txBox="1"/>
            <p:nvPr/>
          </p:nvSpPr>
          <p:spPr>
            <a:xfrm>
              <a:off x="0" y="6406906"/>
              <a:ext cx="7249391" cy="9026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68"/>
                </a:lnSpc>
              </a:pPr>
              <a:r>
                <a:rPr lang="en-US" sz="4967" dirty="0">
                  <a:solidFill>
                    <a:srgbClr val="1C246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EARN INCOME</a:t>
              </a: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87E0BB0E-7BF5-81E2-EFDB-EFFC2BD2635B}"/>
                </a:ext>
              </a:extLst>
            </p:cNvPr>
            <p:cNvSpPr/>
            <p:nvPr/>
          </p:nvSpPr>
          <p:spPr>
            <a:xfrm>
              <a:off x="11806800" y="0"/>
              <a:ext cx="5862297" cy="5974315"/>
            </a:xfrm>
            <a:custGeom>
              <a:avLst/>
              <a:gdLst/>
              <a:ahLst/>
              <a:cxnLst/>
              <a:rect l="l" t="t" r="r" b="b"/>
              <a:pathLst>
                <a:path w="5862297" h="5974315">
                  <a:moveTo>
                    <a:pt x="0" y="0"/>
                  </a:moveTo>
                  <a:lnTo>
                    <a:pt x="5862297" y="0"/>
                  </a:lnTo>
                  <a:lnTo>
                    <a:pt x="5862297" y="5974315"/>
                  </a:lnTo>
                  <a:lnTo>
                    <a:pt x="0" y="597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23FD528F-D6BA-6EF5-797D-B68AA5F3E5EF}"/>
                </a:ext>
              </a:extLst>
            </p:cNvPr>
            <p:cNvSpPr txBox="1"/>
            <p:nvPr/>
          </p:nvSpPr>
          <p:spPr>
            <a:xfrm>
              <a:off x="11113253" y="6406906"/>
              <a:ext cx="7249391" cy="17154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68"/>
                </a:lnSpc>
              </a:pPr>
              <a:r>
                <a:rPr lang="en-US" sz="4967" dirty="0">
                  <a:solidFill>
                    <a:srgbClr val="1C246A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HELPING FAMILIES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1116574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2FE2A0D3-8BEC-3B4A-2680-6DCAE37A4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FCC43F-B508-E73E-76C2-EAC847D9FD97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FFD1180B-53AB-CF37-1933-A3227011A81F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75DF482-3360-884D-9D11-A6EAE4BCFDC4}"/>
              </a:ext>
            </a:extLst>
          </p:cNvPr>
          <p:cNvSpPr txBox="1"/>
          <p:nvPr/>
        </p:nvSpPr>
        <p:spPr>
          <a:xfrm>
            <a:off x="988623" y="2289415"/>
            <a:ext cx="16230600" cy="7660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 	</a:t>
            </a:r>
            <a:r>
              <a:rPr lang="en-US" sz="4000" dirty="0">
                <a:solidFill>
                  <a:srgbClr val="121166"/>
                </a:solidFill>
                <a:latin typeface="Aritmo"/>
                <a:sym typeface="Archivo Black"/>
              </a:rPr>
              <a:t>I</a:t>
            </a:r>
            <a:r>
              <a:rPr lang="en-US" sz="4000" dirty="0">
                <a:solidFill>
                  <a:srgbClr val="121166"/>
                </a:solidFill>
                <a:latin typeface="Aritmo"/>
              </a:rPr>
              <a:t>ncentive requests may be filed anytime through the </a:t>
            </a:r>
            <a:r>
              <a:rPr lang="en-US" sz="4000" dirty="0">
                <a:solidFill>
                  <a:srgbClr val="FF7E2F"/>
                </a:solidFill>
                <a:latin typeface="Aritmo"/>
                <a:ea typeface="Archivo Black"/>
                <a:cs typeface="Archivo Black"/>
                <a:sym typeface="Archivo Black"/>
              </a:rPr>
              <a:t>RMC2 KAAGAPAY        	EMERGENCY ACCESS PORTAL</a:t>
            </a:r>
            <a:r>
              <a:rPr lang="en-US" sz="4000" dirty="0">
                <a:latin typeface="Aritmo"/>
              </a:rPr>
              <a:t>.</a:t>
            </a:r>
          </a:p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 	Requests filed from the 1st to the 15th of the month will be credited on 	the 20th of the same month.</a:t>
            </a:r>
          </a:p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 	Requests filed from the 16th to the end of the month will be credited on 	the 5th banking day of the following month.</a:t>
            </a:r>
          </a:p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 	If the release date falls on a weekend or holiday, it will be moved to the 	next banking day.</a:t>
            </a:r>
          </a:p>
          <a:p>
            <a:pPr>
              <a:lnSpc>
                <a:spcPts val="6744"/>
              </a:lnSpc>
            </a:pPr>
            <a:endParaRPr lang="en-US" sz="4000" dirty="0">
              <a:solidFill>
                <a:srgbClr val="121166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DEB97C94-DDAF-6C4A-18E1-1725CF2766FC}"/>
              </a:ext>
            </a:extLst>
          </p:cNvPr>
          <p:cNvSpPr txBox="1"/>
          <p:nvPr/>
        </p:nvSpPr>
        <p:spPr>
          <a:xfrm>
            <a:off x="988623" y="655409"/>
            <a:ext cx="11708111" cy="97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1"/>
              </a:lnSpc>
              <a:spcBef>
                <a:spcPct val="0"/>
              </a:spcBef>
            </a:pPr>
            <a:r>
              <a:rPr lang="en-US" sz="5722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INCENTIVE RELEASE POLICY</a:t>
            </a:r>
          </a:p>
        </p:txBody>
      </p:sp>
    </p:spTree>
    <p:extLst>
      <p:ext uri="{BB962C8B-B14F-4D97-AF65-F5344CB8AC3E}">
        <p14:creationId xmlns:p14="http://schemas.microsoft.com/office/powerpoint/2010/main" val="1084595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A18781B2-A53E-9417-AFB3-59273652E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AD037E-CB24-E348-1B4C-CB71C023EDA5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68698F4A-E1C9-6D19-C13E-D73FDC0AC60E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57E93BA-51AF-567C-9838-0911FDF8B021}"/>
              </a:ext>
            </a:extLst>
          </p:cNvPr>
          <p:cNvSpPr txBox="1"/>
          <p:nvPr/>
        </p:nvSpPr>
        <p:spPr>
          <a:xfrm>
            <a:off x="1144815" y="2260387"/>
            <a:ext cx="16230600" cy="3357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	Minimum withdrawal: ₱500.00 per request</a:t>
            </a:r>
          </a:p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	Maximum withdrawal: ₱50,000.00 per request</a:t>
            </a:r>
          </a:p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	Service fee: ₱50.00 per request (processing and transfer fee)</a:t>
            </a:r>
          </a:p>
          <a:p>
            <a:pPr>
              <a:lnSpc>
                <a:spcPts val="6744"/>
              </a:lnSpc>
            </a:pPr>
            <a:r>
              <a:rPr lang="en-US" sz="4000" dirty="0">
                <a:solidFill>
                  <a:srgbClr val="121166"/>
                </a:solidFill>
                <a:latin typeface="Aritmo"/>
              </a:rPr>
              <a:t>✓	Multiple requests are allowed, subject to the cutoff schedule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26B0B54-A9B4-AE6A-6A83-266A375C6C0E}"/>
              </a:ext>
            </a:extLst>
          </p:cNvPr>
          <p:cNvSpPr txBox="1"/>
          <p:nvPr/>
        </p:nvSpPr>
        <p:spPr>
          <a:xfrm>
            <a:off x="1144815" y="927918"/>
            <a:ext cx="8807648" cy="97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1"/>
              </a:lnSpc>
              <a:spcBef>
                <a:spcPct val="0"/>
              </a:spcBef>
            </a:pPr>
            <a:r>
              <a:rPr lang="en-US" sz="5722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WITHDRAWAL &amp; FEES</a:t>
            </a:r>
          </a:p>
        </p:txBody>
      </p:sp>
    </p:spTree>
    <p:extLst>
      <p:ext uri="{BB962C8B-B14F-4D97-AF65-F5344CB8AC3E}">
        <p14:creationId xmlns:p14="http://schemas.microsoft.com/office/powerpoint/2010/main" val="18191455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2279D37-F3AD-3B49-600A-6B7ADB8DC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C5D5C2-5241-A119-F672-D08CD9E87F1A}"/>
              </a:ext>
            </a:extLst>
          </p:cNvPr>
          <p:cNvSpPr/>
          <p:nvPr/>
        </p:nvSpPr>
        <p:spPr>
          <a:xfrm>
            <a:off x="-40077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D7039DF2-CED5-14F8-CEBD-6E27786C3A62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C51BCB8-7A1D-5135-5568-E636236B0099}"/>
              </a:ext>
            </a:extLst>
          </p:cNvPr>
          <p:cNvSpPr txBox="1"/>
          <p:nvPr/>
        </p:nvSpPr>
        <p:spPr>
          <a:xfrm>
            <a:off x="1144815" y="927918"/>
            <a:ext cx="8807648" cy="97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011"/>
              </a:lnSpc>
              <a:spcBef>
                <a:spcPct val="0"/>
              </a:spcBef>
            </a:pPr>
            <a:r>
              <a:rPr lang="en-US" sz="5722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 SUMMARY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9FFBB130-F84D-ED1F-74AC-1C8057006B22}"/>
              </a:ext>
            </a:extLst>
          </p:cNvPr>
          <p:cNvSpPr txBox="1"/>
          <p:nvPr/>
        </p:nvSpPr>
        <p:spPr>
          <a:xfrm>
            <a:off x="1406072" y="2260387"/>
            <a:ext cx="16230600" cy="507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744"/>
              </a:lnSpc>
            </a:pPr>
            <a:r>
              <a:rPr lang="en-US" sz="3747" dirty="0">
                <a:solidFill>
                  <a:srgbClr val="121166"/>
                </a:solidFill>
                <a:latin typeface="Aritmo"/>
                <a:sym typeface="Archivo Black"/>
              </a:rPr>
              <a:t>✓	KAAGAPAY</a:t>
            </a:r>
            <a:r>
              <a:rPr lang="en-US" sz="3747" dirty="0">
                <a:solidFill>
                  <a:srgbClr val="121166"/>
                </a:solidFill>
                <a:latin typeface="Aritmo"/>
              </a:rPr>
              <a:t> provides emergency support</a:t>
            </a:r>
          </a:p>
          <a:p>
            <a:pPr>
              <a:lnSpc>
                <a:spcPts val="6744"/>
              </a:lnSpc>
            </a:pPr>
            <a:r>
              <a:rPr lang="en-US" sz="3747" dirty="0">
                <a:solidFill>
                  <a:srgbClr val="121166"/>
                </a:solidFill>
                <a:latin typeface="Aritmo"/>
              </a:rPr>
              <a:t>✓	You earn from your own referrals</a:t>
            </a:r>
            <a:br>
              <a:rPr lang="en-US" sz="3747" dirty="0">
                <a:solidFill>
                  <a:srgbClr val="121166"/>
                </a:solidFill>
                <a:latin typeface="Aritmo"/>
              </a:rPr>
            </a:br>
            <a:r>
              <a:rPr lang="en-US" sz="3747" dirty="0">
                <a:solidFill>
                  <a:srgbClr val="121166"/>
                </a:solidFill>
                <a:latin typeface="Aritmo"/>
              </a:rPr>
              <a:t>✓	You earn more as your team grows</a:t>
            </a:r>
            <a:br>
              <a:rPr lang="en-US" sz="3747" dirty="0">
                <a:solidFill>
                  <a:srgbClr val="121166"/>
                </a:solidFill>
                <a:latin typeface="Aritmo"/>
              </a:rPr>
            </a:br>
            <a:r>
              <a:rPr lang="en-US" sz="3747" dirty="0">
                <a:solidFill>
                  <a:srgbClr val="121166"/>
                </a:solidFill>
                <a:latin typeface="Aritmo"/>
              </a:rPr>
              <a:t>✓	Earnings can go up to 5 levels</a:t>
            </a:r>
          </a:p>
          <a:p>
            <a:pPr>
              <a:lnSpc>
                <a:spcPts val="6744"/>
              </a:lnSpc>
            </a:pPr>
            <a:r>
              <a:rPr lang="en-US" sz="3747" dirty="0">
                <a:solidFill>
                  <a:srgbClr val="121166"/>
                </a:solidFill>
                <a:latin typeface="Aritmo"/>
              </a:rPr>
              <a:t>✓     </a:t>
            </a:r>
            <a:r>
              <a:rPr lang="en-US" sz="3750" dirty="0">
                <a:solidFill>
                  <a:srgbClr val="002060"/>
                </a:solidFill>
                <a:latin typeface="Aritmo"/>
              </a:rPr>
              <a:t>You can also enjoy exclusive discounts and privileges through our</a:t>
            </a:r>
          </a:p>
          <a:p>
            <a:pPr>
              <a:lnSpc>
                <a:spcPts val="6744"/>
              </a:lnSpc>
            </a:pPr>
            <a:r>
              <a:rPr lang="en-US" sz="3750" dirty="0">
                <a:solidFill>
                  <a:srgbClr val="002060"/>
                </a:solidFill>
                <a:latin typeface="Aritmo"/>
              </a:rPr>
              <a:t>        Partnership Perks</a:t>
            </a:r>
            <a:r>
              <a:rPr lang="en-US" sz="4000" dirty="0"/>
              <a:t>.</a:t>
            </a:r>
            <a:endParaRPr lang="en-US" sz="3747" dirty="0">
              <a:solidFill>
                <a:srgbClr val="121166"/>
              </a:solidFill>
              <a:latin typeface="Aritmo"/>
              <a:sym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1347042558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60011CAF-99AC-512B-D530-3BBBC6B6A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D789D41-A1CA-78C6-9DAD-92C037F820BF}"/>
              </a:ext>
            </a:extLst>
          </p:cNvPr>
          <p:cNvSpPr/>
          <p:nvPr/>
        </p:nvSpPr>
        <p:spPr>
          <a:xfrm>
            <a:off x="-40077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F02AC443-631A-0B84-B048-FCE08CB20AAB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870BD3F-8BC5-7405-6F98-18845F1009DE}"/>
              </a:ext>
            </a:extLst>
          </p:cNvPr>
          <p:cNvSpPr txBox="1"/>
          <p:nvPr/>
        </p:nvSpPr>
        <p:spPr>
          <a:xfrm>
            <a:off x="2147392" y="2970341"/>
            <a:ext cx="14499770" cy="30779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11"/>
              </a:lnSpc>
            </a:pPr>
            <a:r>
              <a:rPr lang="en-US" sz="7200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SECURE YOUR HEALTH.</a:t>
            </a:r>
          </a:p>
          <a:p>
            <a:pPr algn="ctr">
              <a:lnSpc>
                <a:spcPts val="8011"/>
              </a:lnSpc>
              <a:spcBef>
                <a:spcPct val="0"/>
              </a:spcBef>
            </a:pPr>
            <a:r>
              <a:rPr lang="en-US" sz="7200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UNLOCK EARNING POTENTIAL.</a:t>
            </a:r>
          </a:p>
        </p:txBody>
      </p:sp>
    </p:spTree>
    <p:extLst>
      <p:ext uri="{BB962C8B-B14F-4D97-AF65-F5344CB8AC3E}">
        <p14:creationId xmlns:p14="http://schemas.microsoft.com/office/powerpoint/2010/main" val="4112188261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E5053A50-38D3-AA5D-4E3A-5787F06A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">
            <a:extLst>
              <a:ext uri="{FF2B5EF4-FFF2-40B4-BE49-F238E27FC236}">
                <a16:creationId xmlns:a16="http://schemas.microsoft.com/office/drawing/2014/main" id="{DA87A23B-C95D-0F4A-C893-427547348882}"/>
              </a:ext>
            </a:extLst>
          </p:cNvPr>
          <p:cNvSpPr/>
          <p:nvPr/>
        </p:nvSpPr>
        <p:spPr>
          <a:xfrm>
            <a:off x="-80154" y="0"/>
            <a:ext cx="18368154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0" r="-150"/>
            </a:stretch>
          </a:blipFill>
        </p:spPr>
      </p:sp>
      <p:sp>
        <p:nvSpPr>
          <p:cNvPr id="4" name="Google Shape;85;p1">
            <a:extLst>
              <a:ext uri="{FF2B5EF4-FFF2-40B4-BE49-F238E27FC236}">
                <a16:creationId xmlns:a16="http://schemas.microsoft.com/office/drawing/2014/main" id="{397C1B67-1AF6-F7AF-B5DC-47FF2945A6DF}"/>
              </a:ext>
            </a:extLst>
          </p:cNvPr>
          <p:cNvSpPr/>
          <p:nvPr/>
        </p:nvSpPr>
        <p:spPr>
          <a:xfrm>
            <a:off x="15192920" y="8367013"/>
            <a:ext cx="2908484" cy="2064963"/>
          </a:xfrm>
          <a:custGeom>
            <a:avLst/>
            <a:gdLst/>
            <a:ahLst/>
            <a:cxnLst/>
            <a:rect l="l" t="t" r="r" b="b"/>
            <a:pathLst>
              <a:path w="2908484" h="2064963" extrusionOk="0">
                <a:moveTo>
                  <a:pt x="0" y="0"/>
                </a:moveTo>
                <a:lnTo>
                  <a:pt x="2908484" y="0"/>
                </a:lnTo>
                <a:lnTo>
                  <a:pt x="2908484" y="2064963"/>
                </a:lnTo>
                <a:lnTo>
                  <a:pt x="0" y="20649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t="-19053" b="-21791"/>
            </a:stretch>
          </a:blipFill>
          <a:ln>
            <a:noFill/>
          </a:ln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CECCDFC-D73C-C4BC-E614-431E62D9BC64}"/>
              </a:ext>
            </a:extLst>
          </p:cNvPr>
          <p:cNvSpPr txBox="1"/>
          <p:nvPr/>
        </p:nvSpPr>
        <p:spPr>
          <a:xfrm>
            <a:off x="2726795" y="6723498"/>
            <a:ext cx="12563475" cy="1111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11"/>
              </a:lnSpc>
            </a:pPr>
            <a:r>
              <a:rPr lang="en-US" sz="9600" dirty="0">
                <a:solidFill>
                  <a:srgbClr val="FF7E2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</a:t>
            </a:r>
            <a:r>
              <a:rPr lang="en-US" sz="9600" dirty="0">
                <a:solidFill>
                  <a:srgbClr val="121166"/>
                </a:solidFill>
                <a:latin typeface="Archivo Black"/>
                <a:ea typeface="Archivo Black"/>
                <a:cs typeface="Archivo Black"/>
                <a:sym typeface="Archivo Black"/>
              </a:rPr>
              <a:t>YOU!</a:t>
            </a:r>
          </a:p>
        </p:txBody>
      </p:sp>
      <p:sp>
        <p:nvSpPr>
          <p:cNvPr id="5" name="Google Shape;224;p19">
            <a:extLst>
              <a:ext uri="{FF2B5EF4-FFF2-40B4-BE49-F238E27FC236}">
                <a16:creationId xmlns:a16="http://schemas.microsoft.com/office/drawing/2014/main" id="{87C2E4EA-F910-0413-D5A6-575012D99EF6}"/>
              </a:ext>
            </a:extLst>
          </p:cNvPr>
          <p:cNvSpPr/>
          <p:nvPr/>
        </p:nvSpPr>
        <p:spPr>
          <a:xfrm>
            <a:off x="5528008" y="1316952"/>
            <a:ext cx="6961051" cy="4481576"/>
          </a:xfrm>
          <a:custGeom>
            <a:avLst/>
            <a:gdLst/>
            <a:ahLst/>
            <a:cxnLst/>
            <a:rect l="l" t="t" r="r" b="b"/>
            <a:pathLst>
              <a:path w="6573065" h="4139798" extrusionOk="0">
                <a:moveTo>
                  <a:pt x="0" y="0"/>
                </a:moveTo>
                <a:lnTo>
                  <a:pt x="6573065" y="0"/>
                </a:lnTo>
                <a:lnTo>
                  <a:pt x="6573065" y="4139798"/>
                </a:lnTo>
                <a:lnTo>
                  <a:pt x="0" y="41397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55" r="-56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4194408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1012</TotalTime>
  <Words>1609</Words>
  <Application>Microsoft Office PowerPoint</Application>
  <PresentationFormat>Custom</PresentationFormat>
  <Paragraphs>241</Paragraphs>
  <Slides>43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8" baseType="lpstr">
      <vt:lpstr>Open Sans Bold</vt:lpstr>
      <vt:lpstr>Century Gothic</vt:lpstr>
      <vt:lpstr>Open Sans Italics</vt:lpstr>
      <vt:lpstr>Anantason SemiExpanded Italics</vt:lpstr>
      <vt:lpstr>Anantason SemiExpanded Bold</vt:lpstr>
      <vt:lpstr>Prachason Neue SemiExpanded Italics</vt:lpstr>
      <vt:lpstr>Arimo</vt:lpstr>
      <vt:lpstr>Arial</vt:lpstr>
      <vt:lpstr>Archivo Black</vt:lpstr>
      <vt:lpstr>Prachason Neue SemiExpanded Bold</vt:lpstr>
      <vt:lpstr>Aritmo</vt:lpstr>
      <vt:lpstr>Wingdings</vt:lpstr>
      <vt:lpstr>Calibri</vt:lpstr>
      <vt:lpstr>Prachason Neue SemiExpanded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RMC2</cp:lastModifiedBy>
  <cp:revision>77</cp:revision>
  <dcterms:created xsi:type="dcterms:W3CDTF">2006-08-16T00:00:00Z</dcterms:created>
  <dcterms:modified xsi:type="dcterms:W3CDTF">2026-01-31T02:05:34Z</dcterms:modified>
</cp:coreProperties>
</file>