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3"/>
  </p:notesMasterIdLst>
  <p:sldIdLst>
    <p:sldId id="377" r:id="rId2"/>
    <p:sldId id="257" r:id="rId3"/>
    <p:sldId id="378" r:id="rId4"/>
    <p:sldId id="379" r:id="rId5"/>
    <p:sldId id="380" r:id="rId6"/>
    <p:sldId id="381" r:id="rId7"/>
    <p:sldId id="382" r:id="rId8"/>
    <p:sldId id="383" r:id="rId9"/>
    <p:sldId id="264" r:id="rId10"/>
    <p:sldId id="265" r:id="rId11"/>
    <p:sldId id="384" r:id="rId12"/>
    <p:sldId id="385" r:id="rId13"/>
    <p:sldId id="268" r:id="rId14"/>
    <p:sldId id="256" r:id="rId15"/>
    <p:sldId id="368" r:id="rId16"/>
    <p:sldId id="349" r:id="rId17"/>
    <p:sldId id="258" r:id="rId18"/>
    <p:sldId id="259" r:id="rId19"/>
    <p:sldId id="260" r:id="rId20"/>
    <p:sldId id="354" r:id="rId21"/>
    <p:sldId id="360" r:id="rId22"/>
    <p:sldId id="361" r:id="rId23"/>
    <p:sldId id="363" r:id="rId24"/>
    <p:sldId id="364" r:id="rId25"/>
    <p:sldId id="365" r:id="rId26"/>
    <p:sldId id="387" r:id="rId27"/>
    <p:sldId id="261" r:id="rId28"/>
    <p:sldId id="386" r:id="rId29"/>
    <p:sldId id="359" r:id="rId30"/>
    <p:sldId id="266" r:id="rId31"/>
    <p:sldId id="366" r:id="rId32"/>
    <p:sldId id="269" r:id="rId33"/>
    <p:sldId id="344" r:id="rId34"/>
    <p:sldId id="345" r:id="rId35"/>
    <p:sldId id="362" r:id="rId36"/>
    <p:sldId id="369" r:id="rId37"/>
    <p:sldId id="346" r:id="rId38"/>
    <p:sldId id="347" r:id="rId39"/>
    <p:sldId id="348" r:id="rId40"/>
    <p:sldId id="376" r:id="rId41"/>
    <p:sldId id="270" r:id="rId42"/>
  </p:sldIdLst>
  <p:sldSz cx="18288000" cy="10287000"/>
  <p:notesSz cx="10020300" cy="6888163"/>
  <p:embeddedFontLst>
    <p:embeddedFont>
      <p:font typeface="Aharoni" panose="02010803020104030203" pitchFamily="2" charset="-79"/>
      <p:bold r:id="rId44"/>
    </p:embeddedFont>
    <p:embeddedFont>
      <p:font typeface="Anantason SemiExpanded Bold" panose="020B0604020202020204" charset="0"/>
      <p:regular r:id="rId45"/>
    </p:embeddedFont>
    <p:embeddedFont>
      <p:font typeface="Anantason SemiExpanded Italics" panose="020B0604020202020204" charset="0"/>
      <p:regular r:id="rId46"/>
    </p:embeddedFont>
    <p:embeddedFont>
      <p:font typeface="Arial MT" panose="020B0604020202020204" charset="0"/>
      <p:bold r:id="rId47"/>
      <p:italic r:id="rId48"/>
      <p:boldItalic r:id="rId49"/>
    </p:embeddedFont>
    <p:embeddedFont>
      <p:font typeface="Calibri" panose="020F0502020204030204" pitchFamily="34" charset="0"/>
      <p:regular r:id="rId50"/>
      <p:bold r:id="rId51"/>
      <p:italic r:id="rId52"/>
      <p:boldItalic r:id="rId53"/>
    </p:embeddedFont>
    <p:embeddedFont>
      <p:font typeface="Open Sans Bold" panose="020B0604020202020204" charset="0"/>
      <p:regular r:id="rId54"/>
      <p:bold r:id="rId55"/>
    </p:embeddedFont>
    <p:embeddedFont>
      <p:font typeface="Open Sans Italics" panose="020B0604020202020204" charset="0"/>
      <p:regular r:id="rId56"/>
    </p:embeddedFont>
    <p:embeddedFont>
      <p:font typeface="Poppins" panose="00000500000000000000" pitchFamily="2" charset="0"/>
      <p:regular r:id="rId57"/>
      <p:bold r:id="rId58"/>
    </p:embeddedFont>
    <p:embeddedFont>
      <p:font typeface="Poppins Bold" panose="00000800000000000000" charset="0"/>
      <p:regular r:id="rId59"/>
    </p:embeddedFont>
    <p:embeddedFont>
      <p:font typeface="Prachason Neue SemiExpanded" panose="020B0604020202020204" charset="0"/>
      <p:regular r:id="rId60"/>
    </p:embeddedFont>
    <p:embeddedFont>
      <p:font typeface="Prachason Neue SemiExpanded Bold" panose="020B0604020202020204" charset="0"/>
      <p:regular r:id="rId61"/>
    </p:embeddedFont>
    <p:embeddedFont>
      <p:font typeface="Prachason Neue SemiExpanded Italics" panose="020B0604020202020204" charset="0"/>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712"/>
    <a:srgbClr val="060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7485" autoAdjust="0"/>
  </p:normalViewPr>
  <p:slideViewPr>
    <p:cSldViewPr>
      <p:cViewPr varScale="1">
        <p:scale>
          <a:sx n="37" d="100"/>
          <a:sy n="37" d="100"/>
        </p:scale>
        <p:origin x="106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61"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42130" cy="345604"/>
          </a:xfrm>
          <a:prstGeom prst="rect">
            <a:avLst/>
          </a:prstGeom>
        </p:spPr>
        <p:txBody>
          <a:bodyPr vert="horz" lIns="96616" tIns="48308" rIns="96616" bIns="48308" rtlCol="0"/>
          <a:lstStyle>
            <a:lvl1pPr algn="l">
              <a:defRPr sz="1300"/>
            </a:lvl1pPr>
          </a:lstStyle>
          <a:p>
            <a:endParaRPr lang="en-US"/>
          </a:p>
        </p:txBody>
      </p:sp>
      <p:sp>
        <p:nvSpPr>
          <p:cNvPr id="3" name="Date Placeholder 2"/>
          <p:cNvSpPr>
            <a:spLocks noGrp="1"/>
          </p:cNvSpPr>
          <p:nvPr>
            <p:ph type="dt" idx="1"/>
          </p:nvPr>
        </p:nvSpPr>
        <p:spPr>
          <a:xfrm>
            <a:off x="5675851" y="1"/>
            <a:ext cx="4342130" cy="345604"/>
          </a:xfrm>
          <a:prstGeom prst="rect">
            <a:avLst/>
          </a:prstGeom>
        </p:spPr>
        <p:txBody>
          <a:bodyPr vert="horz" lIns="96616" tIns="48308" rIns="96616" bIns="48308" rtlCol="0"/>
          <a:lstStyle>
            <a:lvl1pPr algn="r">
              <a:defRPr sz="1300"/>
            </a:lvl1pPr>
          </a:lstStyle>
          <a:p>
            <a:fld id="{6506B3C2-0874-41D5-98AC-93B060189915}" type="datetimeFigureOut">
              <a:rPr lang="en-US" smtClean="0"/>
              <a:t>2/5/2026</a:t>
            </a:fld>
            <a:endParaRPr lang="en-US"/>
          </a:p>
        </p:txBody>
      </p:sp>
      <p:sp>
        <p:nvSpPr>
          <p:cNvPr id="4" name="Slide Image Placeholder 3"/>
          <p:cNvSpPr>
            <a:spLocks noGrp="1" noRot="1" noChangeAspect="1"/>
          </p:cNvSpPr>
          <p:nvPr>
            <p:ph type="sldImg" idx="2"/>
          </p:nvPr>
        </p:nvSpPr>
        <p:spPr>
          <a:xfrm>
            <a:off x="2943225" y="860425"/>
            <a:ext cx="4133850" cy="2325688"/>
          </a:xfrm>
          <a:prstGeom prst="rect">
            <a:avLst/>
          </a:prstGeom>
          <a:noFill/>
          <a:ln w="12700">
            <a:solidFill>
              <a:prstClr val="black"/>
            </a:solidFill>
          </a:ln>
        </p:spPr>
        <p:txBody>
          <a:bodyPr vert="horz" lIns="96616" tIns="48308" rIns="96616" bIns="48308" rtlCol="0" anchor="ctr"/>
          <a:lstStyle/>
          <a:p>
            <a:endParaRPr lang="en-US"/>
          </a:p>
        </p:txBody>
      </p:sp>
      <p:sp>
        <p:nvSpPr>
          <p:cNvPr id="5" name="Notes Placeholder 4"/>
          <p:cNvSpPr>
            <a:spLocks noGrp="1"/>
          </p:cNvSpPr>
          <p:nvPr>
            <p:ph type="body" sz="quarter" idx="3"/>
          </p:nvPr>
        </p:nvSpPr>
        <p:spPr>
          <a:xfrm>
            <a:off x="1002030" y="3314928"/>
            <a:ext cx="8016240" cy="2712215"/>
          </a:xfrm>
          <a:prstGeom prst="rect">
            <a:avLst/>
          </a:prstGeom>
        </p:spPr>
        <p:txBody>
          <a:bodyPr vert="horz" lIns="96616" tIns="48308" rIns="96616" bIns="4830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42560"/>
            <a:ext cx="4342130" cy="345603"/>
          </a:xfrm>
          <a:prstGeom prst="rect">
            <a:avLst/>
          </a:prstGeom>
        </p:spPr>
        <p:txBody>
          <a:bodyPr vert="horz" lIns="96616" tIns="48308" rIns="96616" bIns="48308" rtlCol="0" anchor="b"/>
          <a:lstStyle>
            <a:lvl1pPr algn="l">
              <a:defRPr sz="1300"/>
            </a:lvl1pPr>
          </a:lstStyle>
          <a:p>
            <a:endParaRPr lang="en-US"/>
          </a:p>
        </p:txBody>
      </p:sp>
      <p:sp>
        <p:nvSpPr>
          <p:cNvPr id="7" name="Slide Number Placeholder 6"/>
          <p:cNvSpPr>
            <a:spLocks noGrp="1"/>
          </p:cNvSpPr>
          <p:nvPr>
            <p:ph type="sldNum" sz="quarter" idx="5"/>
          </p:nvPr>
        </p:nvSpPr>
        <p:spPr>
          <a:xfrm>
            <a:off x="5675851" y="6542560"/>
            <a:ext cx="4342130" cy="345603"/>
          </a:xfrm>
          <a:prstGeom prst="rect">
            <a:avLst/>
          </a:prstGeom>
        </p:spPr>
        <p:txBody>
          <a:bodyPr vert="horz" lIns="96616" tIns="48308" rIns="96616" bIns="48308" rtlCol="0" anchor="b"/>
          <a:lstStyle>
            <a:lvl1pPr algn="r">
              <a:defRPr sz="1300"/>
            </a:lvl1pPr>
          </a:lstStyle>
          <a:p>
            <a:fld id="{D608CC84-2E13-4564-8E0C-29A37998D442}" type="slidenum">
              <a:rPr lang="en-US" smtClean="0"/>
              <a:t>‹#›</a:t>
            </a:fld>
            <a:endParaRPr lang="en-US"/>
          </a:p>
        </p:txBody>
      </p:sp>
    </p:spTree>
    <p:extLst>
      <p:ext uri="{BB962C8B-B14F-4D97-AF65-F5344CB8AC3E}">
        <p14:creationId xmlns:p14="http://schemas.microsoft.com/office/powerpoint/2010/main" val="1457485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4214E93-671E-4CCD-9DA3-6B549C10719A}" type="slidenum">
              <a:rPr lang="en-PH" smtClean="0"/>
              <a:t>4</a:t>
            </a:fld>
            <a:endParaRPr lang="en-PH"/>
          </a:p>
        </p:txBody>
      </p:sp>
    </p:spTree>
    <p:extLst>
      <p:ext uri="{BB962C8B-B14F-4D97-AF65-F5344CB8AC3E}">
        <p14:creationId xmlns:p14="http://schemas.microsoft.com/office/powerpoint/2010/main" val="2651161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08CC84-2E13-4564-8E0C-29A37998D442}" type="slidenum">
              <a:rPr lang="en-US" smtClean="0"/>
              <a:t>31</a:t>
            </a:fld>
            <a:endParaRPr lang="en-US"/>
          </a:p>
        </p:txBody>
      </p:sp>
    </p:spTree>
    <p:extLst>
      <p:ext uri="{BB962C8B-B14F-4D97-AF65-F5344CB8AC3E}">
        <p14:creationId xmlns:p14="http://schemas.microsoft.com/office/powerpoint/2010/main" val="1455532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08CC84-2E13-4564-8E0C-29A37998D442}" type="slidenum">
              <a:rPr lang="en-US" smtClean="0"/>
              <a:t>35</a:t>
            </a:fld>
            <a:endParaRPr lang="en-US"/>
          </a:p>
        </p:txBody>
      </p:sp>
    </p:spTree>
    <p:extLst>
      <p:ext uri="{BB962C8B-B14F-4D97-AF65-F5344CB8AC3E}">
        <p14:creationId xmlns:p14="http://schemas.microsoft.com/office/powerpoint/2010/main" val="3273042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jpe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jpe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4.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20.sv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png"/><Relationship Id="rId10" Type="http://schemas.openxmlformats.org/officeDocument/2006/relationships/image" Target="../media/image37.png"/><Relationship Id="rId4" Type="http://schemas.openxmlformats.org/officeDocument/2006/relationships/image" Target="../media/image20.sv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7.png"/><Relationship Id="rId3" Type="http://schemas.openxmlformats.org/officeDocument/2006/relationships/image" Target="../media/image19.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4.png"/><Relationship Id="rId10" Type="http://schemas.openxmlformats.org/officeDocument/2006/relationships/image" Target="../media/image42.png"/><Relationship Id="rId4" Type="http://schemas.openxmlformats.org/officeDocument/2006/relationships/image" Target="../media/image20.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19.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1.jpe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20.sv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6.svg"/></Relationships>
</file>

<file path=ppt/slides/_rels/slide12.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1.png"/><Relationship Id="rId7" Type="http://schemas.openxmlformats.org/officeDocument/2006/relationships/image" Target="../media/image69.jpeg"/><Relationship Id="rId12" Type="http://schemas.openxmlformats.org/officeDocument/2006/relationships/image" Target="../media/image74.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8.jpeg"/><Relationship Id="rId11" Type="http://schemas.openxmlformats.org/officeDocument/2006/relationships/image" Target="../media/image73.jpeg"/><Relationship Id="rId5" Type="http://schemas.openxmlformats.org/officeDocument/2006/relationships/image" Target="../media/image67.jpeg"/><Relationship Id="rId10" Type="http://schemas.openxmlformats.org/officeDocument/2006/relationships/image" Target="../media/image72.jpeg"/><Relationship Id="rId4" Type="http://schemas.openxmlformats.org/officeDocument/2006/relationships/image" Target="../media/image62.svg"/><Relationship Id="rId9" Type="http://schemas.openxmlformats.org/officeDocument/2006/relationships/image" Target="../media/image71.jpeg"/></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62.svg"/></Relationships>
</file>

<file path=ppt/slides/_rels/slide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70000">
            <a:off x="-705701" y="-5150088"/>
            <a:ext cx="19699402" cy="20587176"/>
          </a:xfrm>
          <a:custGeom>
            <a:avLst/>
            <a:gdLst/>
            <a:ahLst/>
            <a:cxnLst/>
            <a:rect l="l" t="t" r="r" b="b"/>
            <a:pathLst>
              <a:path w="19699402" h="20587176">
                <a:moveTo>
                  <a:pt x="7822296" y="0"/>
                </a:moveTo>
                <a:lnTo>
                  <a:pt x="19699402" y="13906304"/>
                </a:lnTo>
                <a:lnTo>
                  <a:pt x="11877106" y="20587176"/>
                </a:lnTo>
                <a:lnTo>
                  <a:pt x="0" y="6680872"/>
                </a:lnTo>
                <a:lnTo>
                  <a:pt x="7822296" y="0"/>
                </a:lnTo>
                <a:close/>
              </a:path>
            </a:pathLst>
          </a:custGeom>
          <a:blipFill>
            <a:blip r:embed="rId2"/>
            <a:stretch>
              <a:fillRect l="-29935" t="-960" r="-29935" b="-960"/>
            </a:stretch>
          </a:blipFill>
        </p:spPr>
      </p:sp>
      <p:sp>
        <p:nvSpPr>
          <p:cNvPr id="3" name="Freeform 3"/>
          <p:cNvSpPr/>
          <p:nvPr/>
        </p:nvSpPr>
        <p:spPr>
          <a:xfrm flipH="1">
            <a:off x="10080249" y="1528865"/>
            <a:ext cx="8780085" cy="8758135"/>
          </a:xfrm>
          <a:custGeom>
            <a:avLst/>
            <a:gdLst/>
            <a:ahLst/>
            <a:cxnLst/>
            <a:rect l="l" t="t" r="r" b="b"/>
            <a:pathLst>
              <a:path w="8780085" h="8758135">
                <a:moveTo>
                  <a:pt x="8780085" y="0"/>
                </a:moveTo>
                <a:lnTo>
                  <a:pt x="0" y="0"/>
                </a:lnTo>
                <a:lnTo>
                  <a:pt x="0" y="8758135"/>
                </a:lnTo>
                <a:lnTo>
                  <a:pt x="8780085" y="8758135"/>
                </a:lnTo>
                <a:lnTo>
                  <a:pt x="8780085"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5720" y="687712"/>
            <a:ext cx="5785700" cy="1543050"/>
            <a:chOff x="0" y="0"/>
            <a:chExt cx="1523806" cy="406400"/>
          </a:xfrm>
        </p:grpSpPr>
        <p:sp>
          <p:nvSpPr>
            <p:cNvPr id="5" name="Freeform 5"/>
            <p:cNvSpPr/>
            <p:nvPr/>
          </p:nvSpPr>
          <p:spPr>
            <a:xfrm>
              <a:off x="0" y="0"/>
              <a:ext cx="1523806" cy="406400"/>
            </a:xfrm>
            <a:custGeom>
              <a:avLst/>
              <a:gdLst/>
              <a:ahLst/>
              <a:cxnLst/>
              <a:rect l="l" t="t" r="r" b="b"/>
              <a:pathLst>
                <a:path w="1523806" h="406400">
                  <a:moveTo>
                    <a:pt x="1320606" y="0"/>
                  </a:moveTo>
                  <a:cubicBezTo>
                    <a:pt x="1432830" y="0"/>
                    <a:pt x="1523806" y="90976"/>
                    <a:pt x="1523806" y="203200"/>
                  </a:cubicBezTo>
                  <a:cubicBezTo>
                    <a:pt x="1523806" y="315424"/>
                    <a:pt x="1432830" y="406400"/>
                    <a:pt x="1320606" y="406400"/>
                  </a:cubicBezTo>
                  <a:lnTo>
                    <a:pt x="203200" y="406400"/>
                  </a:lnTo>
                  <a:cubicBezTo>
                    <a:pt x="90976" y="406400"/>
                    <a:pt x="0" y="315424"/>
                    <a:pt x="0" y="203200"/>
                  </a:cubicBezTo>
                  <a:cubicBezTo>
                    <a:pt x="0" y="90976"/>
                    <a:pt x="90976" y="0"/>
                    <a:pt x="203200" y="0"/>
                  </a:cubicBezTo>
                  <a:close/>
                </a:path>
              </a:pathLst>
            </a:custGeom>
            <a:solidFill>
              <a:srgbClr val="021048"/>
            </a:solidFill>
          </p:spPr>
        </p:sp>
        <p:sp>
          <p:nvSpPr>
            <p:cNvPr id="6" name="TextBox 6"/>
            <p:cNvSpPr txBox="1"/>
            <p:nvPr/>
          </p:nvSpPr>
          <p:spPr>
            <a:xfrm>
              <a:off x="0" y="-38100"/>
              <a:ext cx="1523806"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080249" y="1748133"/>
            <a:ext cx="7160426" cy="716042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048"/>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481770" y="2072322"/>
            <a:ext cx="6434715" cy="643471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02" t="-2072" r="-7704" b="-14834"/>
              </a:stretch>
            </a:blipFill>
          </p:spPr>
        </p:sp>
      </p:grpSp>
      <p:grpSp>
        <p:nvGrpSpPr>
          <p:cNvPr id="12" name="Group 12"/>
          <p:cNvGrpSpPr/>
          <p:nvPr/>
        </p:nvGrpSpPr>
        <p:grpSpPr>
          <a:xfrm>
            <a:off x="1750071" y="7404805"/>
            <a:ext cx="6059818" cy="1102232"/>
            <a:chOff x="0" y="0"/>
            <a:chExt cx="8079757" cy="1469643"/>
          </a:xfrm>
        </p:grpSpPr>
        <p:grpSp>
          <p:nvGrpSpPr>
            <p:cNvPr id="13" name="Group 13"/>
            <p:cNvGrpSpPr/>
            <p:nvPr/>
          </p:nvGrpSpPr>
          <p:grpSpPr>
            <a:xfrm>
              <a:off x="0" y="0"/>
              <a:ext cx="8079757" cy="1469643"/>
              <a:chOff x="0" y="0"/>
              <a:chExt cx="2234293" cy="406400"/>
            </a:xfrm>
          </p:grpSpPr>
          <p:sp>
            <p:nvSpPr>
              <p:cNvPr id="14" name="Freeform 14"/>
              <p:cNvSpPr/>
              <p:nvPr/>
            </p:nvSpPr>
            <p:spPr>
              <a:xfrm>
                <a:off x="0" y="0"/>
                <a:ext cx="2234293" cy="406400"/>
              </a:xfrm>
              <a:custGeom>
                <a:avLst/>
                <a:gdLst/>
                <a:ahLst/>
                <a:cxnLst/>
                <a:rect l="l" t="t" r="r" b="b"/>
                <a:pathLst>
                  <a:path w="2234293" h="406400">
                    <a:moveTo>
                      <a:pt x="2031093" y="0"/>
                    </a:moveTo>
                    <a:cubicBezTo>
                      <a:pt x="2143317" y="0"/>
                      <a:pt x="2234293" y="90976"/>
                      <a:pt x="2234293" y="203200"/>
                    </a:cubicBezTo>
                    <a:cubicBezTo>
                      <a:pt x="2234293" y="315424"/>
                      <a:pt x="2143317" y="406400"/>
                      <a:pt x="2031093"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10F48"/>
                </a:solidFill>
                <a:prstDash val="solid"/>
                <a:miter/>
              </a:ln>
            </p:spPr>
          </p:sp>
          <p:sp>
            <p:nvSpPr>
              <p:cNvPr id="15" name="TextBox 15"/>
              <p:cNvSpPr txBox="1"/>
              <p:nvPr/>
            </p:nvSpPr>
            <p:spPr>
              <a:xfrm>
                <a:off x="0" y="-38100"/>
                <a:ext cx="2234293"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71315" y="156683"/>
              <a:ext cx="7737127" cy="1156277"/>
              <a:chOff x="0" y="0"/>
              <a:chExt cx="2719391" cy="406400"/>
            </a:xfrm>
          </p:grpSpPr>
          <p:sp>
            <p:nvSpPr>
              <p:cNvPr id="17" name="Freeform 17"/>
              <p:cNvSpPr/>
              <p:nvPr/>
            </p:nvSpPr>
            <p:spPr>
              <a:xfrm>
                <a:off x="0" y="0"/>
                <a:ext cx="2719391" cy="406400"/>
              </a:xfrm>
              <a:custGeom>
                <a:avLst/>
                <a:gdLst/>
                <a:ahLst/>
                <a:cxnLst/>
                <a:rect l="l" t="t" r="r" b="b"/>
                <a:pathLst>
                  <a:path w="2719391" h="406400">
                    <a:moveTo>
                      <a:pt x="2516191" y="0"/>
                    </a:moveTo>
                    <a:cubicBezTo>
                      <a:pt x="2628415" y="0"/>
                      <a:pt x="2719391" y="90976"/>
                      <a:pt x="2719391" y="203200"/>
                    </a:cubicBezTo>
                    <a:cubicBezTo>
                      <a:pt x="2719391" y="315424"/>
                      <a:pt x="2628415" y="406400"/>
                      <a:pt x="2516191" y="406400"/>
                    </a:cubicBezTo>
                    <a:lnTo>
                      <a:pt x="203200" y="406400"/>
                    </a:lnTo>
                    <a:cubicBezTo>
                      <a:pt x="90976" y="406400"/>
                      <a:pt x="0" y="315424"/>
                      <a:pt x="0" y="203200"/>
                    </a:cubicBezTo>
                    <a:cubicBezTo>
                      <a:pt x="0" y="90976"/>
                      <a:pt x="90976" y="0"/>
                      <a:pt x="203200" y="0"/>
                    </a:cubicBezTo>
                    <a:close/>
                  </a:path>
                </a:pathLst>
              </a:custGeom>
              <a:solidFill>
                <a:srgbClr val="010F48"/>
              </a:solidFill>
            </p:spPr>
          </p:sp>
          <p:sp>
            <p:nvSpPr>
              <p:cNvPr id="18" name="TextBox 18"/>
              <p:cNvSpPr txBox="1"/>
              <p:nvPr/>
            </p:nvSpPr>
            <p:spPr>
              <a:xfrm>
                <a:off x="0" y="-38100"/>
                <a:ext cx="2719391" cy="444500"/>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375800" y="272124"/>
              <a:ext cx="925395" cy="925395"/>
            </a:xfrm>
            <a:custGeom>
              <a:avLst/>
              <a:gdLst/>
              <a:ahLst/>
              <a:cxnLst/>
              <a:rect l="l" t="t" r="r" b="b"/>
              <a:pathLst>
                <a:path w="925395" h="925395">
                  <a:moveTo>
                    <a:pt x="0" y="0"/>
                  </a:moveTo>
                  <a:lnTo>
                    <a:pt x="925395" y="0"/>
                  </a:lnTo>
                  <a:lnTo>
                    <a:pt x="925395" y="925395"/>
                  </a:lnTo>
                  <a:lnTo>
                    <a:pt x="0" y="9253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1510073" y="372871"/>
              <a:ext cx="6398369" cy="590550"/>
            </a:xfrm>
            <a:prstGeom prst="rect">
              <a:avLst/>
            </a:prstGeom>
          </p:spPr>
          <p:txBody>
            <a:bodyPr lIns="0" tIns="0" rIns="0" bIns="0" rtlCol="0" anchor="t">
              <a:spAutoFit/>
            </a:bodyPr>
            <a:lstStyle/>
            <a:p>
              <a:pPr algn="l">
                <a:lnSpc>
                  <a:spcPts val="2760"/>
                </a:lnSpc>
              </a:pPr>
              <a:r>
                <a:rPr lang="en-US" sz="2300" spc="-23">
                  <a:solidFill>
                    <a:srgbClr val="FFFFFF"/>
                  </a:solidFill>
                  <a:latin typeface="Prachason Neue SemiExpanded"/>
                  <a:ea typeface="Prachason Neue SemiExpanded"/>
                  <a:cs typeface="Prachason Neue SemiExpanded"/>
                  <a:sym typeface="Prachason Neue SemiExpanded"/>
                </a:rPr>
                <a:t>www.rmc2consultancycorp.com</a:t>
              </a:r>
            </a:p>
          </p:txBody>
        </p:sp>
      </p:grpSp>
      <p:sp>
        <p:nvSpPr>
          <p:cNvPr id="21" name="TextBox 21"/>
          <p:cNvSpPr txBox="1"/>
          <p:nvPr/>
        </p:nvSpPr>
        <p:spPr>
          <a:xfrm>
            <a:off x="417130" y="2978133"/>
            <a:ext cx="9051549" cy="1957803"/>
          </a:xfrm>
          <a:prstGeom prst="rect">
            <a:avLst/>
          </a:prstGeom>
        </p:spPr>
        <p:txBody>
          <a:bodyPr lIns="0" tIns="0" rIns="0" bIns="0" rtlCol="0" anchor="t">
            <a:spAutoFit/>
          </a:bodyPr>
          <a:lstStyle/>
          <a:p>
            <a:pPr algn="ctr">
              <a:lnSpc>
                <a:spcPts val="15989"/>
              </a:lnSpc>
              <a:spcBef>
                <a:spcPct val="0"/>
              </a:spcBef>
            </a:pPr>
            <a:r>
              <a:rPr lang="en-US" sz="11421" b="1" dirty="0">
                <a:solidFill>
                  <a:srgbClr val="010F48"/>
                </a:solidFill>
                <a:latin typeface="Anantason SemiExpanded Bold"/>
                <a:ea typeface="Anantason SemiExpanded Bold"/>
                <a:cs typeface="Anantason SemiExpanded Bold"/>
                <a:sym typeface="Anantason SemiExpanded Bold"/>
              </a:rPr>
              <a:t>RMC2</a:t>
            </a:r>
          </a:p>
        </p:txBody>
      </p:sp>
      <p:sp>
        <p:nvSpPr>
          <p:cNvPr id="22" name="TextBox 22"/>
          <p:cNvSpPr txBox="1"/>
          <p:nvPr/>
        </p:nvSpPr>
        <p:spPr>
          <a:xfrm>
            <a:off x="281647" y="4489893"/>
            <a:ext cx="9520840" cy="1111244"/>
          </a:xfrm>
          <a:prstGeom prst="rect">
            <a:avLst/>
          </a:prstGeom>
        </p:spPr>
        <p:txBody>
          <a:bodyPr lIns="0" tIns="0" rIns="0" bIns="0" rtlCol="0" anchor="t">
            <a:spAutoFit/>
          </a:bodyPr>
          <a:lstStyle/>
          <a:p>
            <a:pPr algn="l">
              <a:lnSpc>
                <a:spcPts val="9100"/>
              </a:lnSpc>
              <a:spcBef>
                <a:spcPct val="0"/>
              </a:spcBef>
            </a:pPr>
            <a:r>
              <a:rPr lang="en-US" sz="6500" b="1">
                <a:solidFill>
                  <a:srgbClr val="FF7E30"/>
                </a:solidFill>
                <a:latin typeface="Anantason SemiExpanded Bold"/>
                <a:ea typeface="Anantason SemiExpanded Bold"/>
                <a:cs typeface="Anantason SemiExpanded Bold"/>
                <a:sym typeface="Anantason SemiExpanded Bold"/>
              </a:rPr>
              <a:t>CONSULTANCY CORP</a:t>
            </a:r>
          </a:p>
        </p:txBody>
      </p:sp>
      <p:sp>
        <p:nvSpPr>
          <p:cNvPr id="23" name="TextBox 23"/>
          <p:cNvSpPr txBox="1"/>
          <p:nvPr/>
        </p:nvSpPr>
        <p:spPr>
          <a:xfrm>
            <a:off x="909001" y="5784108"/>
            <a:ext cx="8067807" cy="752475"/>
          </a:xfrm>
          <a:prstGeom prst="rect">
            <a:avLst/>
          </a:prstGeom>
        </p:spPr>
        <p:txBody>
          <a:bodyPr lIns="0" tIns="0" rIns="0" bIns="0" rtlCol="0" anchor="t">
            <a:spAutoFit/>
          </a:bodyPr>
          <a:lstStyle/>
          <a:p>
            <a:pPr algn="just">
              <a:lnSpc>
                <a:spcPts val="2515"/>
              </a:lnSpc>
            </a:pPr>
            <a:r>
              <a:rPr lang="en-US" sz="2096" i="1" spc="-20">
                <a:solidFill>
                  <a:srgbClr val="010F48"/>
                </a:solidFill>
                <a:latin typeface="Prachason Neue SemiExpanded Italics"/>
                <a:ea typeface="Prachason Neue SemiExpanded Italics"/>
                <a:cs typeface="Prachason Neue SemiExpanded Italics"/>
                <a:sym typeface="Prachason Neue SemiExpanded Italics"/>
              </a:rPr>
              <a:t>Your trusted partner in Health, Life and Non-Life Coverage</a:t>
            </a:r>
          </a:p>
          <a:p>
            <a:pPr algn="just">
              <a:lnSpc>
                <a:spcPts val="2515"/>
              </a:lnSpc>
            </a:pPr>
            <a:endParaRPr lang="en-US" sz="2096" i="1" spc="-20">
              <a:solidFill>
                <a:srgbClr val="010F48"/>
              </a:solidFill>
              <a:latin typeface="Prachason Neue SemiExpanded Italics"/>
              <a:ea typeface="Prachason Neue SemiExpanded Italics"/>
              <a:cs typeface="Prachason Neue SemiExpanded Italics"/>
              <a:sym typeface="Prachason Neue SemiExpanded Italics"/>
            </a:endParaRPr>
          </a:p>
        </p:txBody>
      </p:sp>
      <p:sp>
        <p:nvSpPr>
          <p:cNvPr id="24" name="TextBox 24"/>
          <p:cNvSpPr txBox="1"/>
          <p:nvPr/>
        </p:nvSpPr>
        <p:spPr>
          <a:xfrm>
            <a:off x="118218" y="1082658"/>
            <a:ext cx="4311974" cy="619125"/>
          </a:xfrm>
          <a:prstGeom prst="rect">
            <a:avLst/>
          </a:prstGeom>
        </p:spPr>
        <p:txBody>
          <a:bodyPr lIns="0" tIns="0" rIns="0" bIns="0" rtlCol="0" anchor="t">
            <a:spAutoFit/>
          </a:bodyPr>
          <a:lstStyle/>
          <a:p>
            <a:pPr algn="ctr">
              <a:lnSpc>
                <a:spcPts val="3599"/>
              </a:lnSpc>
            </a:pPr>
            <a:r>
              <a:rPr lang="en-US" sz="2999" b="1" spc="-29">
                <a:solidFill>
                  <a:srgbClr val="FFFFFF"/>
                </a:solidFill>
                <a:latin typeface="Prachason Neue SemiExpanded Bold"/>
                <a:ea typeface="Prachason Neue SemiExpanded Bold"/>
                <a:cs typeface="Prachason Neue SemiExpanded Bold"/>
                <a:sym typeface="Prachason Neue SemiExpanded Bold"/>
              </a:rPr>
              <a:t>COMPANY PROFILE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0" y="0"/>
            <a:ext cx="7029213" cy="7118190"/>
          </a:xfrm>
          <a:custGeom>
            <a:avLst/>
            <a:gdLst/>
            <a:ahLst/>
            <a:cxnLst/>
            <a:rect l="l" t="t" r="r" b="b"/>
            <a:pathLst>
              <a:path w="7029213" h="7118190">
                <a:moveTo>
                  <a:pt x="0" y="7118190"/>
                </a:moveTo>
                <a:lnTo>
                  <a:pt x="7029213" y="7118190"/>
                </a:lnTo>
                <a:lnTo>
                  <a:pt x="7029213" y="0"/>
                </a:lnTo>
                <a:lnTo>
                  <a:pt x="0" y="0"/>
                </a:lnTo>
                <a:lnTo>
                  <a:pt x="0" y="711819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t="-6149" b="-22421"/>
              </a:stretch>
            </a:blipFill>
          </p:spPr>
        </p:sp>
      </p:grpSp>
      <p:sp>
        <p:nvSpPr>
          <p:cNvPr id="9" name="TextBox 9"/>
          <p:cNvSpPr txBox="1"/>
          <p:nvPr/>
        </p:nvSpPr>
        <p:spPr>
          <a:xfrm>
            <a:off x="9144000" y="251732"/>
            <a:ext cx="845748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WHO </a:t>
            </a:r>
            <a:r>
              <a:rPr lang="en-US" sz="8196" b="1">
                <a:solidFill>
                  <a:srgbClr val="FF7E2F"/>
                </a:solidFill>
                <a:latin typeface="Anantason SemiExpanded Bold"/>
                <a:ea typeface="Anantason SemiExpanded Bold"/>
                <a:cs typeface="Anantason SemiExpanded Bold"/>
                <a:sym typeface="Anantason SemiExpanded Bold"/>
              </a:rPr>
              <a:t>WE ARE</a:t>
            </a:r>
          </a:p>
        </p:txBody>
      </p:sp>
      <p:sp>
        <p:nvSpPr>
          <p:cNvPr id="12" name="TextBox 12"/>
          <p:cNvSpPr txBox="1"/>
          <p:nvPr/>
        </p:nvSpPr>
        <p:spPr>
          <a:xfrm>
            <a:off x="9214513" y="1832291"/>
            <a:ext cx="8255581" cy="7310399"/>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RMC2 Consultancy Corp</a:t>
            </a:r>
            <a:r>
              <a:rPr lang="en-US" sz="2000" spc="-20" dirty="0">
                <a:solidFill>
                  <a:srgbClr val="000000"/>
                </a:solidFill>
                <a:latin typeface="Prachason Neue SemiExpanded"/>
                <a:ea typeface="Prachason Neue SemiExpanded"/>
                <a:cs typeface="Prachason Neue SemiExpanded"/>
                <a:sym typeface="Prachason Neue SemiExpanded"/>
              </a:rPr>
              <a:t>, we believe that health and financial security should be accessible to everyone. Founded by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Rosemarie Fernandez</a:t>
            </a:r>
            <a:r>
              <a:rPr lang="en-US" sz="2000" b="1" spc="-20" dirty="0">
                <a:solidFill>
                  <a:srgbClr val="000000"/>
                </a:solidFill>
                <a:latin typeface="Prachason Neue SemiExpanded Bold"/>
                <a:ea typeface="Prachason Neue SemiExpanded Bold"/>
                <a:cs typeface="Prachason Neue SemiExpanded Bold"/>
                <a:sym typeface="Prachason Neue SemiExpanded Bold"/>
              </a:rPr>
              <a:t>,</a:t>
            </a:r>
            <a:r>
              <a:rPr lang="en-US" sz="2000" spc="-20" dirty="0">
                <a:solidFill>
                  <a:srgbClr val="000000"/>
                </a:solidFill>
                <a:latin typeface="Prachason Neue SemiExpanded"/>
                <a:ea typeface="Prachason Neue SemiExpanded"/>
                <a:cs typeface="Prachason Neue SemiExpanded"/>
                <a:sym typeface="Prachason Neue SemiExpanded"/>
              </a:rPr>
              <a:t> who has been in the insurance industry for over 23 years, RMC2 was established with a passion for making a difference. Rosemarie has been exposed to the various needs of the market and decided to create a bridge for Filipinos who are overwhelmed by the process of insurance, making it more accessible and understandable.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specialize in providing affordable, convenient, and reliable HMO, Life, and Non-Life Insurance solutions tailored to meet diverse needs.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Our mission is simple: to bridge the gap between people and quality healthcare by offering plans that prioritize accessibility and peace of mind. We understand that navigating insurance options can be overwhelming — that's why we take pride in guiding our clients every step of the way, ensuring clarity, compassion, and personalized service.</a:t>
            </a: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With a commitment to building lasting relationships, RMC2 Consultancy Corp stands as a trusted partner in safeguarding the well-being and future of individuals, families, and businesses alike.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Let us help you protect what matters most.</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8762144" y="4059472"/>
            <a:ext cx="9525856" cy="6227528"/>
          </a:xfrm>
          <a:custGeom>
            <a:avLst/>
            <a:gdLst/>
            <a:ahLst/>
            <a:cxnLst/>
            <a:rect l="l" t="t" r="r" b="b"/>
            <a:pathLst>
              <a:path w="9525856" h="6227528">
                <a:moveTo>
                  <a:pt x="9525856" y="0"/>
                </a:moveTo>
                <a:lnTo>
                  <a:pt x="0" y="0"/>
                </a:lnTo>
                <a:lnTo>
                  <a:pt x="0" y="6227528"/>
                </a:lnTo>
                <a:lnTo>
                  <a:pt x="9525856" y="6227528"/>
                </a:lnTo>
                <a:lnTo>
                  <a:pt x="9525856"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352105"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676294"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7752" t="-3510" r="-8190" b="-12432"/>
              </a:stretch>
            </a:blipFill>
          </p:spPr>
        </p:sp>
      </p:grpSp>
      <p:sp>
        <p:nvSpPr>
          <p:cNvPr id="9" name="TextBox 9"/>
          <p:cNvSpPr txBox="1"/>
          <p:nvPr/>
        </p:nvSpPr>
        <p:spPr>
          <a:xfrm>
            <a:off x="1028700" y="1295355"/>
            <a:ext cx="626809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ABOUT </a:t>
            </a:r>
            <a:r>
              <a:rPr lang="en-US" sz="8196" b="1">
                <a:solidFill>
                  <a:srgbClr val="FF7E2F"/>
                </a:solidFill>
                <a:latin typeface="Anantason SemiExpanded Bold"/>
                <a:ea typeface="Anantason SemiExpanded Bold"/>
                <a:cs typeface="Anantason SemiExpanded Bold"/>
                <a:sym typeface="Anantason SemiExpanded Bold"/>
              </a:rPr>
              <a:t>US</a:t>
            </a:r>
          </a:p>
        </p:txBody>
      </p:sp>
      <p:sp>
        <p:nvSpPr>
          <p:cNvPr id="13" name="TextBox 13"/>
          <p:cNvSpPr txBox="1"/>
          <p:nvPr/>
        </p:nvSpPr>
        <p:spPr>
          <a:xfrm>
            <a:off x="1416942" y="2857500"/>
            <a:ext cx="7209868" cy="6976975"/>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RMC2, we are dedicated to redefining the insurance experience. We specialize in providing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HMO, Life, and Non-Life Insurance solution</a:t>
            </a:r>
            <a:r>
              <a:rPr lang="en-US" sz="2000" b="1" spc="-20" dirty="0">
                <a:solidFill>
                  <a:srgbClr val="000000"/>
                </a:solidFill>
                <a:latin typeface="Prachason Neue SemiExpanded Bold"/>
                <a:ea typeface="Prachason Neue SemiExpanded Bold"/>
                <a:cs typeface="Prachason Neue SemiExpanded Bold"/>
                <a:sym typeface="Prachason Neue SemiExpanded Bold"/>
              </a:rPr>
              <a:t>s</a:t>
            </a:r>
            <a:r>
              <a:rPr lang="en-US" sz="2000" spc="-20" dirty="0">
                <a:solidFill>
                  <a:srgbClr val="000000"/>
                </a:solidFill>
                <a:latin typeface="Prachason Neue SemiExpanded"/>
                <a:ea typeface="Prachason Neue SemiExpanded"/>
                <a:cs typeface="Prachason Neue SemiExpanded"/>
                <a:sym typeface="Prachason Neue SemiExpanded"/>
              </a:rPr>
              <a:t> that put people first, ensuring that protection isn’t just a privilege but a right for all. Our approach is built on three core principles: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Affordability, Accessibility, and Convenience.</a:t>
            </a:r>
          </a:p>
          <a:p>
            <a:pPr algn="just">
              <a:lnSpc>
                <a:spcPts val="2600"/>
              </a:lnSpc>
            </a:pPr>
            <a:endParaRPr lang="en-US" sz="2000" b="1" spc="-20" dirty="0">
              <a:solidFill>
                <a:srgbClr val="000000"/>
              </a:solidFill>
              <a:latin typeface="Prachason Neue SemiExpanded Bold"/>
              <a:ea typeface="Prachason Neue SemiExpanded Bold"/>
              <a:cs typeface="Prachason Neue SemiExpanded Bold"/>
              <a:sym typeface="Prachason Neue SemiExpanded Bol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understand that navigating insurance can feel overwhelming, so we’ve made it our mission to simplify the process. From personalized plans to hassle-free assistance, we’re here every step of the way, helping individuals, families, and businesses secure their future with peace of mind.</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At the heart of RMC2 is a commitment to building lasting relationships. Whether it’s ensuring quick access to healthcare or offering life protection tailored to your needs, we’re more than just an insurance provider.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are your trusted partner in safeguarding what matters most which is protecting lives and empowering futures.</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sp>
      <p:sp>
        <p:nvSpPr>
          <p:cNvPr id="3" name="Freeform 3"/>
          <p:cNvSpPr/>
          <p:nvPr/>
        </p:nvSpPr>
        <p:spPr>
          <a:xfrm flipV="1">
            <a:off x="4902240" y="508080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5196760" y="5581296"/>
            <a:ext cx="2050052" cy="20500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5289577" y="5674112"/>
            <a:ext cx="1864419" cy="18644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t="-1085" b="-1085"/>
              </a:stretch>
            </a:blipFill>
          </p:spPr>
        </p:sp>
      </p:grpSp>
      <p:sp>
        <p:nvSpPr>
          <p:cNvPr id="9" name="Freeform 9"/>
          <p:cNvSpPr/>
          <p:nvPr/>
        </p:nvSpPr>
        <p:spPr>
          <a:xfrm flipV="1">
            <a:off x="9344164" y="507293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9638684" y="5573426"/>
            <a:ext cx="2050052" cy="205005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731500" y="5666242"/>
            <a:ext cx="1864419" cy="186441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5429" t="-26048" r="-11379" b="-29697"/>
              </a:stretch>
            </a:blipFill>
          </p:spPr>
        </p:sp>
      </p:grpSp>
      <p:grpSp>
        <p:nvGrpSpPr>
          <p:cNvPr id="15" name="Group 15"/>
          <p:cNvGrpSpPr/>
          <p:nvPr/>
        </p:nvGrpSpPr>
        <p:grpSpPr>
          <a:xfrm>
            <a:off x="472209" y="4991084"/>
            <a:ext cx="2846198" cy="4038616"/>
            <a:chOff x="0" y="0"/>
            <a:chExt cx="3794931" cy="5384821"/>
          </a:xfrm>
        </p:grpSpPr>
        <p:sp>
          <p:nvSpPr>
            <p:cNvPr id="16" name="Freeform 16"/>
            <p:cNvSpPr/>
            <p:nvPr/>
          </p:nvSpPr>
          <p:spPr>
            <a:xfrm flipV="1">
              <a:off x="138071"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7" name="Group 17"/>
            <p:cNvGrpSpPr/>
            <p:nvPr/>
          </p:nvGrpSpPr>
          <p:grpSpPr>
            <a:xfrm>
              <a:off x="530764" y="667328"/>
              <a:ext cx="2733403" cy="273340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654519" y="791083"/>
              <a:ext cx="2485892" cy="248589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b="-56000"/>
                </a:stretch>
              </a:blipFill>
            </p:spPr>
          </p:sp>
        </p:grpSp>
        <p:sp>
          <p:nvSpPr>
            <p:cNvPr id="22" name="TextBox 22"/>
            <p:cNvSpPr txBox="1"/>
            <p:nvPr/>
          </p:nvSpPr>
          <p:spPr>
            <a:xfrm>
              <a:off x="0" y="4859874"/>
              <a:ext cx="3794931" cy="524947"/>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23" name="TextBox 23"/>
            <p:cNvSpPr txBox="1"/>
            <p:nvPr/>
          </p:nvSpPr>
          <p:spPr>
            <a:xfrm>
              <a:off x="5400" y="3666931"/>
              <a:ext cx="3784130"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MICHELLE GUINTO</a:t>
              </a:r>
            </a:p>
          </p:txBody>
        </p:sp>
      </p:grpSp>
      <p:grpSp>
        <p:nvGrpSpPr>
          <p:cNvPr id="24" name="Group 24"/>
          <p:cNvGrpSpPr/>
          <p:nvPr/>
        </p:nvGrpSpPr>
        <p:grpSpPr>
          <a:xfrm>
            <a:off x="13497968" y="5067300"/>
            <a:ext cx="4275682" cy="3898909"/>
            <a:chOff x="0" y="0"/>
            <a:chExt cx="5700909" cy="5198546"/>
          </a:xfrm>
        </p:grpSpPr>
        <p:sp>
          <p:nvSpPr>
            <p:cNvPr id="25" name="Freeform 25"/>
            <p:cNvSpPr/>
            <p:nvPr/>
          </p:nvSpPr>
          <p:spPr>
            <a:xfrm flipV="1">
              <a:off x="949868"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6" name="Group 26"/>
            <p:cNvGrpSpPr/>
            <p:nvPr/>
          </p:nvGrpSpPr>
          <p:grpSpPr>
            <a:xfrm>
              <a:off x="1342561" y="667328"/>
              <a:ext cx="2733403" cy="273340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sp>
          <p:nvSpPr>
            <p:cNvPr id="29" name="TextBox 29"/>
            <p:cNvSpPr txBox="1"/>
            <p:nvPr/>
          </p:nvSpPr>
          <p:spPr>
            <a:xfrm>
              <a:off x="952989" y="4673601"/>
              <a:ext cx="3794930" cy="52494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30" name="TextBox 30"/>
            <p:cNvSpPr txBox="1"/>
            <p:nvPr/>
          </p:nvSpPr>
          <p:spPr>
            <a:xfrm>
              <a:off x="0" y="3557803"/>
              <a:ext cx="5700909"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CHARLES MARK UYBENGKEE</a:t>
              </a:r>
            </a:p>
          </p:txBody>
        </p:sp>
        <p:grpSp>
          <p:nvGrpSpPr>
            <p:cNvPr id="31" name="Group 31"/>
            <p:cNvGrpSpPr/>
            <p:nvPr/>
          </p:nvGrpSpPr>
          <p:grpSpPr>
            <a:xfrm>
              <a:off x="1501182" y="823351"/>
              <a:ext cx="2400370" cy="240037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88723" t="-19589" r="-104326" b="-309789"/>
                </a:stretch>
              </a:blipFill>
            </p:spPr>
          </p:sp>
        </p:grpSp>
      </p:grpSp>
      <p:grpSp>
        <p:nvGrpSpPr>
          <p:cNvPr id="33" name="Group 33"/>
          <p:cNvGrpSpPr/>
          <p:nvPr/>
        </p:nvGrpSpPr>
        <p:grpSpPr>
          <a:xfrm>
            <a:off x="6024399" y="2012393"/>
            <a:ext cx="2344572" cy="2550548"/>
            <a:chOff x="0" y="0"/>
            <a:chExt cx="3126096" cy="3400730"/>
          </a:xfrm>
        </p:grpSpPr>
        <p:sp>
          <p:nvSpPr>
            <p:cNvPr id="34" name="Freeform 34"/>
            <p:cNvSpPr/>
            <p:nvPr/>
          </p:nvSpPr>
          <p:spPr>
            <a:xfrm flipV="1">
              <a:off x="0" y="0"/>
              <a:ext cx="2683314" cy="2717280"/>
            </a:xfrm>
            <a:custGeom>
              <a:avLst/>
              <a:gdLst/>
              <a:ahLst/>
              <a:cxnLst/>
              <a:rect l="l" t="t" r="r" b="b"/>
              <a:pathLst>
                <a:path w="2683314" h="2717280">
                  <a:moveTo>
                    <a:pt x="0" y="2717280"/>
                  </a:moveTo>
                  <a:lnTo>
                    <a:pt x="2683314" y="2717280"/>
                  </a:lnTo>
                  <a:lnTo>
                    <a:pt x="2683314"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5" name="Group 35"/>
            <p:cNvGrpSpPr/>
            <p:nvPr/>
          </p:nvGrpSpPr>
          <p:grpSpPr>
            <a:xfrm>
              <a:off x="392693" y="667328"/>
              <a:ext cx="2733403" cy="2733403"/>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38" name="Group 38"/>
            <p:cNvGrpSpPr/>
            <p:nvPr/>
          </p:nvGrpSpPr>
          <p:grpSpPr>
            <a:xfrm>
              <a:off x="516448" y="791083"/>
              <a:ext cx="2485892" cy="2485892"/>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grpSp>
          <p:nvGrpSpPr>
            <p:cNvPr id="40" name="Group 40"/>
            <p:cNvGrpSpPr/>
            <p:nvPr/>
          </p:nvGrpSpPr>
          <p:grpSpPr>
            <a:xfrm>
              <a:off x="516448" y="791083"/>
              <a:ext cx="2485892" cy="248589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t="-6149" b="-22421"/>
                </a:stretch>
              </a:blipFill>
            </p:spPr>
          </p:sp>
        </p:grpSp>
      </p:grpSp>
      <p:sp>
        <p:nvSpPr>
          <p:cNvPr id="42" name="TextBox 42"/>
          <p:cNvSpPr txBox="1"/>
          <p:nvPr/>
        </p:nvSpPr>
        <p:spPr>
          <a:xfrm>
            <a:off x="4398009" y="354818"/>
            <a:ext cx="9491981" cy="1143226"/>
          </a:xfrm>
          <a:prstGeom prst="rect">
            <a:avLst/>
          </a:prstGeom>
        </p:spPr>
        <p:txBody>
          <a:bodyPr lIns="0" tIns="0" rIns="0" bIns="0" rtlCol="0" anchor="t">
            <a:spAutoFit/>
          </a:bodyPr>
          <a:lstStyle/>
          <a:p>
            <a:pPr algn="ctr">
              <a:lnSpc>
                <a:spcPts val="9437"/>
              </a:lnSpc>
              <a:spcBef>
                <a:spcPct val="0"/>
              </a:spcBef>
            </a:pPr>
            <a:r>
              <a:rPr lang="en-US" sz="6741" b="1">
                <a:solidFill>
                  <a:srgbClr val="010F48"/>
                </a:solidFill>
                <a:latin typeface="Anantason SemiExpanded Bold"/>
                <a:ea typeface="Anantason SemiExpanded Bold"/>
                <a:cs typeface="Anantason SemiExpanded Bold"/>
                <a:sym typeface="Anantason SemiExpanded Bold"/>
              </a:rPr>
              <a:t>THE MANAGEMENT</a:t>
            </a:r>
          </a:p>
        </p:txBody>
      </p:sp>
      <p:sp>
        <p:nvSpPr>
          <p:cNvPr id="43" name="TextBox 43"/>
          <p:cNvSpPr txBox="1"/>
          <p:nvPr/>
        </p:nvSpPr>
        <p:spPr>
          <a:xfrm>
            <a:off x="9277292" y="3872156"/>
            <a:ext cx="2411444"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PRESIDENT &amp; CEO</a:t>
            </a:r>
          </a:p>
        </p:txBody>
      </p:sp>
      <p:sp>
        <p:nvSpPr>
          <p:cNvPr id="44" name="TextBox 44"/>
          <p:cNvSpPr txBox="1"/>
          <p:nvPr/>
        </p:nvSpPr>
        <p:spPr>
          <a:xfrm>
            <a:off x="8735756" y="2993273"/>
            <a:ext cx="3700172"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ROSEMARIE FERNANDEZ</a:t>
            </a:r>
          </a:p>
        </p:txBody>
      </p:sp>
      <p:sp>
        <p:nvSpPr>
          <p:cNvPr id="45" name="TextBox 45"/>
          <p:cNvSpPr txBox="1"/>
          <p:nvPr/>
        </p:nvSpPr>
        <p:spPr>
          <a:xfrm>
            <a:off x="4904581"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6" name="TextBox 46"/>
          <p:cNvSpPr txBox="1"/>
          <p:nvPr/>
        </p:nvSpPr>
        <p:spPr>
          <a:xfrm>
            <a:off x="5095131" y="7739627"/>
            <a:ext cx="2465098" cy="403235"/>
          </a:xfrm>
          <a:prstGeom prst="rect">
            <a:avLst/>
          </a:prstGeom>
        </p:spPr>
        <p:txBody>
          <a:bodyPr lIns="0" tIns="0" rIns="0" bIns="0" rtlCol="0" anchor="t">
            <a:spAutoFit/>
          </a:bodyPr>
          <a:lstStyle/>
          <a:p>
            <a:pPr algn="ctr">
              <a:lnSpc>
                <a:spcPts val="3406"/>
              </a:lnSpc>
              <a:spcBef>
                <a:spcPct val="0"/>
              </a:spcBef>
            </a:pPr>
            <a:r>
              <a:rPr lang="en-US" sz="2433" b="1" dirty="0">
                <a:solidFill>
                  <a:srgbClr val="010F48"/>
                </a:solidFill>
                <a:latin typeface="Open Sans Bold"/>
                <a:ea typeface="Open Sans Bold"/>
                <a:cs typeface="Open Sans Bold"/>
                <a:sym typeface="Open Sans Bold"/>
              </a:rPr>
              <a:t>CHERRY CORTEZ</a:t>
            </a:r>
          </a:p>
        </p:txBody>
      </p:sp>
      <p:sp>
        <p:nvSpPr>
          <p:cNvPr id="47" name="TextBox 47"/>
          <p:cNvSpPr txBox="1"/>
          <p:nvPr/>
        </p:nvSpPr>
        <p:spPr>
          <a:xfrm>
            <a:off x="9416045"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8" name="TextBox 48"/>
          <p:cNvSpPr txBox="1"/>
          <p:nvPr/>
        </p:nvSpPr>
        <p:spPr>
          <a:xfrm>
            <a:off x="8708546" y="7731757"/>
            <a:ext cx="4261197"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CLEMENT DOLF FERNANDEZ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11422802" y="6182872"/>
            <a:ext cx="6995650" cy="7687527"/>
          </a:xfrm>
          <a:custGeom>
            <a:avLst/>
            <a:gdLst/>
            <a:ahLst/>
            <a:cxnLst/>
            <a:rect l="l" t="t" r="r" b="b"/>
            <a:pathLst>
              <a:path w="6995650" h="7687527">
                <a:moveTo>
                  <a:pt x="6995650" y="0"/>
                </a:moveTo>
                <a:lnTo>
                  <a:pt x="0" y="0"/>
                </a:lnTo>
                <a:lnTo>
                  <a:pt x="0" y="7687527"/>
                </a:lnTo>
                <a:lnTo>
                  <a:pt x="6995650" y="7687527"/>
                </a:lnTo>
                <a:lnTo>
                  <a:pt x="699565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80249"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404438"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24" t="-2049" r="-8785" b="-15959"/>
              </a:stretch>
            </a:blipFill>
          </p:spPr>
        </p:sp>
      </p:grpSp>
      <p:sp>
        <p:nvSpPr>
          <p:cNvPr id="9" name="TextBox 9"/>
          <p:cNvSpPr txBox="1"/>
          <p:nvPr/>
        </p:nvSpPr>
        <p:spPr>
          <a:xfrm>
            <a:off x="1040026" y="1541941"/>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VISION</a:t>
            </a:r>
          </a:p>
        </p:txBody>
      </p:sp>
      <p:sp>
        <p:nvSpPr>
          <p:cNvPr id="10" name="TextBox 10"/>
          <p:cNvSpPr txBox="1"/>
          <p:nvPr/>
        </p:nvSpPr>
        <p:spPr>
          <a:xfrm>
            <a:off x="1040026" y="2575493"/>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&amp; MISSION</a:t>
            </a:r>
          </a:p>
        </p:txBody>
      </p:sp>
      <p:sp>
        <p:nvSpPr>
          <p:cNvPr id="11" name="TextBox 11"/>
          <p:cNvSpPr txBox="1"/>
          <p:nvPr/>
        </p:nvSpPr>
        <p:spPr>
          <a:xfrm>
            <a:off x="1028700" y="4252003"/>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V &gt;</a:t>
            </a:r>
            <a:r>
              <a:rPr lang="en-US" sz="2547" spc="-25" dirty="0">
                <a:solidFill>
                  <a:srgbClr val="000000"/>
                </a:solidFill>
                <a:latin typeface="Prachason Neue SemiExpanded"/>
                <a:ea typeface="Prachason Neue SemiExpanded"/>
                <a:cs typeface="Prachason Neue SemiExpanded"/>
                <a:sym typeface="Prachason Neue SemiExpanded"/>
              </a:rPr>
              <a:t> To break barriers where quality health and life protection is within everyone’s reach, ensuring affordability and accessibility for all.</a:t>
            </a:r>
          </a:p>
          <a:p>
            <a:pPr algn="just">
              <a:lnSpc>
                <a:spcPts val="3311"/>
              </a:lnSpc>
            </a:pPr>
            <a:endParaRPr lang="en-US" sz="2547" spc="-25" dirty="0">
              <a:solidFill>
                <a:srgbClr val="000000"/>
              </a:solidFill>
              <a:latin typeface="Prachason Neue SemiExpanded"/>
              <a:ea typeface="Prachason Neue SemiExpanded"/>
              <a:cs typeface="Prachason Neue SemiExpanded"/>
              <a:sym typeface="Prachason Neue SemiExpanded"/>
            </a:endParaRPr>
          </a:p>
        </p:txBody>
      </p:sp>
      <p:sp>
        <p:nvSpPr>
          <p:cNvPr id="12" name="TextBox 12"/>
          <p:cNvSpPr txBox="1"/>
          <p:nvPr/>
        </p:nvSpPr>
        <p:spPr>
          <a:xfrm>
            <a:off x="1028700" y="6343731"/>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M &gt;</a:t>
            </a:r>
            <a:r>
              <a:rPr lang="en-US" sz="2547" spc="-25" dirty="0">
                <a:solidFill>
                  <a:srgbClr val="000000"/>
                </a:solidFill>
                <a:latin typeface="Prachason Neue SemiExpanded"/>
                <a:ea typeface="Prachason Neue SemiExpanded"/>
                <a:cs typeface="Prachason Neue SemiExpanded"/>
                <a:sym typeface="Prachason Neue SemiExpanded"/>
              </a:rPr>
              <a:t> To safeguard lives by delivering affordable and accessible HMO, Life, Non-Life Insurance solutions, ensuring everyone has the security and care they deserve.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22132" y="4476837"/>
            <a:ext cx="2328572" cy="1847333"/>
          </a:xfrm>
          <a:custGeom>
            <a:avLst/>
            <a:gdLst/>
            <a:ahLst/>
            <a:cxnLst/>
            <a:rect l="l" t="t" r="r" b="b"/>
            <a:pathLst>
              <a:path w="2328572" h="1847333">
                <a:moveTo>
                  <a:pt x="0" y="0"/>
                </a:moveTo>
                <a:lnTo>
                  <a:pt x="2328572" y="0"/>
                </a:lnTo>
                <a:lnTo>
                  <a:pt x="2328572" y="1847333"/>
                </a:lnTo>
                <a:lnTo>
                  <a:pt x="0" y="1847333"/>
                </a:lnTo>
                <a:lnTo>
                  <a:pt x="0" y="0"/>
                </a:lnTo>
                <a:close/>
              </a:path>
            </a:pathLst>
          </a:custGeom>
          <a:blipFill>
            <a:blip r:embed="rId6"/>
            <a:stretch>
              <a:fillRect/>
            </a:stretch>
          </a:blipFill>
        </p:spPr>
      </p:sp>
      <p:sp>
        <p:nvSpPr>
          <p:cNvPr id="10" name="Freeform 10"/>
          <p:cNvSpPr/>
          <p:nvPr/>
        </p:nvSpPr>
        <p:spPr>
          <a:xfrm>
            <a:off x="3856604" y="4602436"/>
            <a:ext cx="4266437" cy="1847669"/>
          </a:xfrm>
          <a:custGeom>
            <a:avLst/>
            <a:gdLst/>
            <a:ahLst/>
            <a:cxnLst/>
            <a:rect l="l" t="t" r="r" b="b"/>
            <a:pathLst>
              <a:path w="4266437" h="1847669">
                <a:moveTo>
                  <a:pt x="0" y="0"/>
                </a:moveTo>
                <a:lnTo>
                  <a:pt x="4266437" y="0"/>
                </a:lnTo>
                <a:lnTo>
                  <a:pt x="4266437" y="1847670"/>
                </a:lnTo>
                <a:lnTo>
                  <a:pt x="0" y="1847670"/>
                </a:lnTo>
                <a:lnTo>
                  <a:pt x="0" y="0"/>
                </a:lnTo>
                <a:close/>
              </a:path>
            </a:pathLst>
          </a:custGeom>
          <a:blipFill>
            <a:blip r:embed="rId7"/>
            <a:stretch>
              <a:fillRect/>
            </a:stretch>
          </a:blipFill>
        </p:spPr>
      </p:sp>
      <p:sp>
        <p:nvSpPr>
          <p:cNvPr id="11" name="Freeform 11"/>
          <p:cNvSpPr/>
          <p:nvPr/>
        </p:nvSpPr>
        <p:spPr>
          <a:xfrm>
            <a:off x="539863" y="6800420"/>
            <a:ext cx="4583275" cy="1333805"/>
          </a:xfrm>
          <a:custGeom>
            <a:avLst/>
            <a:gdLst/>
            <a:ahLst/>
            <a:cxnLst/>
            <a:rect l="l" t="t" r="r" b="b"/>
            <a:pathLst>
              <a:path w="4583275" h="1333805">
                <a:moveTo>
                  <a:pt x="0" y="0"/>
                </a:moveTo>
                <a:lnTo>
                  <a:pt x="4583275" y="0"/>
                </a:lnTo>
                <a:lnTo>
                  <a:pt x="4583275" y="1333805"/>
                </a:lnTo>
                <a:lnTo>
                  <a:pt x="0" y="1333805"/>
                </a:lnTo>
                <a:lnTo>
                  <a:pt x="0" y="0"/>
                </a:lnTo>
                <a:close/>
              </a:path>
            </a:pathLst>
          </a:custGeom>
          <a:blipFill>
            <a:blip r:embed="rId8"/>
            <a:stretch>
              <a:fillRect/>
            </a:stretch>
          </a:blipFill>
          <a:ln cap="sq">
            <a:noFill/>
            <a:prstDash val="solid"/>
            <a:miter/>
          </a:ln>
        </p:spPr>
      </p:sp>
      <p:sp>
        <p:nvSpPr>
          <p:cNvPr id="12" name="Freeform 12"/>
          <p:cNvSpPr/>
          <p:nvPr/>
        </p:nvSpPr>
        <p:spPr>
          <a:xfrm>
            <a:off x="5123138" y="6450106"/>
            <a:ext cx="4670702" cy="1831972"/>
          </a:xfrm>
          <a:custGeom>
            <a:avLst/>
            <a:gdLst/>
            <a:ahLst/>
            <a:cxnLst/>
            <a:rect l="l" t="t" r="r" b="b"/>
            <a:pathLst>
              <a:path w="4670702" h="1831972">
                <a:moveTo>
                  <a:pt x="0" y="0"/>
                </a:moveTo>
                <a:lnTo>
                  <a:pt x="4670703" y="0"/>
                </a:lnTo>
                <a:lnTo>
                  <a:pt x="4670703" y="1831971"/>
                </a:lnTo>
                <a:lnTo>
                  <a:pt x="0" y="1831971"/>
                </a:lnTo>
                <a:lnTo>
                  <a:pt x="0" y="0"/>
                </a:lnTo>
                <a:close/>
              </a:path>
            </a:pathLst>
          </a:custGeom>
          <a:blipFill>
            <a:blip r:embed="rId9"/>
            <a:stretch>
              <a:fillRect/>
            </a:stretch>
          </a:blipFill>
        </p:spPr>
      </p:sp>
      <p:sp>
        <p:nvSpPr>
          <p:cNvPr id="13" name="Freeform 13"/>
          <p:cNvSpPr/>
          <p:nvPr/>
        </p:nvSpPr>
        <p:spPr>
          <a:xfrm>
            <a:off x="3116572" y="8383882"/>
            <a:ext cx="2873251" cy="1484733"/>
          </a:xfrm>
          <a:custGeom>
            <a:avLst/>
            <a:gdLst/>
            <a:ahLst/>
            <a:cxnLst/>
            <a:rect l="l" t="t" r="r" b="b"/>
            <a:pathLst>
              <a:path w="2873251" h="1484733">
                <a:moveTo>
                  <a:pt x="0" y="0"/>
                </a:moveTo>
                <a:lnTo>
                  <a:pt x="2873250" y="0"/>
                </a:lnTo>
                <a:lnTo>
                  <a:pt x="2873250" y="1484733"/>
                </a:lnTo>
                <a:lnTo>
                  <a:pt x="0" y="1484733"/>
                </a:lnTo>
                <a:lnTo>
                  <a:pt x="0" y="0"/>
                </a:lnTo>
                <a:close/>
              </a:path>
            </a:pathLst>
          </a:custGeom>
          <a:blipFill>
            <a:blip r:embed="rId10"/>
            <a:stretch>
              <a:fillRect/>
            </a:stretch>
          </a:blipFill>
        </p:spPr>
      </p:sp>
      <p:sp>
        <p:nvSpPr>
          <p:cNvPr id="14" name="Freeform 14"/>
          <p:cNvSpPr/>
          <p:nvPr/>
        </p:nvSpPr>
        <p:spPr>
          <a:xfrm>
            <a:off x="679789" y="7984058"/>
            <a:ext cx="2284382" cy="2284382"/>
          </a:xfrm>
          <a:custGeom>
            <a:avLst/>
            <a:gdLst/>
            <a:ahLst/>
            <a:cxnLst/>
            <a:rect l="l" t="t" r="r" b="b"/>
            <a:pathLst>
              <a:path w="2284382" h="2284382">
                <a:moveTo>
                  <a:pt x="0" y="0"/>
                </a:moveTo>
                <a:lnTo>
                  <a:pt x="2284383" y="0"/>
                </a:lnTo>
                <a:lnTo>
                  <a:pt x="2284383" y="2284382"/>
                </a:lnTo>
                <a:lnTo>
                  <a:pt x="0" y="2284382"/>
                </a:lnTo>
                <a:lnTo>
                  <a:pt x="0" y="0"/>
                </a:lnTo>
                <a:close/>
              </a:path>
            </a:pathLst>
          </a:custGeom>
          <a:blipFill>
            <a:blip r:embed="rId11"/>
            <a:stretch>
              <a:fillRect/>
            </a:stretch>
          </a:blipFill>
        </p:spPr>
      </p:sp>
      <p:sp>
        <p:nvSpPr>
          <p:cNvPr id="15" name="Freeform 15"/>
          <p:cNvSpPr/>
          <p:nvPr/>
        </p:nvSpPr>
        <p:spPr>
          <a:xfrm>
            <a:off x="5989822" y="7732520"/>
            <a:ext cx="3035848" cy="3035848"/>
          </a:xfrm>
          <a:custGeom>
            <a:avLst/>
            <a:gdLst/>
            <a:ahLst/>
            <a:cxnLst/>
            <a:rect l="l" t="t" r="r" b="b"/>
            <a:pathLst>
              <a:path w="3035848" h="3035848">
                <a:moveTo>
                  <a:pt x="0" y="0"/>
                </a:moveTo>
                <a:lnTo>
                  <a:pt x="3035848" y="0"/>
                </a:lnTo>
                <a:lnTo>
                  <a:pt x="3035848" y="3035848"/>
                </a:lnTo>
                <a:lnTo>
                  <a:pt x="0" y="3035848"/>
                </a:lnTo>
                <a:lnTo>
                  <a:pt x="0" y="0"/>
                </a:lnTo>
                <a:close/>
              </a:path>
            </a:pathLst>
          </a:custGeom>
          <a:blipFill>
            <a:blip r:embed="rId12"/>
            <a:stretch>
              <a:fillRect/>
            </a:stretch>
          </a:blipFill>
        </p:spPr>
      </p:sp>
      <p:sp>
        <p:nvSpPr>
          <p:cNvPr id="16" name="Freeform 16"/>
          <p:cNvSpPr/>
          <p:nvPr/>
        </p:nvSpPr>
        <p:spPr>
          <a:xfrm>
            <a:off x="8950650" y="8535864"/>
            <a:ext cx="5161987" cy="1429159"/>
          </a:xfrm>
          <a:custGeom>
            <a:avLst/>
            <a:gdLst/>
            <a:ahLst/>
            <a:cxnLst/>
            <a:rect l="l" t="t" r="r" b="b"/>
            <a:pathLst>
              <a:path w="5161987" h="1429159">
                <a:moveTo>
                  <a:pt x="0" y="0"/>
                </a:moveTo>
                <a:lnTo>
                  <a:pt x="5161987" y="0"/>
                </a:lnTo>
                <a:lnTo>
                  <a:pt x="5161987" y="1429159"/>
                </a:lnTo>
                <a:lnTo>
                  <a:pt x="0" y="1429159"/>
                </a:lnTo>
                <a:lnTo>
                  <a:pt x="0" y="0"/>
                </a:lnTo>
                <a:close/>
              </a:path>
            </a:pathLst>
          </a:custGeom>
          <a:blipFill>
            <a:blip r:embed="rId13"/>
            <a:stretch>
              <a:fillRect/>
            </a:stretch>
          </a:blipFill>
        </p:spPr>
      </p:sp>
      <p:sp>
        <p:nvSpPr>
          <p:cNvPr id="17" name="Freeform 17"/>
          <p:cNvSpPr/>
          <p:nvPr/>
        </p:nvSpPr>
        <p:spPr>
          <a:xfrm>
            <a:off x="10051016" y="6504833"/>
            <a:ext cx="4443110" cy="1777244"/>
          </a:xfrm>
          <a:custGeom>
            <a:avLst/>
            <a:gdLst/>
            <a:ahLst/>
            <a:cxnLst/>
            <a:rect l="l" t="t" r="r" b="b"/>
            <a:pathLst>
              <a:path w="4443110" h="1777244">
                <a:moveTo>
                  <a:pt x="0" y="0"/>
                </a:moveTo>
                <a:lnTo>
                  <a:pt x="4443109" y="0"/>
                </a:lnTo>
                <a:lnTo>
                  <a:pt x="4443109" y="1777244"/>
                </a:lnTo>
                <a:lnTo>
                  <a:pt x="0" y="1777244"/>
                </a:lnTo>
                <a:lnTo>
                  <a:pt x="0" y="0"/>
                </a:lnTo>
                <a:close/>
              </a:path>
            </a:pathLst>
          </a:custGeom>
          <a:blipFill>
            <a:blip r:embed="rId14"/>
            <a:stretch>
              <a:fillRect/>
            </a:stretch>
          </a:blipFill>
        </p:spPr>
      </p:sp>
      <p:sp>
        <p:nvSpPr>
          <p:cNvPr id="18" name="Freeform 18"/>
          <p:cNvSpPr/>
          <p:nvPr/>
        </p:nvSpPr>
        <p:spPr>
          <a:xfrm>
            <a:off x="14452674" y="8707222"/>
            <a:ext cx="3599607" cy="1086443"/>
          </a:xfrm>
          <a:custGeom>
            <a:avLst/>
            <a:gdLst/>
            <a:ahLst/>
            <a:cxnLst/>
            <a:rect l="l" t="t" r="r" b="b"/>
            <a:pathLst>
              <a:path w="3599607" h="1086443">
                <a:moveTo>
                  <a:pt x="0" y="0"/>
                </a:moveTo>
                <a:lnTo>
                  <a:pt x="3599607" y="0"/>
                </a:lnTo>
                <a:lnTo>
                  <a:pt x="3599607" y="1086443"/>
                </a:lnTo>
                <a:lnTo>
                  <a:pt x="0" y="1086443"/>
                </a:lnTo>
                <a:lnTo>
                  <a:pt x="0" y="0"/>
                </a:lnTo>
                <a:close/>
              </a:path>
            </a:pathLst>
          </a:custGeom>
          <a:blipFill>
            <a:blip r:embed="rId15"/>
            <a:stretch>
              <a:fillRect/>
            </a:stretch>
          </a:blipFill>
        </p:spPr>
      </p:sp>
      <p:sp>
        <p:nvSpPr>
          <p:cNvPr id="19" name="Freeform 19"/>
          <p:cNvSpPr/>
          <p:nvPr/>
        </p:nvSpPr>
        <p:spPr>
          <a:xfrm>
            <a:off x="13964320" y="6710745"/>
            <a:ext cx="4305751" cy="1021775"/>
          </a:xfrm>
          <a:custGeom>
            <a:avLst/>
            <a:gdLst/>
            <a:ahLst/>
            <a:cxnLst/>
            <a:rect l="l" t="t" r="r" b="b"/>
            <a:pathLst>
              <a:path w="4305751" h="1021775">
                <a:moveTo>
                  <a:pt x="0" y="0"/>
                </a:moveTo>
                <a:lnTo>
                  <a:pt x="4305751" y="0"/>
                </a:lnTo>
                <a:lnTo>
                  <a:pt x="4305751" y="1021775"/>
                </a:lnTo>
                <a:lnTo>
                  <a:pt x="0" y="1021775"/>
                </a:lnTo>
                <a:lnTo>
                  <a:pt x="0" y="0"/>
                </a:lnTo>
                <a:close/>
              </a:path>
            </a:pathLst>
          </a:custGeom>
          <a:blipFill>
            <a:blip r:embed="rId16"/>
            <a:stretch>
              <a:fillRect/>
            </a:stretch>
          </a:blipFill>
        </p:spPr>
      </p:sp>
      <p:sp>
        <p:nvSpPr>
          <p:cNvPr id="20" name="TextBox 20"/>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21" name="TextBox 21"/>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22" name="Freeform 22"/>
          <p:cNvSpPr/>
          <p:nvPr/>
        </p:nvSpPr>
        <p:spPr>
          <a:xfrm>
            <a:off x="804962" y="2880317"/>
            <a:ext cx="6077255" cy="1049232"/>
          </a:xfrm>
          <a:custGeom>
            <a:avLst/>
            <a:gdLst/>
            <a:ahLst/>
            <a:cxnLst/>
            <a:rect l="l" t="t" r="r" b="b"/>
            <a:pathLst>
              <a:path w="6077255" h="1049232">
                <a:moveTo>
                  <a:pt x="0" y="0"/>
                </a:moveTo>
                <a:lnTo>
                  <a:pt x="6077255" y="0"/>
                </a:lnTo>
                <a:lnTo>
                  <a:pt x="6077255" y="1049232"/>
                </a:lnTo>
                <a:lnTo>
                  <a:pt x="0" y="1049232"/>
                </a:lnTo>
                <a:lnTo>
                  <a:pt x="0" y="0"/>
                </a:lnTo>
                <a:close/>
              </a:path>
            </a:pathLst>
          </a:custGeom>
          <a:blipFill>
            <a:blip r:embed="rId17"/>
            <a:stretch>
              <a:fillRect l="-8358" t="-186373" r="-53746"/>
            </a:stretch>
          </a:blipFill>
        </p:spPr>
      </p:sp>
      <p:sp>
        <p:nvSpPr>
          <p:cNvPr id="23" name="TextBox 23"/>
          <p:cNvSpPr txBox="1"/>
          <p:nvPr/>
        </p:nvSpPr>
        <p:spPr>
          <a:xfrm>
            <a:off x="804962" y="2628010"/>
            <a:ext cx="7700416"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HEALTH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302609" y="7276582"/>
            <a:ext cx="7765671" cy="2482566"/>
          </a:xfrm>
          <a:custGeom>
            <a:avLst/>
            <a:gdLst/>
            <a:ahLst/>
            <a:cxnLst/>
            <a:rect l="l" t="t" r="r" b="b"/>
            <a:pathLst>
              <a:path w="7765671" h="2482566">
                <a:moveTo>
                  <a:pt x="0" y="0"/>
                </a:moveTo>
                <a:lnTo>
                  <a:pt x="7765672" y="0"/>
                </a:lnTo>
                <a:lnTo>
                  <a:pt x="7765672" y="2482566"/>
                </a:lnTo>
                <a:lnTo>
                  <a:pt x="0" y="2482566"/>
                </a:lnTo>
                <a:lnTo>
                  <a:pt x="0" y="0"/>
                </a:lnTo>
                <a:close/>
              </a:path>
            </a:pathLst>
          </a:custGeom>
          <a:blipFill>
            <a:blip r:embed="rId6"/>
            <a:stretch>
              <a:fillRect l="-8701" t="-17011" r="-7250" b="-23815"/>
            </a:stretch>
          </a:blipFill>
        </p:spPr>
      </p:sp>
      <p:sp>
        <p:nvSpPr>
          <p:cNvPr id="10" name="Freeform 10"/>
          <p:cNvSpPr/>
          <p:nvPr/>
        </p:nvSpPr>
        <p:spPr>
          <a:xfrm>
            <a:off x="6496242" y="5021994"/>
            <a:ext cx="5576115" cy="2025989"/>
          </a:xfrm>
          <a:custGeom>
            <a:avLst/>
            <a:gdLst/>
            <a:ahLst/>
            <a:cxnLst/>
            <a:rect l="l" t="t" r="r" b="b"/>
            <a:pathLst>
              <a:path w="5576115" h="2025989">
                <a:moveTo>
                  <a:pt x="0" y="0"/>
                </a:moveTo>
                <a:lnTo>
                  <a:pt x="5576116" y="0"/>
                </a:lnTo>
                <a:lnTo>
                  <a:pt x="5576116" y="2025988"/>
                </a:lnTo>
                <a:lnTo>
                  <a:pt x="0" y="2025988"/>
                </a:lnTo>
                <a:lnTo>
                  <a:pt x="0" y="0"/>
                </a:lnTo>
                <a:close/>
              </a:path>
            </a:pathLst>
          </a:custGeom>
          <a:blipFill>
            <a:blip r:embed="rId7"/>
            <a:stretch>
              <a:fillRect/>
            </a:stretch>
          </a:blipFill>
        </p:spPr>
      </p:sp>
      <p:sp>
        <p:nvSpPr>
          <p:cNvPr id="11" name="Freeform 11"/>
          <p:cNvSpPr/>
          <p:nvPr/>
        </p:nvSpPr>
        <p:spPr>
          <a:xfrm>
            <a:off x="987412" y="4832870"/>
            <a:ext cx="5501149" cy="2550123"/>
          </a:xfrm>
          <a:custGeom>
            <a:avLst/>
            <a:gdLst/>
            <a:ahLst/>
            <a:cxnLst/>
            <a:rect l="l" t="t" r="r" b="b"/>
            <a:pathLst>
              <a:path w="5501149" h="2550123">
                <a:moveTo>
                  <a:pt x="0" y="0"/>
                </a:moveTo>
                <a:lnTo>
                  <a:pt x="5501149" y="0"/>
                </a:lnTo>
                <a:lnTo>
                  <a:pt x="5501149" y="2550123"/>
                </a:lnTo>
                <a:lnTo>
                  <a:pt x="0" y="2550123"/>
                </a:lnTo>
                <a:lnTo>
                  <a:pt x="0" y="0"/>
                </a:lnTo>
                <a:close/>
              </a:path>
            </a:pathLst>
          </a:custGeom>
          <a:blipFill>
            <a:blip r:embed="rId8"/>
            <a:stretch>
              <a:fillRect t="-58320" b="-57400"/>
            </a:stretch>
          </a:blipFill>
        </p:spPr>
      </p:sp>
      <p:sp>
        <p:nvSpPr>
          <p:cNvPr id="12" name="Freeform 12"/>
          <p:cNvSpPr/>
          <p:nvPr/>
        </p:nvSpPr>
        <p:spPr>
          <a:xfrm>
            <a:off x="3112719" y="7382993"/>
            <a:ext cx="4970170" cy="2530544"/>
          </a:xfrm>
          <a:custGeom>
            <a:avLst/>
            <a:gdLst/>
            <a:ahLst/>
            <a:cxnLst/>
            <a:rect l="l" t="t" r="r" b="b"/>
            <a:pathLst>
              <a:path w="4970170" h="2530544">
                <a:moveTo>
                  <a:pt x="0" y="0"/>
                </a:moveTo>
                <a:lnTo>
                  <a:pt x="4970170" y="0"/>
                </a:lnTo>
                <a:lnTo>
                  <a:pt x="4970170" y="2530544"/>
                </a:lnTo>
                <a:lnTo>
                  <a:pt x="0" y="2530544"/>
                </a:lnTo>
                <a:lnTo>
                  <a:pt x="0" y="0"/>
                </a:lnTo>
                <a:close/>
              </a:path>
            </a:pathLst>
          </a:custGeom>
          <a:blipFill>
            <a:blip r:embed="rId9"/>
            <a:stretch>
              <a:fillRect/>
            </a:stretch>
          </a:blipFill>
        </p:spPr>
      </p:sp>
      <p:sp>
        <p:nvSpPr>
          <p:cNvPr id="13" name="TextBox 13"/>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4" name="TextBox 14"/>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5" name="Freeform 15"/>
          <p:cNvSpPr/>
          <p:nvPr/>
        </p:nvSpPr>
        <p:spPr>
          <a:xfrm>
            <a:off x="847112" y="2835567"/>
            <a:ext cx="4008373" cy="1049232"/>
          </a:xfrm>
          <a:custGeom>
            <a:avLst/>
            <a:gdLst/>
            <a:ahLst/>
            <a:cxnLst/>
            <a:rect l="l" t="t" r="r" b="b"/>
            <a:pathLst>
              <a:path w="4008373" h="1049232">
                <a:moveTo>
                  <a:pt x="0" y="0"/>
                </a:moveTo>
                <a:lnTo>
                  <a:pt x="4008373" y="0"/>
                </a:lnTo>
                <a:lnTo>
                  <a:pt x="4008373" y="1049232"/>
                </a:lnTo>
                <a:lnTo>
                  <a:pt x="0" y="1049232"/>
                </a:lnTo>
                <a:lnTo>
                  <a:pt x="0" y="0"/>
                </a:lnTo>
                <a:close/>
              </a:path>
            </a:pathLst>
          </a:custGeom>
          <a:blipFill>
            <a:blip r:embed="rId10"/>
            <a:stretch>
              <a:fillRect l="-12672" t="-186373" r="-133101"/>
            </a:stretch>
          </a:blipFill>
        </p:spPr>
      </p:sp>
      <p:sp>
        <p:nvSpPr>
          <p:cNvPr id="16" name="TextBox 16"/>
          <p:cNvSpPr txBox="1"/>
          <p:nvPr/>
        </p:nvSpPr>
        <p:spPr>
          <a:xfrm>
            <a:off x="847112" y="2683167"/>
            <a:ext cx="376439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828796" y="4583154"/>
            <a:ext cx="3395118" cy="2448180"/>
          </a:xfrm>
          <a:custGeom>
            <a:avLst/>
            <a:gdLst/>
            <a:ahLst/>
            <a:cxnLst/>
            <a:rect l="l" t="t" r="r" b="b"/>
            <a:pathLst>
              <a:path w="3395118" h="2448180">
                <a:moveTo>
                  <a:pt x="0" y="0"/>
                </a:moveTo>
                <a:lnTo>
                  <a:pt x="3395118" y="0"/>
                </a:lnTo>
                <a:lnTo>
                  <a:pt x="3395118" y="2448181"/>
                </a:lnTo>
                <a:lnTo>
                  <a:pt x="0" y="2448181"/>
                </a:lnTo>
                <a:lnTo>
                  <a:pt x="0" y="0"/>
                </a:lnTo>
                <a:close/>
              </a:path>
            </a:pathLst>
          </a:custGeom>
          <a:blipFill>
            <a:blip r:embed="rId6"/>
            <a:stretch>
              <a:fillRect/>
            </a:stretch>
          </a:blipFill>
        </p:spPr>
      </p:sp>
      <p:sp>
        <p:nvSpPr>
          <p:cNvPr id="10" name="Freeform 10"/>
          <p:cNvSpPr/>
          <p:nvPr/>
        </p:nvSpPr>
        <p:spPr>
          <a:xfrm>
            <a:off x="4593189" y="4778012"/>
            <a:ext cx="5142486" cy="2058465"/>
          </a:xfrm>
          <a:custGeom>
            <a:avLst/>
            <a:gdLst/>
            <a:ahLst/>
            <a:cxnLst/>
            <a:rect l="l" t="t" r="r" b="b"/>
            <a:pathLst>
              <a:path w="5142486" h="2058465">
                <a:moveTo>
                  <a:pt x="0" y="0"/>
                </a:moveTo>
                <a:lnTo>
                  <a:pt x="5142486" y="0"/>
                </a:lnTo>
                <a:lnTo>
                  <a:pt x="5142486" y="2058465"/>
                </a:lnTo>
                <a:lnTo>
                  <a:pt x="0" y="2058465"/>
                </a:lnTo>
                <a:lnTo>
                  <a:pt x="0" y="0"/>
                </a:lnTo>
                <a:close/>
              </a:path>
            </a:pathLst>
          </a:custGeom>
          <a:blipFill>
            <a:blip r:embed="rId7"/>
            <a:stretch>
              <a:fillRect t="-74398" b="-75422"/>
            </a:stretch>
          </a:blipFill>
        </p:spPr>
      </p:sp>
      <p:sp>
        <p:nvSpPr>
          <p:cNvPr id="11" name="Freeform 11"/>
          <p:cNvSpPr/>
          <p:nvPr/>
        </p:nvSpPr>
        <p:spPr>
          <a:xfrm>
            <a:off x="599957" y="6943431"/>
            <a:ext cx="5211629" cy="1774794"/>
          </a:xfrm>
          <a:custGeom>
            <a:avLst/>
            <a:gdLst/>
            <a:ahLst/>
            <a:cxnLst/>
            <a:rect l="l" t="t" r="r" b="b"/>
            <a:pathLst>
              <a:path w="5211629" h="1774794">
                <a:moveTo>
                  <a:pt x="0" y="0"/>
                </a:moveTo>
                <a:lnTo>
                  <a:pt x="5211629" y="0"/>
                </a:lnTo>
                <a:lnTo>
                  <a:pt x="5211629" y="1774794"/>
                </a:lnTo>
                <a:lnTo>
                  <a:pt x="0" y="1774794"/>
                </a:lnTo>
                <a:lnTo>
                  <a:pt x="0" y="0"/>
                </a:lnTo>
                <a:close/>
              </a:path>
            </a:pathLst>
          </a:custGeom>
          <a:blipFill>
            <a:blip r:embed="rId8"/>
            <a:stretch>
              <a:fillRect t="-29011" b="-31160"/>
            </a:stretch>
          </a:blipFill>
        </p:spPr>
      </p:sp>
      <p:sp>
        <p:nvSpPr>
          <p:cNvPr id="12" name="Freeform 12"/>
          <p:cNvSpPr/>
          <p:nvPr/>
        </p:nvSpPr>
        <p:spPr>
          <a:xfrm>
            <a:off x="6075813" y="7254492"/>
            <a:ext cx="3431024" cy="1303789"/>
          </a:xfrm>
          <a:custGeom>
            <a:avLst/>
            <a:gdLst/>
            <a:ahLst/>
            <a:cxnLst/>
            <a:rect l="l" t="t" r="r" b="b"/>
            <a:pathLst>
              <a:path w="3431024" h="1303789">
                <a:moveTo>
                  <a:pt x="0" y="0"/>
                </a:moveTo>
                <a:lnTo>
                  <a:pt x="3431024" y="0"/>
                </a:lnTo>
                <a:lnTo>
                  <a:pt x="3431024" y="1303789"/>
                </a:lnTo>
                <a:lnTo>
                  <a:pt x="0" y="1303789"/>
                </a:lnTo>
                <a:lnTo>
                  <a:pt x="0" y="0"/>
                </a:lnTo>
                <a:close/>
              </a:path>
            </a:pathLst>
          </a:custGeom>
          <a:blipFill>
            <a:blip r:embed="rId9"/>
            <a:stretch>
              <a:fillRect/>
            </a:stretch>
          </a:blipFill>
        </p:spPr>
      </p:sp>
      <p:sp>
        <p:nvSpPr>
          <p:cNvPr id="13" name="Freeform 13"/>
          <p:cNvSpPr/>
          <p:nvPr/>
        </p:nvSpPr>
        <p:spPr>
          <a:xfrm>
            <a:off x="10190456" y="7254492"/>
            <a:ext cx="4504865" cy="1357091"/>
          </a:xfrm>
          <a:custGeom>
            <a:avLst/>
            <a:gdLst/>
            <a:ahLst/>
            <a:cxnLst/>
            <a:rect l="l" t="t" r="r" b="b"/>
            <a:pathLst>
              <a:path w="4504865" h="1357091">
                <a:moveTo>
                  <a:pt x="0" y="0"/>
                </a:moveTo>
                <a:lnTo>
                  <a:pt x="4504865" y="0"/>
                </a:lnTo>
                <a:lnTo>
                  <a:pt x="4504865" y="1357090"/>
                </a:lnTo>
                <a:lnTo>
                  <a:pt x="0" y="1357090"/>
                </a:lnTo>
                <a:lnTo>
                  <a:pt x="0" y="0"/>
                </a:lnTo>
                <a:close/>
              </a:path>
            </a:pathLst>
          </a:custGeom>
          <a:blipFill>
            <a:blip r:embed="rId10"/>
            <a:stretch>
              <a:fillRect/>
            </a:stretch>
          </a:blipFill>
        </p:spPr>
      </p:sp>
      <p:sp>
        <p:nvSpPr>
          <p:cNvPr id="14" name="Freeform 14"/>
          <p:cNvSpPr/>
          <p:nvPr/>
        </p:nvSpPr>
        <p:spPr>
          <a:xfrm>
            <a:off x="903749" y="8761480"/>
            <a:ext cx="4846932" cy="1442969"/>
          </a:xfrm>
          <a:custGeom>
            <a:avLst/>
            <a:gdLst/>
            <a:ahLst/>
            <a:cxnLst/>
            <a:rect l="l" t="t" r="r" b="b"/>
            <a:pathLst>
              <a:path w="4846932" h="1442969">
                <a:moveTo>
                  <a:pt x="0" y="0"/>
                </a:moveTo>
                <a:lnTo>
                  <a:pt x="4846932" y="0"/>
                </a:lnTo>
                <a:lnTo>
                  <a:pt x="4846932" y="1442969"/>
                </a:lnTo>
                <a:lnTo>
                  <a:pt x="0" y="1442969"/>
                </a:lnTo>
                <a:lnTo>
                  <a:pt x="0" y="0"/>
                </a:lnTo>
                <a:close/>
              </a:path>
            </a:pathLst>
          </a:custGeom>
          <a:blipFill>
            <a:blip r:embed="rId11"/>
            <a:stretch>
              <a:fillRect l="-34" r="-34"/>
            </a:stretch>
          </a:blipFill>
        </p:spPr>
      </p:sp>
      <p:sp>
        <p:nvSpPr>
          <p:cNvPr id="15" name="Freeform 15"/>
          <p:cNvSpPr/>
          <p:nvPr/>
        </p:nvSpPr>
        <p:spPr>
          <a:xfrm>
            <a:off x="6243746" y="8825179"/>
            <a:ext cx="3946710" cy="1315570"/>
          </a:xfrm>
          <a:custGeom>
            <a:avLst/>
            <a:gdLst/>
            <a:ahLst/>
            <a:cxnLst/>
            <a:rect l="l" t="t" r="r" b="b"/>
            <a:pathLst>
              <a:path w="3946710" h="1315570">
                <a:moveTo>
                  <a:pt x="0" y="0"/>
                </a:moveTo>
                <a:lnTo>
                  <a:pt x="3946710" y="0"/>
                </a:lnTo>
                <a:lnTo>
                  <a:pt x="3946710" y="1315570"/>
                </a:lnTo>
                <a:lnTo>
                  <a:pt x="0" y="1315570"/>
                </a:lnTo>
                <a:lnTo>
                  <a:pt x="0" y="0"/>
                </a:lnTo>
                <a:close/>
              </a:path>
            </a:pathLst>
          </a:custGeom>
          <a:blipFill>
            <a:blip r:embed="rId12"/>
            <a:stretch>
              <a:fillRect/>
            </a:stretch>
          </a:blipFill>
        </p:spPr>
      </p:sp>
      <p:sp>
        <p:nvSpPr>
          <p:cNvPr id="16" name="TextBox 16"/>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7" name="TextBox 17"/>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8" name="Freeform 18"/>
          <p:cNvSpPr/>
          <p:nvPr/>
        </p:nvSpPr>
        <p:spPr>
          <a:xfrm>
            <a:off x="847112" y="2904456"/>
            <a:ext cx="6694074" cy="1000953"/>
          </a:xfrm>
          <a:custGeom>
            <a:avLst/>
            <a:gdLst/>
            <a:ahLst/>
            <a:cxnLst/>
            <a:rect l="l" t="t" r="r" b="b"/>
            <a:pathLst>
              <a:path w="6694074" h="1000953">
                <a:moveTo>
                  <a:pt x="0" y="0"/>
                </a:moveTo>
                <a:lnTo>
                  <a:pt x="6694074" y="0"/>
                </a:lnTo>
                <a:lnTo>
                  <a:pt x="6694074" y="1000953"/>
                </a:lnTo>
                <a:lnTo>
                  <a:pt x="0" y="1000953"/>
                </a:lnTo>
                <a:lnTo>
                  <a:pt x="0" y="0"/>
                </a:lnTo>
                <a:close/>
              </a:path>
            </a:pathLst>
          </a:custGeom>
          <a:blipFill>
            <a:blip r:embed="rId13"/>
            <a:stretch>
              <a:fillRect l="-5976" t="-186373" r="-34419"/>
            </a:stretch>
          </a:blipFill>
        </p:spPr>
      </p:sp>
      <p:sp>
        <p:nvSpPr>
          <p:cNvPr id="19" name="TextBox 19"/>
          <p:cNvSpPr txBox="1"/>
          <p:nvPr/>
        </p:nvSpPr>
        <p:spPr>
          <a:xfrm>
            <a:off x="847112" y="2683167"/>
            <a:ext cx="669407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NON-LIFE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1962357" y="-646334"/>
            <a:ext cx="6687971" cy="4372261"/>
          </a:xfrm>
          <a:custGeom>
            <a:avLst/>
            <a:gdLst/>
            <a:ahLst/>
            <a:cxnLst/>
            <a:rect l="l" t="t" r="r" b="b"/>
            <a:pathLst>
              <a:path w="6687971" h="4372261">
                <a:moveTo>
                  <a:pt x="6687970" y="4372261"/>
                </a:moveTo>
                <a:lnTo>
                  <a:pt x="0" y="4372261"/>
                </a:lnTo>
                <a:lnTo>
                  <a:pt x="0" y="0"/>
                </a:lnTo>
                <a:lnTo>
                  <a:pt x="6687970" y="0"/>
                </a:lnTo>
                <a:lnTo>
                  <a:pt x="6687970" y="4372261"/>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315961" y="489809"/>
            <a:ext cx="4653691" cy="4653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6657" y="700506"/>
            <a:ext cx="4232298" cy="423229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5995" t="-8110" r="-12616" b="-20501"/>
              </a:stretch>
            </a:blipFill>
          </p:spPr>
        </p:sp>
      </p:grpSp>
      <p:grpSp>
        <p:nvGrpSpPr>
          <p:cNvPr id="9" name="Group 9"/>
          <p:cNvGrpSpPr/>
          <p:nvPr/>
        </p:nvGrpSpPr>
        <p:grpSpPr>
          <a:xfrm>
            <a:off x="804982" y="2816655"/>
            <a:ext cx="12113427" cy="2576102"/>
            <a:chOff x="0" y="0"/>
            <a:chExt cx="16151235" cy="3434802"/>
          </a:xfrm>
        </p:grpSpPr>
        <p:sp>
          <p:nvSpPr>
            <p:cNvPr id="10" name="Freeform 10"/>
            <p:cNvSpPr/>
            <p:nvPr/>
          </p:nvSpPr>
          <p:spPr>
            <a:xfrm>
              <a:off x="0" y="517887"/>
              <a:ext cx="5037329" cy="2399028"/>
            </a:xfrm>
            <a:custGeom>
              <a:avLst/>
              <a:gdLst/>
              <a:ahLst/>
              <a:cxnLst/>
              <a:rect l="l" t="t" r="r" b="b"/>
              <a:pathLst>
                <a:path w="5037329" h="2399028">
                  <a:moveTo>
                    <a:pt x="0" y="0"/>
                  </a:moveTo>
                  <a:lnTo>
                    <a:pt x="5037329" y="0"/>
                  </a:lnTo>
                  <a:lnTo>
                    <a:pt x="5037329" y="2399028"/>
                  </a:lnTo>
                  <a:lnTo>
                    <a:pt x="0" y="2399028"/>
                  </a:lnTo>
                  <a:lnTo>
                    <a:pt x="0" y="0"/>
                  </a:lnTo>
                  <a:close/>
                </a:path>
              </a:pathLst>
            </a:custGeom>
            <a:blipFill>
              <a:blip r:embed="rId6"/>
              <a:stretch>
                <a:fillRect/>
              </a:stretch>
            </a:blipFill>
          </p:spPr>
        </p:sp>
        <p:sp>
          <p:nvSpPr>
            <p:cNvPr id="11" name="Freeform 11"/>
            <p:cNvSpPr/>
            <p:nvPr/>
          </p:nvSpPr>
          <p:spPr>
            <a:xfrm>
              <a:off x="5970773" y="0"/>
              <a:ext cx="3203613" cy="3434802"/>
            </a:xfrm>
            <a:custGeom>
              <a:avLst/>
              <a:gdLst/>
              <a:ahLst/>
              <a:cxnLst/>
              <a:rect l="l" t="t" r="r" b="b"/>
              <a:pathLst>
                <a:path w="3203613" h="3434802">
                  <a:moveTo>
                    <a:pt x="0" y="0"/>
                  </a:moveTo>
                  <a:lnTo>
                    <a:pt x="3203614" y="0"/>
                  </a:lnTo>
                  <a:lnTo>
                    <a:pt x="3203614" y="3434802"/>
                  </a:lnTo>
                  <a:lnTo>
                    <a:pt x="0" y="3434802"/>
                  </a:lnTo>
                  <a:lnTo>
                    <a:pt x="0" y="0"/>
                  </a:lnTo>
                  <a:close/>
                </a:path>
              </a:pathLst>
            </a:custGeom>
            <a:blipFill>
              <a:blip r:embed="rId7"/>
              <a:stretch>
                <a:fillRect l="-19136" t="-24200" r="-26280" b="-11429"/>
              </a:stretch>
            </a:blipFill>
          </p:spPr>
        </p:sp>
        <p:sp>
          <p:nvSpPr>
            <p:cNvPr id="12" name="Freeform 12"/>
            <p:cNvSpPr/>
            <p:nvPr/>
          </p:nvSpPr>
          <p:spPr>
            <a:xfrm>
              <a:off x="9368424" y="0"/>
              <a:ext cx="4111354" cy="3434802"/>
            </a:xfrm>
            <a:custGeom>
              <a:avLst/>
              <a:gdLst/>
              <a:ahLst/>
              <a:cxnLst/>
              <a:rect l="l" t="t" r="r" b="b"/>
              <a:pathLst>
                <a:path w="4111354" h="3434802">
                  <a:moveTo>
                    <a:pt x="0" y="0"/>
                  </a:moveTo>
                  <a:lnTo>
                    <a:pt x="4111354" y="0"/>
                  </a:lnTo>
                  <a:lnTo>
                    <a:pt x="4111354" y="3434802"/>
                  </a:lnTo>
                  <a:lnTo>
                    <a:pt x="0" y="3434802"/>
                  </a:lnTo>
                  <a:lnTo>
                    <a:pt x="0" y="0"/>
                  </a:lnTo>
                  <a:close/>
                </a:path>
              </a:pathLst>
            </a:custGeom>
            <a:blipFill>
              <a:blip r:embed="rId8"/>
              <a:stretch>
                <a:fillRect l="-24363" t="-19066" r="-20508" b="-20405"/>
              </a:stretch>
            </a:blipFill>
          </p:spPr>
        </p:sp>
        <p:sp>
          <p:nvSpPr>
            <p:cNvPr id="13" name="Freeform 13"/>
            <p:cNvSpPr/>
            <p:nvPr/>
          </p:nvSpPr>
          <p:spPr>
            <a:xfrm>
              <a:off x="13667570" y="430141"/>
              <a:ext cx="2483666" cy="2486774"/>
            </a:xfrm>
            <a:custGeom>
              <a:avLst/>
              <a:gdLst/>
              <a:ahLst/>
              <a:cxnLst/>
              <a:rect l="l" t="t" r="r" b="b"/>
              <a:pathLst>
                <a:path w="2483666" h="2486774">
                  <a:moveTo>
                    <a:pt x="0" y="0"/>
                  </a:moveTo>
                  <a:lnTo>
                    <a:pt x="2483665" y="0"/>
                  </a:lnTo>
                  <a:lnTo>
                    <a:pt x="2483665" y="2486774"/>
                  </a:lnTo>
                  <a:lnTo>
                    <a:pt x="0" y="2486774"/>
                  </a:lnTo>
                  <a:lnTo>
                    <a:pt x="0" y="0"/>
                  </a:lnTo>
                  <a:close/>
                </a:path>
              </a:pathLst>
            </a:custGeom>
            <a:blipFill>
              <a:blip r:embed="rId9"/>
              <a:stretch>
                <a:fillRect/>
              </a:stretch>
            </a:blipFill>
          </p:spPr>
        </p:sp>
      </p:grpSp>
      <p:grpSp>
        <p:nvGrpSpPr>
          <p:cNvPr id="14" name="Group 14"/>
          <p:cNvGrpSpPr/>
          <p:nvPr/>
        </p:nvGrpSpPr>
        <p:grpSpPr>
          <a:xfrm>
            <a:off x="804982" y="5111632"/>
            <a:ext cx="15806373" cy="2505630"/>
            <a:chOff x="0" y="0"/>
            <a:chExt cx="21075164" cy="3340840"/>
          </a:xfrm>
        </p:grpSpPr>
        <p:sp>
          <p:nvSpPr>
            <p:cNvPr id="15" name="Freeform 15"/>
            <p:cNvSpPr/>
            <p:nvPr/>
          </p:nvSpPr>
          <p:spPr>
            <a:xfrm>
              <a:off x="0" y="0"/>
              <a:ext cx="5217877" cy="2670236"/>
            </a:xfrm>
            <a:custGeom>
              <a:avLst/>
              <a:gdLst/>
              <a:ahLst/>
              <a:cxnLst/>
              <a:rect l="l" t="t" r="r" b="b"/>
              <a:pathLst>
                <a:path w="5217877" h="2670236">
                  <a:moveTo>
                    <a:pt x="0" y="0"/>
                  </a:moveTo>
                  <a:lnTo>
                    <a:pt x="5217877" y="0"/>
                  </a:lnTo>
                  <a:lnTo>
                    <a:pt x="5217877" y="2670236"/>
                  </a:lnTo>
                  <a:lnTo>
                    <a:pt x="0" y="2670236"/>
                  </a:lnTo>
                  <a:lnTo>
                    <a:pt x="0" y="0"/>
                  </a:lnTo>
                  <a:close/>
                </a:path>
              </a:pathLst>
            </a:custGeom>
            <a:blipFill>
              <a:blip r:embed="rId10"/>
              <a:stretch>
                <a:fillRect l="-8550" r="-7868"/>
              </a:stretch>
            </a:blipFill>
          </p:spPr>
        </p:sp>
        <p:sp>
          <p:nvSpPr>
            <p:cNvPr id="16" name="Freeform 16"/>
            <p:cNvSpPr/>
            <p:nvPr/>
          </p:nvSpPr>
          <p:spPr>
            <a:xfrm>
              <a:off x="9019525" y="1217476"/>
              <a:ext cx="3441366" cy="1618946"/>
            </a:xfrm>
            <a:custGeom>
              <a:avLst/>
              <a:gdLst/>
              <a:ahLst/>
              <a:cxnLst/>
              <a:rect l="l" t="t" r="r" b="b"/>
              <a:pathLst>
                <a:path w="3441366" h="1618946">
                  <a:moveTo>
                    <a:pt x="0" y="0"/>
                  </a:moveTo>
                  <a:lnTo>
                    <a:pt x="3441366" y="0"/>
                  </a:lnTo>
                  <a:lnTo>
                    <a:pt x="3441366" y="1618945"/>
                  </a:lnTo>
                  <a:lnTo>
                    <a:pt x="0" y="1618945"/>
                  </a:lnTo>
                  <a:lnTo>
                    <a:pt x="0" y="0"/>
                  </a:lnTo>
                  <a:close/>
                </a:path>
              </a:pathLst>
            </a:custGeom>
            <a:blipFill>
              <a:blip r:embed="rId11"/>
              <a:stretch>
                <a:fillRect/>
              </a:stretch>
            </a:blipFill>
          </p:spPr>
        </p:sp>
        <p:sp>
          <p:nvSpPr>
            <p:cNvPr id="17" name="Freeform 17"/>
            <p:cNvSpPr/>
            <p:nvPr/>
          </p:nvSpPr>
          <p:spPr>
            <a:xfrm>
              <a:off x="6371420" y="271147"/>
              <a:ext cx="2565274" cy="2565274"/>
            </a:xfrm>
            <a:custGeom>
              <a:avLst/>
              <a:gdLst/>
              <a:ahLst/>
              <a:cxnLst/>
              <a:rect l="l" t="t" r="r" b="b"/>
              <a:pathLst>
                <a:path w="2565274" h="2565274">
                  <a:moveTo>
                    <a:pt x="0" y="0"/>
                  </a:moveTo>
                  <a:lnTo>
                    <a:pt x="2565274" y="0"/>
                  </a:lnTo>
                  <a:lnTo>
                    <a:pt x="2565274" y="2565274"/>
                  </a:lnTo>
                  <a:lnTo>
                    <a:pt x="0" y="2565274"/>
                  </a:lnTo>
                  <a:lnTo>
                    <a:pt x="0" y="0"/>
                  </a:lnTo>
                  <a:close/>
                </a:path>
              </a:pathLst>
            </a:custGeom>
            <a:blipFill>
              <a:blip r:embed="rId12"/>
              <a:stretch>
                <a:fillRect/>
              </a:stretch>
            </a:blipFill>
          </p:spPr>
        </p:sp>
        <p:sp>
          <p:nvSpPr>
            <p:cNvPr id="18" name="Freeform 18"/>
            <p:cNvSpPr/>
            <p:nvPr/>
          </p:nvSpPr>
          <p:spPr>
            <a:xfrm>
              <a:off x="13826781" y="399593"/>
              <a:ext cx="2855133" cy="2855133"/>
            </a:xfrm>
            <a:custGeom>
              <a:avLst/>
              <a:gdLst/>
              <a:ahLst/>
              <a:cxnLst/>
              <a:rect l="l" t="t" r="r" b="b"/>
              <a:pathLst>
                <a:path w="2855133" h="2855133">
                  <a:moveTo>
                    <a:pt x="0" y="0"/>
                  </a:moveTo>
                  <a:lnTo>
                    <a:pt x="2855133" y="0"/>
                  </a:lnTo>
                  <a:lnTo>
                    <a:pt x="2855133" y="2855133"/>
                  </a:lnTo>
                  <a:lnTo>
                    <a:pt x="0" y="2855133"/>
                  </a:lnTo>
                  <a:lnTo>
                    <a:pt x="0" y="0"/>
                  </a:lnTo>
                  <a:close/>
                </a:path>
              </a:pathLst>
            </a:custGeom>
            <a:blipFill>
              <a:blip r:embed="rId13"/>
              <a:stretch>
                <a:fillRect/>
              </a:stretch>
            </a:blipFill>
          </p:spPr>
        </p:sp>
        <p:sp>
          <p:nvSpPr>
            <p:cNvPr id="19" name="Freeform 19"/>
            <p:cNvSpPr/>
            <p:nvPr/>
          </p:nvSpPr>
          <p:spPr>
            <a:xfrm>
              <a:off x="18047804" y="313479"/>
              <a:ext cx="3027361" cy="3027361"/>
            </a:xfrm>
            <a:custGeom>
              <a:avLst/>
              <a:gdLst/>
              <a:ahLst/>
              <a:cxnLst/>
              <a:rect l="l" t="t" r="r" b="b"/>
              <a:pathLst>
                <a:path w="3027361" h="3027361">
                  <a:moveTo>
                    <a:pt x="0" y="0"/>
                  </a:moveTo>
                  <a:lnTo>
                    <a:pt x="3027360" y="0"/>
                  </a:lnTo>
                  <a:lnTo>
                    <a:pt x="3027360" y="3027361"/>
                  </a:lnTo>
                  <a:lnTo>
                    <a:pt x="0" y="3027361"/>
                  </a:lnTo>
                  <a:lnTo>
                    <a:pt x="0" y="0"/>
                  </a:lnTo>
                  <a:close/>
                </a:path>
              </a:pathLst>
            </a:custGeom>
            <a:blipFill>
              <a:blip r:embed="rId14"/>
              <a:stretch>
                <a:fillRect/>
              </a:stretch>
            </a:blipFill>
          </p:spPr>
        </p:sp>
      </p:grpSp>
      <p:grpSp>
        <p:nvGrpSpPr>
          <p:cNvPr id="20" name="Group 20"/>
          <p:cNvGrpSpPr/>
          <p:nvPr/>
        </p:nvGrpSpPr>
        <p:grpSpPr>
          <a:xfrm>
            <a:off x="15634456" y="9356048"/>
            <a:ext cx="2653544" cy="930952"/>
            <a:chOff x="0" y="0"/>
            <a:chExt cx="3538059" cy="1241269"/>
          </a:xfrm>
        </p:grpSpPr>
        <p:sp>
          <p:nvSpPr>
            <p:cNvPr id="21" name="Freeform 21"/>
            <p:cNvSpPr/>
            <p:nvPr/>
          </p:nvSpPr>
          <p:spPr>
            <a:xfrm>
              <a:off x="0" y="0"/>
              <a:ext cx="3538059" cy="1241269"/>
            </a:xfrm>
            <a:custGeom>
              <a:avLst/>
              <a:gdLst/>
              <a:ahLst/>
              <a:cxnLst/>
              <a:rect l="l" t="t" r="r" b="b"/>
              <a:pathLst>
                <a:path w="3538059" h="1241269">
                  <a:moveTo>
                    <a:pt x="0" y="0"/>
                  </a:moveTo>
                  <a:lnTo>
                    <a:pt x="3538059" y="0"/>
                  </a:lnTo>
                  <a:lnTo>
                    <a:pt x="3538059" y="1241269"/>
                  </a:lnTo>
                  <a:lnTo>
                    <a:pt x="0" y="1241269"/>
                  </a:lnTo>
                  <a:lnTo>
                    <a:pt x="0" y="0"/>
                  </a:lnTo>
                  <a:close/>
                </a:path>
              </a:pathLst>
            </a:custGeom>
            <a:blipFill>
              <a:blip r:embed="rId15"/>
              <a:stretch>
                <a:fillRect/>
              </a:stretch>
            </a:blipFill>
          </p:spPr>
        </p:sp>
        <p:sp>
          <p:nvSpPr>
            <p:cNvPr id="22" name="TextBox 22"/>
            <p:cNvSpPr txBox="1"/>
            <p:nvPr/>
          </p:nvSpPr>
          <p:spPr>
            <a:xfrm>
              <a:off x="530446" y="297004"/>
              <a:ext cx="2477166" cy="590111"/>
            </a:xfrm>
            <a:prstGeom prst="rect">
              <a:avLst/>
            </a:prstGeom>
          </p:spPr>
          <p:txBody>
            <a:bodyPr lIns="0" tIns="0" rIns="0" bIns="0" rtlCol="0" anchor="t">
              <a:spAutoFit/>
            </a:bodyPr>
            <a:lstStyle/>
            <a:p>
              <a:pPr algn="ctr">
                <a:lnSpc>
                  <a:spcPts val="3750"/>
                </a:lnSpc>
                <a:spcBef>
                  <a:spcPct val="0"/>
                </a:spcBef>
              </a:pPr>
              <a:r>
                <a:rPr lang="en-US" sz="2678" b="1">
                  <a:solidFill>
                    <a:srgbClr val="021048"/>
                  </a:solidFill>
                  <a:latin typeface="Open Sans Bold"/>
                  <a:ea typeface="Open Sans Bold"/>
                  <a:cs typeface="Open Sans Bold"/>
                  <a:sym typeface="Open Sans Bold"/>
                </a:rPr>
                <a:t>AND MORE</a:t>
              </a:r>
            </a:p>
          </p:txBody>
        </p:sp>
      </p:grpSp>
      <p:grpSp>
        <p:nvGrpSpPr>
          <p:cNvPr id="23" name="Group 23"/>
          <p:cNvGrpSpPr/>
          <p:nvPr/>
        </p:nvGrpSpPr>
        <p:grpSpPr>
          <a:xfrm>
            <a:off x="804982" y="8998387"/>
            <a:ext cx="11889708" cy="1407635"/>
            <a:chOff x="0" y="0"/>
            <a:chExt cx="15852944" cy="1876847"/>
          </a:xfrm>
        </p:grpSpPr>
        <p:sp>
          <p:nvSpPr>
            <p:cNvPr id="24" name="Freeform 24"/>
            <p:cNvSpPr/>
            <p:nvPr/>
          </p:nvSpPr>
          <p:spPr>
            <a:xfrm>
              <a:off x="8312040" y="0"/>
              <a:ext cx="7540904" cy="1876847"/>
            </a:xfrm>
            <a:custGeom>
              <a:avLst/>
              <a:gdLst/>
              <a:ahLst/>
              <a:cxnLst/>
              <a:rect l="l" t="t" r="r" b="b"/>
              <a:pathLst>
                <a:path w="7540904" h="1876847">
                  <a:moveTo>
                    <a:pt x="0" y="0"/>
                  </a:moveTo>
                  <a:lnTo>
                    <a:pt x="7540904" y="0"/>
                  </a:lnTo>
                  <a:lnTo>
                    <a:pt x="7540904" y="1876847"/>
                  </a:lnTo>
                  <a:lnTo>
                    <a:pt x="0" y="1876847"/>
                  </a:lnTo>
                  <a:lnTo>
                    <a:pt x="0" y="0"/>
                  </a:lnTo>
                  <a:close/>
                </a:path>
              </a:pathLst>
            </a:custGeom>
            <a:blipFill>
              <a:blip r:embed="rId16"/>
              <a:stretch>
                <a:fillRect/>
              </a:stretch>
            </a:blipFill>
          </p:spPr>
        </p:sp>
        <p:sp>
          <p:nvSpPr>
            <p:cNvPr id="25" name="Freeform 25"/>
            <p:cNvSpPr/>
            <p:nvPr/>
          </p:nvSpPr>
          <p:spPr>
            <a:xfrm>
              <a:off x="0" y="402549"/>
              <a:ext cx="7030326" cy="1377800"/>
            </a:xfrm>
            <a:custGeom>
              <a:avLst/>
              <a:gdLst/>
              <a:ahLst/>
              <a:cxnLst/>
              <a:rect l="l" t="t" r="r" b="b"/>
              <a:pathLst>
                <a:path w="7030326" h="1377800">
                  <a:moveTo>
                    <a:pt x="0" y="0"/>
                  </a:moveTo>
                  <a:lnTo>
                    <a:pt x="7030326" y="0"/>
                  </a:lnTo>
                  <a:lnTo>
                    <a:pt x="7030326" y="1377800"/>
                  </a:lnTo>
                  <a:lnTo>
                    <a:pt x="0" y="1377800"/>
                  </a:lnTo>
                  <a:lnTo>
                    <a:pt x="0" y="0"/>
                  </a:lnTo>
                  <a:close/>
                </a:path>
              </a:pathLst>
            </a:custGeom>
            <a:blipFill>
              <a:blip r:embed="rId17"/>
              <a:stretch>
                <a:fillRect r="-13611"/>
              </a:stretch>
            </a:blipFill>
          </p:spPr>
        </p:sp>
        <p:sp>
          <p:nvSpPr>
            <p:cNvPr id="26" name="Freeform 26"/>
            <p:cNvSpPr/>
            <p:nvPr/>
          </p:nvSpPr>
          <p:spPr>
            <a:xfrm>
              <a:off x="0" y="402549"/>
              <a:ext cx="6929146" cy="1361698"/>
            </a:xfrm>
            <a:custGeom>
              <a:avLst/>
              <a:gdLst/>
              <a:ahLst/>
              <a:cxnLst/>
              <a:rect l="l" t="t" r="r" b="b"/>
              <a:pathLst>
                <a:path w="6929146" h="1361698">
                  <a:moveTo>
                    <a:pt x="0" y="0"/>
                  </a:moveTo>
                  <a:lnTo>
                    <a:pt x="6929146" y="0"/>
                  </a:lnTo>
                  <a:lnTo>
                    <a:pt x="6929146" y="1361698"/>
                  </a:lnTo>
                  <a:lnTo>
                    <a:pt x="0" y="1361698"/>
                  </a:lnTo>
                  <a:lnTo>
                    <a:pt x="0" y="0"/>
                  </a:lnTo>
                  <a:close/>
                </a:path>
              </a:pathLst>
            </a:custGeom>
            <a:blipFill>
              <a:blip r:embed="rId18"/>
              <a:stretch>
                <a:fillRect/>
              </a:stretch>
            </a:blipFill>
          </p:spPr>
        </p:sp>
      </p:grpSp>
      <p:grpSp>
        <p:nvGrpSpPr>
          <p:cNvPr id="27" name="Group 27"/>
          <p:cNvGrpSpPr/>
          <p:nvPr/>
        </p:nvGrpSpPr>
        <p:grpSpPr>
          <a:xfrm>
            <a:off x="804982" y="7008533"/>
            <a:ext cx="9680188" cy="2249767"/>
            <a:chOff x="0" y="0"/>
            <a:chExt cx="12906918" cy="2999689"/>
          </a:xfrm>
        </p:grpSpPr>
        <p:sp>
          <p:nvSpPr>
            <p:cNvPr id="28" name="Freeform 28"/>
            <p:cNvSpPr/>
            <p:nvPr/>
          </p:nvSpPr>
          <p:spPr>
            <a:xfrm>
              <a:off x="8150719" y="500388"/>
              <a:ext cx="4756199" cy="2499301"/>
            </a:xfrm>
            <a:custGeom>
              <a:avLst/>
              <a:gdLst/>
              <a:ahLst/>
              <a:cxnLst/>
              <a:rect l="l" t="t" r="r" b="b"/>
              <a:pathLst>
                <a:path w="4756199" h="2499301">
                  <a:moveTo>
                    <a:pt x="0" y="0"/>
                  </a:moveTo>
                  <a:lnTo>
                    <a:pt x="4756199" y="0"/>
                  </a:lnTo>
                  <a:lnTo>
                    <a:pt x="4756199" y="2499301"/>
                  </a:lnTo>
                  <a:lnTo>
                    <a:pt x="0" y="2499301"/>
                  </a:lnTo>
                  <a:lnTo>
                    <a:pt x="0" y="0"/>
                  </a:lnTo>
                  <a:close/>
                </a:path>
              </a:pathLst>
            </a:custGeom>
            <a:blipFill>
              <a:blip r:embed="rId19"/>
              <a:stretch>
                <a:fillRect l="-7477" r="-6497" b="-28502"/>
              </a:stretch>
            </a:blipFill>
          </p:spPr>
        </p:sp>
        <p:sp>
          <p:nvSpPr>
            <p:cNvPr id="29" name="Freeform 29"/>
            <p:cNvSpPr/>
            <p:nvPr/>
          </p:nvSpPr>
          <p:spPr>
            <a:xfrm>
              <a:off x="4601710" y="402549"/>
              <a:ext cx="2188390" cy="2188390"/>
            </a:xfrm>
            <a:custGeom>
              <a:avLst/>
              <a:gdLst/>
              <a:ahLst/>
              <a:cxnLst/>
              <a:rect l="l" t="t" r="r" b="b"/>
              <a:pathLst>
                <a:path w="2188390" h="2188390">
                  <a:moveTo>
                    <a:pt x="0" y="0"/>
                  </a:moveTo>
                  <a:lnTo>
                    <a:pt x="2188390" y="0"/>
                  </a:lnTo>
                  <a:lnTo>
                    <a:pt x="2188390" y="2188390"/>
                  </a:lnTo>
                  <a:lnTo>
                    <a:pt x="0" y="2188390"/>
                  </a:lnTo>
                  <a:lnTo>
                    <a:pt x="0" y="0"/>
                  </a:lnTo>
                  <a:close/>
                </a:path>
              </a:pathLst>
            </a:custGeom>
            <a:blipFill>
              <a:blip r:embed="rId20"/>
              <a:stretch>
                <a:fillRect/>
              </a:stretch>
            </a:blipFill>
          </p:spPr>
        </p:sp>
        <p:sp>
          <p:nvSpPr>
            <p:cNvPr id="30" name="Freeform 30"/>
            <p:cNvSpPr/>
            <p:nvPr/>
          </p:nvSpPr>
          <p:spPr>
            <a:xfrm>
              <a:off x="0" y="0"/>
              <a:ext cx="2993489" cy="2993489"/>
            </a:xfrm>
            <a:custGeom>
              <a:avLst/>
              <a:gdLst/>
              <a:ahLst/>
              <a:cxnLst/>
              <a:rect l="l" t="t" r="r" b="b"/>
              <a:pathLst>
                <a:path w="2993489" h="2993489">
                  <a:moveTo>
                    <a:pt x="0" y="0"/>
                  </a:moveTo>
                  <a:lnTo>
                    <a:pt x="2993489" y="0"/>
                  </a:lnTo>
                  <a:lnTo>
                    <a:pt x="2993489" y="2993489"/>
                  </a:lnTo>
                  <a:lnTo>
                    <a:pt x="0" y="2993489"/>
                  </a:lnTo>
                  <a:lnTo>
                    <a:pt x="0" y="0"/>
                  </a:lnTo>
                  <a:close/>
                </a:path>
              </a:pathLst>
            </a:custGeom>
            <a:blipFill>
              <a:blip r:embed="rId21"/>
              <a:stretch>
                <a:fillRect/>
              </a:stretch>
            </a:blipFill>
          </p:spPr>
        </p:sp>
      </p:grpSp>
      <p:sp>
        <p:nvSpPr>
          <p:cNvPr id="31" name="TextBox 31"/>
          <p:cNvSpPr txBox="1"/>
          <p:nvPr/>
        </p:nvSpPr>
        <p:spPr>
          <a:xfrm>
            <a:off x="995680" y="125882"/>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CLIENTS</a:t>
            </a:r>
          </a:p>
        </p:txBody>
      </p:sp>
      <p:sp>
        <p:nvSpPr>
          <p:cNvPr id="32" name="Freeform 32"/>
          <p:cNvSpPr/>
          <p:nvPr/>
        </p:nvSpPr>
        <p:spPr>
          <a:xfrm>
            <a:off x="1028700" y="1527417"/>
            <a:ext cx="6721258" cy="1030320"/>
          </a:xfrm>
          <a:custGeom>
            <a:avLst/>
            <a:gdLst/>
            <a:ahLst/>
            <a:cxnLst/>
            <a:rect l="l" t="t" r="r" b="b"/>
            <a:pathLst>
              <a:path w="6721258" h="1030320">
                <a:moveTo>
                  <a:pt x="0" y="0"/>
                </a:moveTo>
                <a:lnTo>
                  <a:pt x="6721258" y="0"/>
                </a:lnTo>
                <a:lnTo>
                  <a:pt x="6721258" y="1030320"/>
                </a:lnTo>
                <a:lnTo>
                  <a:pt x="0" y="1030320"/>
                </a:lnTo>
                <a:lnTo>
                  <a:pt x="0" y="0"/>
                </a:lnTo>
                <a:close/>
              </a:path>
            </a:pathLst>
          </a:custGeom>
          <a:blipFill>
            <a:blip r:embed="rId22"/>
            <a:stretch>
              <a:fillRect t="-333850" r="-133731" b="-31195"/>
            </a:stretch>
          </a:blipFill>
        </p:spPr>
      </p:sp>
      <p:sp>
        <p:nvSpPr>
          <p:cNvPr id="33" name="TextBox 33"/>
          <p:cNvSpPr txBox="1"/>
          <p:nvPr/>
        </p:nvSpPr>
        <p:spPr>
          <a:xfrm>
            <a:off x="804982" y="1375017"/>
            <a:ext cx="6944976"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 WE 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018225"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07747"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5998324"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451226" y="1192571"/>
            <a:ext cx="13591383" cy="1094826"/>
          </a:xfrm>
          <a:prstGeom prst="rect">
            <a:avLst/>
          </a:prstGeom>
        </p:spPr>
        <p:txBody>
          <a:bodyPr lIns="0" tIns="0" rIns="0" bIns="0" rtlCol="0" anchor="t">
            <a:spAutoFit/>
          </a:bodyPr>
          <a:lstStyle/>
          <a:p>
            <a:pPr algn="ctr">
              <a:lnSpc>
                <a:spcPts val="8955"/>
              </a:lnSpc>
              <a:spcBef>
                <a:spcPct val="0"/>
              </a:spcBef>
            </a:pPr>
            <a:r>
              <a:rPr lang="en-US" sz="6396" b="1">
                <a:solidFill>
                  <a:srgbClr val="010F48"/>
                </a:solidFill>
                <a:latin typeface="Anantason SemiExpanded Bold"/>
                <a:ea typeface="Anantason SemiExpanded Bold"/>
                <a:cs typeface="Anantason SemiExpanded Bold"/>
                <a:sym typeface="Anantason SemiExpanded Bold"/>
              </a:rPr>
              <a:t>OUR GROWING NETWORK</a:t>
            </a:r>
          </a:p>
        </p:txBody>
      </p:sp>
      <p:sp>
        <p:nvSpPr>
          <p:cNvPr id="9" name="TextBox 9"/>
          <p:cNvSpPr txBox="1"/>
          <p:nvPr/>
        </p:nvSpPr>
        <p:spPr>
          <a:xfrm>
            <a:off x="3591694" y="3874372"/>
            <a:ext cx="11460880" cy="1684655"/>
          </a:xfrm>
          <a:prstGeom prst="rect">
            <a:avLst/>
          </a:prstGeom>
        </p:spPr>
        <p:txBody>
          <a:bodyPr lIns="0" tIns="0" rIns="0" bIns="0" rtlCol="0" anchor="t">
            <a:spAutoFit/>
          </a:bodyPr>
          <a:lstStyle/>
          <a:p>
            <a:pPr algn="just">
              <a:lnSpc>
                <a:spcPts val="4029"/>
              </a:lnSpc>
            </a:pPr>
            <a:r>
              <a:rPr lang="en-US" sz="3099" spc="-30" dirty="0">
                <a:solidFill>
                  <a:srgbClr val="000000"/>
                </a:solidFill>
                <a:latin typeface="Prachason Neue SemiExpanded"/>
                <a:ea typeface="Prachason Neue SemiExpanded"/>
                <a:cs typeface="Prachason Neue SemiExpanded"/>
                <a:sym typeface="Prachason Neue SemiExpanded"/>
              </a:rPr>
              <a:t>A growing consultancy firm for insurance solution with a strong client network, committed to promoting wellness, preventive health, and lifestyle benefits for its members.</a:t>
            </a:r>
          </a:p>
        </p:txBody>
      </p:sp>
      <p:sp>
        <p:nvSpPr>
          <p:cNvPr id="10" name="TextBox 10"/>
          <p:cNvSpPr txBox="1"/>
          <p:nvPr/>
        </p:nvSpPr>
        <p:spPr>
          <a:xfrm>
            <a:off x="3465705" y="2806582"/>
            <a:ext cx="11712858" cy="712470"/>
          </a:xfrm>
          <a:prstGeom prst="rect">
            <a:avLst/>
          </a:prstGeom>
        </p:spPr>
        <p:txBody>
          <a:bodyPr lIns="0" tIns="0" rIns="0" bIns="0" rtlCol="0" anchor="t">
            <a:spAutoFit/>
          </a:bodyPr>
          <a:lstStyle/>
          <a:p>
            <a:pPr algn="ctr">
              <a:lnSpc>
                <a:spcPts val="5879"/>
              </a:lnSpc>
              <a:spcBef>
                <a:spcPct val="0"/>
              </a:spcBef>
            </a:pPr>
            <a:r>
              <a:rPr lang="en-US" sz="4199" b="1" u="sng">
                <a:solidFill>
                  <a:srgbClr val="010F48"/>
                </a:solidFill>
                <a:latin typeface="Anantason SemiExpanded Bold"/>
                <a:ea typeface="Anantason SemiExpanded Bold"/>
                <a:cs typeface="Anantason SemiExpanded Bold"/>
                <a:sym typeface="Anantason SemiExpanded Bold"/>
              </a:rPr>
              <a:t>RMC2 CONSULTANCY CORP</a:t>
            </a:r>
          </a:p>
        </p:txBody>
      </p:sp>
      <p:sp>
        <p:nvSpPr>
          <p:cNvPr id="11" name="TextBox 11"/>
          <p:cNvSpPr txBox="1"/>
          <p:nvPr/>
        </p:nvSpPr>
        <p:spPr>
          <a:xfrm>
            <a:off x="680350" y="7744755"/>
            <a:ext cx="6051527"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SALES ADVISORS</a:t>
            </a:r>
          </a:p>
        </p:txBody>
      </p:sp>
      <p:sp>
        <p:nvSpPr>
          <p:cNvPr id="12" name="TextBox 12"/>
          <p:cNvSpPr txBox="1"/>
          <p:nvPr/>
        </p:nvSpPr>
        <p:spPr>
          <a:xfrm>
            <a:off x="1787765" y="6450941"/>
            <a:ext cx="307166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1,200</a:t>
            </a:r>
          </a:p>
        </p:txBody>
      </p:sp>
      <p:sp>
        <p:nvSpPr>
          <p:cNvPr id="13" name="TextBox 13"/>
          <p:cNvSpPr txBox="1"/>
          <p:nvPr/>
        </p:nvSpPr>
        <p:spPr>
          <a:xfrm>
            <a:off x="7154921" y="6450941"/>
            <a:ext cx="3848249"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15,300</a:t>
            </a:r>
          </a:p>
        </p:txBody>
      </p:sp>
      <p:sp>
        <p:nvSpPr>
          <p:cNvPr id="14" name="TextBox 14"/>
          <p:cNvSpPr txBox="1"/>
          <p:nvPr/>
        </p:nvSpPr>
        <p:spPr>
          <a:xfrm>
            <a:off x="7119734" y="7769521"/>
            <a:ext cx="4594250"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GROUP ENROLLEES</a:t>
            </a:r>
          </a:p>
        </p:txBody>
      </p:sp>
      <p:sp>
        <p:nvSpPr>
          <p:cNvPr id="15" name="TextBox 15"/>
          <p:cNvSpPr txBox="1"/>
          <p:nvPr/>
        </p:nvSpPr>
        <p:spPr>
          <a:xfrm>
            <a:off x="13610330" y="6516973"/>
            <a:ext cx="230899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900</a:t>
            </a:r>
          </a:p>
        </p:txBody>
      </p:sp>
      <p:sp>
        <p:nvSpPr>
          <p:cNvPr id="16" name="TextBox 16"/>
          <p:cNvSpPr txBox="1"/>
          <p:nvPr/>
        </p:nvSpPr>
        <p:spPr>
          <a:xfrm>
            <a:off x="12558088" y="7769521"/>
            <a:ext cx="5186288"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INDIVIDUAL ACCOUNT</a:t>
            </a:r>
          </a:p>
        </p:txBody>
      </p:sp>
      <p:sp>
        <p:nvSpPr>
          <p:cNvPr id="17" name="TextBox 17"/>
          <p:cNvSpPr txBox="1"/>
          <p:nvPr/>
        </p:nvSpPr>
        <p:spPr>
          <a:xfrm>
            <a:off x="72790" y="9940925"/>
            <a:ext cx="2582714" cy="346075"/>
          </a:xfrm>
          <a:prstGeom prst="rect">
            <a:avLst/>
          </a:prstGeom>
        </p:spPr>
        <p:txBody>
          <a:bodyPr lIns="0" tIns="0" rIns="0" bIns="0" rtlCol="0" anchor="t">
            <a:spAutoFit/>
          </a:bodyPr>
          <a:lstStyle/>
          <a:p>
            <a:pPr algn="l">
              <a:lnSpc>
                <a:spcPts val="1400"/>
              </a:lnSpc>
            </a:pPr>
            <a:r>
              <a:rPr lang="en-US" sz="1000" i="1">
                <a:solidFill>
                  <a:srgbClr val="000000"/>
                </a:solidFill>
                <a:latin typeface="Anantason SemiExpanded Italics"/>
                <a:ea typeface="Anantason SemiExpanded Italics"/>
                <a:cs typeface="Anantason SemiExpanded Italics"/>
                <a:sym typeface="Anantason SemiExpanded Italics"/>
              </a:rPr>
              <a:t>*DATA FROM </a:t>
            </a:r>
          </a:p>
          <a:p>
            <a:pPr algn="l">
              <a:lnSpc>
                <a:spcPts val="1400"/>
              </a:lnSpc>
              <a:spcBef>
                <a:spcPct val="0"/>
              </a:spcBef>
            </a:pPr>
            <a:r>
              <a:rPr lang="en-US" sz="1000" i="1">
                <a:solidFill>
                  <a:srgbClr val="000000"/>
                </a:solidFill>
                <a:latin typeface="Anantason SemiExpanded Italics"/>
                <a:ea typeface="Anantason SemiExpanded Italics"/>
                <a:cs typeface="Anantason SemiExpanded Italics"/>
                <a:sym typeface="Anantason SemiExpanded Italics"/>
              </a:rPr>
              <a:t>SEPTEMBER 2024 - NOVEMBER 2025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rot="5400000">
            <a:off x="-982828" y="5787091"/>
            <a:ext cx="7560213" cy="5594557"/>
          </a:xfrm>
          <a:custGeom>
            <a:avLst/>
            <a:gdLst/>
            <a:ahLst/>
            <a:cxnLst/>
            <a:rect l="l" t="t" r="r" b="b"/>
            <a:pathLst>
              <a:path w="7560213" h="5594557">
                <a:moveTo>
                  <a:pt x="0" y="0"/>
                </a:moveTo>
                <a:lnTo>
                  <a:pt x="7560213" y="0"/>
                </a:lnTo>
                <a:lnTo>
                  <a:pt x="7560213" y="5594557"/>
                </a:lnTo>
                <a:lnTo>
                  <a:pt x="0" y="55945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246" r="-2781" b="-7028"/>
              </a:stretch>
            </a:blipFill>
          </p:spPr>
        </p:sp>
      </p:grpSp>
      <p:sp>
        <p:nvSpPr>
          <p:cNvPr id="9" name="TextBox 9"/>
          <p:cNvSpPr txBox="1"/>
          <p:nvPr/>
        </p:nvSpPr>
        <p:spPr>
          <a:xfrm>
            <a:off x="8857915" y="454389"/>
            <a:ext cx="5492561" cy="1401535"/>
          </a:xfrm>
          <a:prstGeom prst="rect">
            <a:avLst/>
          </a:prstGeom>
        </p:spPr>
        <p:txBody>
          <a:bodyPr lIns="0" tIns="0" rIns="0" bIns="0" rtlCol="0" anchor="t">
            <a:spAutoFit/>
          </a:bodyPr>
          <a:lstStyle/>
          <a:p>
            <a:pPr algn="l">
              <a:lnSpc>
                <a:spcPts val="11475"/>
              </a:lnSpc>
              <a:spcBef>
                <a:spcPct val="0"/>
              </a:spcBef>
            </a:pPr>
            <a:r>
              <a:rPr lang="en-US" sz="8196" b="1">
                <a:solidFill>
                  <a:srgbClr val="000000"/>
                </a:solidFill>
                <a:latin typeface="Anantason SemiExpanded Bold"/>
                <a:ea typeface="Anantason SemiExpanded Bold"/>
                <a:cs typeface="Anantason SemiExpanded Bold"/>
                <a:sym typeface="Anantason SemiExpanded Bold"/>
              </a:rPr>
              <a:t>OUR</a:t>
            </a:r>
          </a:p>
        </p:txBody>
      </p:sp>
      <p:sp>
        <p:nvSpPr>
          <p:cNvPr id="10" name="TextBox 10"/>
          <p:cNvSpPr txBox="1"/>
          <p:nvPr/>
        </p:nvSpPr>
        <p:spPr>
          <a:xfrm>
            <a:off x="8857915" y="1487941"/>
            <a:ext cx="6876747"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OFFICES</a:t>
            </a:r>
          </a:p>
        </p:txBody>
      </p:sp>
      <p:sp>
        <p:nvSpPr>
          <p:cNvPr id="11" name="TextBox 11"/>
          <p:cNvSpPr txBox="1"/>
          <p:nvPr/>
        </p:nvSpPr>
        <p:spPr>
          <a:xfrm>
            <a:off x="8212037" y="2913123"/>
            <a:ext cx="5300504" cy="5893216"/>
          </a:xfrm>
          <a:prstGeom prst="rect">
            <a:avLst/>
          </a:prstGeom>
        </p:spPr>
        <p:txBody>
          <a:bodyPr lIns="0" tIns="0" rIns="0" bIns="0" rtlCol="0" anchor="t">
            <a:spAutoFit/>
          </a:bodyPr>
          <a:lstStyle/>
          <a:p>
            <a:pPr algn="just">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LUZON: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Cainta - HEAD OFFICE</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Antipolo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Taytay</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Bulacan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Valenzuela</a:t>
            </a:r>
          </a:p>
          <a:p>
            <a:pPr algn="just">
              <a:lnSpc>
                <a:spcPts val="3311"/>
              </a:lnSpc>
            </a:pPr>
            <a:r>
              <a:rPr lang="en-US" sz="2547" spc="-25" dirty="0" err="1">
                <a:solidFill>
                  <a:srgbClr val="000000"/>
                </a:solidFill>
                <a:latin typeface="Prachason Neue SemiExpanded"/>
                <a:ea typeface="Prachason Neue SemiExpanded"/>
                <a:cs typeface="Prachason Neue SemiExpanded"/>
                <a:sym typeface="Prachason Neue SemiExpanded"/>
              </a:rPr>
              <a:t>Lipa</a:t>
            </a:r>
            <a:endParaRPr lang="en-US" sz="2547" spc="-25" dirty="0">
              <a:solidFill>
                <a:srgbClr val="000000"/>
              </a:solidFill>
              <a:latin typeface="Prachason Neue SemiExpanded"/>
              <a:ea typeface="Prachason Neue SemiExpanded"/>
              <a:cs typeface="Prachason Neue SemiExpanded"/>
              <a:sym typeface="Prachason Neue SemiExpanded"/>
            </a:endParaRP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Pampanga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La Union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Baguio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Isabela</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Bicol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Quezon City 1 &amp; 2</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Ilagan - OPENING SOON</a:t>
            </a:r>
          </a:p>
        </p:txBody>
      </p:sp>
      <p:sp>
        <p:nvSpPr>
          <p:cNvPr id="12" name="TextBox 12"/>
          <p:cNvSpPr txBox="1"/>
          <p:nvPr/>
        </p:nvSpPr>
        <p:spPr>
          <a:xfrm>
            <a:off x="12072585" y="4802718"/>
            <a:ext cx="4216456" cy="8149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MINDANAO:</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General Santos City</a:t>
            </a:r>
          </a:p>
        </p:txBody>
      </p:sp>
      <p:sp>
        <p:nvSpPr>
          <p:cNvPr id="13" name="TextBox 13"/>
          <p:cNvSpPr txBox="1"/>
          <p:nvPr/>
        </p:nvSpPr>
        <p:spPr>
          <a:xfrm>
            <a:off x="12091635" y="2946794"/>
            <a:ext cx="6888837" cy="13964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VISAYAS:</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Mandaue City - REGIONAL HEAD OFFICE</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Cebu City - OPENING SOON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fade">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fade">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fade">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fade">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
                                            <p:txEl>
                                              <p:pRg st="10" end="10"/>
                                            </p:txEl>
                                          </p:spTgt>
                                        </p:tgtEl>
                                        <p:attrNameLst>
                                          <p:attrName>style.visibility</p:attrName>
                                        </p:attrNameLst>
                                      </p:cBhvr>
                                      <p:to>
                                        <p:strVal val="visible"/>
                                      </p:to>
                                    </p:set>
                                    <p:animEffect transition="in" filter="fade">
                                      <p:cBhvr>
                                        <p:cTn id="57" dur="500"/>
                                        <p:tgtEl>
                                          <p:spTgt spid="1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
                                            <p:txEl>
                                              <p:pRg st="11" end="11"/>
                                            </p:txEl>
                                          </p:spTgt>
                                        </p:tgtEl>
                                        <p:attrNameLst>
                                          <p:attrName>style.visibility</p:attrName>
                                        </p:attrNameLst>
                                      </p:cBhvr>
                                      <p:to>
                                        <p:strVal val="visible"/>
                                      </p:to>
                                    </p:set>
                                    <p:animEffect transition="in" filter="fade">
                                      <p:cBhvr>
                                        <p:cTn id="62" dur="500"/>
                                        <p:tgtEl>
                                          <p:spTgt spid="1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
                                            <p:txEl>
                                              <p:pRg st="12" end="12"/>
                                            </p:txEl>
                                          </p:spTgt>
                                        </p:tgtEl>
                                        <p:attrNameLst>
                                          <p:attrName>style.visibility</p:attrName>
                                        </p:attrNameLst>
                                      </p:cBhvr>
                                      <p:to>
                                        <p:strVal val="visible"/>
                                      </p:to>
                                    </p:set>
                                    <p:animEffect transition="in" filter="fade">
                                      <p:cBhvr>
                                        <p:cTn id="67" dur="500"/>
                                        <p:tgtEl>
                                          <p:spTgt spid="1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
                                            <p:txEl>
                                              <p:pRg st="13" end="13"/>
                                            </p:txEl>
                                          </p:spTgt>
                                        </p:tgtEl>
                                        <p:attrNameLst>
                                          <p:attrName>style.visibility</p:attrName>
                                        </p:attrNameLst>
                                      </p:cBhvr>
                                      <p:to>
                                        <p:strVal val="visible"/>
                                      </p:to>
                                    </p:set>
                                    <p:animEffect transition="in" filter="fade">
                                      <p:cBhvr>
                                        <p:cTn id="72" dur="500"/>
                                        <p:tgtEl>
                                          <p:spTgt spid="1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500"/>
                                        <p:tgtEl>
                                          <p:spTgt spid="1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
                                            <p:txEl>
                                              <p:pRg st="1" end="1"/>
                                            </p:txEl>
                                          </p:spTgt>
                                        </p:tgtEl>
                                        <p:attrNameLst>
                                          <p:attrName>style.visibility</p:attrName>
                                        </p:attrNameLst>
                                      </p:cBhvr>
                                      <p:to>
                                        <p:strVal val="visible"/>
                                      </p:to>
                                    </p:set>
                                    <p:animEffect transition="in" filter="fade">
                                      <p:cBhvr>
                                        <p:cTn id="82" dur="500"/>
                                        <p:tgtEl>
                                          <p:spTgt spid="13">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3">
                                            <p:txEl>
                                              <p:pRg st="2" end="2"/>
                                            </p:txEl>
                                          </p:spTgt>
                                        </p:tgtEl>
                                        <p:attrNameLst>
                                          <p:attrName>style.visibility</p:attrName>
                                        </p:attrNameLst>
                                      </p:cBhvr>
                                      <p:to>
                                        <p:strVal val="visible"/>
                                      </p:to>
                                    </p:set>
                                    <p:animEffect transition="in" filter="fade">
                                      <p:cBhvr>
                                        <p:cTn id="87" dur="500"/>
                                        <p:tgtEl>
                                          <p:spTgt spid="13">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2">
                                            <p:txEl>
                                              <p:pRg st="0" end="0"/>
                                            </p:txEl>
                                          </p:spTgt>
                                        </p:tgtEl>
                                        <p:attrNameLst>
                                          <p:attrName>style.visibility</p:attrName>
                                        </p:attrNameLst>
                                      </p:cBhvr>
                                      <p:to>
                                        <p:strVal val="visible"/>
                                      </p:to>
                                    </p:set>
                                    <p:animEffect transition="in" filter="fade">
                                      <p:cBhvr>
                                        <p:cTn id="92" dur="500"/>
                                        <p:tgtEl>
                                          <p:spTgt spid="12">
                                            <p:txEl>
                                              <p:pRg st="0" end="0"/>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12">
                                            <p:txEl>
                                              <p:pRg st="1" end="1"/>
                                            </p:txEl>
                                          </p:spTgt>
                                        </p:tgtEl>
                                        <p:attrNameLst>
                                          <p:attrName>style.visibility</p:attrName>
                                        </p:attrNameLst>
                                      </p:cBhvr>
                                      <p:to>
                                        <p:strVal val="visible"/>
                                      </p:to>
                                    </p:set>
                                    <p:animEffect transition="in" filter="fade">
                                      <p:cBhvr>
                                        <p:cTn id="95"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220440"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5"/>
            <a:stretch>
              <a:fillRect/>
            </a:stretch>
          </a:blipFill>
        </p:spPr>
      </p:sp>
      <p:sp>
        <p:nvSpPr>
          <p:cNvPr id="6" name="Freeform 6"/>
          <p:cNvSpPr/>
          <p:nvPr/>
        </p:nvSpPr>
        <p:spPr>
          <a:xfrm>
            <a:off x="5378096" y="4119128"/>
            <a:ext cx="3682838" cy="2384638"/>
          </a:xfrm>
          <a:custGeom>
            <a:avLst/>
            <a:gdLst/>
            <a:ahLst/>
            <a:cxnLst/>
            <a:rect l="l" t="t" r="r" b="b"/>
            <a:pathLst>
              <a:path w="3682838" h="2384638">
                <a:moveTo>
                  <a:pt x="0" y="0"/>
                </a:moveTo>
                <a:lnTo>
                  <a:pt x="3682839" y="0"/>
                </a:lnTo>
                <a:lnTo>
                  <a:pt x="3682839" y="2384637"/>
                </a:lnTo>
                <a:lnTo>
                  <a:pt x="0" y="2384637"/>
                </a:lnTo>
                <a:lnTo>
                  <a:pt x="0" y="0"/>
                </a:lnTo>
                <a:close/>
              </a:path>
            </a:pathLst>
          </a:custGeom>
          <a:blipFill>
            <a:blip r:embed="rId6"/>
            <a:stretch>
              <a:fillRect/>
            </a:stretch>
          </a:blipFill>
        </p:spPr>
      </p:sp>
      <p:sp>
        <p:nvSpPr>
          <p:cNvPr id="7" name="Freeform 7"/>
          <p:cNvSpPr/>
          <p:nvPr/>
        </p:nvSpPr>
        <p:spPr>
          <a:xfrm>
            <a:off x="9537185"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7"/>
            <a:stretch>
              <a:fillRect/>
            </a:stretch>
          </a:blipFill>
        </p:spPr>
      </p:sp>
      <p:sp>
        <p:nvSpPr>
          <p:cNvPr id="8" name="Freeform 8"/>
          <p:cNvSpPr/>
          <p:nvPr/>
        </p:nvSpPr>
        <p:spPr>
          <a:xfrm>
            <a:off x="13576462"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8"/>
            <a:stretch>
              <a:fillRect/>
            </a:stretch>
          </a:blipFill>
        </p:spPr>
      </p:sp>
      <p:sp>
        <p:nvSpPr>
          <p:cNvPr id="9" name="Freeform 9"/>
          <p:cNvSpPr/>
          <p:nvPr/>
        </p:nvSpPr>
        <p:spPr>
          <a:xfrm>
            <a:off x="5378096" y="6873662"/>
            <a:ext cx="3682838" cy="2384638"/>
          </a:xfrm>
          <a:custGeom>
            <a:avLst/>
            <a:gdLst/>
            <a:ahLst/>
            <a:cxnLst/>
            <a:rect l="l" t="t" r="r" b="b"/>
            <a:pathLst>
              <a:path w="3682838" h="2384638">
                <a:moveTo>
                  <a:pt x="0" y="0"/>
                </a:moveTo>
                <a:lnTo>
                  <a:pt x="3682839" y="0"/>
                </a:lnTo>
                <a:lnTo>
                  <a:pt x="3682839" y="2384638"/>
                </a:lnTo>
                <a:lnTo>
                  <a:pt x="0" y="2384638"/>
                </a:lnTo>
                <a:lnTo>
                  <a:pt x="0" y="0"/>
                </a:lnTo>
                <a:close/>
              </a:path>
            </a:pathLst>
          </a:custGeom>
          <a:blipFill>
            <a:blip r:embed="rId9"/>
            <a:stretch>
              <a:fillRect/>
            </a:stretch>
          </a:blipFill>
        </p:spPr>
      </p:sp>
      <p:sp>
        <p:nvSpPr>
          <p:cNvPr id="10" name="Freeform 10"/>
          <p:cNvSpPr/>
          <p:nvPr/>
        </p:nvSpPr>
        <p:spPr>
          <a:xfrm>
            <a:off x="13643333" y="6916961"/>
            <a:ext cx="3615967" cy="2341339"/>
          </a:xfrm>
          <a:custGeom>
            <a:avLst/>
            <a:gdLst/>
            <a:ahLst/>
            <a:cxnLst/>
            <a:rect l="l" t="t" r="r" b="b"/>
            <a:pathLst>
              <a:path w="3615967" h="2341339">
                <a:moveTo>
                  <a:pt x="0" y="0"/>
                </a:moveTo>
                <a:lnTo>
                  <a:pt x="3615967" y="0"/>
                </a:lnTo>
                <a:lnTo>
                  <a:pt x="3615967" y="2341339"/>
                </a:lnTo>
                <a:lnTo>
                  <a:pt x="0" y="2341339"/>
                </a:lnTo>
                <a:lnTo>
                  <a:pt x="0" y="0"/>
                </a:lnTo>
                <a:close/>
              </a:path>
            </a:pathLst>
          </a:custGeom>
          <a:blipFill>
            <a:blip r:embed="rId10"/>
            <a:stretch>
              <a:fillRect/>
            </a:stretch>
          </a:blipFill>
        </p:spPr>
      </p:sp>
      <p:sp>
        <p:nvSpPr>
          <p:cNvPr id="11" name="Freeform 11"/>
          <p:cNvSpPr/>
          <p:nvPr/>
        </p:nvSpPr>
        <p:spPr>
          <a:xfrm>
            <a:off x="9537185" y="6873662"/>
            <a:ext cx="3682838" cy="2384638"/>
          </a:xfrm>
          <a:custGeom>
            <a:avLst/>
            <a:gdLst/>
            <a:ahLst/>
            <a:cxnLst/>
            <a:rect l="l" t="t" r="r" b="b"/>
            <a:pathLst>
              <a:path w="3682838" h="2384638">
                <a:moveTo>
                  <a:pt x="0" y="0"/>
                </a:moveTo>
                <a:lnTo>
                  <a:pt x="3682838" y="0"/>
                </a:lnTo>
                <a:lnTo>
                  <a:pt x="3682838" y="2384638"/>
                </a:lnTo>
                <a:lnTo>
                  <a:pt x="0" y="2384638"/>
                </a:lnTo>
                <a:lnTo>
                  <a:pt x="0" y="0"/>
                </a:lnTo>
                <a:close/>
              </a:path>
            </a:pathLst>
          </a:custGeom>
          <a:blipFill>
            <a:blip r:embed="rId11"/>
            <a:stretch>
              <a:fillRect/>
            </a:stretch>
          </a:blipFill>
        </p:spPr>
      </p:sp>
      <p:sp>
        <p:nvSpPr>
          <p:cNvPr id="12" name="Freeform 12"/>
          <p:cNvSpPr/>
          <p:nvPr/>
        </p:nvSpPr>
        <p:spPr>
          <a:xfrm>
            <a:off x="1220440" y="6873662"/>
            <a:ext cx="3681406" cy="2383711"/>
          </a:xfrm>
          <a:custGeom>
            <a:avLst/>
            <a:gdLst/>
            <a:ahLst/>
            <a:cxnLst/>
            <a:rect l="l" t="t" r="r" b="b"/>
            <a:pathLst>
              <a:path w="3681406" h="2383711">
                <a:moveTo>
                  <a:pt x="0" y="0"/>
                </a:moveTo>
                <a:lnTo>
                  <a:pt x="3681406" y="0"/>
                </a:lnTo>
                <a:lnTo>
                  <a:pt x="3681406" y="2383711"/>
                </a:lnTo>
                <a:lnTo>
                  <a:pt x="0" y="2383711"/>
                </a:lnTo>
                <a:lnTo>
                  <a:pt x="0" y="0"/>
                </a:lnTo>
                <a:close/>
              </a:path>
            </a:pathLst>
          </a:custGeom>
          <a:blipFill>
            <a:blip r:embed="rId12"/>
            <a:stretch>
              <a:fillRect/>
            </a:stretch>
          </a:blipFill>
        </p:spPr>
      </p:sp>
      <p:sp>
        <p:nvSpPr>
          <p:cNvPr id="13" name="TextBox 13"/>
          <p:cNvSpPr txBox="1"/>
          <p:nvPr/>
        </p:nvSpPr>
        <p:spPr>
          <a:xfrm>
            <a:off x="2451226" y="895350"/>
            <a:ext cx="13591383" cy="1193886"/>
          </a:xfrm>
          <a:prstGeom prst="rect">
            <a:avLst/>
          </a:prstGeom>
        </p:spPr>
        <p:txBody>
          <a:bodyPr lIns="0" tIns="0" rIns="0" bIns="0" rtlCol="0" anchor="t">
            <a:spAutoFit/>
          </a:bodyPr>
          <a:lstStyle/>
          <a:p>
            <a:pPr algn="ctr">
              <a:lnSpc>
                <a:spcPts val="9795"/>
              </a:lnSpc>
              <a:spcBef>
                <a:spcPct val="0"/>
              </a:spcBef>
            </a:pPr>
            <a:r>
              <a:rPr lang="en-US" sz="6996" b="1">
                <a:solidFill>
                  <a:srgbClr val="010F48"/>
                </a:solidFill>
                <a:latin typeface="Anantason SemiExpanded Bold"/>
                <a:ea typeface="Anantason SemiExpanded Bold"/>
                <a:cs typeface="Anantason SemiExpanded Bold"/>
                <a:sym typeface="Anantason SemiExpanded Bold"/>
              </a:rPr>
              <a:t>RMC2 PRODUCTS</a:t>
            </a:r>
          </a:p>
        </p:txBody>
      </p:sp>
      <p:sp>
        <p:nvSpPr>
          <p:cNvPr id="14" name="TextBox 14"/>
          <p:cNvSpPr txBox="1"/>
          <p:nvPr/>
        </p:nvSpPr>
        <p:spPr>
          <a:xfrm>
            <a:off x="3390488" y="2022561"/>
            <a:ext cx="11712858" cy="580390"/>
          </a:xfrm>
          <a:prstGeom prst="rect">
            <a:avLst/>
          </a:prstGeom>
        </p:spPr>
        <p:txBody>
          <a:bodyPr lIns="0" tIns="0" rIns="0" bIns="0" rtlCol="0" anchor="t">
            <a:spAutoFit/>
          </a:bodyPr>
          <a:lstStyle/>
          <a:p>
            <a:pPr algn="ctr">
              <a:lnSpc>
                <a:spcPts val="4760"/>
              </a:lnSpc>
              <a:spcBef>
                <a:spcPct val="0"/>
              </a:spcBef>
            </a:pPr>
            <a:r>
              <a:rPr lang="en-US" sz="3400" b="1" u="sng">
                <a:solidFill>
                  <a:srgbClr val="010F48"/>
                </a:solidFill>
                <a:latin typeface="Anantason SemiExpanded Bold"/>
                <a:ea typeface="Anantason SemiExpanded Bold"/>
                <a:cs typeface="Anantason SemiExpanded Bold"/>
                <a:sym typeface="Anantason SemiExpanded Bold"/>
              </a:rPr>
              <a:t>IN PARTNERSHIP WITH AMAPHIL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755606" y="361614"/>
            <a:ext cx="4776788" cy="2068688"/>
          </a:xfrm>
          <a:custGeom>
            <a:avLst/>
            <a:gdLst/>
            <a:ahLst/>
            <a:cxnLst/>
            <a:rect l="l" t="t" r="r" b="b"/>
            <a:pathLst>
              <a:path w="4776788" h="2068688">
                <a:moveTo>
                  <a:pt x="0" y="0"/>
                </a:moveTo>
                <a:lnTo>
                  <a:pt x="4776788" y="0"/>
                </a:lnTo>
                <a:lnTo>
                  <a:pt x="4776788" y="2068688"/>
                </a:lnTo>
                <a:lnTo>
                  <a:pt x="0" y="2068688"/>
                </a:lnTo>
                <a:lnTo>
                  <a:pt x="0" y="0"/>
                </a:lnTo>
                <a:close/>
              </a:path>
            </a:pathLst>
          </a:custGeom>
          <a:blipFill>
            <a:blip r:embed="rId5"/>
            <a:stretch>
              <a:fillRect/>
            </a:stretch>
          </a:blipFill>
        </p:spPr>
      </p:sp>
      <p:sp>
        <p:nvSpPr>
          <p:cNvPr id="6" name="Freeform 6"/>
          <p:cNvSpPr/>
          <p:nvPr/>
        </p:nvSpPr>
        <p:spPr>
          <a:xfrm>
            <a:off x="797315" y="3473634"/>
            <a:ext cx="2790310" cy="4896109"/>
          </a:xfrm>
          <a:custGeom>
            <a:avLst/>
            <a:gdLst/>
            <a:ahLst/>
            <a:cxnLst/>
            <a:rect l="l" t="t" r="r" b="b"/>
            <a:pathLst>
              <a:path w="2790310" h="4896109">
                <a:moveTo>
                  <a:pt x="0" y="0"/>
                </a:moveTo>
                <a:lnTo>
                  <a:pt x="2790311" y="0"/>
                </a:lnTo>
                <a:lnTo>
                  <a:pt x="2790311" y="4896109"/>
                </a:lnTo>
                <a:lnTo>
                  <a:pt x="0" y="4896109"/>
                </a:lnTo>
                <a:lnTo>
                  <a:pt x="0" y="0"/>
                </a:lnTo>
                <a:close/>
              </a:path>
            </a:pathLst>
          </a:custGeom>
          <a:blipFill>
            <a:blip r:embed="rId6"/>
            <a:stretch>
              <a:fillRect r="-555636" b="-30487"/>
            </a:stretch>
          </a:blipFill>
        </p:spPr>
      </p:sp>
      <p:sp>
        <p:nvSpPr>
          <p:cNvPr id="7" name="Freeform 7"/>
          <p:cNvSpPr/>
          <p:nvPr/>
        </p:nvSpPr>
        <p:spPr>
          <a:xfrm>
            <a:off x="6315534" y="3385174"/>
            <a:ext cx="2774644" cy="4896109"/>
          </a:xfrm>
          <a:custGeom>
            <a:avLst/>
            <a:gdLst/>
            <a:ahLst/>
            <a:cxnLst/>
            <a:rect l="l" t="t" r="r" b="b"/>
            <a:pathLst>
              <a:path w="2774644" h="4896109">
                <a:moveTo>
                  <a:pt x="0" y="0"/>
                </a:moveTo>
                <a:lnTo>
                  <a:pt x="2774643" y="0"/>
                </a:lnTo>
                <a:lnTo>
                  <a:pt x="2774643" y="4896109"/>
                </a:lnTo>
                <a:lnTo>
                  <a:pt x="0" y="4896109"/>
                </a:lnTo>
                <a:lnTo>
                  <a:pt x="0" y="0"/>
                </a:lnTo>
                <a:close/>
              </a:path>
            </a:pathLst>
          </a:custGeom>
          <a:blipFill>
            <a:blip r:embed="rId6"/>
            <a:stretch>
              <a:fillRect l="-95032" r="-468184" b="-31254"/>
            </a:stretch>
          </a:blipFill>
        </p:spPr>
      </p:sp>
      <p:sp>
        <p:nvSpPr>
          <p:cNvPr id="8" name="Freeform 8"/>
          <p:cNvSpPr/>
          <p:nvPr/>
        </p:nvSpPr>
        <p:spPr>
          <a:xfrm>
            <a:off x="3609387" y="3473634"/>
            <a:ext cx="2681443" cy="4896109"/>
          </a:xfrm>
          <a:custGeom>
            <a:avLst/>
            <a:gdLst/>
            <a:ahLst/>
            <a:cxnLst/>
            <a:rect l="l" t="t" r="r" b="b"/>
            <a:pathLst>
              <a:path w="2681443" h="4896109">
                <a:moveTo>
                  <a:pt x="0" y="0"/>
                </a:moveTo>
                <a:lnTo>
                  <a:pt x="2681442" y="0"/>
                </a:lnTo>
                <a:lnTo>
                  <a:pt x="2681442" y="4896109"/>
                </a:lnTo>
                <a:lnTo>
                  <a:pt x="0" y="4896109"/>
                </a:lnTo>
                <a:lnTo>
                  <a:pt x="0" y="0"/>
                </a:lnTo>
                <a:close/>
              </a:path>
            </a:pathLst>
          </a:custGeom>
          <a:blipFill>
            <a:blip r:embed="rId6"/>
            <a:stretch>
              <a:fillRect l="-191456" r="-374021" b="-27278"/>
            </a:stretch>
          </a:blipFill>
        </p:spPr>
      </p:sp>
      <p:sp>
        <p:nvSpPr>
          <p:cNvPr id="9" name="Freeform 9"/>
          <p:cNvSpPr/>
          <p:nvPr/>
        </p:nvSpPr>
        <p:spPr>
          <a:xfrm>
            <a:off x="9114882" y="3473634"/>
            <a:ext cx="2665295" cy="4719189"/>
          </a:xfrm>
          <a:custGeom>
            <a:avLst/>
            <a:gdLst/>
            <a:ahLst/>
            <a:cxnLst/>
            <a:rect l="l" t="t" r="r" b="b"/>
            <a:pathLst>
              <a:path w="2665295" h="4719189">
                <a:moveTo>
                  <a:pt x="0" y="0"/>
                </a:moveTo>
                <a:lnTo>
                  <a:pt x="2665294" y="0"/>
                </a:lnTo>
                <a:lnTo>
                  <a:pt x="2665294" y="4719189"/>
                </a:lnTo>
                <a:lnTo>
                  <a:pt x="0" y="4719189"/>
                </a:lnTo>
                <a:lnTo>
                  <a:pt x="0" y="0"/>
                </a:lnTo>
                <a:close/>
              </a:path>
            </a:pathLst>
          </a:custGeom>
          <a:blipFill>
            <a:blip r:embed="rId6"/>
            <a:stretch>
              <a:fillRect l="-285568" r="-279910" b="-31254"/>
            </a:stretch>
          </a:blipFill>
        </p:spPr>
      </p:sp>
      <p:sp>
        <p:nvSpPr>
          <p:cNvPr id="10" name="Freeform 10"/>
          <p:cNvSpPr/>
          <p:nvPr/>
        </p:nvSpPr>
        <p:spPr>
          <a:xfrm>
            <a:off x="11804880" y="3473634"/>
            <a:ext cx="2728561" cy="4807649"/>
          </a:xfrm>
          <a:custGeom>
            <a:avLst/>
            <a:gdLst/>
            <a:ahLst/>
            <a:cxnLst/>
            <a:rect l="l" t="t" r="r" b="b"/>
            <a:pathLst>
              <a:path w="2728561" h="4807649">
                <a:moveTo>
                  <a:pt x="0" y="0"/>
                </a:moveTo>
                <a:lnTo>
                  <a:pt x="2728562" y="0"/>
                </a:lnTo>
                <a:lnTo>
                  <a:pt x="2728562" y="4807649"/>
                </a:lnTo>
                <a:lnTo>
                  <a:pt x="0" y="4807649"/>
                </a:lnTo>
                <a:lnTo>
                  <a:pt x="0" y="0"/>
                </a:lnTo>
                <a:close/>
              </a:path>
            </a:pathLst>
          </a:custGeom>
          <a:blipFill>
            <a:blip r:embed="rId6"/>
            <a:stretch>
              <a:fillRect l="-386124" r="-188294" b="-33669"/>
            </a:stretch>
          </a:blipFill>
        </p:spPr>
      </p:sp>
      <p:sp>
        <p:nvSpPr>
          <p:cNvPr id="11" name="Freeform 11"/>
          <p:cNvSpPr/>
          <p:nvPr/>
        </p:nvSpPr>
        <p:spPr>
          <a:xfrm>
            <a:off x="14698528" y="3473634"/>
            <a:ext cx="2792156" cy="4807649"/>
          </a:xfrm>
          <a:custGeom>
            <a:avLst/>
            <a:gdLst/>
            <a:ahLst/>
            <a:cxnLst/>
            <a:rect l="l" t="t" r="r" b="b"/>
            <a:pathLst>
              <a:path w="2792156" h="4807649">
                <a:moveTo>
                  <a:pt x="0" y="0"/>
                </a:moveTo>
                <a:lnTo>
                  <a:pt x="2792157" y="0"/>
                </a:lnTo>
                <a:lnTo>
                  <a:pt x="2792157" y="4807649"/>
                </a:lnTo>
                <a:lnTo>
                  <a:pt x="0" y="4807649"/>
                </a:lnTo>
                <a:lnTo>
                  <a:pt x="0" y="0"/>
                </a:lnTo>
                <a:close/>
              </a:path>
            </a:pathLst>
          </a:custGeom>
          <a:blipFill>
            <a:blip r:embed="rId6"/>
            <a:stretch>
              <a:fillRect l="-470712" r="-88345" b="-33669"/>
            </a:stretch>
          </a:blipFill>
        </p:spPr>
      </p:sp>
      <p:sp>
        <p:nvSpPr>
          <p:cNvPr id="12" name="Freeform 12"/>
          <p:cNvSpPr/>
          <p:nvPr/>
        </p:nvSpPr>
        <p:spPr>
          <a:xfrm>
            <a:off x="797315" y="8369743"/>
            <a:ext cx="2703913" cy="1574253"/>
          </a:xfrm>
          <a:custGeom>
            <a:avLst/>
            <a:gdLst/>
            <a:ahLst/>
            <a:cxnLst/>
            <a:rect l="l" t="t" r="r" b="b"/>
            <a:pathLst>
              <a:path w="2703913" h="1574253">
                <a:moveTo>
                  <a:pt x="0" y="0"/>
                </a:moveTo>
                <a:lnTo>
                  <a:pt x="2703913" y="0"/>
                </a:lnTo>
                <a:lnTo>
                  <a:pt x="2703913" y="1574253"/>
                </a:lnTo>
                <a:lnTo>
                  <a:pt x="0" y="1574253"/>
                </a:lnTo>
                <a:lnTo>
                  <a:pt x="0" y="0"/>
                </a:lnTo>
                <a:close/>
              </a:path>
            </a:pathLst>
          </a:custGeom>
          <a:blipFill>
            <a:blip r:embed="rId6"/>
            <a:stretch>
              <a:fillRect l="-609902" r="-501" b="-326115"/>
            </a:stretch>
          </a:blipFill>
        </p:spPr>
      </p:sp>
      <p:sp>
        <p:nvSpPr>
          <p:cNvPr id="13" name="Freeform 13"/>
          <p:cNvSpPr/>
          <p:nvPr/>
        </p:nvSpPr>
        <p:spPr>
          <a:xfrm>
            <a:off x="3611621" y="8281283"/>
            <a:ext cx="2703913" cy="1680244"/>
          </a:xfrm>
          <a:custGeom>
            <a:avLst/>
            <a:gdLst/>
            <a:ahLst/>
            <a:cxnLst/>
            <a:rect l="l" t="t" r="r" b="b"/>
            <a:pathLst>
              <a:path w="2703913" h="1680244">
                <a:moveTo>
                  <a:pt x="0" y="0"/>
                </a:moveTo>
                <a:lnTo>
                  <a:pt x="2703913" y="0"/>
                </a:lnTo>
                <a:lnTo>
                  <a:pt x="2703913" y="1680244"/>
                </a:lnTo>
                <a:lnTo>
                  <a:pt x="0" y="1680244"/>
                </a:lnTo>
                <a:lnTo>
                  <a:pt x="0" y="0"/>
                </a:lnTo>
                <a:close/>
              </a:path>
            </a:pathLst>
          </a:custGeom>
          <a:blipFill>
            <a:blip r:embed="rId6"/>
            <a:stretch>
              <a:fillRect l="-609902" t="-97144" r="-501" b="-202090"/>
            </a:stretch>
          </a:blipFill>
        </p:spPr>
      </p:sp>
      <p:sp>
        <p:nvSpPr>
          <p:cNvPr id="14" name="Freeform 14"/>
          <p:cNvSpPr/>
          <p:nvPr/>
        </p:nvSpPr>
        <p:spPr>
          <a:xfrm>
            <a:off x="6290829" y="8338433"/>
            <a:ext cx="2703913" cy="1728261"/>
          </a:xfrm>
          <a:custGeom>
            <a:avLst/>
            <a:gdLst/>
            <a:ahLst/>
            <a:cxnLst/>
            <a:rect l="l" t="t" r="r" b="b"/>
            <a:pathLst>
              <a:path w="2703913" h="1728261">
                <a:moveTo>
                  <a:pt x="0" y="0"/>
                </a:moveTo>
                <a:lnTo>
                  <a:pt x="2703913" y="0"/>
                </a:lnTo>
                <a:lnTo>
                  <a:pt x="2703913" y="1728261"/>
                </a:lnTo>
                <a:lnTo>
                  <a:pt x="0" y="1728261"/>
                </a:lnTo>
                <a:lnTo>
                  <a:pt x="0" y="0"/>
                </a:lnTo>
                <a:close/>
              </a:path>
            </a:pathLst>
          </a:custGeom>
          <a:blipFill>
            <a:blip r:embed="rId6"/>
            <a:stretch>
              <a:fillRect l="-609902" t="-191344" r="-501" b="-96798"/>
            </a:stretch>
          </a:blipFill>
        </p:spPr>
      </p:sp>
      <p:sp>
        <p:nvSpPr>
          <p:cNvPr id="15" name="Freeform 15"/>
          <p:cNvSpPr/>
          <p:nvPr/>
        </p:nvSpPr>
        <p:spPr>
          <a:xfrm>
            <a:off x="9144000" y="8471783"/>
            <a:ext cx="2808450" cy="1472213"/>
          </a:xfrm>
          <a:custGeom>
            <a:avLst/>
            <a:gdLst/>
            <a:ahLst/>
            <a:cxnLst/>
            <a:rect l="l" t="t" r="r" b="b"/>
            <a:pathLst>
              <a:path w="2808450" h="1472213">
                <a:moveTo>
                  <a:pt x="0" y="0"/>
                </a:moveTo>
                <a:lnTo>
                  <a:pt x="2808450" y="0"/>
                </a:lnTo>
                <a:lnTo>
                  <a:pt x="2808450" y="1472213"/>
                </a:lnTo>
                <a:lnTo>
                  <a:pt x="0" y="1472213"/>
                </a:lnTo>
                <a:lnTo>
                  <a:pt x="0" y="0"/>
                </a:lnTo>
                <a:close/>
              </a:path>
            </a:pathLst>
          </a:custGeom>
          <a:blipFill>
            <a:blip r:embed="rId6"/>
            <a:stretch>
              <a:fillRect l="-229366" t="-329581" r="-315465"/>
            </a:stretch>
          </a:blipFill>
        </p:spPr>
      </p:sp>
      <p:sp>
        <p:nvSpPr>
          <p:cNvPr id="16" name="TextBox 16"/>
          <p:cNvSpPr txBox="1"/>
          <p:nvPr/>
        </p:nvSpPr>
        <p:spPr>
          <a:xfrm>
            <a:off x="2496696" y="2391567"/>
            <a:ext cx="13591383" cy="887180"/>
          </a:xfrm>
          <a:prstGeom prst="rect">
            <a:avLst/>
          </a:prstGeom>
        </p:spPr>
        <p:txBody>
          <a:bodyPr lIns="0" tIns="0" rIns="0" bIns="0" rtlCol="0" anchor="t">
            <a:spAutoFit/>
          </a:bodyPr>
          <a:lstStyle/>
          <a:p>
            <a:pPr algn="ctr">
              <a:lnSpc>
                <a:spcPts val="7275"/>
              </a:lnSpc>
              <a:spcBef>
                <a:spcPct val="0"/>
              </a:spcBef>
            </a:pPr>
            <a:r>
              <a:rPr lang="en-US" sz="5196" b="1">
                <a:solidFill>
                  <a:srgbClr val="010F48"/>
                </a:solidFill>
                <a:latin typeface="Anantason SemiExpanded Bold"/>
                <a:ea typeface="Anantason SemiExpanded Bold"/>
                <a:cs typeface="Anantason SemiExpanded Bold"/>
                <a:sym typeface="Anantason SemiExpanded Bold"/>
              </a:rPr>
              <a:t>PARTNERSHIP PERKS</a:t>
            </a:r>
          </a:p>
        </p:txBody>
      </p:sp>
      <p:sp>
        <p:nvSpPr>
          <p:cNvPr id="17" name="Freeform 17"/>
          <p:cNvSpPr/>
          <p:nvPr/>
        </p:nvSpPr>
        <p:spPr>
          <a:xfrm>
            <a:off x="12017417" y="8522194"/>
            <a:ext cx="2747409" cy="1472213"/>
          </a:xfrm>
          <a:custGeom>
            <a:avLst/>
            <a:gdLst/>
            <a:ahLst/>
            <a:cxnLst/>
            <a:rect l="l" t="t" r="r" b="b"/>
            <a:pathLst>
              <a:path w="2747409" h="1472213">
                <a:moveTo>
                  <a:pt x="0" y="0"/>
                </a:moveTo>
                <a:lnTo>
                  <a:pt x="2747409" y="0"/>
                </a:lnTo>
                <a:lnTo>
                  <a:pt x="2747409" y="1472212"/>
                </a:lnTo>
                <a:lnTo>
                  <a:pt x="0" y="1472212"/>
                </a:lnTo>
                <a:lnTo>
                  <a:pt x="0" y="0"/>
                </a:lnTo>
                <a:close/>
              </a:path>
            </a:pathLst>
          </a:custGeom>
          <a:blipFill>
            <a:blip r:embed="rId6"/>
            <a:stretch>
              <a:fillRect l="-330495" t="-329581" r="-228662"/>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61793" y="3101442"/>
            <a:ext cx="8782207" cy="6093976"/>
          </a:xfrm>
          <a:prstGeom prst="rect">
            <a:avLst/>
          </a:prstGeom>
        </p:spPr>
        <p:txBody>
          <a:bodyPr wrap="square">
            <a:spAutoFit/>
          </a:bodyPr>
          <a:lstStyle/>
          <a:p>
            <a:pPr algn="just">
              <a:lnSpc>
                <a:spcPts val="3552"/>
              </a:lnSpc>
            </a:pPr>
            <a:r>
              <a:rPr lang="en-US" sz="3200" b="1" dirty="0">
                <a:solidFill>
                  <a:srgbClr val="000000"/>
                </a:solidFill>
                <a:latin typeface="+mj-lt"/>
                <a:ea typeface="Poppins"/>
                <a:cs typeface="Poppins"/>
                <a:sym typeface="Poppins"/>
              </a:rPr>
              <a:t>Nationwide hospital and clinic accreditation thru our network provider AMAPHIL</a:t>
            </a:r>
          </a:p>
          <a:p>
            <a:pPr algn="just">
              <a:lnSpc>
                <a:spcPts val="3552"/>
              </a:lnSpc>
            </a:pPr>
            <a:endParaRPr lang="en-US" sz="2400" b="1" dirty="0">
              <a:solidFill>
                <a:srgbClr val="000000"/>
              </a:solidFill>
              <a:latin typeface="+mj-lt"/>
              <a:ea typeface="Poppins"/>
              <a:cs typeface="Poppins"/>
              <a:sym typeface="Poppins"/>
            </a:endParaRPr>
          </a:p>
          <a:p>
            <a:pPr algn="just">
              <a:lnSpc>
                <a:spcPts val="3552"/>
              </a:lnSpc>
            </a:pPr>
            <a:r>
              <a:rPr lang="en-US" sz="3200" dirty="0">
                <a:solidFill>
                  <a:srgbClr val="000000"/>
                </a:solidFill>
                <a:latin typeface="+mj-lt"/>
                <a:ea typeface="Poppins"/>
                <a:cs typeface="Poppins"/>
                <a:sym typeface="Poppins"/>
              </a:rPr>
              <a:t>AMAPHIL, or Advanced Medical Access Philippines, Inc., is a technology-powered Third Party Administrator (TPA) that was founded in 2016 to manage self-funded corporate health plans. It connects members to a large network of accredited hospitals, clinics, and physicians, and provides technology-driven services like online consultations via the Doctor Anywhere app. AMAPHIL's goal is to provide cost-effective, high-quality healthcare solutions for companies and their employees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13319" y="2314828"/>
            <a:ext cx="9620407" cy="6663363"/>
          </a:xfrm>
          <a:prstGeom prst="rect">
            <a:avLst/>
          </a:prstGeom>
        </p:spPr>
        <p:txBody>
          <a:bodyPr wrap="square">
            <a:spAutoFit/>
          </a:bodyPr>
          <a:lstStyle/>
          <a:p>
            <a:pPr algn="just">
              <a:lnSpc>
                <a:spcPts val="3552"/>
              </a:lnSpc>
            </a:pPr>
            <a:r>
              <a:rPr lang="en-US" sz="4000" b="1" dirty="0">
                <a:solidFill>
                  <a:srgbClr val="000000"/>
                </a:solidFill>
                <a:latin typeface="+mj-lt"/>
                <a:ea typeface="Poppins"/>
                <a:cs typeface="Poppins"/>
                <a:sym typeface="Poppins"/>
              </a:rPr>
              <a:t>Corporate Officers</a:t>
            </a:r>
          </a:p>
          <a:p>
            <a:pPr algn="just">
              <a:lnSpc>
                <a:spcPts val="3552"/>
              </a:lnSpc>
            </a:pPr>
            <a:endParaRPr lang="en-US" b="1" dirty="0">
              <a:solidFill>
                <a:srgbClr val="000000"/>
              </a:solidFill>
              <a:latin typeface="+mj-lt"/>
              <a:ea typeface="Poppins"/>
              <a:cs typeface="Poppins"/>
              <a:sym typeface="Poppins"/>
            </a:endParaRPr>
          </a:p>
          <a:p>
            <a:pPr algn="ctr"/>
            <a:r>
              <a:rPr lang="en-US" sz="3200" b="1" dirty="0"/>
              <a:t>Ms. Irene Cara </a:t>
            </a:r>
            <a:r>
              <a:rPr lang="en-US" sz="3200" b="1" dirty="0" err="1"/>
              <a:t>Gatus</a:t>
            </a:r>
            <a:r>
              <a:rPr lang="en-US" sz="3200" b="1" dirty="0"/>
              <a:t> </a:t>
            </a:r>
          </a:p>
          <a:p>
            <a:pPr algn="ctr"/>
            <a:r>
              <a:rPr lang="en-US" sz="3200" dirty="0"/>
              <a:t>Chairman </a:t>
            </a:r>
          </a:p>
          <a:p>
            <a:pPr algn="ctr"/>
            <a:endParaRPr lang="en-US" sz="1100" b="1" dirty="0"/>
          </a:p>
          <a:p>
            <a:pPr algn="ctr"/>
            <a:r>
              <a:rPr lang="en-US" sz="3200" b="1" dirty="0"/>
              <a:t>Ms. Mylene Benitez </a:t>
            </a:r>
          </a:p>
          <a:p>
            <a:pPr algn="ctr"/>
            <a:r>
              <a:rPr lang="en-US" sz="3200" dirty="0"/>
              <a:t>Treasurer </a:t>
            </a:r>
          </a:p>
          <a:p>
            <a:pPr algn="ctr"/>
            <a:endParaRPr lang="en-US" sz="1100" b="1" dirty="0"/>
          </a:p>
          <a:p>
            <a:pPr algn="ctr"/>
            <a:r>
              <a:rPr lang="en-US" sz="3200" b="1" dirty="0"/>
              <a:t>Ms. Angeles </a:t>
            </a:r>
            <a:r>
              <a:rPr lang="en-US" sz="3200" b="1" dirty="0" err="1"/>
              <a:t>Ongchangco</a:t>
            </a:r>
            <a:endParaRPr lang="en-US" sz="3200" b="1" dirty="0"/>
          </a:p>
          <a:p>
            <a:pPr algn="ctr"/>
            <a:r>
              <a:rPr lang="en-US" sz="3200" dirty="0"/>
              <a:t> Corp Secretary </a:t>
            </a:r>
          </a:p>
          <a:p>
            <a:pPr algn="ctr"/>
            <a:endParaRPr lang="en-US" sz="1100" b="1" dirty="0"/>
          </a:p>
          <a:p>
            <a:pPr algn="ctr"/>
            <a:r>
              <a:rPr lang="en-US" sz="3200" b="1" dirty="0"/>
              <a:t>Ms. </a:t>
            </a:r>
            <a:r>
              <a:rPr lang="en-US" sz="3200" b="1" dirty="0" err="1"/>
              <a:t>Mariane</a:t>
            </a:r>
            <a:r>
              <a:rPr lang="en-US" sz="3200" b="1" dirty="0"/>
              <a:t> </a:t>
            </a:r>
            <a:r>
              <a:rPr lang="en-US" sz="3200" b="1" dirty="0" err="1"/>
              <a:t>Odi</a:t>
            </a:r>
            <a:r>
              <a:rPr lang="en-US" sz="3200" b="1" dirty="0"/>
              <a:t> </a:t>
            </a:r>
          </a:p>
          <a:p>
            <a:pPr algn="ctr"/>
            <a:r>
              <a:rPr lang="en-US" sz="3200" dirty="0"/>
              <a:t>Board of Director </a:t>
            </a:r>
          </a:p>
          <a:p>
            <a:pPr algn="ctr"/>
            <a:endParaRPr lang="en-US" sz="1400" b="1" dirty="0"/>
          </a:p>
          <a:p>
            <a:pPr algn="ctr"/>
            <a:r>
              <a:rPr lang="en-US" sz="3200" b="1" dirty="0"/>
              <a:t>Atty. Ensign </a:t>
            </a:r>
            <a:r>
              <a:rPr lang="en-US" sz="3200" b="1" dirty="0" err="1"/>
              <a:t>Icamen</a:t>
            </a:r>
            <a:endParaRPr lang="en-US" sz="3200" b="1" dirty="0"/>
          </a:p>
          <a:p>
            <a:pPr algn="ctr"/>
            <a:r>
              <a:rPr lang="en-US" sz="3200" dirty="0"/>
              <a:t>Board of Director</a:t>
            </a:r>
            <a:endParaRPr lang="en-US" sz="2400" dirty="0">
              <a:solidFill>
                <a:srgbClr val="000000"/>
              </a:solidFill>
              <a:latin typeface="+mj-lt"/>
              <a:ea typeface="Poppins"/>
              <a:cs typeface="Poppins"/>
              <a:sym typeface="Poppins"/>
            </a:endParaRPr>
          </a:p>
        </p:txBody>
      </p:sp>
    </p:spTree>
    <p:extLst>
      <p:ext uri="{BB962C8B-B14F-4D97-AF65-F5344CB8AC3E}">
        <p14:creationId xmlns:p14="http://schemas.microsoft.com/office/powerpoint/2010/main" val="79389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fade">
                                      <p:cBhvr>
                                        <p:cTn id="12" dur="500"/>
                                        <p:tgtEl>
                                          <p:spTgt spid="3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animEffect transition="in" filter="fade">
                                      <p:cBhvr>
                                        <p:cTn id="15" dur="500"/>
                                        <p:tgtEl>
                                          <p:spTgt spid="3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
                                            <p:txEl>
                                              <p:pRg st="5" end="5"/>
                                            </p:txEl>
                                          </p:spTgt>
                                        </p:tgtEl>
                                        <p:attrNameLst>
                                          <p:attrName>style.visibility</p:attrName>
                                        </p:attrNameLst>
                                      </p:cBhvr>
                                      <p:to>
                                        <p:strVal val="visible"/>
                                      </p:to>
                                    </p:set>
                                    <p:animEffect transition="in" filter="fade">
                                      <p:cBhvr>
                                        <p:cTn id="20" dur="500"/>
                                        <p:tgtEl>
                                          <p:spTgt spid="34">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xEl>
                                              <p:pRg st="6" end="6"/>
                                            </p:txEl>
                                          </p:spTgt>
                                        </p:tgtEl>
                                        <p:attrNameLst>
                                          <p:attrName>style.visibility</p:attrName>
                                        </p:attrNameLst>
                                      </p:cBhvr>
                                      <p:to>
                                        <p:strVal val="visible"/>
                                      </p:to>
                                    </p:set>
                                    <p:animEffect transition="in" filter="fade">
                                      <p:cBhvr>
                                        <p:cTn id="23" dur="500"/>
                                        <p:tgtEl>
                                          <p:spTgt spid="34">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xEl>
                                              <p:pRg st="8" end="8"/>
                                            </p:txEl>
                                          </p:spTgt>
                                        </p:tgtEl>
                                        <p:attrNameLst>
                                          <p:attrName>style.visibility</p:attrName>
                                        </p:attrNameLst>
                                      </p:cBhvr>
                                      <p:to>
                                        <p:strVal val="visible"/>
                                      </p:to>
                                    </p:set>
                                    <p:animEffect transition="in" filter="fade">
                                      <p:cBhvr>
                                        <p:cTn id="28" dur="500"/>
                                        <p:tgtEl>
                                          <p:spTgt spid="34">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4">
                                            <p:txEl>
                                              <p:pRg st="9" end="9"/>
                                            </p:txEl>
                                          </p:spTgt>
                                        </p:tgtEl>
                                        <p:attrNameLst>
                                          <p:attrName>style.visibility</p:attrName>
                                        </p:attrNameLst>
                                      </p:cBhvr>
                                      <p:to>
                                        <p:strVal val="visible"/>
                                      </p:to>
                                    </p:set>
                                    <p:animEffect transition="in" filter="fade">
                                      <p:cBhvr>
                                        <p:cTn id="31" dur="500"/>
                                        <p:tgtEl>
                                          <p:spTgt spid="34">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4">
                                            <p:txEl>
                                              <p:pRg st="11" end="11"/>
                                            </p:txEl>
                                          </p:spTgt>
                                        </p:tgtEl>
                                        <p:attrNameLst>
                                          <p:attrName>style.visibility</p:attrName>
                                        </p:attrNameLst>
                                      </p:cBhvr>
                                      <p:to>
                                        <p:strVal val="visible"/>
                                      </p:to>
                                    </p:set>
                                    <p:animEffect transition="in" filter="fade">
                                      <p:cBhvr>
                                        <p:cTn id="36" dur="500"/>
                                        <p:tgtEl>
                                          <p:spTgt spid="34">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xEl>
                                              <p:pRg st="12" end="12"/>
                                            </p:txEl>
                                          </p:spTgt>
                                        </p:tgtEl>
                                        <p:attrNameLst>
                                          <p:attrName>style.visibility</p:attrName>
                                        </p:attrNameLst>
                                      </p:cBhvr>
                                      <p:to>
                                        <p:strVal val="visible"/>
                                      </p:to>
                                    </p:set>
                                    <p:animEffect transition="in" filter="fade">
                                      <p:cBhvr>
                                        <p:cTn id="39" dur="500"/>
                                        <p:tgtEl>
                                          <p:spTgt spid="34">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4">
                                            <p:txEl>
                                              <p:pRg st="14" end="14"/>
                                            </p:txEl>
                                          </p:spTgt>
                                        </p:tgtEl>
                                        <p:attrNameLst>
                                          <p:attrName>style.visibility</p:attrName>
                                        </p:attrNameLst>
                                      </p:cBhvr>
                                      <p:to>
                                        <p:strVal val="visible"/>
                                      </p:to>
                                    </p:set>
                                    <p:animEffect transition="in" filter="fade">
                                      <p:cBhvr>
                                        <p:cTn id="44" dur="500"/>
                                        <p:tgtEl>
                                          <p:spTgt spid="34">
                                            <p:txEl>
                                              <p:pRg st="14" end="1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4">
                                            <p:txEl>
                                              <p:pRg st="15" end="15"/>
                                            </p:txEl>
                                          </p:spTgt>
                                        </p:tgtEl>
                                        <p:attrNameLst>
                                          <p:attrName>style.visibility</p:attrName>
                                        </p:attrNameLst>
                                      </p:cBhvr>
                                      <p:to>
                                        <p:strVal val="visible"/>
                                      </p:to>
                                    </p:set>
                                    <p:animEffect transition="in" filter="fade">
                                      <p:cBhvr>
                                        <p:cTn id="47" dur="500"/>
                                        <p:tgtEl>
                                          <p:spTgt spid="3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a:extLst>
              <a:ext uri="{FF2B5EF4-FFF2-40B4-BE49-F238E27FC236}">
                <a16:creationId xmlns:a16="http://schemas.microsoft.com/office/drawing/2014/main" id="{528EE092-1BB5-4887-83D3-E6A9D2263FDB}"/>
              </a:ext>
            </a:extLst>
          </p:cNvPr>
          <p:cNvSpPr txBox="1"/>
          <p:nvPr/>
        </p:nvSpPr>
        <p:spPr>
          <a:xfrm>
            <a:off x="156110" y="1160723"/>
            <a:ext cx="12026900" cy="2416046"/>
          </a:xfrm>
          <a:prstGeom prst="rect">
            <a:avLst/>
          </a:prstGeom>
          <a:noFill/>
        </p:spPr>
        <p:txBody>
          <a:bodyPr wrap="square" rtlCol="0">
            <a:spAutoFit/>
          </a:bodyPr>
          <a:lstStyle/>
          <a:p>
            <a:r>
              <a:rPr lang="en-US" sz="11500" b="1" dirty="0">
                <a:solidFill>
                  <a:schemeClr val="accent6">
                    <a:lumMod val="75000"/>
                  </a:schemeClr>
                </a:solidFill>
                <a:latin typeface="+mj-lt"/>
                <a:cs typeface="Poppins" panose="020B0604020202020204" charset="0"/>
              </a:rPr>
              <a:t>Introducing:</a:t>
            </a:r>
          </a:p>
          <a:p>
            <a:endParaRPr lang="en-PH" sz="3600" b="1" u="sng" dirty="0">
              <a:solidFill>
                <a:schemeClr val="accent6">
                  <a:lumMod val="75000"/>
                </a:schemeClr>
              </a:solidFill>
              <a:latin typeface="+mj-lt"/>
              <a:cs typeface="Poppins" panose="020B0604020202020204" charset="0"/>
            </a:endParaRPr>
          </a:p>
        </p:txBody>
      </p:sp>
      <p:sp>
        <p:nvSpPr>
          <p:cNvPr id="28" name="TextBox 27">
            <a:extLst>
              <a:ext uri="{FF2B5EF4-FFF2-40B4-BE49-F238E27FC236}">
                <a16:creationId xmlns:a16="http://schemas.microsoft.com/office/drawing/2014/main" id="{B4A0F678-274F-4579-8B06-4AC844CCF1ED}"/>
              </a:ext>
            </a:extLst>
          </p:cNvPr>
          <p:cNvSpPr txBox="1"/>
          <p:nvPr/>
        </p:nvSpPr>
        <p:spPr>
          <a:xfrm>
            <a:off x="0" y="2720289"/>
            <a:ext cx="21028168" cy="2646878"/>
          </a:xfrm>
          <a:prstGeom prst="rect">
            <a:avLst/>
          </a:prstGeom>
          <a:noFill/>
        </p:spPr>
        <p:txBody>
          <a:bodyPr wrap="square" rtlCol="0">
            <a:spAutoFit/>
          </a:bodyPr>
          <a:lstStyle/>
          <a:p>
            <a:r>
              <a:rPr lang="en-US" sz="16600" b="1" dirty="0">
                <a:ln>
                  <a:solidFill>
                    <a:schemeClr val="tx1"/>
                  </a:solidFill>
                </a:ln>
                <a:solidFill>
                  <a:srgbClr val="002060"/>
                </a:solidFill>
                <a:latin typeface="Aharoni" panose="02010803020104030203" pitchFamily="2" charset="-79"/>
                <a:cs typeface="Aharoni" panose="02010803020104030203" pitchFamily="2" charset="-79"/>
              </a:rPr>
              <a:t>PRIME WELL</a:t>
            </a:r>
          </a:p>
        </p:txBody>
      </p:sp>
      <p:pic>
        <p:nvPicPr>
          <p:cNvPr id="24" name="Picture 23">
            <a:extLst>
              <a:ext uri="{FF2B5EF4-FFF2-40B4-BE49-F238E27FC236}">
                <a16:creationId xmlns:a16="http://schemas.microsoft.com/office/drawing/2014/main" id="{EFD589AF-972E-46FC-9299-244A416D6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29260" y="7763317"/>
            <a:ext cx="2725919" cy="2725919"/>
          </a:xfrm>
          <a:prstGeom prst="rect">
            <a:avLst/>
          </a:prstGeom>
        </p:spPr>
      </p:pic>
      <p:sp>
        <p:nvSpPr>
          <p:cNvPr id="22" name="Rectangle 21">
            <a:extLst>
              <a:ext uri="{FF2B5EF4-FFF2-40B4-BE49-F238E27FC236}">
                <a16:creationId xmlns:a16="http://schemas.microsoft.com/office/drawing/2014/main" id="{4C9F2FAA-07E6-43F9-8F9B-666BE229A5AB}"/>
              </a:ext>
            </a:extLst>
          </p:cNvPr>
          <p:cNvSpPr/>
          <p:nvPr/>
        </p:nvSpPr>
        <p:spPr>
          <a:xfrm>
            <a:off x="457939" y="5143500"/>
            <a:ext cx="10198194" cy="4314707"/>
          </a:xfrm>
          <a:prstGeom prst="rect">
            <a:avLst/>
          </a:prstGeom>
        </p:spPr>
        <p:txBody>
          <a:bodyPr wrap="square">
            <a:spAutoFit/>
          </a:bodyPr>
          <a:lstStyle/>
          <a:p>
            <a:pPr algn="just">
              <a:lnSpc>
                <a:spcPct val="115000"/>
              </a:lnSpc>
              <a:spcAft>
                <a:spcPts val="1000"/>
              </a:spcAft>
            </a:pPr>
            <a:r>
              <a:rPr lang="en-US" sz="2400" b="1" dirty="0">
                <a:latin typeface="+mj-lt"/>
                <a:ea typeface="MS Mincho" panose="02020609040205080304" pitchFamily="49" charset="-128"/>
                <a:cs typeface="Times New Roman" panose="02020603050405020304" pitchFamily="18" charset="0"/>
              </a:rPr>
              <a:t>RMC2 proudly presents the Individual Program for retirees and senior citizens – a health plan designed to provide comprehensive, affordable, and reliable coverage for illnesses, especially against bacterial and viral infections, as well as accidents. As we age, our immune system naturally weakens, making seniors more vulnerable to infections that can quickly become serious. This program offers flexible membership options and a wide range of healthcare benefits, ensuring peace of mind for you and your loved ones. With access to our extensive network of accredited hospitals and providers nationwide, you can stay protected and receive quality medical care whenever you need it, keeping you healthy, safe, and secure in your golden years.</a:t>
            </a:r>
          </a:p>
        </p:txBody>
      </p:sp>
    </p:spTree>
    <p:extLst>
      <p:ext uri="{BB962C8B-B14F-4D97-AF65-F5344CB8AC3E}">
        <p14:creationId xmlns:p14="http://schemas.microsoft.com/office/powerpoint/2010/main" val="58000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494358" y="-1063420"/>
            <a:ext cx="10114712" cy="7740514"/>
            <a:chOff x="0" y="0"/>
            <a:chExt cx="912746" cy="698500"/>
          </a:xfrm>
        </p:grpSpPr>
        <p:sp>
          <p:nvSpPr>
            <p:cNvPr id="4" name="Freeform 4"/>
            <p:cNvSpPr/>
            <p:nvPr/>
          </p:nvSpPr>
          <p:spPr>
            <a:xfrm>
              <a:off x="0" y="0"/>
              <a:ext cx="912746" cy="698500"/>
            </a:xfrm>
            <a:custGeom>
              <a:avLst/>
              <a:gdLst/>
              <a:ahLst/>
              <a:cxnLst/>
              <a:rect l="l" t="t" r="r" b="b"/>
              <a:pathLst>
                <a:path w="912746" h="698500">
                  <a:moveTo>
                    <a:pt x="912746" y="349250"/>
                  </a:moveTo>
                  <a:lnTo>
                    <a:pt x="709546" y="698500"/>
                  </a:lnTo>
                  <a:lnTo>
                    <a:pt x="203200" y="698500"/>
                  </a:lnTo>
                  <a:lnTo>
                    <a:pt x="0" y="349250"/>
                  </a:lnTo>
                  <a:lnTo>
                    <a:pt x="203200" y="0"/>
                  </a:lnTo>
                  <a:lnTo>
                    <a:pt x="709546" y="0"/>
                  </a:lnTo>
                  <a:lnTo>
                    <a:pt x="912746" y="349250"/>
                  </a:lnTo>
                  <a:close/>
                </a:path>
              </a:pathLst>
            </a:custGeom>
            <a:solidFill>
              <a:srgbClr val="060644"/>
            </a:solidFill>
          </p:spPr>
        </p:sp>
        <p:sp>
          <p:nvSpPr>
            <p:cNvPr id="5" name="TextBox 5"/>
            <p:cNvSpPr txBox="1"/>
            <p:nvPr/>
          </p:nvSpPr>
          <p:spPr>
            <a:xfrm>
              <a:off x="114300" y="-57150"/>
              <a:ext cx="684146"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48089" y="3956739"/>
            <a:ext cx="6572265" cy="5750732"/>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66687" y="9580975"/>
            <a:ext cx="4528060" cy="1376402"/>
            <a:chOff x="0" y="0"/>
            <a:chExt cx="2297912" cy="698500"/>
          </a:xfrm>
        </p:grpSpPr>
        <p:sp>
          <p:nvSpPr>
            <p:cNvPr id="13" name="Freeform 1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4" name="TextBox 1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419993" y="6698755"/>
            <a:ext cx="5550223" cy="4856445"/>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7" name="TextBox 17"/>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077867" y="-784225"/>
            <a:ext cx="6088480" cy="1326059"/>
            <a:chOff x="0" y="0"/>
            <a:chExt cx="3207100" cy="698500"/>
          </a:xfrm>
        </p:grpSpPr>
        <p:sp>
          <p:nvSpPr>
            <p:cNvPr id="19" name="Freeform 19"/>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20" name="TextBox 20"/>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6744950" y="-1063420"/>
            <a:ext cx="3086100" cy="2700338"/>
            <a:chOff x="0" y="0"/>
            <a:chExt cx="812800" cy="711200"/>
          </a:xfrm>
        </p:grpSpPr>
        <p:sp>
          <p:nvSpPr>
            <p:cNvPr id="22" name="Freeform 2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3" name="TextBox 2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257649" y="4208920"/>
            <a:ext cx="6100430" cy="5246370"/>
            <a:chOff x="0" y="0"/>
            <a:chExt cx="6350000" cy="5461000"/>
          </a:xfrm>
        </p:grpSpPr>
        <p:sp>
          <p:nvSpPr>
            <p:cNvPr id="27" name="Freeform 27"/>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blipFill>
              <a:blip r:embed="rId2"/>
              <a:stretch>
                <a:fillRect l="-114209" t="-62968" r="-5074" b="-5727"/>
              </a:stretch>
            </a:blipFill>
          </p:spPr>
        </p:sp>
      </p:grpSp>
      <p:graphicFrame>
        <p:nvGraphicFramePr>
          <p:cNvPr id="30" name="Table 29">
            <a:extLst>
              <a:ext uri="{FF2B5EF4-FFF2-40B4-BE49-F238E27FC236}">
                <a16:creationId xmlns:a16="http://schemas.microsoft.com/office/drawing/2014/main" id="{A575DBB8-83DB-4F5D-8163-156EB8D50B13}"/>
              </a:ext>
            </a:extLst>
          </p:cNvPr>
          <p:cNvGraphicFramePr>
            <a:graphicFrameLocks noGrp="1"/>
          </p:cNvGraphicFramePr>
          <p:nvPr>
            <p:extLst>
              <p:ext uri="{D42A27DB-BD31-4B8C-83A1-F6EECF244321}">
                <p14:modId xmlns:p14="http://schemas.microsoft.com/office/powerpoint/2010/main" val="3136413006"/>
              </p:ext>
            </p:extLst>
          </p:nvPr>
        </p:nvGraphicFramePr>
        <p:xfrm>
          <a:off x="6405589" y="5483920"/>
          <a:ext cx="11392526" cy="2619881"/>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4474902">
                  <a:extLst>
                    <a:ext uri="{9D8B030D-6E8A-4147-A177-3AD203B41FA5}">
                      <a16:colId xmlns:a16="http://schemas.microsoft.com/office/drawing/2014/main" val="20000"/>
                    </a:ext>
                  </a:extLst>
                </a:gridCol>
                <a:gridCol w="3428022">
                  <a:extLst>
                    <a:ext uri="{9D8B030D-6E8A-4147-A177-3AD203B41FA5}">
                      <a16:colId xmlns:a16="http://schemas.microsoft.com/office/drawing/2014/main" val="20001"/>
                    </a:ext>
                  </a:extLst>
                </a:gridCol>
                <a:gridCol w="3489602">
                  <a:extLst>
                    <a:ext uri="{9D8B030D-6E8A-4147-A177-3AD203B41FA5}">
                      <a16:colId xmlns:a16="http://schemas.microsoft.com/office/drawing/2014/main" val="20002"/>
                    </a:ext>
                  </a:extLst>
                </a:gridCol>
              </a:tblGrid>
              <a:tr h="1259780">
                <a:tc rowSpan="2">
                  <a:txBody>
                    <a:bodyPr/>
                    <a:lstStyle/>
                    <a:p>
                      <a:pPr algn="ctr"/>
                      <a:r>
                        <a:rPr lang="en-US" sz="3600" dirty="0">
                          <a:latin typeface="+mj-lt"/>
                        </a:rPr>
                        <a:t>INDIVIDUALS</a:t>
                      </a: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extLst>
                  <a:ext uri="{0D108BD9-81ED-4DB2-BD59-A6C34878D82A}">
                    <a16:rowId xmlns:a16="http://schemas.microsoft.com/office/drawing/2014/main" val="10000"/>
                  </a:ext>
                </a:extLst>
              </a:tr>
              <a:tr h="1360101">
                <a:tc vMerge="1">
                  <a:txBody>
                    <a:bodyPr/>
                    <a:lstStyle/>
                    <a:p>
                      <a:pPr algn="ctr"/>
                      <a:endParaRPr lang="en-US" sz="2400" dirty="0">
                        <a:latin typeface="Garamond" panose="02020404030301010803" pitchFamily="18" charset="0"/>
                      </a:endParaRPr>
                    </a:p>
                  </a:txBody>
                  <a:tcPr/>
                </a:tc>
                <a:tc>
                  <a:txBody>
                    <a:bodyPr/>
                    <a:lstStyle/>
                    <a:p>
                      <a:pPr algn="ctr"/>
                      <a:r>
                        <a:rPr lang="en-US" sz="4000" dirty="0">
                          <a:latin typeface="+mj-lt"/>
                        </a:rPr>
                        <a:t>61 </a:t>
                      </a:r>
                    </a:p>
                  </a:txBody>
                  <a:tcPr anchor="ctr">
                    <a:solidFill>
                      <a:srgbClr val="F68712"/>
                    </a:solidFill>
                  </a:tcPr>
                </a:tc>
                <a:tc>
                  <a:txBody>
                    <a:bodyPr/>
                    <a:lstStyle/>
                    <a:p>
                      <a:pPr algn="ctr"/>
                      <a:r>
                        <a:rPr lang="en-US" sz="4000" dirty="0">
                          <a:latin typeface="+mj-lt"/>
                        </a:rPr>
                        <a:t>70</a:t>
                      </a:r>
                    </a:p>
                  </a:txBody>
                  <a:tcPr anchor="ctr">
                    <a:solidFill>
                      <a:srgbClr val="F68712"/>
                    </a:solidFill>
                  </a:tcPr>
                </a:tc>
                <a:extLst>
                  <a:ext uri="{0D108BD9-81ED-4DB2-BD59-A6C34878D82A}">
                    <a16:rowId xmlns:a16="http://schemas.microsoft.com/office/drawing/2014/main" val="10001"/>
                  </a:ext>
                </a:extLst>
              </a:tr>
            </a:tbl>
          </a:graphicData>
        </a:graphic>
      </p:graphicFrame>
      <p:sp>
        <p:nvSpPr>
          <p:cNvPr id="31" name="TextBox 30">
            <a:extLst>
              <a:ext uri="{FF2B5EF4-FFF2-40B4-BE49-F238E27FC236}">
                <a16:creationId xmlns:a16="http://schemas.microsoft.com/office/drawing/2014/main" id="{5B07BB15-7FE4-4628-A565-C990D4F30E14}"/>
              </a:ext>
            </a:extLst>
          </p:cNvPr>
          <p:cNvSpPr txBox="1"/>
          <p:nvPr/>
        </p:nvSpPr>
        <p:spPr>
          <a:xfrm>
            <a:off x="6787822" y="3977944"/>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PRINCIPAL</a:t>
            </a:r>
            <a:endParaRPr lang="en-PH" sz="8800" b="1" dirty="0">
              <a:ln>
                <a:solidFill>
                  <a:srgbClr val="203F39"/>
                </a:solidFill>
              </a:ln>
              <a:latin typeface="+mj-lt"/>
            </a:endParaRPr>
          </a:p>
        </p:txBody>
      </p:sp>
      <p:sp>
        <p:nvSpPr>
          <p:cNvPr id="32" name="TextBox 31">
            <a:extLst>
              <a:ext uri="{FF2B5EF4-FFF2-40B4-BE49-F238E27FC236}">
                <a16:creationId xmlns:a16="http://schemas.microsoft.com/office/drawing/2014/main" id="{9F201AEB-CC3D-485C-92A7-D5C40458E6FA}"/>
              </a:ext>
            </a:extLst>
          </p:cNvPr>
          <p:cNvSpPr txBox="1"/>
          <p:nvPr/>
        </p:nvSpPr>
        <p:spPr>
          <a:xfrm>
            <a:off x="6969383" y="-132325"/>
            <a:ext cx="10828732" cy="1862048"/>
          </a:xfrm>
          <a:prstGeom prst="rect">
            <a:avLst/>
          </a:prstGeom>
          <a:noFill/>
          <a:ln>
            <a:solidFill>
              <a:schemeClr val="bg1"/>
            </a:solidFill>
          </a:ln>
        </p:spPr>
        <p:txBody>
          <a:bodyPr wrap="square" rtlCol="0">
            <a:spAutoFit/>
          </a:bodyPr>
          <a:lstStyle/>
          <a:p>
            <a:r>
              <a:rPr lang="en-PH" sz="11500" b="1" dirty="0">
                <a:ln>
                  <a:solidFill>
                    <a:srgbClr val="203F39"/>
                  </a:solidFill>
                </a:ln>
                <a:latin typeface="+mj-lt"/>
              </a:rPr>
              <a:t>ELEGIBILITY</a:t>
            </a:r>
            <a:endParaRPr lang="en-PH" sz="13800" b="1" dirty="0">
              <a:ln>
                <a:solidFill>
                  <a:srgbClr val="203F39"/>
                </a:solidFill>
              </a:ln>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0244" y="635715"/>
            <a:ext cx="12907044" cy="864211"/>
          </a:xfrm>
          <a:prstGeom prst="rect">
            <a:avLst/>
          </a:prstGeom>
        </p:spPr>
        <p:txBody>
          <a:bodyPr wrap="square" lIns="0" tIns="0" rIns="0" bIns="0" rtlCol="0" anchor="t">
            <a:spAutoFit/>
          </a:bodyPr>
          <a:lstStyle/>
          <a:p>
            <a:pPr algn="r">
              <a:lnSpc>
                <a:spcPts val="5674"/>
              </a:lnSpc>
              <a:spcBef>
                <a:spcPct val="0"/>
              </a:spcBef>
            </a:pPr>
            <a:r>
              <a:rPr lang="en-US" sz="8800" b="1" dirty="0">
                <a:solidFill>
                  <a:srgbClr val="000000"/>
                </a:solidFill>
                <a:latin typeface="Poppins"/>
                <a:ea typeface="Poppins"/>
                <a:cs typeface="Poppins"/>
                <a:sym typeface="Poppins"/>
              </a:rPr>
              <a:t>HEALTHCARE BENEFITS</a:t>
            </a:r>
          </a:p>
        </p:txBody>
      </p:sp>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4" name="TextBox 33">
            <a:extLst>
              <a:ext uri="{FF2B5EF4-FFF2-40B4-BE49-F238E27FC236}">
                <a16:creationId xmlns:a16="http://schemas.microsoft.com/office/drawing/2014/main" id="{03D3129A-70BA-4DB7-B46E-95AEE3A1A9B1}"/>
              </a:ext>
            </a:extLst>
          </p:cNvPr>
          <p:cNvSpPr txBox="1"/>
          <p:nvPr/>
        </p:nvSpPr>
        <p:spPr>
          <a:xfrm>
            <a:off x="2425185" y="1433651"/>
            <a:ext cx="14458950" cy="8217634"/>
          </a:xfrm>
          <a:prstGeom prst="rect">
            <a:avLst/>
          </a:prstGeom>
          <a:noFill/>
          <a:ln>
            <a:solidFill>
              <a:schemeClr val="bg1"/>
            </a:solidFill>
          </a:ln>
        </p:spPr>
        <p:txBody>
          <a:bodyPr wrap="square" rtlCol="0">
            <a:spAutoFit/>
          </a:bodyPr>
          <a:lstStyle/>
          <a:p>
            <a:pPr marL="457200" indent="-457200">
              <a:buFont typeface="Wingdings" panose="05000000000000000000" pitchFamily="2" charset="2"/>
              <a:buChar char="Ø"/>
            </a:pPr>
            <a:r>
              <a:rPr lang="en-PH" sz="8800" dirty="0">
                <a:latin typeface="+mj-lt"/>
              </a:rPr>
              <a:t>In Patient</a:t>
            </a:r>
          </a:p>
          <a:p>
            <a:pPr marL="457200" indent="-457200">
              <a:buFont typeface="Wingdings" panose="05000000000000000000" pitchFamily="2" charset="2"/>
              <a:buChar char="Ø"/>
            </a:pPr>
            <a:r>
              <a:rPr lang="en-PH" sz="8800" dirty="0">
                <a:latin typeface="+mj-lt"/>
              </a:rPr>
              <a:t>Out Patient</a:t>
            </a:r>
          </a:p>
          <a:p>
            <a:pPr marL="457200" indent="-457200">
              <a:buFont typeface="Wingdings" panose="05000000000000000000" pitchFamily="2" charset="2"/>
              <a:buChar char="Ø"/>
            </a:pPr>
            <a:r>
              <a:rPr lang="en-PH" sz="8800" dirty="0">
                <a:latin typeface="+mj-lt"/>
              </a:rPr>
              <a:t>Emergency Care</a:t>
            </a:r>
          </a:p>
          <a:p>
            <a:pPr marL="457200" indent="-457200">
              <a:buFont typeface="Wingdings" panose="05000000000000000000" pitchFamily="2" charset="2"/>
              <a:buChar char="Ø"/>
            </a:pPr>
            <a:r>
              <a:rPr lang="en-PH" sz="8800" dirty="0">
                <a:latin typeface="+mj-lt"/>
              </a:rPr>
              <a:t>APE (Annual Physical Exam)</a:t>
            </a:r>
          </a:p>
          <a:p>
            <a:pPr marL="457200" indent="-457200">
              <a:buFont typeface="Wingdings" panose="05000000000000000000" pitchFamily="2" charset="2"/>
              <a:buChar char="Ø"/>
            </a:pPr>
            <a:r>
              <a:rPr lang="en-PH" sz="8800" dirty="0">
                <a:latin typeface="+mj-lt"/>
              </a:rPr>
              <a:t>Additional Benefits</a:t>
            </a:r>
          </a:p>
          <a:p>
            <a:pPr marL="457200" indent="-457200">
              <a:buFont typeface="Wingdings" panose="05000000000000000000" pitchFamily="2" charset="2"/>
              <a:buChar char="Ø"/>
            </a:pPr>
            <a:r>
              <a:rPr lang="en-US" sz="8800" dirty="0"/>
              <a:t>Preventive Healthcare</a:t>
            </a:r>
            <a:endParaRPr lang="en-PH" sz="8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1" end="1"/>
                                            </p:txEl>
                                          </p:spTgt>
                                        </p:tgtEl>
                                        <p:attrNameLst>
                                          <p:attrName>style.visibility</p:attrName>
                                        </p:attrNameLst>
                                      </p:cBhvr>
                                      <p:to>
                                        <p:strVal val="visible"/>
                                      </p:to>
                                    </p:set>
                                    <p:animEffect transition="in" filter="fade">
                                      <p:cBhvr>
                                        <p:cTn id="12" dur="500"/>
                                        <p:tgtEl>
                                          <p:spTgt spid="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animEffect transition="in" filter="fade">
                                      <p:cBhvr>
                                        <p:cTn id="17" dur="500"/>
                                        <p:tgtEl>
                                          <p:spTgt spid="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xEl>
                                              <p:pRg st="3" end="3"/>
                                            </p:txEl>
                                          </p:spTgt>
                                        </p:tgtEl>
                                        <p:attrNameLst>
                                          <p:attrName>style.visibility</p:attrName>
                                        </p:attrNameLst>
                                      </p:cBhvr>
                                      <p:to>
                                        <p:strVal val="visible"/>
                                      </p:to>
                                    </p:set>
                                    <p:animEffect transition="in" filter="fade">
                                      <p:cBhvr>
                                        <p:cTn id="22" dur="500"/>
                                        <p:tgtEl>
                                          <p:spTgt spid="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xEl>
                                              <p:pRg st="4" end="4"/>
                                            </p:txEl>
                                          </p:spTgt>
                                        </p:tgtEl>
                                        <p:attrNameLst>
                                          <p:attrName>style.visibility</p:attrName>
                                        </p:attrNameLst>
                                      </p:cBhvr>
                                      <p:to>
                                        <p:strVal val="visible"/>
                                      </p:to>
                                    </p:set>
                                    <p:animEffect transition="in" filter="fade">
                                      <p:cBhvr>
                                        <p:cTn id="27" dur="500"/>
                                        <p:tgtEl>
                                          <p:spTgt spid="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xEl>
                                              <p:pRg st="5" end="5"/>
                                            </p:txEl>
                                          </p:spTgt>
                                        </p:tgtEl>
                                        <p:attrNameLst>
                                          <p:attrName>style.visibility</p:attrName>
                                        </p:attrNameLst>
                                      </p:cBhvr>
                                      <p:to>
                                        <p:strVal val="visible"/>
                                      </p:to>
                                    </p:set>
                                    <p:animEffect transition="in" filter="fade">
                                      <p:cBhvr>
                                        <p:cTn id="32" dur="500"/>
                                        <p:tgtEl>
                                          <p:spTgt spid="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9432721" cy="1323439"/>
          </a:xfrm>
          <a:prstGeom prst="rect">
            <a:avLst/>
          </a:prstGeom>
          <a:noFill/>
          <a:ln>
            <a:noFill/>
          </a:ln>
        </p:spPr>
        <p:txBody>
          <a:bodyPr wrap="square" rtlCol="0">
            <a:spAutoFit/>
          </a:bodyPr>
          <a:lstStyle/>
          <a:p>
            <a:r>
              <a:rPr lang="en-US" sz="8000" b="1" dirty="0">
                <a:ln>
                  <a:solidFill>
                    <a:schemeClr val="tx1"/>
                  </a:solidFill>
                </a:ln>
                <a:latin typeface="+mj-lt"/>
              </a:rPr>
              <a:t>INPATIENT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0" name="Rectangle 9">
            <a:extLst>
              <a:ext uri="{FF2B5EF4-FFF2-40B4-BE49-F238E27FC236}">
                <a16:creationId xmlns:a16="http://schemas.microsoft.com/office/drawing/2014/main" id="{D5AA9ACB-C460-4435-9B7E-22DFA7077DB2}"/>
              </a:ext>
            </a:extLst>
          </p:cNvPr>
          <p:cNvSpPr/>
          <p:nvPr/>
        </p:nvSpPr>
        <p:spPr>
          <a:xfrm>
            <a:off x="341552" y="2095053"/>
            <a:ext cx="13750687" cy="7540526"/>
          </a:xfrm>
          <a:prstGeom prst="rect">
            <a:avLst/>
          </a:prstGeom>
        </p:spPr>
        <p:txBody>
          <a:bodyPr wrap="none">
            <a:spAutoFit/>
          </a:bodyPr>
          <a:lstStyle/>
          <a:p>
            <a:pPr marL="742950" indent="-742950">
              <a:buFont typeface="Courier New" panose="02070309020205020404" pitchFamily="49" charset="0"/>
              <a:buChar char="o"/>
            </a:pPr>
            <a:r>
              <a:rPr lang="en-US" sz="4400" b="1" dirty="0"/>
              <a:t>Room &amp; board accommodation</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Use of operating, ICU, isolation, or recovery room</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Professional fees (physician, surgeon, anesthesiologist)</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Nursing services, medicines, diagnostics, and supplies</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Blood transfusions and fluids (recipient only)</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Room upgrade (if room unavailable) – </a:t>
            </a:r>
            <a:r>
              <a:rPr lang="en-US" sz="4400" b="1" dirty="0" err="1"/>
              <a:t>Upto</a:t>
            </a:r>
            <a:r>
              <a:rPr lang="en-US" sz="4400" b="1" dirty="0"/>
              <a:t> 24 hours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fade">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fade">
                                      <p:cBhvr>
                                        <p:cTn id="27" dur="500"/>
                                        <p:tgtEl>
                                          <p:spTgt spid="10">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8" end="8"/>
                                            </p:txEl>
                                          </p:spTgt>
                                        </p:tgtEl>
                                        <p:attrNameLst>
                                          <p:attrName>style.visibility</p:attrName>
                                        </p:attrNameLst>
                                      </p:cBhvr>
                                      <p:to>
                                        <p:strVal val="visible"/>
                                      </p:to>
                                    </p:set>
                                    <p:animEffect transition="in" filter="fade">
                                      <p:cBhvr>
                                        <p:cTn id="32" dur="500"/>
                                        <p:tgtEl>
                                          <p:spTgt spid="10">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Effect transition="in" filter="fade">
                                      <p:cBhvr>
                                        <p:cTn id="37" dur="500"/>
                                        <p:tgtEl>
                                          <p:spTgt spid="1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AD024D31-709B-43F6-840E-81E1ECD65BA3}"/>
              </a:ext>
            </a:extLst>
          </p:cNvPr>
          <p:cNvSpPr/>
          <p:nvPr/>
        </p:nvSpPr>
        <p:spPr>
          <a:xfrm>
            <a:off x="881562" y="2158216"/>
            <a:ext cx="12555027" cy="6247864"/>
          </a:xfrm>
          <a:prstGeom prst="rect">
            <a:avLst/>
          </a:prstGeom>
        </p:spPr>
        <p:txBody>
          <a:bodyPr wrap="square">
            <a:spAutoFit/>
          </a:bodyPr>
          <a:lstStyle/>
          <a:p>
            <a:pPr marL="571500" indent="-571500">
              <a:buFont typeface="Wingdings" panose="05000000000000000000" pitchFamily="2" charset="2"/>
              <a:buChar char="v"/>
            </a:pPr>
            <a:r>
              <a:rPr lang="en-US" sz="4000" b="1" dirty="0"/>
              <a:t>Consultations and treatments that are prescribed by affiliated physicians or specialists</a:t>
            </a:r>
          </a:p>
          <a:p>
            <a:endParaRPr lang="en-US" sz="4000" b="1" dirty="0"/>
          </a:p>
          <a:p>
            <a:pPr marL="571500" indent="-571500">
              <a:buFont typeface="Wingdings" panose="05000000000000000000" pitchFamily="2" charset="2"/>
              <a:buChar char="v"/>
            </a:pPr>
            <a:r>
              <a:rPr lang="en-US" sz="4000" b="1" dirty="0"/>
              <a:t>Treatment for minor injuries and minor surgery (except outpatient medicines)</a:t>
            </a:r>
          </a:p>
          <a:p>
            <a:pPr marL="571500" indent="-571500">
              <a:buFont typeface="Wingdings" panose="05000000000000000000" pitchFamily="2" charset="2"/>
              <a:buChar char="v"/>
            </a:pPr>
            <a:endParaRPr lang="en-US" sz="4000" b="1" dirty="0"/>
          </a:p>
          <a:p>
            <a:pPr marL="571500" indent="-571500">
              <a:buFont typeface="Wingdings" panose="05000000000000000000" pitchFamily="2" charset="2"/>
              <a:buChar char="v"/>
            </a:pPr>
            <a:r>
              <a:rPr lang="en-US" sz="4000" b="1" dirty="0"/>
              <a:t>Dressings, casts (plaster of Paris), and sutures</a:t>
            </a:r>
          </a:p>
          <a:p>
            <a:pPr marL="571500" indent="-571500">
              <a:buFont typeface="Wingdings" panose="05000000000000000000" pitchFamily="2" charset="2"/>
              <a:buChar char="v"/>
            </a:pPr>
            <a:endParaRPr lang="en-US" sz="4000" b="1" dirty="0"/>
          </a:p>
          <a:p>
            <a:pPr marL="571500" indent="-571500">
              <a:buFont typeface="Wingdings" panose="05000000000000000000" pitchFamily="2" charset="2"/>
              <a:buChar char="v"/>
            </a:pPr>
            <a:r>
              <a:rPr lang="en-US" sz="4000" b="1" dirty="0"/>
              <a:t>Routine diagnostic and therapeutic procedures</a:t>
            </a:r>
          </a:p>
          <a:p>
            <a:pPr marL="571500" indent="-571500">
              <a:buFont typeface="Wingdings" panose="05000000000000000000" pitchFamily="2" charset="2"/>
              <a:buChar char="v"/>
            </a:pPr>
            <a:endParaRPr lang="en-US" sz="4000" b="1" dirty="0"/>
          </a:p>
        </p:txBody>
      </p:sp>
    </p:spTree>
    <p:extLst>
      <p:ext uri="{BB962C8B-B14F-4D97-AF65-F5344CB8AC3E}">
        <p14:creationId xmlns:p14="http://schemas.microsoft.com/office/powerpoint/2010/main" val="46669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fade">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fade">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5" name="Rectangle 14">
            <a:extLst>
              <a:ext uri="{FF2B5EF4-FFF2-40B4-BE49-F238E27FC236}">
                <a16:creationId xmlns:a16="http://schemas.microsoft.com/office/drawing/2014/main" id="{C9B1D33F-29C6-421D-A4A4-778D015EE500}"/>
              </a:ext>
            </a:extLst>
          </p:cNvPr>
          <p:cNvSpPr/>
          <p:nvPr/>
        </p:nvSpPr>
        <p:spPr>
          <a:xfrm>
            <a:off x="1263081" y="1637662"/>
            <a:ext cx="12295064" cy="8279190"/>
          </a:xfrm>
          <a:prstGeom prst="rect">
            <a:avLst/>
          </a:prstGeom>
        </p:spPr>
        <p:txBody>
          <a:bodyPr wrap="square">
            <a:spAutoFit/>
          </a:bodyPr>
          <a:lstStyle/>
          <a:p>
            <a:r>
              <a:rPr lang="en-US" sz="2800" b="1" dirty="0">
                <a:latin typeface="+mj-lt"/>
                <a:ea typeface="MS Mincho" panose="02020609040205080304" pitchFamily="49" charset="-128"/>
                <a:cs typeface="Times New Roman" panose="02020603050405020304" pitchFamily="18" charset="0"/>
              </a:rPr>
              <a:t>Laser Eye Therapy (retinal tear, hole, detachment, glaucoma only)</a:t>
            </a:r>
          </a:p>
          <a:p>
            <a:r>
              <a:rPr lang="en-US" sz="2800" b="1" dirty="0">
                <a:latin typeface="+mj-lt"/>
                <a:ea typeface="MS Mincho" panose="02020609040205080304" pitchFamily="49" charset="-128"/>
                <a:cs typeface="Times New Roman" panose="02020603050405020304" pitchFamily="18" charset="0"/>
              </a:rPr>
              <a:t>	- </a:t>
            </a:r>
            <a:r>
              <a:rPr lang="en-US" sz="2800" dirty="0">
                <a:latin typeface="+mj-lt"/>
              </a:rPr>
              <a:t>Up to ₱25,000/member/year (Excludes vision correction)</a:t>
            </a:r>
          </a:p>
          <a:p>
            <a:endParaRPr lang="en-US" sz="1400" b="1" dirty="0">
              <a:latin typeface="+mj-lt"/>
            </a:endParaRPr>
          </a:p>
          <a:p>
            <a:r>
              <a:rPr lang="en-US" sz="2800" b="1" dirty="0">
                <a:latin typeface="+mj-lt"/>
              </a:rPr>
              <a:t>Electrocauterization of skin lesions </a:t>
            </a:r>
          </a:p>
          <a:p>
            <a:r>
              <a:rPr lang="en-US" sz="2800" dirty="0">
                <a:latin typeface="+mj-lt"/>
              </a:rPr>
              <a:t>	- Up to ₱2,500/member/year (Excludes genital warts )</a:t>
            </a:r>
          </a:p>
          <a:p>
            <a:endParaRPr lang="en-US" sz="1400" b="1" dirty="0">
              <a:latin typeface="+mj-lt"/>
            </a:endParaRPr>
          </a:p>
          <a:p>
            <a:r>
              <a:rPr lang="en-US" sz="2800" b="1" dirty="0">
                <a:latin typeface="+mj-lt"/>
              </a:rPr>
              <a:t>Sclerotherapy for varicose veins </a:t>
            </a:r>
          </a:p>
          <a:p>
            <a:r>
              <a:rPr lang="en-US" sz="2800" dirty="0">
                <a:latin typeface="+mj-lt"/>
              </a:rPr>
              <a:t>	- Up to ₱5,000/leg/year (Medicines excluded)</a:t>
            </a:r>
          </a:p>
          <a:p>
            <a:endParaRPr lang="en-US" sz="1400" b="1" dirty="0">
              <a:latin typeface="+mj-lt"/>
            </a:endParaRPr>
          </a:p>
          <a:p>
            <a:r>
              <a:rPr lang="en-US" sz="2800" b="1" dirty="0">
                <a:latin typeface="+mj-lt"/>
              </a:rPr>
              <a:t>Botox (non-cosmetic) </a:t>
            </a:r>
          </a:p>
          <a:p>
            <a:r>
              <a:rPr lang="en-US" sz="2800" dirty="0">
                <a:latin typeface="+mj-lt"/>
              </a:rPr>
              <a:t>	- Up to ₱10,000/member/year (Must be medically indicated )</a:t>
            </a:r>
          </a:p>
          <a:p>
            <a:endParaRPr lang="en-US" sz="1400" dirty="0">
              <a:latin typeface="+mj-lt"/>
            </a:endParaRPr>
          </a:p>
          <a:p>
            <a:r>
              <a:rPr lang="en-US" sz="2800" b="1" dirty="0">
                <a:latin typeface="+mj-lt"/>
              </a:rPr>
              <a:t>Allergy testing and screening </a:t>
            </a:r>
          </a:p>
          <a:p>
            <a:r>
              <a:rPr lang="en-US" sz="2800" dirty="0">
                <a:latin typeface="+mj-lt"/>
              </a:rPr>
              <a:t>	- Up to ₱2,500 (Excluding the cost of allergens )</a:t>
            </a:r>
          </a:p>
          <a:p>
            <a:endParaRPr lang="en-US" sz="1400" dirty="0">
              <a:latin typeface="+mj-lt"/>
            </a:endParaRPr>
          </a:p>
          <a:p>
            <a:r>
              <a:rPr lang="en-US" sz="2800" b="1" dirty="0">
                <a:latin typeface="+mj-lt"/>
              </a:rPr>
              <a:t>Speech therapy for stroke patients </a:t>
            </a:r>
          </a:p>
          <a:p>
            <a:r>
              <a:rPr lang="en-US" sz="2800" dirty="0">
                <a:latin typeface="+mj-lt"/>
              </a:rPr>
              <a:t>	- Up to ₱10,000/member/year (Sessions included in the limit )</a:t>
            </a:r>
          </a:p>
          <a:p>
            <a:endParaRPr lang="en-US" sz="1400" dirty="0">
              <a:latin typeface="+mj-lt"/>
            </a:endParaRPr>
          </a:p>
          <a:p>
            <a:r>
              <a:rPr lang="en-US" sz="2800" b="1" dirty="0">
                <a:latin typeface="+mj-lt"/>
              </a:rPr>
              <a:t>Tuberculin test </a:t>
            </a:r>
            <a:r>
              <a:rPr lang="en-US" sz="2800" dirty="0">
                <a:latin typeface="+mj-lt"/>
              </a:rPr>
              <a:t>- Up to ₱600 </a:t>
            </a:r>
          </a:p>
          <a:p>
            <a:endParaRPr lang="en-US" sz="1400" dirty="0">
              <a:latin typeface="+mj-lt"/>
            </a:endParaRPr>
          </a:p>
          <a:p>
            <a:r>
              <a:rPr lang="en-US" sz="2800" b="1" dirty="0">
                <a:latin typeface="+mj-lt"/>
              </a:rPr>
              <a:t>Cataract surgery (excluding lens cost) </a:t>
            </a:r>
            <a:r>
              <a:rPr lang="en-US" sz="2800" dirty="0">
                <a:latin typeface="+mj-lt"/>
              </a:rPr>
              <a:t>- Up to ₱30,000/eye/year</a:t>
            </a:r>
          </a:p>
          <a:p>
            <a:endParaRPr lang="en-US" sz="1400" dirty="0">
              <a:latin typeface="+mj-lt"/>
            </a:endParaRPr>
          </a:p>
          <a:p>
            <a:r>
              <a:rPr lang="en-US" sz="2800" b="1" dirty="0">
                <a:latin typeface="+mj-lt"/>
              </a:rPr>
              <a:t>Visual acuity</a:t>
            </a:r>
            <a:r>
              <a:rPr lang="en-US" sz="2800" dirty="0">
                <a:latin typeface="+mj-lt"/>
              </a:rPr>
              <a:t> - As charged, subject to MBL	</a:t>
            </a:r>
            <a:endParaRPr lang="en-US" sz="2800" b="1" dirty="0">
              <a:latin typeface="+mj-lt"/>
            </a:endParaRPr>
          </a:p>
        </p:txBody>
      </p:sp>
    </p:spTree>
    <p:extLst>
      <p:ext uri="{BB962C8B-B14F-4D97-AF65-F5344CB8AC3E}">
        <p14:creationId xmlns:p14="http://schemas.microsoft.com/office/powerpoint/2010/main" val="80822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fade">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xEl>
                                              <p:pRg st="3" end="3"/>
                                            </p:txEl>
                                          </p:spTgt>
                                        </p:tgtEl>
                                        <p:attrNameLst>
                                          <p:attrName>style.visibility</p:attrName>
                                        </p:attrNameLst>
                                      </p:cBhvr>
                                      <p:to>
                                        <p:strVal val="visible"/>
                                      </p:to>
                                    </p:set>
                                    <p:animEffect transition="in" filter="fade">
                                      <p:cBhvr>
                                        <p:cTn id="15" dur="500"/>
                                        <p:tgtEl>
                                          <p:spTgt spid="1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xEl>
                                              <p:pRg st="4" end="4"/>
                                            </p:txEl>
                                          </p:spTgt>
                                        </p:tgtEl>
                                        <p:attrNameLst>
                                          <p:attrName>style.visibility</p:attrName>
                                        </p:attrNameLst>
                                      </p:cBhvr>
                                      <p:to>
                                        <p:strVal val="visible"/>
                                      </p:to>
                                    </p:set>
                                    <p:animEffect transition="in" filter="fade">
                                      <p:cBhvr>
                                        <p:cTn id="18" dur="500"/>
                                        <p:tgtEl>
                                          <p:spTgt spid="1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xEl>
                                              <p:pRg st="6" end="6"/>
                                            </p:txEl>
                                          </p:spTgt>
                                        </p:tgtEl>
                                        <p:attrNameLst>
                                          <p:attrName>style.visibility</p:attrName>
                                        </p:attrNameLst>
                                      </p:cBhvr>
                                      <p:to>
                                        <p:strVal val="visible"/>
                                      </p:to>
                                    </p:set>
                                    <p:animEffect transition="in" filter="fade">
                                      <p:cBhvr>
                                        <p:cTn id="23" dur="500"/>
                                        <p:tgtEl>
                                          <p:spTgt spid="1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xEl>
                                              <p:pRg st="7" end="7"/>
                                            </p:txEl>
                                          </p:spTgt>
                                        </p:tgtEl>
                                        <p:attrNameLst>
                                          <p:attrName>style.visibility</p:attrName>
                                        </p:attrNameLst>
                                      </p:cBhvr>
                                      <p:to>
                                        <p:strVal val="visible"/>
                                      </p:to>
                                    </p:set>
                                    <p:animEffect transition="in" filter="fade">
                                      <p:cBhvr>
                                        <p:cTn id="26" dur="500"/>
                                        <p:tgtEl>
                                          <p:spTgt spid="1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xEl>
                                              <p:pRg st="9" end="9"/>
                                            </p:txEl>
                                          </p:spTgt>
                                        </p:tgtEl>
                                        <p:attrNameLst>
                                          <p:attrName>style.visibility</p:attrName>
                                        </p:attrNameLst>
                                      </p:cBhvr>
                                      <p:to>
                                        <p:strVal val="visible"/>
                                      </p:to>
                                    </p:set>
                                    <p:animEffect transition="in" filter="fade">
                                      <p:cBhvr>
                                        <p:cTn id="31" dur="500"/>
                                        <p:tgtEl>
                                          <p:spTgt spid="15">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xEl>
                                              <p:pRg st="10" end="10"/>
                                            </p:txEl>
                                          </p:spTgt>
                                        </p:tgtEl>
                                        <p:attrNameLst>
                                          <p:attrName>style.visibility</p:attrName>
                                        </p:attrNameLst>
                                      </p:cBhvr>
                                      <p:to>
                                        <p:strVal val="visible"/>
                                      </p:to>
                                    </p:set>
                                    <p:animEffect transition="in" filter="fade">
                                      <p:cBhvr>
                                        <p:cTn id="34" dur="500"/>
                                        <p:tgtEl>
                                          <p:spTgt spid="15">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5">
                                            <p:txEl>
                                              <p:pRg st="12" end="12"/>
                                            </p:txEl>
                                          </p:spTgt>
                                        </p:tgtEl>
                                        <p:attrNameLst>
                                          <p:attrName>style.visibility</p:attrName>
                                        </p:attrNameLst>
                                      </p:cBhvr>
                                      <p:to>
                                        <p:strVal val="visible"/>
                                      </p:to>
                                    </p:set>
                                    <p:animEffect transition="in" filter="fade">
                                      <p:cBhvr>
                                        <p:cTn id="39" dur="500"/>
                                        <p:tgtEl>
                                          <p:spTgt spid="15">
                                            <p:txEl>
                                              <p:pRg st="12" end="1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xEl>
                                              <p:pRg st="13" end="13"/>
                                            </p:txEl>
                                          </p:spTgt>
                                        </p:tgtEl>
                                        <p:attrNameLst>
                                          <p:attrName>style.visibility</p:attrName>
                                        </p:attrNameLst>
                                      </p:cBhvr>
                                      <p:to>
                                        <p:strVal val="visible"/>
                                      </p:to>
                                    </p:set>
                                    <p:animEffect transition="in" filter="fade">
                                      <p:cBhvr>
                                        <p:cTn id="42" dur="500"/>
                                        <p:tgtEl>
                                          <p:spTgt spid="15">
                                            <p:txEl>
                                              <p:pRg st="13" end="1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xEl>
                                              <p:pRg st="15" end="15"/>
                                            </p:txEl>
                                          </p:spTgt>
                                        </p:tgtEl>
                                        <p:attrNameLst>
                                          <p:attrName>style.visibility</p:attrName>
                                        </p:attrNameLst>
                                      </p:cBhvr>
                                      <p:to>
                                        <p:strVal val="visible"/>
                                      </p:to>
                                    </p:set>
                                    <p:animEffect transition="in" filter="fade">
                                      <p:cBhvr>
                                        <p:cTn id="47" dur="500"/>
                                        <p:tgtEl>
                                          <p:spTgt spid="15">
                                            <p:txEl>
                                              <p:pRg st="15" end="15"/>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5">
                                            <p:txEl>
                                              <p:pRg st="16" end="16"/>
                                            </p:txEl>
                                          </p:spTgt>
                                        </p:tgtEl>
                                        <p:attrNameLst>
                                          <p:attrName>style.visibility</p:attrName>
                                        </p:attrNameLst>
                                      </p:cBhvr>
                                      <p:to>
                                        <p:strVal val="visible"/>
                                      </p:to>
                                    </p:set>
                                    <p:animEffect transition="in" filter="fade">
                                      <p:cBhvr>
                                        <p:cTn id="50" dur="500"/>
                                        <p:tgtEl>
                                          <p:spTgt spid="15">
                                            <p:txEl>
                                              <p:pRg st="16" end="1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5">
                                            <p:txEl>
                                              <p:pRg st="18" end="18"/>
                                            </p:txEl>
                                          </p:spTgt>
                                        </p:tgtEl>
                                        <p:attrNameLst>
                                          <p:attrName>style.visibility</p:attrName>
                                        </p:attrNameLst>
                                      </p:cBhvr>
                                      <p:to>
                                        <p:strVal val="visible"/>
                                      </p:to>
                                    </p:set>
                                    <p:animEffect transition="in" filter="fade">
                                      <p:cBhvr>
                                        <p:cTn id="55" dur="500"/>
                                        <p:tgtEl>
                                          <p:spTgt spid="15">
                                            <p:txEl>
                                              <p:pRg st="18" end="18"/>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5">
                                            <p:txEl>
                                              <p:pRg st="20" end="20"/>
                                            </p:txEl>
                                          </p:spTgt>
                                        </p:tgtEl>
                                        <p:attrNameLst>
                                          <p:attrName>style.visibility</p:attrName>
                                        </p:attrNameLst>
                                      </p:cBhvr>
                                      <p:to>
                                        <p:strVal val="visible"/>
                                      </p:to>
                                    </p:set>
                                    <p:animEffect transition="in" filter="fade">
                                      <p:cBhvr>
                                        <p:cTn id="60" dur="500"/>
                                        <p:tgtEl>
                                          <p:spTgt spid="15">
                                            <p:txEl>
                                              <p:pRg st="20" end="2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5">
                                            <p:txEl>
                                              <p:pRg st="22" end="22"/>
                                            </p:txEl>
                                          </p:spTgt>
                                        </p:tgtEl>
                                        <p:attrNameLst>
                                          <p:attrName>style.visibility</p:attrName>
                                        </p:attrNameLst>
                                      </p:cBhvr>
                                      <p:to>
                                        <p:strVal val="visible"/>
                                      </p:to>
                                    </p:set>
                                    <p:animEffect transition="in" filter="fade">
                                      <p:cBhvr>
                                        <p:cTn id="65" dur="500"/>
                                        <p:tgtEl>
                                          <p:spTgt spid="15">
                                            <p:txEl>
                                              <p:pRg st="22"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3517721" cy="1938992"/>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DIAGNOSTIC PROCEDURES</a:t>
            </a:r>
          </a:p>
          <a:p>
            <a:r>
              <a:rPr lang="en-US" sz="4000" b="1" dirty="0">
                <a:ln>
                  <a:solidFill>
                    <a:schemeClr val="tx1"/>
                  </a:solidFill>
                </a:ln>
                <a:solidFill>
                  <a:schemeClr val="tx2">
                    <a:lumMod val="50000"/>
                  </a:schemeClr>
                </a:solidFill>
                <a:latin typeface="+mj-lt"/>
              </a:rPr>
              <a:t>                    (Whether In-Patient or Out-Patient)</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9" name="Rectangle 8">
            <a:extLst>
              <a:ext uri="{FF2B5EF4-FFF2-40B4-BE49-F238E27FC236}">
                <a16:creationId xmlns:a16="http://schemas.microsoft.com/office/drawing/2014/main" id="{6D04973B-D6B0-43CE-B01D-F5876425C954}"/>
              </a:ext>
            </a:extLst>
          </p:cNvPr>
          <p:cNvSpPr/>
          <p:nvPr/>
        </p:nvSpPr>
        <p:spPr>
          <a:xfrm>
            <a:off x="448357" y="2582503"/>
            <a:ext cx="15931753" cy="6063198"/>
          </a:xfrm>
          <a:prstGeom prst="rect">
            <a:avLst/>
          </a:prstGeom>
        </p:spPr>
        <p:txBody>
          <a:bodyPr wrap="square">
            <a:spAutoFit/>
          </a:bodyPr>
          <a:lstStyle/>
          <a:p>
            <a:r>
              <a:rPr lang="en-US" sz="5400" b="1" dirty="0"/>
              <a:t>Standard diagnostics and imaging (X-ray, ECG, ultrasound, CT scans, etc.)</a:t>
            </a:r>
            <a:r>
              <a:rPr lang="en-US" sz="5400" dirty="0"/>
              <a:t>  </a:t>
            </a:r>
          </a:p>
          <a:p>
            <a:r>
              <a:rPr lang="en-US" sz="5400" dirty="0"/>
              <a:t>– </a:t>
            </a:r>
            <a:r>
              <a:rPr lang="en-US" sz="5400" dirty="0" err="1"/>
              <a:t>Upto</a:t>
            </a:r>
            <a:r>
              <a:rPr lang="en-US" sz="5400" dirty="0"/>
              <a:t> MBL</a:t>
            </a:r>
          </a:p>
          <a:p>
            <a:endParaRPr lang="en-US" sz="3200" dirty="0"/>
          </a:p>
          <a:p>
            <a:r>
              <a:rPr lang="en-US" sz="5400" b="1" dirty="0"/>
              <a:t>MRI  </a:t>
            </a:r>
            <a:r>
              <a:rPr lang="en-US" sz="5400" dirty="0"/>
              <a:t>- Up to ₱10,000/illness/year</a:t>
            </a:r>
          </a:p>
          <a:p>
            <a:endParaRPr lang="en-US" sz="3200" dirty="0"/>
          </a:p>
          <a:p>
            <a:r>
              <a:rPr lang="en-US" sz="5400" b="1" dirty="0"/>
              <a:t>Nuclear / Radioactive Isotope Scan  </a:t>
            </a:r>
          </a:p>
          <a:p>
            <a:r>
              <a:rPr lang="en-US" sz="5400" dirty="0"/>
              <a:t>- </a:t>
            </a:r>
            <a:r>
              <a:rPr lang="en-US" sz="5400" dirty="0" err="1"/>
              <a:t>Upto</a:t>
            </a:r>
            <a:r>
              <a:rPr lang="en-US" sz="5400" dirty="0"/>
              <a:t> ₱35,000/member/year</a:t>
            </a:r>
          </a:p>
        </p:txBody>
      </p:sp>
    </p:spTree>
    <p:extLst>
      <p:ext uri="{BB962C8B-B14F-4D97-AF65-F5344CB8AC3E}">
        <p14:creationId xmlns:p14="http://schemas.microsoft.com/office/powerpoint/2010/main" val="268422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5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fade">
                                      <p:cBhvr>
                                        <p:cTn id="27"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3517721" cy="1938992"/>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THERAPEUTIC PROCEDURES</a:t>
            </a:r>
          </a:p>
          <a:p>
            <a:r>
              <a:rPr lang="en-US" sz="4000" b="1" dirty="0">
                <a:ln>
                  <a:solidFill>
                    <a:schemeClr val="tx1"/>
                  </a:solidFill>
                </a:ln>
                <a:solidFill>
                  <a:schemeClr val="tx2">
                    <a:lumMod val="50000"/>
                  </a:schemeClr>
                </a:solidFill>
                <a:latin typeface="+mj-lt"/>
              </a:rPr>
              <a:t>                    </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1837F2B2-4E42-4575-9EFF-B748E55C60D3}"/>
              </a:ext>
            </a:extLst>
          </p:cNvPr>
          <p:cNvSpPr/>
          <p:nvPr/>
        </p:nvSpPr>
        <p:spPr>
          <a:xfrm>
            <a:off x="380413" y="1999067"/>
            <a:ext cx="13277353" cy="8771632"/>
          </a:xfrm>
          <a:prstGeom prst="rect">
            <a:avLst/>
          </a:prstGeom>
        </p:spPr>
        <p:txBody>
          <a:bodyPr wrap="none">
            <a:spAutoFit/>
          </a:bodyPr>
          <a:lstStyle/>
          <a:p>
            <a:r>
              <a:rPr lang="en-US" sz="4800" b="1" dirty="0">
                <a:latin typeface="+mj-lt"/>
                <a:ea typeface="MS Mincho" panose="02020609040205080304" pitchFamily="49" charset="-128"/>
                <a:cs typeface="Times New Roman" panose="02020603050405020304" pitchFamily="18" charset="0"/>
              </a:rPr>
              <a:t>Dialysis (peritoneal or hemodialysis)</a:t>
            </a:r>
          </a:p>
          <a:p>
            <a:r>
              <a:rPr lang="en-US" sz="4800" b="1" dirty="0">
                <a:latin typeface="+mj-lt"/>
                <a:ea typeface="MS Mincho" panose="02020609040205080304" pitchFamily="49" charset="-128"/>
                <a:cs typeface="Times New Roman" panose="02020603050405020304" pitchFamily="18" charset="0"/>
              </a:rPr>
              <a:t>	</a:t>
            </a:r>
            <a:r>
              <a:rPr lang="en-US" sz="3600" b="1" dirty="0">
                <a:latin typeface="+mj-lt"/>
                <a:ea typeface="MS Mincho" panose="02020609040205080304" pitchFamily="49" charset="-128"/>
                <a:cs typeface="Times New Roman" panose="02020603050405020304" pitchFamily="18" charset="0"/>
              </a:rPr>
              <a:t>- </a:t>
            </a:r>
            <a:r>
              <a:rPr lang="en-US" sz="3600" b="1" dirty="0">
                <a:latin typeface="+mj-lt"/>
              </a:rPr>
              <a:t>Up to 10 sessions, subject to MBL</a:t>
            </a:r>
            <a:endParaRPr lang="en-US" sz="3600" b="1" dirty="0">
              <a:latin typeface="+mj-lt"/>
              <a:ea typeface="MS Mincho" panose="02020609040205080304" pitchFamily="49" charset="-128"/>
              <a:cs typeface="Times New Roman" panose="02020603050405020304" pitchFamily="18" charset="0"/>
            </a:endParaRPr>
          </a:p>
          <a:p>
            <a:endParaRPr lang="en-US" sz="4800" b="1" dirty="0">
              <a:latin typeface="+mj-lt"/>
              <a:ea typeface="MS Mincho" panose="02020609040205080304" pitchFamily="49" charset="-128"/>
              <a:cs typeface="Times New Roman" panose="02020603050405020304" pitchFamily="18" charset="0"/>
            </a:endParaRPr>
          </a:p>
          <a:p>
            <a:r>
              <a:rPr lang="en-US" sz="4800" b="1" dirty="0">
                <a:latin typeface="+mj-lt"/>
                <a:ea typeface="MS Mincho" panose="02020609040205080304" pitchFamily="49" charset="-128"/>
                <a:cs typeface="Times New Roman" panose="02020603050405020304" pitchFamily="18" charset="0"/>
              </a:rPr>
              <a:t>Intravenous or Oral Chemotherapy</a:t>
            </a:r>
          </a:p>
          <a:p>
            <a:r>
              <a:rPr lang="en-US" sz="4800" b="1" dirty="0">
                <a:latin typeface="+mj-lt"/>
                <a:ea typeface="MS Mincho" panose="02020609040205080304" pitchFamily="49" charset="-128"/>
                <a:cs typeface="Times New Roman" panose="02020603050405020304" pitchFamily="18" charset="0"/>
              </a:rPr>
              <a:t>	</a:t>
            </a:r>
            <a:r>
              <a:rPr lang="en-US" sz="3600" b="1" dirty="0">
                <a:latin typeface="+mj-lt"/>
                <a:ea typeface="MS Mincho" panose="02020609040205080304" pitchFamily="49" charset="-128"/>
                <a:cs typeface="Times New Roman" panose="02020603050405020304" pitchFamily="18" charset="0"/>
              </a:rPr>
              <a:t>- Up to 10 sessions, subject to MBL</a:t>
            </a:r>
          </a:p>
          <a:p>
            <a:endParaRPr lang="en-US" sz="4800" b="1" dirty="0">
              <a:latin typeface="+mj-lt"/>
              <a:ea typeface="MS Mincho" panose="02020609040205080304" pitchFamily="49" charset="-128"/>
              <a:cs typeface="Times New Roman" panose="02020603050405020304" pitchFamily="18" charset="0"/>
            </a:endParaRPr>
          </a:p>
          <a:p>
            <a:r>
              <a:rPr lang="en-US" sz="4800" b="1" dirty="0">
                <a:latin typeface="+mj-lt"/>
                <a:ea typeface="MS Mincho" panose="02020609040205080304" pitchFamily="49" charset="-128"/>
                <a:cs typeface="Times New Roman" panose="02020603050405020304" pitchFamily="18" charset="0"/>
              </a:rPr>
              <a:t>Therapeutic Radiology (Cobalt, Brachytherapy, etc.)</a:t>
            </a:r>
          </a:p>
          <a:p>
            <a:r>
              <a:rPr lang="en-US" sz="3600" b="1" dirty="0">
                <a:latin typeface="+mj-lt"/>
                <a:ea typeface="MS Mincho" panose="02020609040205080304" pitchFamily="49" charset="-128"/>
                <a:cs typeface="Times New Roman" panose="02020603050405020304" pitchFamily="18" charset="0"/>
              </a:rPr>
              <a:t>	 - Up to 10 sessions, subject to MBL</a:t>
            </a:r>
            <a:endParaRPr lang="en-US" sz="3600" b="1" dirty="0">
              <a:latin typeface="+mj-lt"/>
            </a:endParaRPr>
          </a:p>
          <a:p>
            <a:endParaRPr lang="en-US" sz="4800" b="1" dirty="0">
              <a:latin typeface="+mj-lt"/>
            </a:endParaRPr>
          </a:p>
          <a:p>
            <a:r>
              <a:rPr lang="en-US" sz="4800" b="1" dirty="0">
                <a:latin typeface="+mj-lt"/>
                <a:ea typeface="MS Mincho" panose="02020609040205080304" pitchFamily="49" charset="-128"/>
                <a:cs typeface="Times New Roman" panose="02020603050405020304" pitchFamily="18" charset="0"/>
              </a:rPr>
              <a:t>Physical/Occupational Therapy (shared limit)</a:t>
            </a:r>
          </a:p>
          <a:p>
            <a:r>
              <a:rPr lang="en-US" sz="3600" b="1" dirty="0">
                <a:latin typeface="+mj-lt"/>
                <a:ea typeface="MS Mincho" panose="02020609040205080304" pitchFamily="49" charset="-128"/>
                <a:cs typeface="Times New Roman" panose="02020603050405020304" pitchFamily="18" charset="0"/>
              </a:rPr>
              <a:t>	</a:t>
            </a:r>
            <a:r>
              <a:rPr lang="en-US" sz="3600" b="1" dirty="0">
                <a:latin typeface="+mj-lt"/>
              </a:rPr>
              <a:t> - Up to ₱25,000/member/year</a:t>
            </a:r>
          </a:p>
          <a:p>
            <a:endParaRPr lang="en-US" sz="4800" b="1" dirty="0">
              <a:latin typeface="+mj-lt"/>
            </a:endParaRPr>
          </a:p>
        </p:txBody>
      </p:sp>
    </p:spTree>
    <p:extLst>
      <p:ext uri="{BB962C8B-B14F-4D97-AF65-F5344CB8AC3E}">
        <p14:creationId xmlns:p14="http://schemas.microsoft.com/office/powerpoint/2010/main" val="150139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animEffect transition="in" filter="fade">
                                      <p:cBhvr>
                                        <p:cTn id="15" dur="500"/>
                                        <p:tgtEl>
                                          <p:spTgt spid="1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4" end="4"/>
                                            </p:txEl>
                                          </p:spTgt>
                                        </p:tgtEl>
                                        <p:attrNameLst>
                                          <p:attrName>style.visibility</p:attrName>
                                        </p:attrNameLst>
                                      </p:cBhvr>
                                      <p:to>
                                        <p:strVal val="visible"/>
                                      </p:to>
                                    </p:set>
                                    <p:animEffect transition="in" filter="fade">
                                      <p:cBhvr>
                                        <p:cTn id="18" dur="500"/>
                                        <p:tgtEl>
                                          <p:spTgt spid="1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xEl>
                                              <p:pRg st="6" end="6"/>
                                            </p:txEl>
                                          </p:spTgt>
                                        </p:tgtEl>
                                        <p:attrNameLst>
                                          <p:attrName>style.visibility</p:attrName>
                                        </p:attrNameLst>
                                      </p:cBhvr>
                                      <p:to>
                                        <p:strVal val="visible"/>
                                      </p:to>
                                    </p:set>
                                    <p:animEffect transition="in" filter="fade">
                                      <p:cBhvr>
                                        <p:cTn id="23" dur="500"/>
                                        <p:tgtEl>
                                          <p:spTgt spid="14">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xEl>
                                              <p:pRg st="7" end="7"/>
                                            </p:txEl>
                                          </p:spTgt>
                                        </p:tgtEl>
                                        <p:attrNameLst>
                                          <p:attrName>style.visibility</p:attrName>
                                        </p:attrNameLst>
                                      </p:cBhvr>
                                      <p:to>
                                        <p:strVal val="visible"/>
                                      </p:to>
                                    </p:set>
                                    <p:animEffect transition="in" filter="fade">
                                      <p:cBhvr>
                                        <p:cTn id="26" dur="500"/>
                                        <p:tgtEl>
                                          <p:spTgt spid="14">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xEl>
                                              <p:pRg st="9" end="9"/>
                                            </p:txEl>
                                          </p:spTgt>
                                        </p:tgtEl>
                                        <p:attrNameLst>
                                          <p:attrName>style.visibility</p:attrName>
                                        </p:attrNameLst>
                                      </p:cBhvr>
                                      <p:to>
                                        <p:strVal val="visible"/>
                                      </p:to>
                                    </p:set>
                                    <p:animEffect transition="in" filter="fade">
                                      <p:cBhvr>
                                        <p:cTn id="31" dur="500"/>
                                        <p:tgtEl>
                                          <p:spTgt spid="14">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xEl>
                                              <p:pRg st="10" end="10"/>
                                            </p:txEl>
                                          </p:spTgt>
                                        </p:tgtEl>
                                        <p:attrNameLst>
                                          <p:attrName>style.visibility</p:attrName>
                                        </p:attrNameLst>
                                      </p:cBhvr>
                                      <p:to>
                                        <p:strVal val="visible"/>
                                      </p:to>
                                    </p:set>
                                    <p:animEffect transition="in" filter="fade">
                                      <p:cBhvr>
                                        <p:cTn id="34" dur="500"/>
                                        <p:tgtEl>
                                          <p:spTgt spid="1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6306800"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LATEST MODALITIES OF TREATMENT</a:t>
            </a:r>
            <a:r>
              <a:rPr lang="en-US" sz="4000" b="1" dirty="0">
                <a:ln>
                  <a:solidFill>
                    <a:schemeClr val="tx1"/>
                  </a:solidFill>
                </a:ln>
                <a:solidFill>
                  <a:schemeClr val="tx2">
                    <a:lumMod val="50000"/>
                  </a:schemeClr>
                </a:solidFill>
                <a:latin typeface="+mj-lt"/>
              </a:rPr>
              <a:t>                    </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1837F2B2-4E42-4575-9EFF-B748E55C60D3}"/>
              </a:ext>
            </a:extLst>
          </p:cNvPr>
          <p:cNvSpPr/>
          <p:nvPr/>
        </p:nvSpPr>
        <p:spPr>
          <a:xfrm>
            <a:off x="814024" y="1637662"/>
            <a:ext cx="15132475" cy="8586966"/>
          </a:xfrm>
          <a:prstGeom prst="rect">
            <a:avLst/>
          </a:prstGeom>
        </p:spPr>
        <p:txBody>
          <a:bodyPr wrap="square">
            <a:spAutoFit/>
          </a:bodyPr>
          <a:lstStyle/>
          <a:p>
            <a:r>
              <a:rPr lang="en-US" sz="4000" b="1" dirty="0">
                <a:latin typeface="+mj-lt"/>
              </a:rPr>
              <a:t>Angiography, Angioplasty, Gamma Knife, etc.</a:t>
            </a:r>
          </a:p>
          <a:p>
            <a:r>
              <a:rPr lang="en-US" sz="4000" b="1" dirty="0">
                <a:latin typeface="+mj-lt"/>
              </a:rPr>
              <a:t>	</a:t>
            </a:r>
            <a:r>
              <a:rPr lang="en-US" sz="3200" b="1" dirty="0">
                <a:latin typeface="+mj-lt"/>
              </a:rPr>
              <a:t>- Up to MBL</a:t>
            </a:r>
            <a:endParaRPr lang="en-US" sz="8800" b="1" dirty="0">
              <a:latin typeface="+mj-lt"/>
            </a:endParaRPr>
          </a:p>
          <a:p>
            <a:r>
              <a:rPr lang="en-US" sz="4000" b="1" dirty="0">
                <a:latin typeface="+mj-lt"/>
              </a:rPr>
              <a:t>Laparoscopic procedures / Adrenalectomy</a:t>
            </a:r>
          </a:p>
          <a:p>
            <a:r>
              <a:rPr lang="en-US" sz="4000" b="1" dirty="0">
                <a:latin typeface="+mj-lt"/>
              </a:rPr>
              <a:t>	</a:t>
            </a:r>
            <a:r>
              <a:rPr lang="en-US" sz="3200" b="1" dirty="0">
                <a:latin typeface="+mj-lt"/>
              </a:rPr>
              <a:t>- Up to ₱35,000/illness/year</a:t>
            </a:r>
          </a:p>
          <a:p>
            <a:r>
              <a:rPr lang="en-US" sz="4000" b="1" dirty="0">
                <a:latin typeface="+mj-lt"/>
              </a:rPr>
              <a:t>Lithotripsy</a:t>
            </a:r>
          </a:p>
          <a:p>
            <a:r>
              <a:rPr lang="en-US" sz="4000" b="1" dirty="0">
                <a:latin typeface="+mj-lt"/>
              </a:rPr>
              <a:t>	- </a:t>
            </a:r>
            <a:r>
              <a:rPr lang="en-US" sz="3200" b="1" dirty="0">
                <a:latin typeface="+mj-lt"/>
              </a:rPr>
              <a:t>Up to ₱35,000/illness/year</a:t>
            </a:r>
          </a:p>
          <a:p>
            <a:r>
              <a:rPr lang="en-US" sz="4000" b="1" dirty="0">
                <a:latin typeface="+mj-lt"/>
              </a:rPr>
              <a:t>PET Scan</a:t>
            </a:r>
          </a:p>
          <a:p>
            <a:r>
              <a:rPr lang="en-US" sz="4000" b="1" dirty="0">
                <a:latin typeface="+mj-lt"/>
              </a:rPr>
              <a:t>	</a:t>
            </a:r>
            <a:r>
              <a:rPr lang="en-US" sz="3200" b="1" dirty="0">
                <a:latin typeface="+mj-lt"/>
              </a:rPr>
              <a:t>- Up to ₱20,000</a:t>
            </a:r>
          </a:p>
          <a:p>
            <a:r>
              <a:rPr lang="en-US" sz="4000" b="1" dirty="0">
                <a:latin typeface="+mj-lt"/>
              </a:rPr>
              <a:t>Cryosurgery</a:t>
            </a:r>
          </a:p>
          <a:p>
            <a:r>
              <a:rPr lang="en-US" sz="4000" b="1" dirty="0">
                <a:latin typeface="+mj-lt"/>
              </a:rPr>
              <a:t>	</a:t>
            </a:r>
            <a:r>
              <a:rPr lang="en-US" sz="3200" b="1" dirty="0">
                <a:latin typeface="+mj-lt"/>
              </a:rPr>
              <a:t>- Up to ₱1,000 per area</a:t>
            </a:r>
          </a:p>
          <a:p>
            <a:r>
              <a:rPr lang="en-US" sz="4000" b="1" dirty="0">
                <a:latin typeface="+mj-lt"/>
              </a:rPr>
              <a:t>Hemorrhoidectomy (Scalpel or Stapled)</a:t>
            </a:r>
          </a:p>
          <a:p>
            <a:r>
              <a:rPr lang="en-US" sz="1600" dirty="0"/>
              <a:t>	</a:t>
            </a:r>
            <a:r>
              <a:rPr lang="en-US" sz="3200" b="1" dirty="0"/>
              <a:t>- Up to ₱10,000</a:t>
            </a:r>
            <a:endParaRPr lang="en-US" sz="3200" b="1" dirty="0">
              <a:latin typeface="+mj-lt"/>
            </a:endParaRPr>
          </a:p>
          <a:p>
            <a:r>
              <a:rPr lang="en-US" sz="4000" b="1" dirty="0">
                <a:latin typeface="+mj-lt"/>
              </a:rPr>
              <a:t>Other necessary advanced modalities</a:t>
            </a:r>
          </a:p>
          <a:p>
            <a:r>
              <a:rPr lang="en-US" sz="3200" b="1" dirty="0">
                <a:latin typeface="+mj-lt"/>
              </a:rPr>
              <a:t>	- Up to ₱10,000/procedure, subject to MBL</a:t>
            </a:r>
          </a:p>
        </p:txBody>
      </p:sp>
    </p:spTree>
    <p:extLst>
      <p:ext uri="{BB962C8B-B14F-4D97-AF65-F5344CB8AC3E}">
        <p14:creationId xmlns:p14="http://schemas.microsoft.com/office/powerpoint/2010/main" val="92795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animEffect transition="in" filter="fade">
                                      <p:cBhvr>
                                        <p:cTn id="15" dur="500"/>
                                        <p:tgtEl>
                                          <p:spTgt spid="1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3" end="3"/>
                                            </p:txEl>
                                          </p:spTgt>
                                        </p:tgtEl>
                                        <p:attrNameLst>
                                          <p:attrName>style.visibility</p:attrName>
                                        </p:attrNameLst>
                                      </p:cBhvr>
                                      <p:to>
                                        <p:strVal val="visible"/>
                                      </p:to>
                                    </p:set>
                                    <p:animEffect transition="in" filter="fade">
                                      <p:cBhvr>
                                        <p:cTn id="18" dur="500"/>
                                        <p:tgtEl>
                                          <p:spTgt spid="1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animEffect transition="in" filter="fade">
                                      <p:cBhvr>
                                        <p:cTn id="23" dur="500"/>
                                        <p:tgtEl>
                                          <p:spTgt spid="1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xEl>
                                              <p:pRg st="5" end="5"/>
                                            </p:txEl>
                                          </p:spTgt>
                                        </p:tgtEl>
                                        <p:attrNameLst>
                                          <p:attrName>style.visibility</p:attrName>
                                        </p:attrNameLst>
                                      </p:cBhvr>
                                      <p:to>
                                        <p:strVal val="visible"/>
                                      </p:to>
                                    </p:set>
                                    <p:animEffect transition="in" filter="fade">
                                      <p:cBhvr>
                                        <p:cTn id="26" dur="500"/>
                                        <p:tgtEl>
                                          <p:spTgt spid="1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xEl>
                                              <p:pRg st="6" end="6"/>
                                            </p:txEl>
                                          </p:spTgt>
                                        </p:tgtEl>
                                        <p:attrNameLst>
                                          <p:attrName>style.visibility</p:attrName>
                                        </p:attrNameLst>
                                      </p:cBhvr>
                                      <p:to>
                                        <p:strVal val="visible"/>
                                      </p:to>
                                    </p:set>
                                    <p:animEffect transition="in" filter="fade">
                                      <p:cBhvr>
                                        <p:cTn id="31" dur="500"/>
                                        <p:tgtEl>
                                          <p:spTgt spid="14">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xEl>
                                              <p:pRg st="7" end="7"/>
                                            </p:txEl>
                                          </p:spTgt>
                                        </p:tgtEl>
                                        <p:attrNameLst>
                                          <p:attrName>style.visibility</p:attrName>
                                        </p:attrNameLst>
                                      </p:cBhvr>
                                      <p:to>
                                        <p:strVal val="visible"/>
                                      </p:to>
                                    </p:set>
                                    <p:animEffect transition="in" filter="fade">
                                      <p:cBhvr>
                                        <p:cTn id="34" dur="500"/>
                                        <p:tgtEl>
                                          <p:spTgt spid="1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xEl>
                                              <p:pRg st="8" end="8"/>
                                            </p:txEl>
                                          </p:spTgt>
                                        </p:tgtEl>
                                        <p:attrNameLst>
                                          <p:attrName>style.visibility</p:attrName>
                                        </p:attrNameLst>
                                      </p:cBhvr>
                                      <p:to>
                                        <p:strVal val="visible"/>
                                      </p:to>
                                    </p:set>
                                    <p:animEffect transition="in" filter="fade">
                                      <p:cBhvr>
                                        <p:cTn id="39" dur="500"/>
                                        <p:tgtEl>
                                          <p:spTgt spid="14">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xEl>
                                              <p:pRg st="9" end="9"/>
                                            </p:txEl>
                                          </p:spTgt>
                                        </p:tgtEl>
                                        <p:attrNameLst>
                                          <p:attrName>style.visibility</p:attrName>
                                        </p:attrNameLst>
                                      </p:cBhvr>
                                      <p:to>
                                        <p:strVal val="visible"/>
                                      </p:to>
                                    </p:set>
                                    <p:animEffect transition="in" filter="fade">
                                      <p:cBhvr>
                                        <p:cTn id="42" dur="500"/>
                                        <p:tgtEl>
                                          <p:spTgt spid="1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xEl>
                                              <p:pRg st="10" end="10"/>
                                            </p:txEl>
                                          </p:spTgt>
                                        </p:tgtEl>
                                        <p:attrNameLst>
                                          <p:attrName>style.visibility</p:attrName>
                                        </p:attrNameLst>
                                      </p:cBhvr>
                                      <p:to>
                                        <p:strVal val="visible"/>
                                      </p:to>
                                    </p:set>
                                    <p:animEffect transition="in" filter="fade">
                                      <p:cBhvr>
                                        <p:cTn id="47" dur="500"/>
                                        <p:tgtEl>
                                          <p:spTgt spid="14">
                                            <p:txEl>
                                              <p:pRg st="10" end="10"/>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4">
                                            <p:txEl>
                                              <p:pRg st="11" end="11"/>
                                            </p:txEl>
                                          </p:spTgt>
                                        </p:tgtEl>
                                        <p:attrNameLst>
                                          <p:attrName>style.visibility</p:attrName>
                                        </p:attrNameLst>
                                      </p:cBhvr>
                                      <p:to>
                                        <p:strVal val="visible"/>
                                      </p:to>
                                    </p:set>
                                    <p:animEffect transition="in" filter="fade">
                                      <p:cBhvr>
                                        <p:cTn id="50" dur="500"/>
                                        <p:tgtEl>
                                          <p:spTgt spid="14">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12" end="12"/>
                                            </p:txEl>
                                          </p:spTgt>
                                        </p:tgtEl>
                                        <p:attrNameLst>
                                          <p:attrName>style.visibility</p:attrName>
                                        </p:attrNameLst>
                                      </p:cBhvr>
                                      <p:to>
                                        <p:strVal val="visible"/>
                                      </p:to>
                                    </p:set>
                                    <p:animEffect transition="in" filter="fade">
                                      <p:cBhvr>
                                        <p:cTn id="55" dur="500"/>
                                        <p:tgtEl>
                                          <p:spTgt spid="14">
                                            <p:txEl>
                                              <p:pRg st="12" end="12"/>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14">
                                            <p:txEl>
                                              <p:pRg st="13" end="13"/>
                                            </p:txEl>
                                          </p:spTgt>
                                        </p:tgtEl>
                                        <p:attrNameLst>
                                          <p:attrName>style.visibility</p:attrName>
                                        </p:attrNameLst>
                                      </p:cBhvr>
                                      <p:to>
                                        <p:strVal val="visible"/>
                                      </p:to>
                                    </p:set>
                                    <p:animEffect transition="in" filter="fade">
                                      <p:cBhvr>
                                        <p:cTn id="58" dur="500"/>
                                        <p:tgtEl>
                                          <p:spTgt spid="1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6306800"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ADDITIONAL BENEFITS</a:t>
            </a:r>
            <a:endParaRPr lang="en-US" sz="4000" b="1" dirty="0">
              <a:ln>
                <a:solidFill>
                  <a:schemeClr val="tx1"/>
                </a:solidFill>
              </a:ln>
              <a:solidFill>
                <a:schemeClr val="tx2">
                  <a:lumMod val="50000"/>
                </a:schemeClr>
              </a:solidFill>
              <a:latin typeface="+mj-lt"/>
            </a:endParaRP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1837F2B2-4E42-4575-9EFF-B748E55C60D3}"/>
              </a:ext>
            </a:extLst>
          </p:cNvPr>
          <p:cNvSpPr/>
          <p:nvPr/>
        </p:nvSpPr>
        <p:spPr>
          <a:xfrm>
            <a:off x="1337187" y="1637662"/>
            <a:ext cx="15132475" cy="10679847"/>
          </a:xfrm>
          <a:prstGeom prst="rect">
            <a:avLst/>
          </a:prstGeom>
        </p:spPr>
        <p:txBody>
          <a:bodyPr wrap="square">
            <a:spAutoFit/>
          </a:bodyPr>
          <a:lstStyle/>
          <a:p>
            <a:r>
              <a:rPr lang="en-US" sz="4000" b="1" dirty="0">
                <a:latin typeface="+mj-lt"/>
              </a:rPr>
              <a:t>Motor vehicular accidents</a:t>
            </a:r>
          </a:p>
          <a:p>
            <a:r>
              <a:rPr lang="en-US" sz="4000" b="1" dirty="0">
                <a:latin typeface="+mj-lt"/>
              </a:rPr>
              <a:t>	</a:t>
            </a:r>
            <a:r>
              <a:rPr lang="en-US" sz="3200" b="1" dirty="0">
                <a:latin typeface="+mj-lt"/>
              </a:rPr>
              <a:t>- Up to MBL</a:t>
            </a:r>
          </a:p>
          <a:p>
            <a:endParaRPr lang="en-US" sz="3200" b="1" dirty="0">
              <a:latin typeface="+mj-lt"/>
            </a:endParaRPr>
          </a:p>
          <a:p>
            <a:r>
              <a:rPr lang="en-US" sz="3200" b="1" dirty="0"/>
              <a:t>Unprovoked assault / domestic violence</a:t>
            </a:r>
          </a:p>
          <a:p>
            <a:r>
              <a:rPr lang="en-US" sz="3200" b="1" dirty="0"/>
              <a:t>	- Up to MBL</a:t>
            </a:r>
          </a:p>
          <a:p>
            <a:endParaRPr lang="en-US" sz="3200" b="1" dirty="0"/>
          </a:p>
          <a:p>
            <a:r>
              <a:rPr lang="en-US" sz="3200" b="1" dirty="0"/>
              <a:t>Hepatitis B (treatment only)</a:t>
            </a:r>
          </a:p>
          <a:p>
            <a:r>
              <a:rPr lang="en-US" sz="3200" b="1" dirty="0"/>
              <a:t>	- Up to MBL</a:t>
            </a:r>
          </a:p>
          <a:p>
            <a:endParaRPr lang="en-US" sz="3200" b="1" dirty="0"/>
          </a:p>
          <a:p>
            <a:r>
              <a:rPr lang="en-US" sz="3200" b="1" dirty="0"/>
              <a:t>Sports-related injuries (non-hazardous)</a:t>
            </a:r>
          </a:p>
          <a:p>
            <a:r>
              <a:rPr lang="en-US" sz="3200" b="1" dirty="0"/>
              <a:t>	- Up to MBL</a:t>
            </a:r>
          </a:p>
          <a:p>
            <a:endParaRPr lang="en-US" sz="3200" b="1" dirty="0"/>
          </a:p>
          <a:p>
            <a:r>
              <a:rPr lang="en-US" sz="3200" b="1" dirty="0"/>
              <a:t>Scoliosis (necessary procedures)</a:t>
            </a:r>
          </a:p>
          <a:p>
            <a:r>
              <a:rPr lang="en-US" sz="3200" b="1" dirty="0"/>
              <a:t>	- Up to MBL</a:t>
            </a:r>
          </a:p>
          <a:p>
            <a:endParaRPr lang="en-US" sz="3200" b="1" dirty="0"/>
          </a:p>
          <a:p>
            <a:r>
              <a:rPr lang="en-US" sz="3200" b="1" dirty="0"/>
              <a:t>Scabies / Chronic Dermatoses</a:t>
            </a:r>
          </a:p>
          <a:p>
            <a:r>
              <a:rPr lang="en-US" sz="3200" b="1" dirty="0"/>
              <a:t>	- Consultations Only</a:t>
            </a:r>
          </a:p>
          <a:p>
            <a:endParaRPr lang="en-US" sz="3200" b="1" dirty="0"/>
          </a:p>
          <a:p>
            <a:endParaRPr lang="en-US" sz="3200" b="1" dirty="0"/>
          </a:p>
          <a:p>
            <a:endParaRPr lang="en-US" sz="3200" b="1" dirty="0"/>
          </a:p>
          <a:p>
            <a:endParaRPr lang="en-US" sz="3200" b="1" dirty="0">
              <a:latin typeface="+mj-lt"/>
            </a:endParaRPr>
          </a:p>
        </p:txBody>
      </p:sp>
    </p:spTree>
    <p:extLst>
      <p:ext uri="{BB962C8B-B14F-4D97-AF65-F5344CB8AC3E}">
        <p14:creationId xmlns:p14="http://schemas.microsoft.com/office/powerpoint/2010/main" val="295837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animEffect transition="in" filter="fade">
                                      <p:cBhvr>
                                        <p:cTn id="15" dur="500"/>
                                        <p:tgtEl>
                                          <p:spTgt spid="1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4" end="4"/>
                                            </p:txEl>
                                          </p:spTgt>
                                        </p:tgtEl>
                                        <p:attrNameLst>
                                          <p:attrName>style.visibility</p:attrName>
                                        </p:attrNameLst>
                                      </p:cBhvr>
                                      <p:to>
                                        <p:strVal val="visible"/>
                                      </p:to>
                                    </p:set>
                                    <p:animEffect transition="in" filter="fade">
                                      <p:cBhvr>
                                        <p:cTn id="18" dur="500"/>
                                        <p:tgtEl>
                                          <p:spTgt spid="1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xEl>
                                              <p:pRg st="6" end="6"/>
                                            </p:txEl>
                                          </p:spTgt>
                                        </p:tgtEl>
                                        <p:attrNameLst>
                                          <p:attrName>style.visibility</p:attrName>
                                        </p:attrNameLst>
                                      </p:cBhvr>
                                      <p:to>
                                        <p:strVal val="visible"/>
                                      </p:to>
                                    </p:set>
                                    <p:animEffect transition="in" filter="fade">
                                      <p:cBhvr>
                                        <p:cTn id="23" dur="500"/>
                                        <p:tgtEl>
                                          <p:spTgt spid="14">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xEl>
                                              <p:pRg st="7" end="7"/>
                                            </p:txEl>
                                          </p:spTgt>
                                        </p:tgtEl>
                                        <p:attrNameLst>
                                          <p:attrName>style.visibility</p:attrName>
                                        </p:attrNameLst>
                                      </p:cBhvr>
                                      <p:to>
                                        <p:strVal val="visible"/>
                                      </p:to>
                                    </p:set>
                                    <p:animEffect transition="in" filter="fade">
                                      <p:cBhvr>
                                        <p:cTn id="26" dur="500"/>
                                        <p:tgtEl>
                                          <p:spTgt spid="14">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xEl>
                                              <p:pRg st="9" end="9"/>
                                            </p:txEl>
                                          </p:spTgt>
                                        </p:tgtEl>
                                        <p:attrNameLst>
                                          <p:attrName>style.visibility</p:attrName>
                                        </p:attrNameLst>
                                      </p:cBhvr>
                                      <p:to>
                                        <p:strVal val="visible"/>
                                      </p:to>
                                    </p:set>
                                    <p:animEffect transition="in" filter="fade">
                                      <p:cBhvr>
                                        <p:cTn id="31" dur="500"/>
                                        <p:tgtEl>
                                          <p:spTgt spid="14">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xEl>
                                              <p:pRg st="10" end="10"/>
                                            </p:txEl>
                                          </p:spTgt>
                                        </p:tgtEl>
                                        <p:attrNameLst>
                                          <p:attrName>style.visibility</p:attrName>
                                        </p:attrNameLst>
                                      </p:cBhvr>
                                      <p:to>
                                        <p:strVal val="visible"/>
                                      </p:to>
                                    </p:set>
                                    <p:animEffect transition="in" filter="fade">
                                      <p:cBhvr>
                                        <p:cTn id="34" dur="500"/>
                                        <p:tgtEl>
                                          <p:spTgt spid="14">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xEl>
                                              <p:pRg st="12" end="12"/>
                                            </p:txEl>
                                          </p:spTgt>
                                        </p:tgtEl>
                                        <p:attrNameLst>
                                          <p:attrName>style.visibility</p:attrName>
                                        </p:attrNameLst>
                                      </p:cBhvr>
                                      <p:to>
                                        <p:strVal val="visible"/>
                                      </p:to>
                                    </p:set>
                                    <p:animEffect transition="in" filter="fade">
                                      <p:cBhvr>
                                        <p:cTn id="39" dur="500"/>
                                        <p:tgtEl>
                                          <p:spTgt spid="14">
                                            <p:txEl>
                                              <p:pRg st="12" end="1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xEl>
                                              <p:pRg st="13" end="13"/>
                                            </p:txEl>
                                          </p:spTgt>
                                        </p:tgtEl>
                                        <p:attrNameLst>
                                          <p:attrName>style.visibility</p:attrName>
                                        </p:attrNameLst>
                                      </p:cBhvr>
                                      <p:to>
                                        <p:strVal val="visible"/>
                                      </p:to>
                                    </p:set>
                                    <p:animEffect transition="in" filter="fade">
                                      <p:cBhvr>
                                        <p:cTn id="42" dur="500"/>
                                        <p:tgtEl>
                                          <p:spTgt spid="14">
                                            <p:txEl>
                                              <p:pRg st="13" end="1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xEl>
                                              <p:pRg st="15" end="15"/>
                                            </p:txEl>
                                          </p:spTgt>
                                        </p:tgtEl>
                                        <p:attrNameLst>
                                          <p:attrName>style.visibility</p:attrName>
                                        </p:attrNameLst>
                                      </p:cBhvr>
                                      <p:to>
                                        <p:strVal val="visible"/>
                                      </p:to>
                                    </p:set>
                                    <p:animEffect transition="in" filter="fade">
                                      <p:cBhvr>
                                        <p:cTn id="47" dur="500"/>
                                        <p:tgtEl>
                                          <p:spTgt spid="14">
                                            <p:txEl>
                                              <p:pRg st="15" end="15"/>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4">
                                            <p:txEl>
                                              <p:pRg st="16" end="16"/>
                                            </p:txEl>
                                          </p:spTgt>
                                        </p:tgtEl>
                                        <p:attrNameLst>
                                          <p:attrName>style.visibility</p:attrName>
                                        </p:attrNameLst>
                                      </p:cBhvr>
                                      <p:to>
                                        <p:strVal val="visible"/>
                                      </p:to>
                                    </p:set>
                                    <p:animEffect transition="in" filter="fade">
                                      <p:cBhvr>
                                        <p:cTn id="50" dur="500"/>
                                        <p:tgtEl>
                                          <p:spTgt spid="14">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6306800"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Preventive Health Care</a:t>
            </a:r>
            <a:endParaRPr lang="en-US" sz="4000" b="1" dirty="0">
              <a:ln>
                <a:solidFill>
                  <a:schemeClr val="tx1"/>
                </a:solidFill>
              </a:ln>
              <a:solidFill>
                <a:schemeClr val="tx2">
                  <a:lumMod val="50000"/>
                </a:schemeClr>
              </a:solidFill>
              <a:latin typeface="+mj-lt"/>
            </a:endParaRP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1837F2B2-4E42-4575-9EFF-B748E55C60D3}"/>
              </a:ext>
            </a:extLst>
          </p:cNvPr>
          <p:cNvSpPr/>
          <p:nvPr/>
        </p:nvSpPr>
        <p:spPr>
          <a:xfrm>
            <a:off x="1255009" y="2103257"/>
            <a:ext cx="15132475" cy="7171194"/>
          </a:xfrm>
          <a:prstGeom prst="rect">
            <a:avLst/>
          </a:prstGeom>
        </p:spPr>
        <p:txBody>
          <a:bodyPr wrap="square">
            <a:spAutoFit/>
          </a:bodyPr>
          <a:lstStyle/>
          <a:p>
            <a:r>
              <a:rPr lang="en-US" sz="6000" b="1" dirty="0">
                <a:latin typeface="+mj-lt"/>
              </a:rPr>
              <a:t>Vaccinations (including anti-venom for bites)</a:t>
            </a:r>
          </a:p>
          <a:p>
            <a:r>
              <a:rPr lang="en-US" sz="6000" b="1" dirty="0">
                <a:latin typeface="+mj-lt"/>
              </a:rPr>
              <a:t>	- Up to 18,000 per/member/year</a:t>
            </a:r>
          </a:p>
          <a:p>
            <a:endParaRPr lang="en-US" sz="6000" b="1" dirty="0">
              <a:latin typeface="+mj-lt"/>
            </a:endParaRPr>
          </a:p>
          <a:p>
            <a:r>
              <a:rPr lang="en-US" sz="6000" b="1" dirty="0"/>
              <a:t>Health and Education Counseling</a:t>
            </a:r>
          </a:p>
          <a:p>
            <a:endParaRPr lang="en-US" sz="6000" b="1" dirty="0"/>
          </a:p>
          <a:p>
            <a:endParaRPr lang="en-US" sz="3200" b="1" dirty="0"/>
          </a:p>
          <a:p>
            <a:endParaRPr lang="en-US" sz="3200" b="1" dirty="0"/>
          </a:p>
          <a:p>
            <a:endParaRPr lang="en-US" sz="3200" b="1" dirty="0"/>
          </a:p>
          <a:p>
            <a:endParaRPr lang="en-US" sz="3200" b="1" dirty="0"/>
          </a:p>
          <a:p>
            <a:endParaRPr lang="en-US" sz="3200" b="1" dirty="0">
              <a:latin typeface="+mj-lt"/>
            </a:endParaRPr>
          </a:p>
        </p:txBody>
      </p:sp>
    </p:spTree>
    <p:extLst>
      <p:ext uri="{BB962C8B-B14F-4D97-AF65-F5344CB8AC3E}">
        <p14:creationId xmlns:p14="http://schemas.microsoft.com/office/powerpoint/2010/main" val="371715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animEffect transition="in" filter="fade">
                                      <p:cBhvr>
                                        <p:cTn id="15"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0" y="1349748"/>
            <a:ext cx="11330673" cy="910506"/>
          </a:xfrm>
          <a:prstGeom prst="rect">
            <a:avLst/>
          </a:prstGeom>
        </p:spPr>
        <p:txBody>
          <a:bodyPr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28600" y="2985072"/>
            <a:ext cx="10287000" cy="7418121"/>
          </a:xfrm>
          <a:prstGeom prst="rect">
            <a:avLst/>
          </a:prstGeom>
          <a:noFill/>
        </p:spPr>
        <p:txBody>
          <a:bodyPr wrap="square" rtlCol="0">
            <a:spAutoFit/>
          </a:bodyPr>
          <a:lstStyle/>
          <a:p>
            <a:pPr marL="69850" marR="0">
              <a:lnSpc>
                <a:spcPts val="2500"/>
              </a:lnSpc>
              <a:spcBef>
                <a:spcPts val="60"/>
              </a:spcBef>
              <a:spcAft>
                <a:spcPts val="0"/>
              </a:spcAft>
            </a:pPr>
            <a:r>
              <a:rPr lang="en-US" sz="4400" b="1" dirty="0">
                <a:latin typeface="+mj-lt"/>
                <a:ea typeface="Arial MT"/>
                <a:cs typeface="Arial MT"/>
              </a:rPr>
              <a:t>In</a:t>
            </a:r>
            <a:r>
              <a:rPr lang="en-US" sz="4400" b="1" spc="-10" dirty="0">
                <a:latin typeface="+mj-lt"/>
                <a:ea typeface="Arial MT"/>
                <a:cs typeface="Arial MT"/>
              </a:rPr>
              <a:t> </a:t>
            </a:r>
            <a:r>
              <a:rPr lang="en-US" sz="4400" b="1" dirty="0">
                <a:latin typeface="+mj-lt"/>
                <a:ea typeface="Arial MT"/>
                <a:cs typeface="Arial MT"/>
              </a:rPr>
              <a:t>Affiliated</a:t>
            </a:r>
            <a:r>
              <a:rPr lang="en-US" sz="4400" b="1" spc="-10" dirty="0">
                <a:latin typeface="+mj-lt"/>
                <a:ea typeface="Arial MT"/>
                <a:cs typeface="Arial MT"/>
              </a:rPr>
              <a:t> Hospitals: </a:t>
            </a:r>
            <a:r>
              <a:rPr lang="en-US" sz="4400" b="1" spc="-10" dirty="0" err="1">
                <a:latin typeface="+mj-lt"/>
                <a:ea typeface="Arial MT"/>
                <a:cs typeface="Arial MT"/>
              </a:rPr>
              <a:t>Upto</a:t>
            </a:r>
            <a:r>
              <a:rPr lang="en-US" sz="4400" b="1" spc="-10" dirty="0">
                <a:latin typeface="+mj-lt"/>
                <a:ea typeface="Arial MT"/>
                <a:cs typeface="Arial MT"/>
              </a:rPr>
              <a:t> MBL</a:t>
            </a:r>
          </a:p>
          <a:p>
            <a:pPr marL="69850" marR="0">
              <a:lnSpc>
                <a:spcPts val="3000"/>
              </a:lnSpc>
              <a:spcBef>
                <a:spcPts val="60"/>
              </a:spcBef>
              <a:spcAft>
                <a:spcPts val="0"/>
              </a:spcAft>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Physician's</a:t>
            </a:r>
            <a:r>
              <a:rPr lang="en-US" sz="3600" b="1" spc="285" dirty="0">
                <a:latin typeface="+mj-lt"/>
                <a:ea typeface="Arial MT"/>
                <a:cs typeface="Arial MT"/>
              </a:rPr>
              <a:t> </a:t>
            </a:r>
            <a:r>
              <a:rPr lang="en-US" sz="3600" b="1" spc="-10" dirty="0">
                <a:latin typeface="+mj-lt"/>
                <a:ea typeface="Arial MT"/>
                <a:cs typeface="Arial MT"/>
              </a:rPr>
              <a:t>services</a:t>
            </a:r>
          </a:p>
          <a:p>
            <a:pPr marL="355600" marR="0" indent="-285750">
              <a:lnSpc>
                <a:spcPts val="3000"/>
              </a:lnSpc>
              <a:spcBef>
                <a:spcPts val="60"/>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Emergency</a:t>
            </a:r>
            <a:r>
              <a:rPr lang="en-US" sz="3600" b="1" spc="-5" dirty="0">
                <a:latin typeface="+mj-lt"/>
                <a:ea typeface="Arial MT"/>
                <a:cs typeface="Arial MT"/>
              </a:rPr>
              <a:t> </a:t>
            </a:r>
            <a:r>
              <a:rPr lang="en-US" sz="3600" b="1" dirty="0">
                <a:latin typeface="+mj-lt"/>
                <a:ea typeface="Arial MT"/>
                <a:cs typeface="Arial MT"/>
              </a:rPr>
              <a:t>Room</a:t>
            </a:r>
            <a:r>
              <a:rPr lang="en-US" sz="3600" b="1" spc="-15" dirty="0">
                <a:latin typeface="+mj-lt"/>
                <a:ea typeface="Arial MT"/>
                <a:cs typeface="Arial MT"/>
              </a:rPr>
              <a:t> </a:t>
            </a:r>
            <a:r>
              <a:rPr lang="en-US" sz="3600" b="1" spc="-20" dirty="0">
                <a:latin typeface="+mj-lt"/>
                <a:ea typeface="Arial MT"/>
                <a:cs typeface="Arial MT"/>
              </a:rPr>
              <a:t>Fees</a:t>
            </a:r>
          </a:p>
          <a:p>
            <a:pPr marL="355600" marR="0" indent="-285750">
              <a:lnSpc>
                <a:spcPts val="3000"/>
              </a:lnSpc>
              <a:spcBef>
                <a:spcPts val="60"/>
              </a:spcBef>
              <a:spcAft>
                <a:spcPts val="0"/>
              </a:spcAft>
              <a:buFont typeface="Arial" panose="020B0604020202020204" pitchFamily="34" charset="0"/>
              <a:buChar char="•"/>
            </a:pPr>
            <a:endParaRPr lang="en-US" sz="3600" b="1" spc="-20" dirty="0">
              <a:latin typeface="+mj-lt"/>
              <a:ea typeface="Arial MT"/>
              <a:cs typeface="Arial MT"/>
            </a:endParaRPr>
          </a:p>
          <a:p>
            <a:pPr marL="355600" marR="0" indent="-285750">
              <a:lnSpc>
                <a:spcPts val="3000"/>
              </a:lnSpc>
              <a:spcBef>
                <a:spcPts val="65"/>
              </a:spcBef>
              <a:spcAft>
                <a:spcPts val="0"/>
              </a:spcAft>
              <a:buFont typeface="Arial" panose="020B0604020202020204" pitchFamily="34" charset="0"/>
              <a:buChar char="•"/>
            </a:pPr>
            <a:r>
              <a:rPr lang="en-US" sz="3600" b="1" dirty="0">
                <a:latin typeface="+mj-lt"/>
                <a:ea typeface="Arial MT"/>
                <a:cs typeface="Arial MT"/>
              </a:rPr>
              <a:t>Medicines</a:t>
            </a:r>
            <a:r>
              <a:rPr lang="en-US" sz="3600" b="1" spc="-20" dirty="0">
                <a:latin typeface="+mj-lt"/>
                <a:ea typeface="Arial MT"/>
                <a:cs typeface="Arial MT"/>
              </a:rPr>
              <a:t> </a:t>
            </a:r>
            <a:r>
              <a:rPr lang="en-US" sz="3600" b="1" dirty="0">
                <a:latin typeface="+mj-lt"/>
                <a:ea typeface="Arial MT"/>
                <a:cs typeface="Arial MT"/>
              </a:rPr>
              <a:t>used</a:t>
            </a:r>
            <a:r>
              <a:rPr lang="en-US" sz="3600" b="1" spc="-30" dirty="0">
                <a:latin typeface="+mj-lt"/>
                <a:ea typeface="Arial MT"/>
                <a:cs typeface="Arial MT"/>
              </a:rPr>
              <a:t> </a:t>
            </a:r>
            <a:r>
              <a:rPr lang="en-US" sz="3600" b="1" dirty="0">
                <a:latin typeface="+mj-lt"/>
                <a:ea typeface="Arial MT"/>
                <a:cs typeface="Arial MT"/>
              </a:rPr>
              <a:t>for</a:t>
            </a:r>
            <a:r>
              <a:rPr lang="en-US" sz="3600" b="1" spc="-20" dirty="0">
                <a:latin typeface="+mj-lt"/>
                <a:ea typeface="Arial MT"/>
                <a:cs typeface="Arial MT"/>
              </a:rPr>
              <a:t> </a:t>
            </a:r>
            <a:r>
              <a:rPr lang="en-US" sz="3600" b="1" dirty="0">
                <a:latin typeface="+mj-lt"/>
                <a:ea typeface="Arial MT"/>
                <a:cs typeface="Arial MT"/>
              </a:rPr>
              <a:t>immediate</a:t>
            </a:r>
            <a:r>
              <a:rPr lang="en-US" sz="3600" b="1" spc="-10" dirty="0">
                <a:latin typeface="+mj-lt"/>
                <a:ea typeface="Arial MT"/>
                <a:cs typeface="Arial MT"/>
              </a:rPr>
              <a:t> </a:t>
            </a:r>
            <a:r>
              <a:rPr lang="en-US" sz="3600" b="1" dirty="0">
                <a:latin typeface="+mj-lt"/>
                <a:ea typeface="Arial MT"/>
                <a:cs typeface="Arial MT"/>
              </a:rPr>
              <a:t>relief</a:t>
            </a:r>
            <a:r>
              <a:rPr lang="en-US" sz="3600" b="1" spc="-30" dirty="0">
                <a:latin typeface="+mj-lt"/>
                <a:ea typeface="Arial MT"/>
                <a:cs typeface="Arial MT"/>
              </a:rPr>
              <a:t> </a:t>
            </a:r>
            <a:r>
              <a:rPr lang="en-US" sz="3600" b="1" dirty="0">
                <a:latin typeface="+mj-lt"/>
                <a:ea typeface="Arial MT"/>
                <a:cs typeface="Arial MT"/>
              </a:rPr>
              <a:t>during</a:t>
            </a:r>
            <a:r>
              <a:rPr lang="en-US" sz="3600" b="1" spc="-30" dirty="0">
                <a:latin typeface="+mj-lt"/>
                <a:ea typeface="Arial MT"/>
                <a:cs typeface="Arial MT"/>
              </a:rPr>
              <a:t> </a:t>
            </a:r>
            <a:r>
              <a:rPr lang="en-US" sz="3600" b="1" spc="-10" dirty="0">
                <a:latin typeface="+mj-lt"/>
                <a:ea typeface="Arial MT"/>
                <a:cs typeface="Arial MT"/>
              </a:rPr>
              <a:t>treatment</a:t>
            </a:r>
          </a:p>
          <a:p>
            <a:pPr marL="355600" marR="0" indent="-285750">
              <a:lnSpc>
                <a:spcPts val="3000"/>
              </a:lnSpc>
              <a:spcBef>
                <a:spcPts val="65"/>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50"/>
              </a:spcBef>
              <a:spcAft>
                <a:spcPts val="0"/>
              </a:spcAft>
              <a:buFont typeface="Arial" panose="020B0604020202020204" pitchFamily="34" charset="0"/>
              <a:buChar char="•"/>
            </a:pPr>
            <a:r>
              <a:rPr lang="en-US" sz="3600" b="1" dirty="0">
                <a:latin typeface="+mj-lt"/>
                <a:ea typeface="Arial MT"/>
                <a:cs typeface="Arial MT"/>
              </a:rPr>
              <a:t>Oxygen,</a:t>
            </a:r>
            <a:r>
              <a:rPr lang="en-US" sz="3600" b="1" spc="-10" dirty="0">
                <a:latin typeface="+mj-lt"/>
                <a:ea typeface="Arial MT"/>
                <a:cs typeface="Arial MT"/>
              </a:rPr>
              <a:t> </a:t>
            </a:r>
            <a:r>
              <a:rPr lang="en-US" sz="3600" b="1" dirty="0">
                <a:latin typeface="+mj-lt"/>
                <a:ea typeface="Arial MT"/>
                <a:cs typeface="Arial MT"/>
              </a:rPr>
              <a:t>intravenous</a:t>
            </a:r>
            <a:r>
              <a:rPr lang="en-US" sz="3600" b="1" spc="-5" dirty="0">
                <a:latin typeface="+mj-lt"/>
                <a:ea typeface="Arial MT"/>
                <a:cs typeface="Arial MT"/>
              </a:rPr>
              <a:t> </a:t>
            </a:r>
            <a:r>
              <a:rPr lang="en-US" sz="3600" b="1" dirty="0">
                <a:latin typeface="+mj-lt"/>
                <a:ea typeface="Arial MT"/>
                <a:cs typeface="Arial MT"/>
              </a:rPr>
              <a:t>fluids</a:t>
            </a:r>
            <a:r>
              <a:rPr lang="en-US" sz="3600" b="1" spc="-35" dirty="0">
                <a:latin typeface="+mj-lt"/>
                <a:ea typeface="Arial MT"/>
                <a:cs typeface="Arial MT"/>
              </a:rPr>
              <a:t> </a:t>
            </a:r>
            <a:r>
              <a:rPr lang="en-US" sz="3600" b="1" dirty="0">
                <a:latin typeface="+mj-lt"/>
                <a:ea typeface="Arial MT"/>
                <a:cs typeface="Arial MT"/>
              </a:rPr>
              <a:t>and</a:t>
            </a:r>
            <a:r>
              <a:rPr lang="en-US" sz="3600" b="1" spc="-15" dirty="0">
                <a:latin typeface="+mj-lt"/>
                <a:ea typeface="Arial MT"/>
                <a:cs typeface="Arial MT"/>
              </a:rPr>
              <a:t> </a:t>
            </a:r>
            <a:r>
              <a:rPr lang="en-US" sz="3600" b="1" dirty="0">
                <a:latin typeface="+mj-lt"/>
                <a:ea typeface="Arial MT"/>
                <a:cs typeface="Arial MT"/>
              </a:rPr>
              <a:t>blood</a:t>
            </a:r>
            <a:r>
              <a:rPr lang="en-US" sz="3600" b="1" spc="-10" dirty="0">
                <a:latin typeface="+mj-lt"/>
                <a:ea typeface="Arial MT"/>
                <a:cs typeface="Arial MT"/>
              </a:rPr>
              <a:t> products</a:t>
            </a:r>
          </a:p>
          <a:p>
            <a:pPr marL="355600" marR="0" indent="-285750">
              <a:lnSpc>
                <a:spcPts val="3000"/>
              </a:lnSpc>
              <a:spcBef>
                <a:spcPts val="50"/>
              </a:spcBef>
              <a:spcAft>
                <a:spcPts val="0"/>
              </a:spcAft>
              <a:buFont typeface="Arial" panose="020B0604020202020204" pitchFamily="34" charset="0"/>
              <a:buChar cha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Dressings,</a:t>
            </a:r>
            <a:r>
              <a:rPr lang="en-US" sz="3600" b="1" spc="-20" dirty="0">
                <a:latin typeface="+mj-lt"/>
                <a:ea typeface="Arial MT"/>
                <a:cs typeface="Arial MT"/>
              </a:rPr>
              <a:t> </a:t>
            </a:r>
            <a:r>
              <a:rPr lang="en-US" sz="3600" b="1" dirty="0">
                <a:latin typeface="+mj-lt"/>
                <a:ea typeface="Arial MT"/>
                <a:cs typeface="Arial MT"/>
              </a:rPr>
              <a:t>conventional</a:t>
            </a:r>
            <a:r>
              <a:rPr lang="en-US" sz="3600" b="1" spc="-15" dirty="0">
                <a:latin typeface="+mj-lt"/>
                <a:ea typeface="Arial MT"/>
                <a:cs typeface="Arial MT"/>
              </a:rPr>
              <a:t> </a:t>
            </a:r>
            <a:r>
              <a:rPr lang="en-US" sz="3600" b="1" dirty="0">
                <a:latin typeface="+mj-lt"/>
                <a:ea typeface="Arial MT"/>
                <a:cs typeface="Arial MT"/>
              </a:rPr>
              <a:t>casts</a:t>
            </a:r>
            <a:r>
              <a:rPr lang="en-US" sz="3600" b="1" spc="-20" dirty="0">
                <a:latin typeface="+mj-lt"/>
                <a:ea typeface="Arial MT"/>
                <a:cs typeface="Arial MT"/>
              </a:rPr>
              <a:t> </a:t>
            </a:r>
            <a:r>
              <a:rPr lang="en-US" sz="3600" b="1" dirty="0">
                <a:latin typeface="+mj-lt"/>
                <a:ea typeface="Arial MT"/>
                <a:cs typeface="Arial MT"/>
              </a:rPr>
              <a:t>(plaster</a:t>
            </a:r>
            <a:r>
              <a:rPr lang="en-US" sz="3600" b="1" spc="-15" dirty="0">
                <a:latin typeface="+mj-lt"/>
                <a:ea typeface="Arial MT"/>
                <a:cs typeface="Arial MT"/>
              </a:rPr>
              <a:t> </a:t>
            </a:r>
            <a:r>
              <a:rPr lang="en-US" sz="3600" b="1" dirty="0">
                <a:latin typeface="+mj-lt"/>
                <a:ea typeface="Arial MT"/>
                <a:cs typeface="Arial MT"/>
              </a:rPr>
              <a:t>of</a:t>
            </a:r>
            <a:r>
              <a:rPr lang="en-US" sz="3600" b="1" spc="-20" dirty="0">
                <a:latin typeface="+mj-lt"/>
                <a:ea typeface="Arial MT"/>
                <a:cs typeface="Arial MT"/>
              </a:rPr>
              <a:t> </a:t>
            </a:r>
            <a:r>
              <a:rPr lang="en-US" sz="3600" b="1" dirty="0">
                <a:latin typeface="+mj-lt"/>
                <a:ea typeface="Arial MT"/>
                <a:cs typeface="Arial MT"/>
              </a:rPr>
              <a:t>Paris)</a:t>
            </a:r>
            <a:r>
              <a:rPr lang="en-US" sz="3600" b="1" spc="-15" dirty="0">
                <a:latin typeface="+mj-lt"/>
                <a:ea typeface="Arial MT"/>
                <a:cs typeface="Arial MT"/>
              </a:rPr>
              <a:t> </a:t>
            </a:r>
            <a:r>
              <a:rPr lang="en-US" sz="3600" b="1" dirty="0">
                <a:latin typeface="+mj-lt"/>
                <a:ea typeface="Arial MT"/>
                <a:cs typeface="Arial MT"/>
              </a:rPr>
              <a:t>and</a:t>
            </a:r>
            <a:r>
              <a:rPr lang="en-US" sz="3600" b="1" spc="-20" dirty="0">
                <a:latin typeface="+mj-lt"/>
                <a:ea typeface="Arial MT"/>
                <a:cs typeface="Arial MT"/>
              </a:rPr>
              <a:t> </a:t>
            </a:r>
            <a:r>
              <a:rPr lang="en-US" sz="3600" b="1" spc="-10" dirty="0">
                <a:latin typeface="+mj-lt"/>
                <a:ea typeface="Arial MT"/>
                <a:cs typeface="Arial MT"/>
              </a:rPr>
              <a:t>sutures</a:t>
            </a:r>
          </a:p>
          <a:p>
            <a:pPr marL="355600" lvl="0" indent="-285750" defTabSz="914400">
              <a:lnSpc>
                <a:spcPts val="3000"/>
              </a:lnSpc>
              <a:spcBef>
                <a:spcPts val="50"/>
              </a:spcBef>
              <a:buFont typeface="Arial" panose="020B0604020202020204" pitchFamily="34" charset="0"/>
              <a:buChar char="•"/>
              <a:defRP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X-ray, laboratory , and diagnostic examinations, and other medical services related to the emergency treatment of the </a:t>
            </a:r>
            <a:r>
              <a:rPr lang="en-US" sz="3600" b="1" spc="-10" dirty="0">
                <a:latin typeface="+mj-lt"/>
                <a:ea typeface="Arial MT"/>
                <a:cs typeface="Arial MT"/>
              </a:rPr>
              <a:t>patient.</a:t>
            </a:r>
            <a:endParaRPr lang="en-US" sz="3600" b="1" dirty="0">
              <a:latin typeface="+mj-lt"/>
              <a:ea typeface="Arial MT"/>
              <a:cs typeface="Arial MT"/>
            </a:endParaRPr>
          </a:p>
          <a:p>
            <a:pPr marL="69850" lvl="0" defTabSz="914400">
              <a:lnSpc>
                <a:spcPts val="2500"/>
              </a:lnSpc>
              <a:spcBef>
                <a:spcPts val="50"/>
              </a:spcBef>
              <a:defRPr/>
            </a:pPr>
            <a:endParaRPr lang="en-US" sz="3600" b="1" dirty="0">
              <a:latin typeface="+mj-lt"/>
              <a:ea typeface="Arial MT"/>
              <a:cs typeface="Arial MT"/>
            </a:endParaRPr>
          </a:p>
          <a:p>
            <a:pPr>
              <a:lnSpc>
                <a:spcPts val="2500"/>
              </a:lnSpc>
            </a:pPr>
            <a:endParaRPr lang="en-US" sz="3600" dirty="0">
              <a:latin typeface="+mj-lt"/>
            </a:endParaRPr>
          </a:p>
        </p:txBody>
      </p:sp>
      <p:pic>
        <p:nvPicPr>
          <p:cNvPr id="1026" name="Picture 2" descr="Emergency Icons in SVG, PNG, AI to Download">
            <a:extLst>
              <a:ext uri="{FF2B5EF4-FFF2-40B4-BE49-F238E27FC236}">
                <a16:creationId xmlns:a16="http://schemas.microsoft.com/office/drawing/2014/main" id="{DEB73918-3DA9-44C9-B64A-C5FCBF468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fade">
                                      <p:cBhvr>
                                        <p:cTn id="12" dur="500"/>
                                        <p:tgtEl>
                                          <p:spTgt spid="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4" end="4"/>
                                            </p:txEl>
                                          </p:spTgt>
                                        </p:tgtEl>
                                        <p:attrNameLst>
                                          <p:attrName>style.visibility</p:attrName>
                                        </p:attrNameLst>
                                      </p:cBhvr>
                                      <p:to>
                                        <p:strVal val="visible"/>
                                      </p:to>
                                    </p:set>
                                    <p:animEffect transition="in" filter="fade">
                                      <p:cBhvr>
                                        <p:cTn id="17" dur="500"/>
                                        <p:tgtEl>
                                          <p:spTgt spid="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xEl>
                                              <p:pRg st="6" end="6"/>
                                            </p:txEl>
                                          </p:spTgt>
                                        </p:tgtEl>
                                        <p:attrNameLst>
                                          <p:attrName>style.visibility</p:attrName>
                                        </p:attrNameLst>
                                      </p:cBhvr>
                                      <p:to>
                                        <p:strVal val="visible"/>
                                      </p:to>
                                    </p:set>
                                    <p:animEffect transition="in" filter="fade">
                                      <p:cBhvr>
                                        <p:cTn id="22" dur="500"/>
                                        <p:tgtEl>
                                          <p:spTgt spid="2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xEl>
                                              <p:pRg st="8" end="8"/>
                                            </p:txEl>
                                          </p:spTgt>
                                        </p:tgtEl>
                                        <p:attrNameLst>
                                          <p:attrName>style.visibility</p:attrName>
                                        </p:attrNameLst>
                                      </p:cBhvr>
                                      <p:to>
                                        <p:strVal val="visible"/>
                                      </p:to>
                                    </p:set>
                                    <p:animEffect transition="in" filter="fade">
                                      <p:cBhvr>
                                        <p:cTn id="27" dur="500"/>
                                        <p:tgtEl>
                                          <p:spTgt spid="2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10" end="10"/>
                                            </p:txEl>
                                          </p:spTgt>
                                        </p:tgtEl>
                                        <p:attrNameLst>
                                          <p:attrName>style.visibility</p:attrName>
                                        </p:attrNameLst>
                                      </p:cBhvr>
                                      <p:to>
                                        <p:strVal val="visible"/>
                                      </p:to>
                                    </p:set>
                                    <p:animEffect transition="in" filter="fade">
                                      <p:cBhvr>
                                        <p:cTn id="32" dur="500"/>
                                        <p:tgtEl>
                                          <p:spTgt spid="2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xEl>
                                              <p:pRg st="12" end="12"/>
                                            </p:txEl>
                                          </p:spTgt>
                                        </p:tgtEl>
                                        <p:attrNameLst>
                                          <p:attrName>style.visibility</p:attrName>
                                        </p:attrNameLst>
                                      </p:cBhvr>
                                      <p:to>
                                        <p:strVal val="visible"/>
                                      </p:to>
                                    </p:set>
                                    <p:animEffect transition="in" filter="fade">
                                      <p:cBhvr>
                                        <p:cTn id="37" dur="500"/>
                                        <p:tgtEl>
                                          <p:spTgt spid="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1" y="1083335"/>
            <a:ext cx="6629400" cy="910506"/>
          </a:xfrm>
          <a:prstGeom prst="rect">
            <a:avLst/>
          </a:prstGeom>
        </p:spPr>
        <p:txBody>
          <a:bodyPr wrap="square"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639" y="2411484"/>
            <a:ext cx="18540961" cy="7909858"/>
          </a:xfrm>
          <a:prstGeom prst="rect">
            <a:avLst/>
          </a:prstGeom>
          <a:noFill/>
        </p:spPr>
        <p:txBody>
          <a:bodyPr wrap="square" rtlCol="0">
            <a:spAutoFit/>
          </a:bodyPr>
          <a:lstStyle/>
          <a:p>
            <a:r>
              <a:rPr lang="en-US" sz="3600" dirty="0">
                <a:latin typeface="+mj-lt"/>
              </a:rPr>
              <a:t>Emergency treatment in non-affiliated </a:t>
            </a:r>
          </a:p>
          <a:p>
            <a:r>
              <a:rPr lang="en-US" sz="3600" dirty="0">
                <a:latin typeface="+mj-lt"/>
              </a:rPr>
              <a:t>hospitals/clinics- </a:t>
            </a:r>
            <a:r>
              <a:rPr lang="en-US" sz="3600" b="1" dirty="0">
                <a:latin typeface="+mj-lt"/>
              </a:rPr>
              <a:t>80%</a:t>
            </a:r>
            <a:r>
              <a:rPr lang="en-US" sz="3600" dirty="0">
                <a:latin typeface="+mj-lt"/>
              </a:rPr>
              <a:t> reimbursement based </a:t>
            </a:r>
          </a:p>
          <a:p>
            <a:r>
              <a:rPr lang="en-US" sz="3600" dirty="0">
                <a:latin typeface="+mj-lt"/>
              </a:rPr>
              <a:t>on AMAPHIL RUV (Maximum of 15,000)</a:t>
            </a:r>
          </a:p>
          <a:p>
            <a:endParaRPr lang="en-US" sz="3600" dirty="0">
              <a:latin typeface="+mj-lt"/>
            </a:endParaRPr>
          </a:p>
          <a:p>
            <a:r>
              <a:rPr lang="en-US" sz="3600" dirty="0">
                <a:latin typeface="+mj-lt"/>
              </a:rPr>
              <a:t>Emergency treatment outside the Philippines</a:t>
            </a:r>
          </a:p>
          <a:p>
            <a:r>
              <a:rPr lang="en-US" sz="3600" dirty="0">
                <a:latin typeface="+mj-lt"/>
              </a:rPr>
              <a:t>(Reimbursable up to 15,000)</a:t>
            </a:r>
          </a:p>
          <a:p>
            <a:endParaRPr lang="en-US" sz="3600" dirty="0">
              <a:latin typeface="+mj-lt"/>
            </a:endParaRPr>
          </a:p>
          <a:p>
            <a:r>
              <a:rPr lang="en-US" sz="3600" dirty="0">
                <a:latin typeface="+mj-lt"/>
              </a:rPr>
              <a:t>Emergency treatment in areas without affiliated</a:t>
            </a:r>
          </a:p>
          <a:p>
            <a:r>
              <a:rPr lang="en-US" sz="3600" dirty="0">
                <a:latin typeface="+mj-lt"/>
              </a:rPr>
              <a:t>hospitals/clinics (within a 15 km radius)  </a:t>
            </a:r>
          </a:p>
          <a:p>
            <a:r>
              <a:rPr lang="en-US" sz="3600" b="1" dirty="0">
                <a:latin typeface="+mj-lt"/>
              </a:rPr>
              <a:t>100% </a:t>
            </a:r>
            <a:r>
              <a:rPr lang="en-US" sz="3600" dirty="0">
                <a:latin typeface="+mj-lt"/>
              </a:rPr>
              <a:t>reimbursement based on AMAPHIL RUV</a:t>
            </a:r>
          </a:p>
          <a:p>
            <a:endParaRPr lang="en-US" sz="3600" dirty="0">
              <a:latin typeface="+mj-lt"/>
            </a:endParaRPr>
          </a:p>
          <a:p>
            <a:r>
              <a:rPr lang="en-US" sz="3600" dirty="0">
                <a:latin typeface="+mj-lt"/>
              </a:rPr>
              <a:t>Ambulance Transfer ( Up to 2,500 per conduction)</a:t>
            </a:r>
          </a:p>
          <a:p>
            <a:endParaRPr lang="en-US" sz="2000" dirty="0">
              <a:latin typeface="+mj-lt"/>
            </a:endParaRPr>
          </a:p>
          <a:p>
            <a:r>
              <a:rPr lang="en-US" sz="2000" b="1" dirty="0">
                <a:solidFill>
                  <a:srgbClr val="FF0000"/>
                </a:solidFill>
                <a:latin typeface="+mj-lt"/>
              </a:rPr>
              <a:t>NOTE: Subject to plan limits</a:t>
            </a:r>
          </a:p>
          <a:p>
            <a:endParaRPr lang="en-US" sz="3600" dirty="0">
              <a:latin typeface="+mj-lt"/>
            </a:endParaRPr>
          </a:p>
        </p:txBody>
      </p:sp>
      <p:pic>
        <p:nvPicPr>
          <p:cNvPr id="17" name="Picture 2" descr="Emergency Icons in SVG, PNG, AI to Download">
            <a:extLst>
              <a:ext uri="{FF2B5EF4-FFF2-40B4-BE49-F238E27FC236}">
                <a16:creationId xmlns:a16="http://schemas.microsoft.com/office/drawing/2014/main" id="{8E30B59A-D77C-4BE6-ACC7-33C143639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1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fade">
                                      <p:cBhvr>
                                        <p:cTn id="10" dur="500"/>
                                        <p:tgtEl>
                                          <p:spTgt spid="2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animEffect transition="in" filter="fade">
                                      <p:cBhvr>
                                        <p:cTn id="13" dur="500"/>
                                        <p:tgtEl>
                                          <p:spTgt spid="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xEl>
                                              <p:pRg st="4" end="4"/>
                                            </p:txEl>
                                          </p:spTgt>
                                        </p:tgtEl>
                                        <p:attrNameLst>
                                          <p:attrName>style.visibility</p:attrName>
                                        </p:attrNameLst>
                                      </p:cBhvr>
                                      <p:to>
                                        <p:strVal val="visible"/>
                                      </p:to>
                                    </p:set>
                                    <p:animEffect transition="in" filter="fade">
                                      <p:cBhvr>
                                        <p:cTn id="18" dur="500"/>
                                        <p:tgtEl>
                                          <p:spTgt spid="2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xEl>
                                              <p:pRg st="5" end="5"/>
                                            </p:txEl>
                                          </p:spTgt>
                                        </p:tgtEl>
                                        <p:attrNameLst>
                                          <p:attrName>style.visibility</p:attrName>
                                        </p:attrNameLst>
                                      </p:cBhvr>
                                      <p:to>
                                        <p:strVal val="visible"/>
                                      </p:to>
                                    </p:set>
                                    <p:animEffect transition="in" filter="fade">
                                      <p:cBhvr>
                                        <p:cTn id="21" dur="500"/>
                                        <p:tgtEl>
                                          <p:spTgt spid="2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3">
                                            <p:txEl>
                                              <p:pRg st="7" end="7"/>
                                            </p:txEl>
                                          </p:spTgt>
                                        </p:tgtEl>
                                        <p:attrNameLst>
                                          <p:attrName>style.visibility</p:attrName>
                                        </p:attrNameLst>
                                      </p:cBhvr>
                                      <p:to>
                                        <p:strVal val="visible"/>
                                      </p:to>
                                    </p:set>
                                    <p:animEffect transition="in" filter="fade">
                                      <p:cBhvr>
                                        <p:cTn id="26" dur="500"/>
                                        <p:tgtEl>
                                          <p:spTgt spid="2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3">
                                            <p:txEl>
                                              <p:pRg st="8" end="8"/>
                                            </p:txEl>
                                          </p:spTgt>
                                        </p:tgtEl>
                                        <p:attrNameLst>
                                          <p:attrName>style.visibility</p:attrName>
                                        </p:attrNameLst>
                                      </p:cBhvr>
                                      <p:to>
                                        <p:strVal val="visible"/>
                                      </p:to>
                                    </p:set>
                                    <p:animEffect transition="in" filter="fade">
                                      <p:cBhvr>
                                        <p:cTn id="29" dur="500"/>
                                        <p:tgtEl>
                                          <p:spTgt spid="2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xEl>
                                              <p:pRg st="9" end="9"/>
                                            </p:txEl>
                                          </p:spTgt>
                                        </p:tgtEl>
                                        <p:attrNameLst>
                                          <p:attrName>style.visibility</p:attrName>
                                        </p:attrNameLst>
                                      </p:cBhvr>
                                      <p:to>
                                        <p:strVal val="visible"/>
                                      </p:to>
                                    </p:set>
                                    <p:animEffect transition="in" filter="fade">
                                      <p:cBhvr>
                                        <p:cTn id="32" dur="500"/>
                                        <p:tgtEl>
                                          <p:spTgt spid="2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xEl>
                                              <p:pRg st="11" end="11"/>
                                            </p:txEl>
                                          </p:spTgt>
                                        </p:tgtEl>
                                        <p:attrNameLst>
                                          <p:attrName>style.visibility</p:attrName>
                                        </p:attrNameLst>
                                      </p:cBhvr>
                                      <p:to>
                                        <p:strVal val="visible"/>
                                      </p:to>
                                    </p:set>
                                    <p:animEffect transition="in" filter="fade">
                                      <p:cBhvr>
                                        <p:cTn id="35" dur="500"/>
                                        <p:tgtEl>
                                          <p:spTgt spid="23">
                                            <p:txEl>
                                              <p:pRg st="11" end="1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3">
                                            <p:txEl>
                                              <p:pRg st="13" end="13"/>
                                            </p:txEl>
                                          </p:spTgt>
                                        </p:tgtEl>
                                        <p:attrNameLst>
                                          <p:attrName>style.visibility</p:attrName>
                                        </p:attrNameLst>
                                      </p:cBhvr>
                                      <p:to>
                                        <p:strVal val="visible"/>
                                      </p:to>
                                    </p:set>
                                    <p:animEffect transition="in" filter="fade">
                                      <p:cBhvr>
                                        <p:cTn id="40" dur="500"/>
                                        <p:tgtEl>
                                          <p:spTgt spid="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895600" y="77267"/>
            <a:ext cx="10704902" cy="884858"/>
          </a:xfrm>
          <a:prstGeom prst="rect">
            <a:avLst/>
          </a:prstGeom>
        </p:spPr>
        <p:txBody>
          <a:bodyPr lIns="0" tIns="0" rIns="0" bIns="0" rtlCol="0" anchor="t">
            <a:spAutoFit/>
          </a:bodyPr>
          <a:lstStyle/>
          <a:p>
            <a:pPr algn="r">
              <a:lnSpc>
                <a:spcPts val="6898"/>
              </a:lnSpc>
              <a:spcBef>
                <a:spcPct val="0"/>
              </a:spcBef>
            </a:pPr>
            <a:r>
              <a:rPr lang="en-US" sz="6000" b="1" dirty="0">
                <a:solidFill>
                  <a:srgbClr val="000000"/>
                </a:solidFill>
                <a:latin typeface="Poppins Bold"/>
                <a:ea typeface="Poppins Bold"/>
                <a:cs typeface="Poppins Bold"/>
                <a:sym typeface="Poppins Bold"/>
              </a:rPr>
              <a:t>ANNUAL PHYSICAL EXAM</a:t>
            </a:r>
          </a:p>
        </p:txBody>
      </p:sp>
      <p:sp>
        <p:nvSpPr>
          <p:cNvPr id="46" name="Freeform 10">
            <a:extLst>
              <a:ext uri="{FF2B5EF4-FFF2-40B4-BE49-F238E27FC236}">
                <a16:creationId xmlns:a16="http://schemas.microsoft.com/office/drawing/2014/main" id="{07E66B71-B7EA-41EC-9F2A-F76452F60932}"/>
              </a:ext>
            </a:extLst>
          </p:cNvPr>
          <p:cNvSpPr/>
          <p:nvPr/>
        </p:nvSpPr>
        <p:spPr>
          <a:xfrm>
            <a:off x="304800" y="1765179"/>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Physical Examination</a:t>
            </a:r>
          </a:p>
        </p:txBody>
      </p:sp>
      <p:sp>
        <p:nvSpPr>
          <p:cNvPr id="49" name="Freeform 10">
            <a:extLst>
              <a:ext uri="{FF2B5EF4-FFF2-40B4-BE49-F238E27FC236}">
                <a16:creationId xmlns:a16="http://schemas.microsoft.com/office/drawing/2014/main" id="{173C7550-566C-4AB4-8651-28A0DA5E209C}"/>
              </a:ext>
            </a:extLst>
          </p:cNvPr>
          <p:cNvSpPr/>
          <p:nvPr/>
        </p:nvSpPr>
        <p:spPr>
          <a:xfrm>
            <a:off x="273027" y="276778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Complete Blood Count</a:t>
            </a:r>
          </a:p>
        </p:txBody>
      </p:sp>
      <p:sp>
        <p:nvSpPr>
          <p:cNvPr id="50" name="Freeform 10">
            <a:extLst>
              <a:ext uri="{FF2B5EF4-FFF2-40B4-BE49-F238E27FC236}">
                <a16:creationId xmlns:a16="http://schemas.microsoft.com/office/drawing/2014/main" id="{C72B9FB4-EEAA-4F6F-A049-BAAAA1A593BA}"/>
              </a:ext>
            </a:extLst>
          </p:cNvPr>
          <p:cNvSpPr/>
          <p:nvPr/>
        </p:nvSpPr>
        <p:spPr>
          <a:xfrm>
            <a:off x="406378" y="380144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Urinalysis</a:t>
            </a:r>
          </a:p>
        </p:txBody>
      </p:sp>
      <p:sp>
        <p:nvSpPr>
          <p:cNvPr id="51" name="Freeform 10">
            <a:extLst>
              <a:ext uri="{FF2B5EF4-FFF2-40B4-BE49-F238E27FC236}">
                <a16:creationId xmlns:a16="http://schemas.microsoft.com/office/drawing/2014/main" id="{728E1E9D-4F4A-4CE9-94CA-C0A76706D33D}"/>
              </a:ext>
            </a:extLst>
          </p:cNvPr>
          <p:cNvSpPr/>
          <p:nvPr/>
        </p:nvSpPr>
        <p:spPr>
          <a:xfrm>
            <a:off x="406378" y="486824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err="1"/>
              <a:t>Fecalysis</a:t>
            </a:r>
            <a:endParaRPr lang="en-US" sz="6000" b="1" dirty="0"/>
          </a:p>
        </p:txBody>
      </p:sp>
      <p:sp>
        <p:nvSpPr>
          <p:cNvPr id="52" name="Freeform 10">
            <a:extLst>
              <a:ext uri="{FF2B5EF4-FFF2-40B4-BE49-F238E27FC236}">
                <a16:creationId xmlns:a16="http://schemas.microsoft.com/office/drawing/2014/main" id="{FBA0B63C-0835-477D-A478-287B88859E83}"/>
              </a:ext>
            </a:extLst>
          </p:cNvPr>
          <p:cNvSpPr/>
          <p:nvPr/>
        </p:nvSpPr>
        <p:spPr>
          <a:xfrm>
            <a:off x="349228" y="5905500"/>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Chest X-ray</a:t>
            </a:r>
          </a:p>
        </p:txBody>
      </p:sp>
      <p:pic>
        <p:nvPicPr>
          <p:cNvPr id="1026" name="Picture 2" descr="Examination - Free medical icons">
            <a:extLst>
              <a:ext uri="{FF2B5EF4-FFF2-40B4-BE49-F238E27FC236}">
                <a16:creationId xmlns:a16="http://schemas.microsoft.com/office/drawing/2014/main" id="{F7442293-6709-40F2-B28D-06175E30BB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5800" y="1705559"/>
            <a:ext cx="6661777" cy="666177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C256174-88D6-4A8C-844B-71F4E7F7C1EC}"/>
              </a:ext>
            </a:extLst>
          </p:cNvPr>
          <p:cNvSpPr/>
          <p:nvPr/>
        </p:nvSpPr>
        <p:spPr>
          <a:xfrm>
            <a:off x="4116314" y="9095264"/>
            <a:ext cx="13409686" cy="1191736"/>
          </a:xfrm>
          <a:prstGeom prst="rect">
            <a:avLst/>
          </a:prstGeom>
        </p:spPr>
        <p:txBody>
          <a:bodyPr wrap="square">
            <a:spAutoFit/>
          </a:bodyPr>
          <a:lstStyle/>
          <a:p>
            <a:pPr>
              <a:lnSpc>
                <a:spcPct val="115000"/>
              </a:lnSpc>
              <a:spcAft>
                <a:spcPts val="1000"/>
              </a:spcAft>
            </a:pPr>
            <a:r>
              <a:rPr lang="en-US" sz="3200" dirty="0">
                <a:latin typeface="+mj-lt"/>
                <a:ea typeface="MS Mincho" panose="02020609040205080304" pitchFamily="49" charset="-128"/>
                <a:cs typeface="Times New Roman" panose="02020603050405020304" pitchFamily="18" charset="0"/>
              </a:rPr>
              <a:t>Note: APE can be availed at accredited clinics after full payment and scheduling with RMC2 two weeks before the preferred date</a:t>
            </a:r>
          </a:p>
        </p:txBody>
      </p:sp>
      <p:sp>
        <p:nvSpPr>
          <p:cNvPr id="24" name="Freeform 10">
            <a:extLst>
              <a:ext uri="{FF2B5EF4-FFF2-40B4-BE49-F238E27FC236}">
                <a16:creationId xmlns:a16="http://schemas.microsoft.com/office/drawing/2014/main" id="{151BB1ED-7EE5-4972-A73F-67FD0FCC3A1A}"/>
              </a:ext>
            </a:extLst>
          </p:cNvPr>
          <p:cNvSpPr/>
          <p:nvPr/>
        </p:nvSpPr>
        <p:spPr>
          <a:xfrm>
            <a:off x="372035" y="692564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err="1"/>
              <a:t>Papsmear</a:t>
            </a:r>
            <a:r>
              <a:rPr lang="en-US" sz="6000" b="1" dirty="0"/>
              <a:t> (female 35 </a:t>
            </a:r>
            <a:r>
              <a:rPr lang="en-US" sz="6000" b="1" dirty="0" err="1"/>
              <a:t>y.o</a:t>
            </a:r>
            <a:r>
              <a:rPr lang="en-US" sz="6000" b="1" dirty="0"/>
              <a:t> above)</a:t>
            </a:r>
          </a:p>
        </p:txBody>
      </p:sp>
      <p:sp>
        <p:nvSpPr>
          <p:cNvPr id="25" name="Freeform 10">
            <a:extLst>
              <a:ext uri="{FF2B5EF4-FFF2-40B4-BE49-F238E27FC236}">
                <a16:creationId xmlns:a16="http://schemas.microsoft.com/office/drawing/2014/main" id="{8E24A2BB-8757-493D-88CC-7ED859B6AB58}"/>
              </a:ext>
            </a:extLst>
          </p:cNvPr>
          <p:cNvSpPr/>
          <p:nvPr/>
        </p:nvSpPr>
        <p:spPr>
          <a:xfrm>
            <a:off x="381000" y="791624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ECG (35 </a:t>
            </a:r>
            <a:r>
              <a:rPr lang="en-US" sz="6000" b="1" dirty="0" err="1"/>
              <a:t>y.o</a:t>
            </a:r>
            <a:r>
              <a:rPr lang="en-US" sz="6000" b="1" dirty="0"/>
              <a:t> above)</a:t>
            </a:r>
          </a:p>
        </p:txBody>
      </p:sp>
    </p:spTree>
    <p:extLst>
      <p:ext uri="{BB962C8B-B14F-4D97-AF65-F5344CB8AC3E}">
        <p14:creationId xmlns:p14="http://schemas.microsoft.com/office/powerpoint/2010/main" val="157007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6" grpId="0" animBg="1"/>
      <p:bldP spid="49" grpId="0" animBg="1"/>
      <p:bldP spid="50" grpId="0" animBg="1"/>
      <p:bldP spid="51" grpId="0" animBg="1"/>
      <p:bldP spid="52" grpId="0" animBg="1"/>
      <p:bldP spid="2" grpId="0"/>
      <p:bldP spid="24" grpId="0" animBg="1"/>
      <p:bldP spid="2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36143" y="1275299"/>
            <a:ext cx="14003173" cy="1346331"/>
          </a:xfrm>
          <a:prstGeom prst="rect">
            <a:avLst/>
          </a:prstGeom>
        </p:spPr>
        <p:txBody>
          <a:bodyPr wrap="square" lIns="0" tIns="0" rIns="0" bIns="0" rtlCol="0" anchor="t">
            <a:spAutoFit/>
          </a:bodyPr>
          <a:lstStyle/>
          <a:p>
            <a:pPr algn="r">
              <a:lnSpc>
                <a:spcPts val="10883"/>
              </a:lnSpc>
              <a:spcBef>
                <a:spcPct val="0"/>
              </a:spcBef>
            </a:pPr>
            <a:r>
              <a:rPr lang="en-US" sz="8800" b="1" dirty="0">
                <a:solidFill>
                  <a:srgbClr val="000000"/>
                </a:solidFill>
                <a:latin typeface="+mj-lt"/>
                <a:ea typeface="Poppins Bold"/>
                <a:cs typeface="Poppins Bold"/>
                <a:sym typeface="Poppins Bold"/>
              </a:rPr>
              <a:t>PRE EXISTING CONDITION</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736054" y="2792397"/>
            <a:ext cx="11435512" cy="5262979"/>
          </a:xfrm>
          <a:prstGeom prst="rect">
            <a:avLst/>
          </a:prstGeom>
        </p:spPr>
        <p:txBody>
          <a:bodyPr wrap="square">
            <a:spAutoFit/>
          </a:bodyPr>
          <a:lstStyle/>
          <a:p>
            <a:r>
              <a:rPr lang="en-US" sz="4800" b="1" dirty="0"/>
              <a:t>Illnesses, injuries, or medical conditions that existed prior to enrollment—such as hypertension, diabetes, asthma, tumors, or arthritis etc.</a:t>
            </a:r>
          </a:p>
          <a:p>
            <a:endParaRPr lang="en-US" sz="4800" b="1" dirty="0"/>
          </a:p>
          <a:p>
            <a:r>
              <a:rPr lang="en-US" sz="4800" b="1" dirty="0"/>
              <a:t>Pre-existing conditions will be covered after 1 year or upon renewal of the plan.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622506" y="327876"/>
            <a:ext cx="8812598" cy="1346331"/>
          </a:xfrm>
          <a:prstGeom prst="rect">
            <a:avLst/>
          </a:prstGeom>
        </p:spPr>
        <p:txBody>
          <a:bodyPr wrap="square" lIns="0" tIns="0" rIns="0" bIns="0" rtlCol="0" anchor="t">
            <a:spAutoFit/>
          </a:bodyPr>
          <a:lstStyle/>
          <a:p>
            <a:pPr>
              <a:lnSpc>
                <a:spcPts val="10883"/>
              </a:lnSpc>
              <a:spcBef>
                <a:spcPct val="0"/>
              </a:spcBef>
            </a:pPr>
            <a:r>
              <a:rPr lang="en-US" sz="8800" b="1" dirty="0">
                <a:solidFill>
                  <a:srgbClr val="000000"/>
                </a:solidFill>
                <a:latin typeface="+mj-lt"/>
                <a:ea typeface="Poppins Bold"/>
                <a:cs typeface="Poppins Bold"/>
                <a:sym typeface="Poppins Bold"/>
              </a:rPr>
              <a:t>IMPORTANT NOTE</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736054" y="2272795"/>
            <a:ext cx="11435512" cy="6001643"/>
          </a:xfrm>
          <a:prstGeom prst="rect">
            <a:avLst/>
          </a:prstGeom>
        </p:spPr>
        <p:txBody>
          <a:bodyPr wrap="square">
            <a:spAutoFit/>
          </a:bodyPr>
          <a:lstStyle/>
          <a:p>
            <a:r>
              <a:rPr lang="en-US" sz="4800" b="1" dirty="0"/>
              <a:t>Has </a:t>
            </a:r>
            <a:r>
              <a:rPr lang="en-US" sz="4800" b="1" dirty="0">
                <a:solidFill>
                  <a:srgbClr val="FF0000"/>
                </a:solidFill>
              </a:rPr>
              <a:t>consultation access</a:t>
            </a:r>
            <a:r>
              <a:rPr lang="en-US" sz="4800" b="1" dirty="0"/>
              <a:t> to the Top Providers: Asian Hospital and Medical Center, Cardinal Santos Medical Center, Makati Medical Center, The Medical City, and St. Luke’s Medical Center–Quezon City. </a:t>
            </a:r>
            <a:r>
              <a:rPr lang="en-US" sz="4800" b="1" dirty="0">
                <a:solidFill>
                  <a:srgbClr val="FF0000"/>
                </a:solidFill>
              </a:rPr>
              <a:t>Outpatient Laboratories, Tests, and treatments are not accessible</a:t>
            </a:r>
            <a:r>
              <a:rPr lang="en-US" sz="4800" b="1" dirty="0"/>
              <a:t> to the Top Providers. </a:t>
            </a:r>
            <a:endParaRPr lang="en-US" sz="7200" b="1" dirty="0"/>
          </a:p>
        </p:txBody>
      </p:sp>
    </p:spTree>
    <p:extLst>
      <p:ext uri="{BB962C8B-B14F-4D97-AF65-F5344CB8AC3E}">
        <p14:creationId xmlns:p14="http://schemas.microsoft.com/office/powerpoint/2010/main" val="424548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F7C0197-D7DA-4E39-A3F3-CE5E3B5F9E79}"/>
              </a:ext>
            </a:extLst>
          </p:cNvPr>
          <p:cNvSpPr/>
          <p:nvPr/>
        </p:nvSpPr>
        <p:spPr>
          <a:xfrm>
            <a:off x="163228" y="1969793"/>
            <a:ext cx="11844696" cy="9233297"/>
          </a:xfrm>
          <a:prstGeom prst="rect">
            <a:avLst/>
          </a:prstGeom>
        </p:spPr>
        <p:txBody>
          <a:bodyPr wrap="square">
            <a:spAutoFit/>
          </a:bodyPr>
          <a:lstStyle/>
          <a:p>
            <a:r>
              <a:rPr lang="en-US" sz="2700" b="1" dirty="0">
                <a:latin typeface="+mj-lt"/>
              </a:rPr>
              <a:t>1. Non-Medically Necessary or Cosmetic Procedures</a:t>
            </a:r>
            <a:endParaRPr lang="en-US" sz="2700" dirty="0">
              <a:latin typeface="+mj-lt"/>
            </a:endParaRPr>
          </a:p>
          <a:p>
            <a:r>
              <a:rPr lang="en-US" sz="2700" dirty="0">
                <a:latin typeface="+mj-lt"/>
              </a:rPr>
              <a:t>Plastic or reconstructive surgery for cosmetic purposes (e.g., nose lift, liposuction, facelift). Treatment for obesity, weight reduction, or body contouring. Hair loss treatments, skin whitening, or tattoo removal. Corrective eye surgery for refractive errors (LASIK, etc.).</a:t>
            </a:r>
          </a:p>
          <a:p>
            <a:endParaRPr lang="en-US" sz="2700" dirty="0">
              <a:latin typeface="+mj-lt"/>
            </a:endParaRPr>
          </a:p>
          <a:p>
            <a:r>
              <a:rPr lang="en-US" sz="2700" b="1" dirty="0">
                <a:latin typeface="+mj-lt"/>
              </a:rPr>
              <a:t>2. Dental Services Beyond Coverage</a:t>
            </a:r>
            <a:endParaRPr lang="en-US" sz="2700" dirty="0">
              <a:latin typeface="+mj-lt"/>
            </a:endParaRPr>
          </a:p>
          <a:p>
            <a:pPr lvl="0"/>
            <a:r>
              <a:rPr lang="en-US" sz="2700" dirty="0">
                <a:latin typeface="+mj-lt"/>
              </a:rPr>
              <a:t>Orthodontic braces and retainers. Cosmetic dental procedures (veneers, bleaching). Dentures and prosthetics unless specifically included in the plan.</a:t>
            </a:r>
          </a:p>
          <a:p>
            <a:pPr lvl="0"/>
            <a:endParaRPr lang="en-US" sz="2700" dirty="0">
              <a:latin typeface="+mj-lt"/>
            </a:endParaRPr>
          </a:p>
          <a:p>
            <a:r>
              <a:rPr lang="en-US" sz="2700" b="1" dirty="0">
                <a:latin typeface="+mj-lt"/>
              </a:rPr>
              <a:t>3. Congenital, Genetic, or Developmental Conditions</a:t>
            </a:r>
            <a:endParaRPr lang="en-US" sz="2700" dirty="0">
              <a:latin typeface="+mj-lt"/>
            </a:endParaRPr>
          </a:p>
          <a:p>
            <a:pPr lvl="0"/>
            <a:r>
              <a:rPr lang="en-US" sz="2700" dirty="0">
                <a:latin typeface="+mj-lt"/>
              </a:rPr>
              <a:t>Congenital or hereditary diseases (unless included in special plans). Learning disabilities, speech therapy, or developmental therapy. Genetic testing and counseling.</a:t>
            </a:r>
          </a:p>
          <a:p>
            <a:pPr lvl="0"/>
            <a:endParaRPr lang="en-US" sz="2700" dirty="0">
              <a:latin typeface="+mj-lt"/>
            </a:endParaRPr>
          </a:p>
          <a:p>
            <a:r>
              <a:rPr lang="en-US" sz="2700" b="1" dirty="0">
                <a:latin typeface="+mj-lt"/>
              </a:rPr>
              <a:t>4. Maternity and Reproductive Services</a:t>
            </a:r>
            <a:endParaRPr lang="en-US" sz="2700" dirty="0">
              <a:latin typeface="+mj-lt"/>
            </a:endParaRPr>
          </a:p>
          <a:p>
            <a:pPr lvl="0"/>
            <a:r>
              <a:rPr lang="en-US" sz="2700" dirty="0">
                <a:latin typeface="+mj-lt"/>
              </a:rPr>
              <a:t>Normal pregnancy, childbirth, and postpartum care (unless maternity coverage is explicitly added). Fertility treatment, artificial insemination, in-vitro fertilization (IVF). Contraceptives, family planning procedures, or voluntary sterilization. Circumcision, except if medically necessary (e.g., infection).</a:t>
            </a:r>
          </a:p>
          <a:p>
            <a:pPr marL="285750" indent="-285750">
              <a:buFont typeface="Arial" panose="020B0604020202020204" pitchFamily="34" charset="0"/>
              <a:buChar char="•"/>
            </a:pPr>
            <a:endParaRPr lang="en-US" sz="2700" dirty="0">
              <a:latin typeface="+mj-lt"/>
            </a:endParaRPr>
          </a:p>
          <a:p>
            <a:pPr marL="285750" indent="-285750">
              <a:buFont typeface="Arial" panose="020B0604020202020204" pitchFamily="34" charset="0"/>
              <a:buChar char="•"/>
            </a:pPr>
            <a:endParaRPr lang="en-US" sz="27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500"/>
                                        <p:tgtEl>
                                          <p:spTgt spid="3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fade">
                                      <p:cBhvr>
                                        <p:cTn id="10" dur="500"/>
                                        <p:tgtEl>
                                          <p:spTgt spid="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animEffect transition="in" filter="fade">
                                      <p:cBhvr>
                                        <p:cTn id="15" dur="500"/>
                                        <p:tgtEl>
                                          <p:spTgt spid="3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xEl>
                                              <p:pRg st="4" end="4"/>
                                            </p:txEl>
                                          </p:spTgt>
                                        </p:tgtEl>
                                        <p:attrNameLst>
                                          <p:attrName>style.visibility</p:attrName>
                                        </p:attrNameLst>
                                      </p:cBhvr>
                                      <p:to>
                                        <p:strVal val="visible"/>
                                      </p:to>
                                    </p:set>
                                    <p:animEffect transition="in" filter="fade">
                                      <p:cBhvr>
                                        <p:cTn id="18" dur="500"/>
                                        <p:tgtEl>
                                          <p:spTgt spid="3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Effect transition="in" filter="fade">
                                      <p:cBhvr>
                                        <p:cTn id="23" dur="500"/>
                                        <p:tgtEl>
                                          <p:spTgt spid="3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xEl>
                                              <p:pRg st="7" end="7"/>
                                            </p:txEl>
                                          </p:spTgt>
                                        </p:tgtEl>
                                        <p:attrNameLst>
                                          <p:attrName>style.visibility</p:attrName>
                                        </p:attrNameLst>
                                      </p:cBhvr>
                                      <p:to>
                                        <p:strVal val="visible"/>
                                      </p:to>
                                    </p:set>
                                    <p:animEffect transition="in" filter="fade">
                                      <p:cBhvr>
                                        <p:cTn id="26" dur="500"/>
                                        <p:tgtEl>
                                          <p:spTgt spid="3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
                                            <p:txEl>
                                              <p:pRg st="9" end="9"/>
                                            </p:txEl>
                                          </p:spTgt>
                                        </p:tgtEl>
                                        <p:attrNameLst>
                                          <p:attrName>style.visibility</p:attrName>
                                        </p:attrNameLst>
                                      </p:cBhvr>
                                      <p:to>
                                        <p:strVal val="visible"/>
                                      </p:to>
                                    </p:set>
                                    <p:animEffect transition="in" filter="fade">
                                      <p:cBhvr>
                                        <p:cTn id="31" dur="500"/>
                                        <p:tgtEl>
                                          <p:spTgt spid="35">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5">
                                            <p:txEl>
                                              <p:pRg st="10" end="10"/>
                                            </p:txEl>
                                          </p:spTgt>
                                        </p:tgtEl>
                                        <p:attrNameLst>
                                          <p:attrName>style.visibility</p:attrName>
                                        </p:attrNameLst>
                                      </p:cBhvr>
                                      <p:to>
                                        <p:strVal val="visible"/>
                                      </p:to>
                                    </p:set>
                                    <p:animEffect transition="in" filter="fade">
                                      <p:cBhvr>
                                        <p:cTn id="34" dur="500"/>
                                        <p:tgtEl>
                                          <p:spTgt spid="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BECDD442-BE09-42CE-A1C8-40B58AACB2A1}"/>
              </a:ext>
            </a:extLst>
          </p:cNvPr>
          <p:cNvSpPr/>
          <p:nvPr/>
        </p:nvSpPr>
        <p:spPr>
          <a:xfrm>
            <a:off x="144953" y="2016762"/>
            <a:ext cx="11254880" cy="8586966"/>
          </a:xfrm>
          <a:prstGeom prst="rect">
            <a:avLst/>
          </a:prstGeom>
        </p:spPr>
        <p:txBody>
          <a:bodyPr wrap="square">
            <a:spAutoFit/>
          </a:bodyPr>
          <a:lstStyle/>
          <a:p>
            <a:r>
              <a:rPr lang="en-US" sz="2400" b="1" dirty="0">
                <a:latin typeface="+mj-lt"/>
              </a:rPr>
              <a:t>5. Mental Health, Psychiatric, and Psychological Disorders</a:t>
            </a:r>
            <a:endParaRPr lang="en-US" sz="2400" dirty="0">
              <a:latin typeface="+mj-lt"/>
            </a:endParaRPr>
          </a:p>
          <a:p>
            <a:pPr lvl="0"/>
            <a:r>
              <a:rPr lang="en-US" sz="2400" dirty="0">
                <a:latin typeface="+mj-lt"/>
              </a:rPr>
              <a:t>Psychiatric evaluation, psychotherapy, counseling, and mental health admissions (except if explicitly covered).</a:t>
            </a:r>
          </a:p>
          <a:p>
            <a:pPr lvl="0"/>
            <a:r>
              <a:rPr lang="en-US" sz="2400" dirty="0">
                <a:latin typeface="+mj-lt"/>
              </a:rPr>
              <a:t>Drug or alcohol rehabilitation, detoxification programs.</a:t>
            </a:r>
          </a:p>
          <a:p>
            <a:pPr lvl="0"/>
            <a:endParaRPr lang="en-US" sz="2400" dirty="0">
              <a:latin typeface="+mj-lt"/>
            </a:endParaRPr>
          </a:p>
          <a:p>
            <a:r>
              <a:rPr lang="en-US" sz="2400" b="1" dirty="0">
                <a:latin typeface="+mj-lt"/>
              </a:rPr>
              <a:t>7. Occupational or Work-Related Injuries</a:t>
            </a:r>
            <a:endParaRPr lang="en-US" sz="2400" dirty="0">
              <a:latin typeface="+mj-lt"/>
            </a:endParaRPr>
          </a:p>
          <a:p>
            <a:pPr lvl="0"/>
            <a:r>
              <a:rPr lang="en-US" sz="2400" dirty="0">
                <a:latin typeface="+mj-lt"/>
              </a:rPr>
              <a:t>Work-related accidents covered by the Employees Compensation Commission (ECC) or PhilHealth. Injuries from employment hazards or while performing job duties.</a:t>
            </a:r>
          </a:p>
          <a:p>
            <a:pPr lvl="0"/>
            <a:endParaRPr lang="en-US" sz="2400" dirty="0">
              <a:latin typeface="+mj-lt"/>
            </a:endParaRPr>
          </a:p>
          <a:p>
            <a:r>
              <a:rPr lang="en-US" sz="2400" b="1" dirty="0">
                <a:latin typeface="+mj-lt"/>
              </a:rPr>
              <a:t>8. Self-Inflicted Injuries or Illegal Acts</a:t>
            </a:r>
            <a:endParaRPr lang="en-US" sz="2400" dirty="0">
              <a:latin typeface="+mj-lt"/>
            </a:endParaRPr>
          </a:p>
          <a:p>
            <a:r>
              <a:rPr lang="en-US" sz="2400" dirty="0">
                <a:latin typeface="+mj-lt"/>
              </a:rPr>
              <a:t>Suicide or attempted suicide. Self-inflicted harm. Injuries due to participation in criminal acts or resistance to lawful arrest.</a:t>
            </a:r>
          </a:p>
          <a:p>
            <a:endParaRPr lang="en-US" sz="2400" dirty="0">
              <a:latin typeface="+mj-lt"/>
            </a:endParaRPr>
          </a:p>
          <a:p>
            <a:r>
              <a:rPr lang="en-US" sz="2400" b="1" dirty="0">
                <a:latin typeface="+mj-lt"/>
              </a:rPr>
              <a:t>9. High-Risk or Hazardous Activities</a:t>
            </a:r>
            <a:endParaRPr lang="en-US" sz="2400" dirty="0">
              <a:latin typeface="+mj-lt"/>
            </a:endParaRPr>
          </a:p>
          <a:p>
            <a:pPr lvl="0"/>
            <a:r>
              <a:rPr lang="en-US" sz="2400" dirty="0">
                <a:latin typeface="+mj-lt"/>
              </a:rPr>
              <a:t>Injuries from extreme sports or activities (e.g., scuba diving, skydiving, racing, mountaineering, martial arts competitions). Accidents while under the influence of drugs or alcohol.</a:t>
            </a:r>
          </a:p>
          <a:p>
            <a:pPr lvl="0"/>
            <a:endParaRPr lang="en-US" sz="2400" dirty="0">
              <a:latin typeface="+mj-lt"/>
            </a:endParaRPr>
          </a:p>
          <a:p>
            <a:r>
              <a:rPr lang="en-US" sz="2400" b="1" dirty="0">
                <a:latin typeface="+mj-lt"/>
              </a:rPr>
              <a:t>10. Non-Prescription or Alternative Treatments</a:t>
            </a:r>
            <a:endParaRPr lang="en-US" sz="2400" dirty="0">
              <a:latin typeface="+mj-lt"/>
            </a:endParaRPr>
          </a:p>
          <a:p>
            <a:pPr lvl="0"/>
            <a:r>
              <a:rPr lang="en-US" sz="2400" dirty="0">
                <a:latin typeface="+mj-lt"/>
              </a:rPr>
              <a:t>Vitamins, supplements, herbal or alternative medicines (e.g., acupuncture, chiropractic care, traditional healers).</a:t>
            </a:r>
          </a:p>
          <a:p>
            <a:pPr lvl="0"/>
            <a:r>
              <a:rPr lang="en-US" sz="2400" dirty="0">
                <a:latin typeface="+mj-lt"/>
              </a:rPr>
              <a:t>Experimental or investigational treatments not approved by DOH or FDA.</a:t>
            </a:r>
          </a:p>
          <a:p>
            <a:endParaRPr lang="en-US" sz="2400" dirty="0">
              <a:latin typeface="+mj-lt"/>
            </a:endParaRPr>
          </a:p>
        </p:txBody>
      </p:sp>
    </p:spTree>
    <p:extLst>
      <p:ext uri="{BB962C8B-B14F-4D97-AF65-F5344CB8AC3E}">
        <p14:creationId xmlns:p14="http://schemas.microsoft.com/office/powerpoint/2010/main" val="366346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1" end="1"/>
                                            </p:txEl>
                                          </p:spTgt>
                                        </p:tgtEl>
                                        <p:attrNameLst>
                                          <p:attrName>style.visibility</p:attrName>
                                        </p:attrNameLst>
                                      </p:cBhvr>
                                      <p:to>
                                        <p:strVal val="visible"/>
                                      </p:to>
                                    </p:set>
                                    <p:animEffect transition="in" filter="fade">
                                      <p:cBhvr>
                                        <p:cTn id="10" dur="500"/>
                                        <p:tgtEl>
                                          <p:spTgt spid="2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animEffect transition="in" filter="fade">
                                      <p:cBhvr>
                                        <p:cTn id="13" dur="500"/>
                                        <p:tgtEl>
                                          <p:spTgt spid="2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xEl>
                                              <p:pRg st="4" end="4"/>
                                            </p:txEl>
                                          </p:spTgt>
                                        </p:tgtEl>
                                        <p:attrNameLst>
                                          <p:attrName>style.visibility</p:attrName>
                                        </p:attrNameLst>
                                      </p:cBhvr>
                                      <p:to>
                                        <p:strVal val="visible"/>
                                      </p:to>
                                    </p:set>
                                    <p:animEffect transition="in" filter="fade">
                                      <p:cBhvr>
                                        <p:cTn id="18" dur="500"/>
                                        <p:tgtEl>
                                          <p:spTgt spid="2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5" end="5"/>
                                            </p:txEl>
                                          </p:spTgt>
                                        </p:tgtEl>
                                        <p:attrNameLst>
                                          <p:attrName>style.visibility</p:attrName>
                                        </p:attrNameLst>
                                      </p:cBhvr>
                                      <p:to>
                                        <p:strVal val="visible"/>
                                      </p:to>
                                    </p:set>
                                    <p:animEffect transition="in" filter="fade">
                                      <p:cBhvr>
                                        <p:cTn id="21" dur="500"/>
                                        <p:tgtEl>
                                          <p:spTgt spid="2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7" end="7"/>
                                            </p:txEl>
                                          </p:spTgt>
                                        </p:tgtEl>
                                        <p:attrNameLst>
                                          <p:attrName>style.visibility</p:attrName>
                                        </p:attrNameLst>
                                      </p:cBhvr>
                                      <p:to>
                                        <p:strVal val="visible"/>
                                      </p:to>
                                    </p:set>
                                    <p:animEffect transition="in" filter="fade">
                                      <p:cBhvr>
                                        <p:cTn id="26" dur="500"/>
                                        <p:tgtEl>
                                          <p:spTgt spid="24">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xEl>
                                              <p:pRg st="8" end="8"/>
                                            </p:txEl>
                                          </p:spTgt>
                                        </p:tgtEl>
                                        <p:attrNameLst>
                                          <p:attrName>style.visibility</p:attrName>
                                        </p:attrNameLst>
                                      </p:cBhvr>
                                      <p:to>
                                        <p:strVal val="visible"/>
                                      </p:to>
                                    </p:set>
                                    <p:animEffect transition="in" filter="fade">
                                      <p:cBhvr>
                                        <p:cTn id="29" dur="500"/>
                                        <p:tgtEl>
                                          <p:spTgt spid="24">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
                                            <p:txEl>
                                              <p:pRg st="10" end="10"/>
                                            </p:txEl>
                                          </p:spTgt>
                                        </p:tgtEl>
                                        <p:attrNameLst>
                                          <p:attrName>style.visibility</p:attrName>
                                        </p:attrNameLst>
                                      </p:cBhvr>
                                      <p:to>
                                        <p:strVal val="visible"/>
                                      </p:to>
                                    </p:set>
                                    <p:animEffect transition="in" filter="fade">
                                      <p:cBhvr>
                                        <p:cTn id="34" dur="500"/>
                                        <p:tgtEl>
                                          <p:spTgt spid="24">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xEl>
                                              <p:pRg st="11" end="11"/>
                                            </p:txEl>
                                          </p:spTgt>
                                        </p:tgtEl>
                                        <p:attrNameLst>
                                          <p:attrName>style.visibility</p:attrName>
                                        </p:attrNameLst>
                                      </p:cBhvr>
                                      <p:to>
                                        <p:strVal val="visible"/>
                                      </p:to>
                                    </p:set>
                                    <p:animEffect transition="in" filter="fade">
                                      <p:cBhvr>
                                        <p:cTn id="37" dur="500"/>
                                        <p:tgtEl>
                                          <p:spTgt spid="24">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13" end="13"/>
                                            </p:txEl>
                                          </p:spTgt>
                                        </p:tgtEl>
                                        <p:attrNameLst>
                                          <p:attrName>style.visibility</p:attrName>
                                        </p:attrNameLst>
                                      </p:cBhvr>
                                      <p:to>
                                        <p:strVal val="visible"/>
                                      </p:to>
                                    </p:set>
                                    <p:animEffect transition="in" filter="fade">
                                      <p:cBhvr>
                                        <p:cTn id="42" dur="500"/>
                                        <p:tgtEl>
                                          <p:spTgt spid="24">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xEl>
                                              <p:pRg st="14" end="14"/>
                                            </p:txEl>
                                          </p:spTgt>
                                        </p:tgtEl>
                                        <p:attrNameLst>
                                          <p:attrName>style.visibility</p:attrName>
                                        </p:attrNameLst>
                                      </p:cBhvr>
                                      <p:to>
                                        <p:strVal val="visible"/>
                                      </p:to>
                                    </p:set>
                                    <p:animEffect transition="in" filter="fade">
                                      <p:cBhvr>
                                        <p:cTn id="45" dur="500"/>
                                        <p:tgtEl>
                                          <p:spTgt spid="24">
                                            <p:txEl>
                                              <p:pRg st="14" end="1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xEl>
                                              <p:pRg st="15" end="15"/>
                                            </p:txEl>
                                          </p:spTgt>
                                        </p:tgtEl>
                                        <p:attrNameLst>
                                          <p:attrName>style.visibility</p:attrName>
                                        </p:attrNameLst>
                                      </p:cBhvr>
                                      <p:to>
                                        <p:strVal val="visible"/>
                                      </p:to>
                                    </p:set>
                                    <p:animEffect transition="in" filter="fade">
                                      <p:cBhvr>
                                        <p:cTn id="48" dur="500"/>
                                        <p:tgtEl>
                                          <p:spTgt spid="2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A8656E6F-0F8D-4167-ADC4-25CE3CF47584}"/>
              </a:ext>
            </a:extLst>
          </p:cNvPr>
          <p:cNvSpPr/>
          <p:nvPr/>
        </p:nvSpPr>
        <p:spPr>
          <a:xfrm>
            <a:off x="86813" y="2442534"/>
            <a:ext cx="11466484" cy="7848302"/>
          </a:xfrm>
          <a:prstGeom prst="rect">
            <a:avLst/>
          </a:prstGeom>
        </p:spPr>
        <p:txBody>
          <a:bodyPr wrap="square">
            <a:spAutoFit/>
          </a:bodyPr>
          <a:lstStyle/>
          <a:p>
            <a:r>
              <a:rPr lang="en-US" sz="2800" b="1" dirty="0">
                <a:latin typeface="+mj-lt"/>
              </a:rPr>
              <a:t>11. Non-Covered Diagnostic and Administrative Costs</a:t>
            </a:r>
            <a:endParaRPr lang="en-US" sz="2800" dirty="0">
              <a:latin typeface="+mj-lt"/>
            </a:endParaRPr>
          </a:p>
          <a:p>
            <a:pPr lvl="0"/>
            <a:r>
              <a:rPr lang="en-US" sz="2800" dirty="0">
                <a:latin typeface="+mj-lt"/>
              </a:rPr>
              <a:t>Executive check-ups are not listed in the APE coverage. Medical certificates, fit-to-work, travel clearance, or police report requirements. Medical supplies not medically necessary (e.g., personal comfort items, toiletries).</a:t>
            </a:r>
          </a:p>
          <a:p>
            <a:pPr lvl="0"/>
            <a:endParaRPr lang="en-US" sz="2800" dirty="0">
              <a:latin typeface="+mj-lt"/>
            </a:endParaRPr>
          </a:p>
          <a:p>
            <a:r>
              <a:rPr lang="en-US" sz="2800" b="1" dirty="0">
                <a:latin typeface="+mj-lt"/>
              </a:rPr>
              <a:t>12. Organ Transplants and Special Treatments</a:t>
            </a:r>
            <a:endParaRPr lang="en-US" sz="2800" dirty="0">
              <a:latin typeface="+mj-lt"/>
            </a:endParaRPr>
          </a:p>
          <a:p>
            <a:pPr lvl="0"/>
            <a:r>
              <a:rPr lang="en-US" sz="2800" dirty="0">
                <a:latin typeface="+mj-lt"/>
              </a:rPr>
              <a:t>Organ donor expenses. Dialysis, chemotherapy, radiation, or immunotherapy unless specifically included.</a:t>
            </a:r>
          </a:p>
          <a:p>
            <a:pPr lvl="0"/>
            <a:r>
              <a:rPr lang="en-US" sz="2800" dirty="0">
                <a:latin typeface="+mj-lt"/>
              </a:rPr>
              <a:t>Experimental surgical or medical procedures.</a:t>
            </a:r>
          </a:p>
          <a:p>
            <a:pPr lvl="0"/>
            <a:endParaRPr lang="en-US" sz="2800" dirty="0">
              <a:latin typeface="+mj-lt"/>
            </a:endParaRPr>
          </a:p>
          <a:p>
            <a:r>
              <a:rPr lang="en-US" sz="2800" b="1" dirty="0">
                <a:latin typeface="+mj-lt"/>
              </a:rPr>
              <a:t>13. Conditions Covered by Government or Other Insurance</a:t>
            </a:r>
            <a:endParaRPr lang="en-US" sz="2800" dirty="0">
              <a:latin typeface="+mj-lt"/>
            </a:endParaRPr>
          </a:p>
          <a:p>
            <a:r>
              <a:rPr lang="en-US" sz="2800" dirty="0">
                <a:latin typeface="+mj-lt"/>
              </a:rPr>
              <a:t>Treatments or conditions already covered by PhilHealth, SSS, or ECC benefits.</a:t>
            </a:r>
          </a:p>
          <a:p>
            <a:endParaRPr lang="en-US" sz="2800" dirty="0">
              <a:latin typeface="+mj-lt"/>
            </a:endParaRPr>
          </a:p>
          <a:p>
            <a:r>
              <a:rPr lang="en-US" sz="2800" b="1" dirty="0">
                <a:latin typeface="+mj-lt"/>
              </a:rPr>
              <a:t>14. Out-of-Network Services</a:t>
            </a:r>
            <a:endParaRPr lang="en-US" sz="2800" dirty="0">
              <a:latin typeface="+mj-lt"/>
            </a:endParaRPr>
          </a:p>
          <a:p>
            <a:pPr lvl="0"/>
            <a:r>
              <a:rPr lang="en-US" sz="2800" dirty="0">
                <a:latin typeface="+mj-lt"/>
              </a:rPr>
              <a:t>Consultations or treatments done outside affiliated hospitals/clinics (except for reimbursable emergencies). Overseas medical expenses (unless global coverage is stated).</a:t>
            </a:r>
          </a:p>
          <a:p>
            <a:pPr marL="285750" indent="-285750">
              <a:buFont typeface="Arial" panose="020B0604020202020204" pitchFamily="34" charset="0"/>
              <a:buChar char="•"/>
            </a:pPr>
            <a:endParaRPr lang="en-US" sz="2800" dirty="0">
              <a:latin typeface="+mj-lt"/>
            </a:endParaRPr>
          </a:p>
        </p:txBody>
      </p:sp>
    </p:spTree>
    <p:extLst>
      <p:ext uri="{BB962C8B-B14F-4D97-AF65-F5344CB8AC3E}">
        <p14:creationId xmlns:p14="http://schemas.microsoft.com/office/powerpoint/2010/main" val="131706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animEffect transition="in" filter="fade">
                                      <p:cBhvr>
                                        <p:cTn id="15" dur="500"/>
                                        <p:tgtEl>
                                          <p:spTgt spid="2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xEl>
                                              <p:pRg st="4" end="4"/>
                                            </p:txEl>
                                          </p:spTgt>
                                        </p:tgtEl>
                                        <p:attrNameLst>
                                          <p:attrName>style.visibility</p:attrName>
                                        </p:attrNameLst>
                                      </p:cBhvr>
                                      <p:to>
                                        <p:strVal val="visible"/>
                                      </p:to>
                                    </p:set>
                                    <p:animEffect transition="in" filter="fade">
                                      <p:cBhvr>
                                        <p:cTn id="18" dur="500"/>
                                        <p:tgtEl>
                                          <p:spTgt spid="2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xEl>
                                              <p:pRg st="5" end="5"/>
                                            </p:txEl>
                                          </p:spTgt>
                                        </p:tgtEl>
                                        <p:attrNameLst>
                                          <p:attrName>style.visibility</p:attrName>
                                        </p:attrNameLst>
                                      </p:cBhvr>
                                      <p:to>
                                        <p:strVal val="visible"/>
                                      </p:to>
                                    </p:set>
                                    <p:animEffect transition="in" filter="fade">
                                      <p:cBhvr>
                                        <p:cTn id="21" dur="500"/>
                                        <p:tgtEl>
                                          <p:spTgt spid="2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xEl>
                                              <p:pRg st="7" end="7"/>
                                            </p:txEl>
                                          </p:spTgt>
                                        </p:tgtEl>
                                        <p:attrNameLst>
                                          <p:attrName>style.visibility</p:attrName>
                                        </p:attrNameLst>
                                      </p:cBhvr>
                                      <p:to>
                                        <p:strVal val="visible"/>
                                      </p:to>
                                    </p:set>
                                    <p:animEffect transition="in" filter="fade">
                                      <p:cBhvr>
                                        <p:cTn id="26" dur="500"/>
                                        <p:tgtEl>
                                          <p:spTgt spid="25">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xEl>
                                              <p:pRg st="8" end="8"/>
                                            </p:txEl>
                                          </p:spTgt>
                                        </p:tgtEl>
                                        <p:attrNameLst>
                                          <p:attrName>style.visibility</p:attrName>
                                        </p:attrNameLst>
                                      </p:cBhvr>
                                      <p:to>
                                        <p:strVal val="visible"/>
                                      </p:to>
                                    </p:set>
                                    <p:animEffect transition="in" filter="fade">
                                      <p:cBhvr>
                                        <p:cTn id="29" dur="500"/>
                                        <p:tgtEl>
                                          <p:spTgt spid="25">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xEl>
                                              <p:pRg st="10" end="10"/>
                                            </p:txEl>
                                          </p:spTgt>
                                        </p:tgtEl>
                                        <p:attrNameLst>
                                          <p:attrName>style.visibility</p:attrName>
                                        </p:attrNameLst>
                                      </p:cBhvr>
                                      <p:to>
                                        <p:strVal val="visible"/>
                                      </p:to>
                                    </p:set>
                                    <p:animEffect transition="in" filter="fade">
                                      <p:cBhvr>
                                        <p:cTn id="34" dur="500"/>
                                        <p:tgtEl>
                                          <p:spTgt spid="25">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xEl>
                                              <p:pRg st="11" end="11"/>
                                            </p:txEl>
                                          </p:spTgt>
                                        </p:tgtEl>
                                        <p:attrNameLst>
                                          <p:attrName>style.visibility</p:attrName>
                                        </p:attrNameLst>
                                      </p:cBhvr>
                                      <p:to>
                                        <p:strVal val="visible"/>
                                      </p:to>
                                    </p:set>
                                    <p:animEffect transition="in" filter="fade">
                                      <p:cBhvr>
                                        <p:cTn id="37" dur="500"/>
                                        <p:tgtEl>
                                          <p:spTgt spid="2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PREMIUM</a:t>
            </a:r>
          </a:p>
        </p:txBody>
      </p:sp>
      <p:graphicFrame>
        <p:nvGraphicFramePr>
          <p:cNvPr id="21" name="Table 20">
            <a:extLst>
              <a:ext uri="{FF2B5EF4-FFF2-40B4-BE49-F238E27FC236}">
                <a16:creationId xmlns:a16="http://schemas.microsoft.com/office/drawing/2014/main" id="{F06E98BC-A4C8-45F4-93BA-4D522B50AB63}"/>
              </a:ext>
            </a:extLst>
          </p:cNvPr>
          <p:cNvGraphicFramePr>
            <a:graphicFrameLocks noGrp="1"/>
          </p:cNvGraphicFramePr>
          <p:nvPr>
            <p:extLst>
              <p:ext uri="{D42A27DB-BD31-4B8C-83A1-F6EECF244321}">
                <p14:modId xmlns:p14="http://schemas.microsoft.com/office/powerpoint/2010/main" val="1401678388"/>
              </p:ext>
            </p:extLst>
          </p:nvPr>
        </p:nvGraphicFramePr>
        <p:xfrm>
          <a:off x="384895" y="3780571"/>
          <a:ext cx="16271529" cy="3394807"/>
        </p:xfrm>
        <a:graphic>
          <a:graphicData uri="http://schemas.openxmlformats.org/drawingml/2006/table">
            <a:tbl>
              <a:tblPr>
                <a:tableStyleId>{5C22544A-7EE6-4342-B048-85BDC9FD1C3A}</a:tableStyleId>
              </a:tblPr>
              <a:tblGrid>
                <a:gridCol w="3400142">
                  <a:extLst>
                    <a:ext uri="{9D8B030D-6E8A-4147-A177-3AD203B41FA5}">
                      <a16:colId xmlns:a16="http://schemas.microsoft.com/office/drawing/2014/main" val="475849200"/>
                    </a:ext>
                  </a:extLst>
                </a:gridCol>
                <a:gridCol w="3265402">
                  <a:extLst>
                    <a:ext uri="{9D8B030D-6E8A-4147-A177-3AD203B41FA5}">
                      <a16:colId xmlns:a16="http://schemas.microsoft.com/office/drawing/2014/main" val="3558120126"/>
                    </a:ext>
                  </a:extLst>
                </a:gridCol>
                <a:gridCol w="3201995">
                  <a:extLst>
                    <a:ext uri="{9D8B030D-6E8A-4147-A177-3AD203B41FA5}">
                      <a16:colId xmlns:a16="http://schemas.microsoft.com/office/drawing/2014/main" val="520517131"/>
                    </a:ext>
                  </a:extLst>
                </a:gridCol>
                <a:gridCol w="3201995">
                  <a:extLst>
                    <a:ext uri="{9D8B030D-6E8A-4147-A177-3AD203B41FA5}">
                      <a16:colId xmlns:a16="http://schemas.microsoft.com/office/drawing/2014/main" val="381586809"/>
                    </a:ext>
                  </a:extLst>
                </a:gridCol>
                <a:gridCol w="3201995">
                  <a:extLst>
                    <a:ext uri="{9D8B030D-6E8A-4147-A177-3AD203B41FA5}">
                      <a16:colId xmlns:a16="http://schemas.microsoft.com/office/drawing/2014/main" val="1009698620"/>
                    </a:ext>
                  </a:extLst>
                </a:gridCol>
              </a:tblGrid>
              <a:tr h="1172751">
                <a:tc>
                  <a:txBody>
                    <a:bodyPr/>
                    <a:lstStyle/>
                    <a:p>
                      <a:pPr algn="ctr">
                        <a:spcAft>
                          <a:spcPts val="0"/>
                        </a:spcAft>
                      </a:pPr>
                      <a:r>
                        <a:rPr lang="en-US" sz="2400" b="1" dirty="0">
                          <a:solidFill>
                            <a:schemeClr val="bg1"/>
                          </a:solidFill>
                          <a:effectLst/>
                          <a:latin typeface="+mj-lt"/>
                          <a:ea typeface="Times New Roman" panose="02020603050405020304" pitchFamily="18" charset="0"/>
                          <a:cs typeface="Arial MT" panose="020B0604020202020204" charset="0"/>
                        </a:rPr>
                        <a:t>Mode of Payment</a:t>
                      </a:r>
                      <a:endParaRPr lang="en-PH" sz="3200" b="1" dirty="0">
                        <a:solidFill>
                          <a:schemeClr val="bg1"/>
                        </a:solidFill>
                        <a:effectLst/>
                        <a:latin typeface="+mj-lt"/>
                        <a:ea typeface="Arial MT" panose="020B0604020202020204" charset="0"/>
                        <a:cs typeface="Arial MT" panose="020B0604020202020204" charset="0"/>
                      </a:endParaRPr>
                    </a:p>
                  </a:txBody>
                  <a:tcPr marL="68580" marR="68580" marT="0" marB="0" anchor="ctr">
                    <a:solidFill>
                      <a:schemeClr val="tx2">
                        <a:lumMod val="50000"/>
                      </a:schemeClr>
                    </a:solidFill>
                  </a:tcPr>
                </a:tc>
                <a:tc>
                  <a:txBody>
                    <a:bodyPr/>
                    <a:lstStyle/>
                    <a:p>
                      <a:pPr algn="ctr">
                        <a:spcAft>
                          <a:spcPts val="0"/>
                        </a:spcAft>
                      </a:pPr>
                      <a:r>
                        <a:rPr lang="en-US" sz="2400" b="1" dirty="0">
                          <a:solidFill>
                            <a:schemeClr val="bg1"/>
                          </a:solidFill>
                          <a:effectLst/>
                          <a:latin typeface="+mj-lt"/>
                          <a:ea typeface="Times New Roman" panose="02020603050405020304" pitchFamily="18" charset="0"/>
                          <a:cs typeface="Arial MT" panose="020B0604020202020204" charset="0"/>
                        </a:rPr>
                        <a:t>Age Bracket</a:t>
                      </a:r>
                      <a:endParaRPr lang="en-PH" sz="3200" b="1" dirty="0">
                        <a:solidFill>
                          <a:schemeClr val="bg1"/>
                        </a:solidFill>
                        <a:effectLst/>
                        <a:latin typeface="+mj-lt"/>
                        <a:ea typeface="Arial MT" panose="020B0604020202020204" charset="0"/>
                        <a:cs typeface="Arial MT" panose="020B0604020202020204" charset="0"/>
                      </a:endParaRPr>
                    </a:p>
                  </a:txBody>
                  <a:tcPr marL="68580" marR="68580" marT="0" marB="0" anchor="ctr">
                    <a:solidFill>
                      <a:schemeClr val="tx2">
                        <a:lumMod val="50000"/>
                      </a:schemeClr>
                    </a:solidFill>
                  </a:tcPr>
                </a:tc>
                <a:tc>
                  <a:txBody>
                    <a:bodyPr/>
                    <a:lstStyle/>
                    <a:p>
                      <a:pPr algn="ctr">
                        <a:spcAft>
                          <a:spcPts val="0"/>
                        </a:spcAft>
                      </a:pPr>
                      <a:r>
                        <a:rPr lang="en-US" sz="2400" b="1" dirty="0">
                          <a:solidFill>
                            <a:schemeClr val="bg1"/>
                          </a:solidFill>
                          <a:effectLst/>
                          <a:latin typeface="+mj-lt"/>
                          <a:ea typeface="Times New Roman" panose="02020603050405020304" pitchFamily="18" charset="0"/>
                          <a:cs typeface="Arial MT" panose="020B0604020202020204" charset="0"/>
                        </a:rPr>
                        <a:t>Private (₱100,000 MBL)</a:t>
                      </a:r>
                      <a:endParaRPr lang="en-PH" sz="3200" b="1" dirty="0">
                        <a:solidFill>
                          <a:schemeClr val="bg1"/>
                        </a:solidFill>
                        <a:effectLst/>
                        <a:latin typeface="+mj-lt"/>
                        <a:ea typeface="Arial MT" panose="020B0604020202020204" charset="0"/>
                        <a:cs typeface="Arial MT" panose="020B0604020202020204" charset="0"/>
                      </a:endParaRPr>
                    </a:p>
                  </a:txBody>
                  <a:tcPr marL="68580" marR="68580" marT="0" marB="0" anchor="ctr">
                    <a:solidFill>
                      <a:schemeClr val="tx2">
                        <a:lumMod val="50000"/>
                      </a:schemeClr>
                    </a:solidFill>
                  </a:tcPr>
                </a:tc>
                <a:tc>
                  <a:txBody>
                    <a:bodyPr/>
                    <a:lstStyle/>
                    <a:p>
                      <a:pPr algn="ctr">
                        <a:spcAft>
                          <a:spcPts val="0"/>
                        </a:spcAft>
                      </a:pPr>
                      <a:r>
                        <a:rPr lang="en-US" sz="2400" b="1" dirty="0">
                          <a:solidFill>
                            <a:schemeClr val="bg1"/>
                          </a:solidFill>
                          <a:effectLst/>
                          <a:latin typeface="+mj-lt"/>
                          <a:ea typeface="Times New Roman" panose="02020603050405020304" pitchFamily="18" charset="0"/>
                          <a:cs typeface="Arial MT" panose="020B0604020202020204" charset="0"/>
                        </a:rPr>
                        <a:t>Semi-Private (₱75,000 MBL)</a:t>
                      </a:r>
                      <a:endParaRPr lang="en-PH" sz="3200" b="1" dirty="0">
                        <a:solidFill>
                          <a:schemeClr val="bg1"/>
                        </a:solidFill>
                        <a:effectLst/>
                        <a:latin typeface="+mj-lt"/>
                        <a:ea typeface="Arial MT" panose="020B0604020202020204" charset="0"/>
                        <a:cs typeface="Arial MT" panose="020B0604020202020204" charset="0"/>
                      </a:endParaRPr>
                    </a:p>
                  </a:txBody>
                  <a:tcPr marL="68580" marR="68580" marT="0" marB="0" anchor="ctr">
                    <a:solidFill>
                      <a:schemeClr val="tx2">
                        <a:lumMod val="50000"/>
                      </a:schemeClr>
                    </a:solidFill>
                  </a:tcPr>
                </a:tc>
                <a:tc>
                  <a:txBody>
                    <a:bodyPr/>
                    <a:lstStyle/>
                    <a:p>
                      <a:pPr indent="127635" algn="ctr">
                        <a:spcAft>
                          <a:spcPts val="0"/>
                        </a:spcAft>
                      </a:pPr>
                      <a:r>
                        <a:rPr lang="en-US" sz="2400" b="1" dirty="0">
                          <a:solidFill>
                            <a:schemeClr val="bg1"/>
                          </a:solidFill>
                          <a:effectLst/>
                          <a:latin typeface="+mj-lt"/>
                          <a:ea typeface="Times New Roman" panose="02020603050405020304" pitchFamily="18" charset="0"/>
                          <a:cs typeface="Arial MT" panose="020B0604020202020204" charset="0"/>
                        </a:rPr>
                        <a:t>Ward (₱50,000 MBL)</a:t>
                      </a:r>
                      <a:endParaRPr lang="en-PH" sz="3200" b="1" dirty="0">
                        <a:solidFill>
                          <a:schemeClr val="bg1"/>
                        </a:solidFill>
                        <a:effectLst/>
                        <a:latin typeface="+mj-lt"/>
                        <a:ea typeface="Arial MT" panose="020B0604020202020204" charset="0"/>
                        <a:cs typeface="Arial MT" panose="020B0604020202020204" charset="0"/>
                      </a:endParaRPr>
                    </a:p>
                  </a:txBody>
                  <a:tcPr marL="68580" marR="68580" marT="0" marB="0" anchor="ctr">
                    <a:solidFill>
                      <a:schemeClr val="tx2">
                        <a:lumMod val="50000"/>
                      </a:schemeClr>
                    </a:solidFill>
                  </a:tcPr>
                </a:tc>
                <a:extLst>
                  <a:ext uri="{0D108BD9-81ED-4DB2-BD59-A6C34878D82A}">
                    <a16:rowId xmlns:a16="http://schemas.microsoft.com/office/drawing/2014/main" val="3765557182"/>
                  </a:ext>
                </a:extLst>
              </a:tr>
              <a:tr h="555514">
                <a:tc rowSpan="2">
                  <a:txBody>
                    <a:bodyPr/>
                    <a:lstStyle/>
                    <a:p>
                      <a:pPr algn="ctr">
                        <a:spcAft>
                          <a:spcPts val="0"/>
                        </a:spcAft>
                      </a:pPr>
                      <a:r>
                        <a:rPr lang="en-US" sz="3200" b="1" dirty="0">
                          <a:effectLst/>
                          <a:latin typeface="+mj-lt"/>
                          <a:ea typeface="Times New Roman" panose="02020603050405020304" pitchFamily="18" charset="0"/>
                          <a:cs typeface="Arial MT" panose="020B0604020202020204" charset="0"/>
                        </a:rPr>
                        <a:t>Annual</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spc="-20" dirty="0">
                          <a:effectLst/>
                          <a:latin typeface="+mj-lt"/>
                          <a:ea typeface="Times New Roman" panose="02020603050405020304" pitchFamily="18" charset="0"/>
                          <a:cs typeface="Arial MT" panose="020B0604020202020204" charset="0"/>
                        </a:rPr>
                        <a:t>61-65</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43,366</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34,994</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a:solidFill>
                            <a:srgbClr val="000000"/>
                          </a:solidFill>
                          <a:effectLst/>
                          <a:latin typeface="+mj-lt"/>
                          <a:ea typeface="Arial MT" panose="020B0604020202020204" charset="0"/>
                          <a:cs typeface="Arial MT" panose="020B0604020202020204" charset="0"/>
                        </a:rPr>
                        <a:t>30,036</a:t>
                      </a:r>
                      <a:endParaRPr lang="en-PH" sz="3200" b="1">
                        <a:effectLst/>
                        <a:latin typeface="+mj-lt"/>
                        <a:ea typeface="Arial MT" panose="020B0604020202020204" charset="0"/>
                        <a:cs typeface="Arial MT" panose="020B0604020202020204" charset="0"/>
                      </a:endParaRPr>
                    </a:p>
                  </a:txBody>
                  <a:tcPr marL="68580" marR="68580" marT="0" marB="0" anchor="ctr">
                    <a:solidFill>
                      <a:srgbClr val="F68712"/>
                    </a:solidFill>
                  </a:tcPr>
                </a:tc>
                <a:extLst>
                  <a:ext uri="{0D108BD9-81ED-4DB2-BD59-A6C34878D82A}">
                    <a16:rowId xmlns:a16="http://schemas.microsoft.com/office/drawing/2014/main" val="659183300"/>
                  </a:ext>
                </a:extLst>
              </a:tr>
              <a:tr h="555514">
                <a:tc vMerge="1">
                  <a:txBody>
                    <a:bodyPr/>
                    <a:lstStyle/>
                    <a:p>
                      <a:endParaRPr lang="en-PH"/>
                    </a:p>
                  </a:txBody>
                  <a:tcPr/>
                </a:tc>
                <a:tc>
                  <a:txBody>
                    <a:bodyPr/>
                    <a:lstStyle/>
                    <a:p>
                      <a:pPr algn="ctr">
                        <a:spcAft>
                          <a:spcPts val="0"/>
                        </a:spcAft>
                      </a:pPr>
                      <a:r>
                        <a:rPr lang="en-US" sz="3200" b="1" spc="-20" dirty="0">
                          <a:effectLst/>
                          <a:latin typeface="+mj-lt"/>
                          <a:ea typeface="Times New Roman" panose="02020603050405020304" pitchFamily="18" charset="0"/>
                          <a:cs typeface="Arial MT" panose="020B0604020202020204" charset="0"/>
                        </a:rPr>
                        <a:t>66-70</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57,821</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46,658</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40,047</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extLst>
                  <a:ext uri="{0D108BD9-81ED-4DB2-BD59-A6C34878D82A}">
                    <a16:rowId xmlns:a16="http://schemas.microsoft.com/office/drawing/2014/main" val="3724141097"/>
                  </a:ext>
                </a:extLst>
              </a:tr>
              <a:tr h="555514">
                <a:tc rowSpan="2">
                  <a:txBody>
                    <a:bodyPr/>
                    <a:lstStyle/>
                    <a:p>
                      <a:pPr algn="ctr">
                        <a:spcAft>
                          <a:spcPts val="0"/>
                        </a:spcAft>
                      </a:pPr>
                      <a:r>
                        <a:rPr lang="en-US" sz="3200" b="1" dirty="0">
                          <a:effectLst/>
                          <a:latin typeface="+mj-lt"/>
                          <a:ea typeface="Times New Roman" panose="02020603050405020304" pitchFamily="18" charset="0"/>
                          <a:cs typeface="Arial MT" panose="020B0604020202020204" charset="0"/>
                        </a:rPr>
                        <a:t>Semi-Annual</a:t>
                      </a:r>
                      <a:endParaRPr lang="en-PH" sz="3200" b="1" dirty="0">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spc="-20">
                          <a:effectLst/>
                          <a:latin typeface="+mj-lt"/>
                          <a:ea typeface="Times New Roman" panose="02020603050405020304" pitchFamily="18" charset="0"/>
                          <a:cs typeface="Arial MT" panose="020B0604020202020204" charset="0"/>
                        </a:rPr>
                        <a:t>61-65</a:t>
                      </a:r>
                      <a:endParaRPr lang="en-PH" sz="3200" b="1">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23,418</a:t>
                      </a:r>
                      <a:endParaRPr lang="en-PH" sz="3200" b="1" dirty="0">
                        <a:effectLst/>
                        <a:latin typeface="+mj-lt"/>
                        <a:ea typeface="Arial MT" panose="020B0604020202020204" charset="0"/>
                        <a:cs typeface="Arial MT" panose="020B0604020202020204" charset="0"/>
                      </a:endParaRPr>
                    </a:p>
                  </a:txBody>
                  <a:tcPr marL="68580" marR="68580" marT="0" marB="0" anchor="b">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18,897</a:t>
                      </a:r>
                      <a:endParaRPr lang="en-PH" sz="3200" b="1" dirty="0">
                        <a:effectLst/>
                        <a:latin typeface="+mj-lt"/>
                        <a:ea typeface="Arial MT" panose="020B0604020202020204" charset="0"/>
                        <a:cs typeface="Arial MT" panose="020B0604020202020204" charset="0"/>
                      </a:endParaRPr>
                    </a:p>
                  </a:txBody>
                  <a:tcPr marL="68580" marR="68580" marT="0" marB="0" anchor="b">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16,220</a:t>
                      </a:r>
                      <a:endParaRPr lang="en-PH" sz="3200" b="1" dirty="0">
                        <a:effectLst/>
                        <a:latin typeface="+mj-lt"/>
                        <a:ea typeface="Arial MT" panose="020B0604020202020204" charset="0"/>
                        <a:cs typeface="Arial MT" panose="020B0604020202020204" charset="0"/>
                      </a:endParaRPr>
                    </a:p>
                  </a:txBody>
                  <a:tcPr marL="68580" marR="68580" marT="0" marB="0" anchor="b">
                    <a:solidFill>
                      <a:srgbClr val="F68712"/>
                    </a:solidFill>
                  </a:tcPr>
                </a:tc>
                <a:extLst>
                  <a:ext uri="{0D108BD9-81ED-4DB2-BD59-A6C34878D82A}">
                    <a16:rowId xmlns:a16="http://schemas.microsoft.com/office/drawing/2014/main" val="65506458"/>
                  </a:ext>
                </a:extLst>
              </a:tr>
              <a:tr h="555514">
                <a:tc vMerge="1">
                  <a:txBody>
                    <a:bodyPr/>
                    <a:lstStyle/>
                    <a:p>
                      <a:endParaRPr lang="en-PH"/>
                    </a:p>
                  </a:txBody>
                  <a:tcPr/>
                </a:tc>
                <a:tc>
                  <a:txBody>
                    <a:bodyPr/>
                    <a:lstStyle/>
                    <a:p>
                      <a:pPr algn="ctr">
                        <a:spcAft>
                          <a:spcPts val="0"/>
                        </a:spcAft>
                      </a:pPr>
                      <a:r>
                        <a:rPr lang="en-US" sz="3200" b="1" spc="-20">
                          <a:effectLst/>
                          <a:latin typeface="+mj-lt"/>
                          <a:ea typeface="Times New Roman" panose="02020603050405020304" pitchFamily="18" charset="0"/>
                          <a:cs typeface="Arial MT" panose="020B0604020202020204" charset="0"/>
                        </a:rPr>
                        <a:t>66-70</a:t>
                      </a:r>
                      <a:endParaRPr lang="en-PH" sz="3200" b="1">
                        <a:effectLst/>
                        <a:latin typeface="+mj-lt"/>
                        <a:ea typeface="Arial MT" panose="020B0604020202020204" charset="0"/>
                        <a:cs typeface="Arial MT" panose="020B0604020202020204" charset="0"/>
                      </a:endParaRPr>
                    </a:p>
                  </a:txBody>
                  <a:tcPr marL="68580" marR="68580" marT="0" marB="0" anchor="ctr">
                    <a:solidFill>
                      <a:srgbClr val="F68712"/>
                    </a:solidFill>
                  </a:tcPr>
                </a:tc>
                <a:tc>
                  <a:txBody>
                    <a:bodyPr/>
                    <a:lstStyle/>
                    <a:p>
                      <a:pPr algn="ctr">
                        <a:spcAft>
                          <a:spcPts val="0"/>
                        </a:spcAft>
                      </a:pPr>
                      <a:r>
                        <a:rPr lang="en-US" sz="3200" b="1">
                          <a:solidFill>
                            <a:srgbClr val="000000"/>
                          </a:solidFill>
                          <a:effectLst/>
                          <a:latin typeface="+mj-lt"/>
                          <a:ea typeface="Arial MT" panose="020B0604020202020204" charset="0"/>
                          <a:cs typeface="Arial MT" panose="020B0604020202020204" charset="0"/>
                        </a:rPr>
                        <a:t>31,224</a:t>
                      </a:r>
                      <a:endParaRPr lang="en-PH" sz="3200" b="1">
                        <a:effectLst/>
                        <a:latin typeface="+mj-lt"/>
                        <a:ea typeface="Arial MT" panose="020B0604020202020204" charset="0"/>
                        <a:cs typeface="Arial MT" panose="020B0604020202020204" charset="0"/>
                      </a:endParaRPr>
                    </a:p>
                  </a:txBody>
                  <a:tcPr marL="68580" marR="68580" marT="0" marB="0" anchor="b">
                    <a:solidFill>
                      <a:srgbClr val="F68712"/>
                    </a:solidFill>
                  </a:tcPr>
                </a:tc>
                <a:tc>
                  <a:txBody>
                    <a:bodyPr/>
                    <a:lstStyle/>
                    <a:p>
                      <a:pPr algn="ctr">
                        <a:spcAft>
                          <a:spcPts val="0"/>
                        </a:spcAft>
                      </a:pPr>
                      <a:r>
                        <a:rPr lang="en-US" sz="3200" b="1">
                          <a:solidFill>
                            <a:srgbClr val="000000"/>
                          </a:solidFill>
                          <a:effectLst/>
                          <a:latin typeface="+mj-lt"/>
                          <a:ea typeface="Arial MT" panose="020B0604020202020204" charset="0"/>
                          <a:cs typeface="Arial MT" panose="020B0604020202020204" charset="0"/>
                        </a:rPr>
                        <a:t>25,196</a:t>
                      </a:r>
                      <a:endParaRPr lang="en-PH" sz="3200" b="1">
                        <a:effectLst/>
                        <a:latin typeface="+mj-lt"/>
                        <a:ea typeface="Arial MT" panose="020B0604020202020204" charset="0"/>
                        <a:cs typeface="Arial MT" panose="020B0604020202020204" charset="0"/>
                      </a:endParaRPr>
                    </a:p>
                  </a:txBody>
                  <a:tcPr marL="68580" marR="68580" marT="0" marB="0" anchor="b">
                    <a:solidFill>
                      <a:srgbClr val="F68712"/>
                    </a:solidFill>
                  </a:tcPr>
                </a:tc>
                <a:tc>
                  <a:txBody>
                    <a:bodyPr/>
                    <a:lstStyle/>
                    <a:p>
                      <a:pPr algn="ctr">
                        <a:spcAft>
                          <a:spcPts val="0"/>
                        </a:spcAft>
                      </a:pPr>
                      <a:r>
                        <a:rPr lang="en-US" sz="3200" b="1" dirty="0">
                          <a:solidFill>
                            <a:srgbClr val="000000"/>
                          </a:solidFill>
                          <a:effectLst/>
                          <a:latin typeface="+mj-lt"/>
                          <a:ea typeface="Arial MT" panose="020B0604020202020204" charset="0"/>
                          <a:cs typeface="Arial MT" panose="020B0604020202020204" charset="0"/>
                        </a:rPr>
                        <a:t>21,626</a:t>
                      </a:r>
                      <a:endParaRPr lang="en-PH" sz="3200" b="1" dirty="0">
                        <a:effectLst/>
                        <a:latin typeface="+mj-lt"/>
                        <a:ea typeface="Arial MT" panose="020B0604020202020204" charset="0"/>
                        <a:cs typeface="Arial MT" panose="020B0604020202020204" charset="0"/>
                      </a:endParaRPr>
                    </a:p>
                  </a:txBody>
                  <a:tcPr marL="68580" marR="68580" marT="0" marB="0" anchor="b">
                    <a:solidFill>
                      <a:srgbClr val="F68712"/>
                    </a:solidFill>
                  </a:tcPr>
                </a:tc>
                <a:extLst>
                  <a:ext uri="{0D108BD9-81ED-4DB2-BD59-A6C34878D82A}">
                    <a16:rowId xmlns:a16="http://schemas.microsoft.com/office/drawing/2014/main" val="1405500405"/>
                  </a:ext>
                </a:extLst>
              </a:tr>
            </a:tbl>
          </a:graphicData>
        </a:graphic>
      </p:graphicFrame>
    </p:spTree>
    <p:extLst>
      <p:ext uri="{BB962C8B-B14F-4D97-AF65-F5344CB8AC3E}">
        <p14:creationId xmlns:p14="http://schemas.microsoft.com/office/powerpoint/2010/main" val="1516059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5" name="Picture 14">
            <a:extLst>
              <a:ext uri="{FF2B5EF4-FFF2-40B4-BE49-F238E27FC236}">
                <a16:creationId xmlns:a16="http://schemas.microsoft.com/office/drawing/2014/main" id="{0F5DBF4C-EE10-4666-BD80-8A69A7EC4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5978" y="31294"/>
            <a:ext cx="12307163" cy="10224412"/>
          </a:xfrm>
          <a:prstGeom prst="rect">
            <a:avLst/>
          </a:prstGeom>
        </p:spPr>
      </p:pic>
    </p:spTree>
    <p:extLst>
      <p:ext uri="{BB962C8B-B14F-4D97-AF65-F5344CB8AC3E}">
        <p14:creationId xmlns:p14="http://schemas.microsoft.com/office/powerpoint/2010/main" val="582032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1" name="Group 20">
            <a:extLst>
              <a:ext uri="{FF2B5EF4-FFF2-40B4-BE49-F238E27FC236}">
                <a16:creationId xmlns:a16="http://schemas.microsoft.com/office/drawing/2014/main" id="{0F77015A-65FC-4003-AE0E-176022605039}"/>
              </a:ext>
            </a:extLst>
          </p:cNvPr>
          <p:cNvGrpSpPr>
            <a:grpSpLocks/>
          </p:cNvGrpSpPr>
          <p:nvPr/>
        </p:nvGrpSpPr>
        <p:grpSpPr>
          <a:xfrm>
            <a:off x="10629842" y="629692"/>
            <a:ext cx="7572900" cy="7985670"/>
            <a:chOff x="0" y="0"/>
            <a:chExt cx="4741037" cy="4586274"/>
          </a:xfrm>
        </p:grpSpPr>
        <p:pic>
          <p:nvPicPr>
            <p:cNvPr id="22" name="Image 53">
              <a:extLst>
                <a:ext uri="{FF2B5EF4-FFF2-40B4-BE49-F238E27FC236}">
                  <a16:creationId xmlns:a16="http://schemas.microsoft.com/office/drawing/2014/main" id="{420A87C8-F2E4-4627-BBC3-4AE79526A079}"/>
                </a:ext>
              </a:extLst>
            </p:cNvPr>
            <p:cNvPicPr/>
            <p:nvPr/>
          </p:nvPicPr>
          <p:blipFill>
            <a:blip r:embed="rId2" cstate="print"/>
            <a:stretch>
              <a:fillRect/>
            </a:stretch>
          </p:blipFill>
          <p:spPr>
            <a:xfrm>
              <a:off x="0" y="50"/>
              <a:ext cx="4722605" cy="4586224"/>
            </a:xfrm>
            <a:prstGeom prst="rect">
              <a:avLst/>
            </a:prstGeom>
          </p:spPr>
        </p:pic>
        <p:pic>
          <p:nvPicPr>
            <p:cNvPr id="24" name="Image 54">
              <a:extLst>
                <a:ext uri="{FF2B5EF4-FFF2-40B4-BE49-F238E27FC236}">
                  <a16:creationId xmlns:a16="http://schemas.microsoft.com/office/drawing/2014/main" id="{DB2082CF-B58D-4DBC-B9AD-77E776E09433}"/>
                </a:ext>
              </a:extLst>
            </p:cNvPr>
            <p:cNvPicPr/>
            <p:nvPr/>
          </p:nvPicPr>
          <p:blipFill>
            <a:blip r:embed="rId3" cstate="print"/>
            <a:stretch>
              <a:fillRect/>
            </a:stretch>
          </p:blipFill>
          <p:spPr>
            <a:xfrm>
              <a:off x="2369820" y="0"/>
              <a:ext cx="2371217" cy="4569714"/>
            </a:xfrm>
            <a:prstGeom prst="rect">
              <a:avLst/>
            </a:prstGeom>
          </p:spPr>
        </p:pic>
      </p:grpSp>
      <p:sp>
        <p:nvSpPr>
          <p:cNvPr id="25" name="Rectangle 24">
            <a:extLst>
              <a:ext uri="{FF2B5EF4-FFF2-40B4-BE49-F238E27FC236}">
                <a16:creationId xmlns:a16="http://schemas.microsoft.com/office/drawing/2014/main" id="{1C3DA8DB-11AB-4725-8880-BF648B612822}"/>
              </a:ext>
            </a:extLst>
          </p:cNvPr>
          <p:cNvSpPr/>
          <p:nvPr/>
        </p:nvSpPr>
        <p:spPr>
          <a:xfrm>
            <a:off x="104308" y="1637662"/>
            <a:ext cx="10792292" cy="7663636"/>
          </a:xfrm>
          <a:prstGeom prst="rect">
            <a:avLst/>
          </a:prstGeom>
        </p:spPr>
        <p:txBody>
          <a:bodyPr wrap="square">
            <a:spAutoFit/>
          </a:bodyPr>
          <a:lstStyle/>
          <a:p>
            <a:pPr algn="ctr" defTabSz="457200"/>
            <a:r>
              <a:rPr lang="en-US" sz="2800" b="1" dirty="0">
                <a:solidFill>
                  <a:prstClr val="black"/>
                </a:solidFill>
                <a:latin typeface="+mj-lt"/>
              </a:rPr>
              <a:t>	</a:t>
            </a:r>
            <a:r>
              <a:rPr lang="en-US" sz="4800" b="1" dirty="0">
                <a:solidFill>
                  <a:prstClr val="black"/>
                </a:solidFill>
                <a:latin typeface="+mj-lt"/>
              </a:rPr>
              <a:t>Member’s Mobile Application:</a:t>
            </a:r>
          </a:p>
          <a:p>
            <a:pPr defTabSz="457200"/>
            <a:endParaRPr lang="en-US" sz="2800" b="1" dirty="0">
              <a:solidFill>
                <a:prstClr val="black"/>
              </a:solidFill>
              <a:latin typeface="+mj-lt"/>
            </a:endParaRPr>
          </a:p>
          <a:p>
            <a:pPr defTabSz="457200"/>
            <a:r>
              <a:rPr lang="en-US" sz="2800" b="1" dirty="0">
                <a:solidFill>
                  <a:prstClr val="black"/>
                </a:solidFill>
                <a:latin typeface="+mj-lt"/>
              </a:rPr>
              <a:t>Through AMAPHIL’s mobile application, your employees may access</a:t>
            </a:r>
          </a:p>
          <a:p>
            <a:pPr defTabSz="457200"/>
            <a:r>
              <a:rPr lang="en-US" sz="2800" b="1" dirty="0">
                <a:solidFill>
                  <a:prstClr val="black"/>
                </a:solidFill>
                <a:latin typeface="+mj-lt"/>
              </a:rPr>
              <a:t> the following at their fingertips:</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Request for LOA prior to </a:t>
            </a:r>
            <a:r>
              <a:rPr lang="en-US" sz="2800" b="1" dirty="0" err="1">
                <a:solidFill>
                  <a:prstClr val="black"/>
                </a:solidFill>
                <a:latin typeface="+mj-lt"/>
              </a:rPr>
              <a:t>availment</a:t>
            </a:r>
            <a:r>
              <a:rPr lang="en-US" sz="2800" b="1" dirty="0">
                <a:solidFill>
                  <a:prstClr val="black"/>
                </a:solidFill>
                <a:latin typeface="+mj-lt"/>
              </a:rPr>
              <a: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File for reimbursement;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Review the list of benefits, exclusions and </a:t>
            </a:r>
            <a:r>
              <a:rPr lang="en-US" sz="2800" b="1" dirty="0" err="1">
                <a:solidFill>
                  <a:prstClr val="black"/>
                </a:solidFill>
                <a:latin typeface="+mj-lt"/>
              </a:rPr>
              <a:t>availment</a:t>
            </a:r>
            <a:r>
              <a:rPr lang="en-US" sz="2800" b="1" dirty="0">
                <a:solidFill>
                  <a:prstClr val="black"/>
                </a:solidFill>
                <a:latin typeface="+mj-lt"/>
              </a:rPr>
              <a:t> history;</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View the latest list of providers;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See the reason for declined services;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Members can easily press Customer Service button in the Mobile   </a:t>
            </a:r>
          </a:p>
          <a:p>
            <a:pPr defTabSz="457200"/>
            <a:r>
              <a:rPr lang="en-US" sz="2800" b="1" dirty="0">
                <a:solidFill>
                  <a:prstClr val="black"/>
                </a:solidFill>
                <a:latin typeface="+mj-lt"/>
              </a:rPr>
              <a:t>     App and just wait for the AMAPHIL call.</a:t>
            </a:r>
          </a:p>
        </p:txBody>
      </p:sp>
    </p:spTree>
    <p:extLst>
      <p:ext uri="{BB962C8B-B14F-4D97-AF65-F5344CB8AC3E}">
        <p14:creationId xmlns:p14="http://schemas.microsoft.com/office/powerpoint/2010/main" val="75337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fade">
                                      <p:cBhvr>
                                        <p:cTn id="17" dur="500"/>
                                        <p:tgtEl>
                                          <p:spTgt spid="2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xEl>
                                              <p:pRg st="3" end="3"/>
                                            </p:txEl>
                                          </p:spTgt>
                                        </p:tgtEl>
                                        <p:attrNameLst>
                                          <p:attrName>style.visibility</p:attrName>
                                        </p:attrNameLst>
                                      </p:cBhvr>
                                      <p:to>
                                        <p:strVal val="visible"/>
                                      </p:to>
                                    </p:set>
                                    <p:animEffect transition="in" filter="fade">
                                      <p:cBhvr>
                                        <p:cTn id="20" dur="500"/>
                                        <p:tgtEl>
                                          <p:spTgt spid="2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animEffect transition="in" filter="fade">
                                      <p:cBhvr>
                                        <p:cTn id="25" dur="500"/>
                                        <p:tgtEl>
                                          <p:spTgt spid="2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xEl>
                                              <p:pRg st="7" end="7"/>
                                            </p:txEl>
                                          </p:spTgt>
                                        </p:tgtEl>
                                        <p:attrNameLst>
                                          <p:attrName>style.visibility</p:attrName>
                                        </p:attrNameLst>
                                      </p:cBhvr>
                                      <p:to>
                                        <p:strVal val="visible"/>
                                      </p:to>
                                    </p:set>
                                    <p:animEffect transition="in" filter="fade">
                                      <p:cBhvr>
                                        <p:cTn id="30" dur="500"/>
                                        <p:tgtEl>
                                          <p:spTgt spid="2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5">
                                            <p:txEl>
                                              <p:pRg st="9" end="9"/>
                                            </p:txEl>
                                          </p:spTgt>
                                        </p:tgtEl>
                                        <p:attrNameLst>
                                          <p:attrName>style.visibility</p:attrName>
                                        </p:attrNameLst>
                                      </p:cBhvr>
                                      <p:to>
                                        <p:strVal val="visible"/>
                                      </p:to>
                                    </p:set>
                                    <p:animEffect transition="in" filter="fade">
                                      <p:cBhvr>
                                        <p:cTn id="35" dur="500"/>
                                        <p:tgtEl>
                                          <p:spTgt spid="2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xEl>
                                              <p:pRg st="11" end="11"/>
                                            </p:txEl>
                                          </p:spTgt>
                                        </p:tgtEl>
                                        <p:attrNameLst>
                                          <p:attrName>style.visibility</p:attrName>
                                        </p:attrNameLst>
                                      </p:cBhvr>
                                      <p:to>
                                        <p:strVal val="visible"/>
                                      </p:to>
                                    </p:set>
                                    <p:animEffect transition="in" filter="fade">
                                      <p:cBhvr>
                                        <p:cTn id="40" dur="500"/>
                                        <p:tgtEl>
                                          <p:spTgt spid="25">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xEl>
                                              <p:pRg st="13" end="13"/>
                                            </p:txEl>
                                          </p:spTgt>
                                        </p:tgtEl>
                                        <p:attrNameLst>
                                          <p:attrName>style.visibility</p:attrName>
                                        </p:attrNameLst>
                                      </p:cBhvr>
                                      <p:to>
                                        <p:strVal val="visible"/>
                                      </p:to>
                                    </p:set>
                                    <p:animEffect transition="in" filter="fade">
                                      <p:cBhvr>
                                        <p:cTn id="45" dur="500"/>
                                        <p:tgtEl>
                                          <p:spTgt spid="25">
                                            <p:txEl>
                                              <p:pRg st="13" end="1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5">
                                            <p:txEl>
                                              <p:pRg st="15" end="15"/>
                                            </p:txEl>
                                          </p:spTgt>
                                        </p:tgtEl>
                                        <p:attrNameLst>
                                          <p:attrName>style.visibility</p:attrName>
                                        </p:attrNameLst>
                                      </p:cBhvr>
                                      <p:to>
                                        <p:strVal val="visible"/>
                                      </p:to>
                                    </p:set>
                                    <p:animEffect transition="in" filter="fade">
                                      <p:cBhvr>
                                        <p:cTn id="50" dur="500"/>
                                        <p:tgtEl>
                                          <p:spTgt spid="25">
                                            <p:txEl>
                                              <p:pRg st="15" end="1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xEl>
                                              <p:pRg st="16" end="16"/>
                                            </p:txEl>
                                          </p:spTgt>
                                        </p:tgtEl>
                                        <p:attrNameLst>
                                          <p:attrName>style.visibility</p:attrName>
                                        </p:attrNameLst>
                                      </p:cBhvr>
                                      <p:to>
                                        <p:strVal val="visible"/>
                                      </p:to>
                                    </p:set>
                                    <p:animEffect transition="in" filter="fade">
                                      <p:cBhvr>
                                        <p:cTn id="53" dur="500"/>
                                        <p:tgtEl>
                                          <p:spTgt spid="2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8" name="Image 58">
            <a:extLst>
              <a:ext uri="{FF2B5EF4-FFF2-40B4-BE49-F238E27FC236}">
                <a16:creationId xmlns:a16="http://schemas.microsoft.com/office/drawing/2014/main" id="{752E82DD-FD13-4872-82F7-C50CDEBFE462}"/>
              </a:ext>
            </a:extLst>
          </p:cNvPr>
          <p:cNvPicPr/>
          <p:nvPr/>
        </p:nvPicPr>
        <p:blipFill>
          <a:blip r:embed="rId2" cstate="print"/>
          <a:stretch>
            <a:fillRect/>
          </a:stretch>
        </p:blipFill>
        <p:spPr>
          <a:xfrm>
            <a:off x="0" y="961892"/>
            <a:ext cx="7391400" cy="9325107"/>
          </a:xfrm>
          <a:prstGeom prst="rect">
            <a:avLst/>
          </a:prstGeom>
        </p:spPr>
      </p:pic>
      <p:sp>
        <p:nvSpPr>
          <p:cNvPr id="19" name="Rectangle 18">
            <a:extLst>
              <a:ext uri="{FF2B5EF4-FFF2-40B4-BE49-F238E27FC236}">
                <a16:creationId xmlns:a16="http://schemas.microsoft.com/office/drawing/2014/main" id="{18822DB5-66A3-437D-A639-1E896F52522C}"/>
              </a:ext>
            </a:extLst>
          </p:cNvPr>
          <p:cNvSpPr/>
          <p:nvPr/>
        </p:nvSpPr>
        <p:spPr>
          <a:xfrm>
            <a:off x="7372350" y="663030"/>
            <a:ext cx="10523444" cy="8402300"/>
          </a:xfrm>
          <a:prstGeom prst="rect">
            <a:avLst/>
          </a:prstGeom>
        </p:spPr>
        <p:txBody>
          <a:bodyPr wrap="square">
            <a:spAutoFit/>
          </a:bodyPr>
          <a:lstStyle/>
          <a:p>
            <a:r>
              <a:rPr lang="en-US" sz="5400" b="1" dirty="0"/>
              <a:t>Members have immediate access to over 1,700 hospitals and clinics, and more than 51,000 doctors nationwide. Hence, there is no need to go through a tedious and expensive process of hospital and clinic affiliation.</a:t>
            </a:r>
          </a:p>
          <a:p>
            <a:endParaRPr lang="en-US" sz="5400" b="1" dirty="0"/>
          </a:p>
          <a:p>
            <a:r>
              <a:rPr lang="en-US" sz="5400" b="1" dirty="0"/>
              <a:t>Reduced patient wait times by using the AMAPHIL Mobile Application.</a:t>
            </a:r>
          </a:p>
        </p:txBody>
      </p:sp>
    </p:spTree>
    <p:extLst>
      <p:ext uri="{BB962C8B-B14F-4D97-AF65-F5344CB8AC3E}">
        <p14:creationId xmlns:p14="http://schemas.microsoft.com/office/powerpoint/2010/main" val="338840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22" name="Rectangle 21">
            <a:extLst>
              <a:ext uri="{FF2B5EF4-FFF2-40B4-BE49-F238E27FC236}">
                <a16:creationId xmlns:a16="http://schemas.microsoft.com/office/drawing/2014/main" id="{7734330D-6BDE-463E-AD42-C7A7EF0370DA}"/>
              </a:ext>
            </a:extLst>
          </p:cNvPr>
          <p:cNvSpPr/>
          <p:nvPr/>
        </p:nvSpPr>
        <p:spPr>
          <a:xfrm>
            <a:off x="1079897" y="2547041"/>
            <a:ext cx="7461786" cy="2646878"/>
          </a:xfrm>
          <a:prstGeom prst="rect">
            <a:avLst/>
          </a:prstGeom>
        </p:spPr>
        <p:txBody>
          <a:bodyPr wrap="square">
            <a:spAutoFit/>
          </a:bodyPr>
          <a:lstStyle/>
          <a:p>
            <a:pPr lvl="0"/>
            <a:r>
              <a:rPr lang="en-US" sz="3600" b="1" dirty="0"/>
              <a:t>No Internet or Smartphone?</a:t>
            </a:r>
          </a:p>
          <a:p>
            <a:r>
              <a:rPr lang="en-US" b="1" dirty="0"/>
              <a:t> </a:t>
            </a:r>
          </a:p>
          <a:p>
            <a:pPr lvl="0"/>
            <a:endParaRPr lang="en-US" b="1" dirty="0"/>
          </a:p>
          <a:p>
            <a:pPr lvl="0"/>
            <a:endParaRPr lang="en-US" b="1" dirty="0"/>
          </a:p>
          <a:p>
            <a:pPr lvl="0"/>
            <a:r>
              <a:rPr lang="en-US" sz="4400" b="1" dirty="0"/>
              <a:t>AMAPHIL Physical Card</a:t>
            </a:r>
          </a:p>
          <a:p>
            <a:r>
              <a:rPr lang="en-US" b="1" dirty="0"/>
              <a:t> </a:t>
            </a:r>
          </a:p>
          <a:p>
            <a:r>
              <a:rPr lang="en-US" sz="1400" b="1" dirty="0">
                <a:latin typeface="Arial MT"/>
                <a:ea typeface="Arial MT"/>
                <a:cs typeface="Arial MT"/>
              </a:rPr>
              <a:t> </a:t>
            </a:r>
            <a:endParaRPr lang="en-US" sz="2000" b="1" dirty="0">
              <a:effectLst/>
              <a:latin typeface="Arial MT"/>
              <a:ea typeface="Arial MT"/>
              <a:cs typeface="Arial MT"/>
            </a:endParaRPr>
          </a:p>
        </p:txBody>
      </p:sp>
      <p:pic>
        <p:nvPicPr>
          <p:cNvPr id="14" name="Picture 13">
            <a:extLst>
              <a:ext uri="{FF2B5EF4-FFF2-40B4-BE49-F238E27FC236}">
                <a16:creationId xmlns:a16="http://schemas.microsoft.com/office/drawing/2014/main" id="{ABB808A2-B933-4A54-9B4D-57135753CEA6}"/>
              </a:ext>
            </a:extLst>
          </p:cNvPr>
          <p:cNvPicPr>
            <a:picLocks noChangeAspect="1"/>
          </p:cNvPicPr>
          <p:nvPr/>
        </p:nvPicPr>
        <p:blipFill>
          <a:blip r:embed="rId2"/>
          <a:stretch>
            <a:fillRect/>
          </a:stretch>
        </p:blipFill>
        <p:spPr>
          <a:xfrm>
            <a:off x="7467600" y="663030"/>
            <a:ext cx="10406603" cy="7474969"/>
          </a:xfrm>
          <a:prstGeom prst="rect">
            <a:avLst/>
          </a:prstGeom>
        </p:spPr>
      </p:pic>
    </p:spTree>
    <p:extLst>
      <p:ext uri="{BB962C8B-B14F-4D97-AF65-F5344CB8AC3E}">
        <p14:creationId xmlns:p14="http://schemas.microsoft.com/office/powerpoint/2010/main" val="29076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xEl>
                                              <p:pRg st="4" end="4"/>
                                            </p:txEl>
                                          </p:spTgt>
                                        </p:tgtEl>
                                        <p:attrNameLst>
                                          <p:attrName>style.visibility</p:attrName>
                                        </p:attrNameLst>
                                      </p:cBhvr>
                                      <p:to>
                                        <p:strVal val="visible"/>
                                      </p:to>
                                    </p:set>
                                    <p:animEffect transition="in" filter="fade">
                                      <p:cBhvr>
                                        <p:cTn id="15"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74EE942-EB67-464D-A4F4-54C5B3EC307F}"/>
              </a:ext>
            </a:extLst>
          </p:cNvPr>
          <p:cNvPicPr>
            <a:picLocks noChangeAspect="1"/>
          </p:cNvPicPr>
          <p:nvPr/>
        </p:nvPicPr>
        <p:blipFill>
          <a:blip r:embed="rId2"/>
          <a:stretch>
            <a:fillRect/>
          </a:stretch>
        </p:blipFill>
        <p:spPr>
          <a:xfrm>
            <a:off x="4482" y="0"/>
            <a:ext cx="18250714" cy="10287000"/>
          </a:xfrm>
          <a:prstGeom prst="rect">
            <a:avLst/>
          </a:prstGeom>
        </p:spPr>
      </p:pic>
    </p:spTree>
    <p:extLst>
      <p:ext uri="{BB962C8B-B14F-4D97-AF65-F5344CB8AC3E}">
        <p14:creationId xmlns:p14="http://schemas.microsoft.com/office/powerpoint/2010/main" val="11248856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683897" y="-77494"/>
            <a:ext cx="9544044" cy="8265142"/>
            <a:chOff x="0" y="0"/>
            <a:chExt cx="6350000" cy="5499100"/>
          </a:xfrm>
        </p:grpSpPr>
        <p:sp>
          <p:nvSpPr>
            <p:cNvPr id="10" name="Freeform 10"/>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29105" r="-876"/>
              </a:stretch>
            </a:blipFill>
          </p:spPr>
        </p:sp>
      </p:grpSp>
      <p:grpSp>
        <p:nvGrpSpPr>
          <p:cNvPr id="11" name="Group 11"/>
          <p:cNvGrpSpPr/>
          <p:nvPr/>
        </p:nvGrpSpPr>
        <p:grpSpPr>
          <a:xfrm rot="-1845706">
            <a:off x="10502371" y="-1901008"/>
            <a:ext cx="1121419" cy="14856622"/>
            <a:chOff x="0" y="0"/>
            <a:chExt cx="314096" cy="4161162"/>
          </a:xfrm>
        </p:grpSpPr>
        <p:sp>
          <p:nvSpPr>
            <p:cNvPr id="12" name="Freeform 12"/>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3" name="TextBox 13"/>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3590269" y="2442936"/>
            <a:ext cx="13614956" cy="11700353"/>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039398" y="-2258624"/>
            <a:ext cx="5219028" cy="4566650"/>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9" name="TextBox 19"/>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372383" y="6450294"/>
            <a:ext cx="4772521" cy="4042664"/>
            <a:chOff x="0" y="0"/>
            <a:chExt cx="812800" cy="688499"/>
          </a:xfrm>
        </p:grpSpPr>
        <p:sp>
          <p:nvSpPr>
            <p:cNvPr id="21" name="Freeform 21"/>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2" name="TextBox 22"/>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1263007" y="7467350"/>
            <a:ext cx="8253282" cy="1850341"/>
          </a:xfrm>
          <a:prstGeom prst="rect">
            <a:avLst/>
          </a:prstGeom>
        </p:spPr>
        <p:txBody>
          <a:bodyPr lIns="0" tIns="0" rIns="0" bIns="0" rtlCol="0" anchor="t">
            <a:spAutoFit/>
          </a:bodyPr>
          <a:lstStyle/>
          <a:p>
            <a:pPr algn="l">
              <a:lnSpc>
                <a:spcPts val="14312"/>
              </a:lnSpc>
              <a:spcBef>
                <a:spcPct val="0"/>
              </a:spcBef>
            </a:pPr>
            <a:r>
              <a:rPr lang="en-US" sz="10223" b="1" dirty="0">
                <a:solidFill>
                  <a:srgbClr val="060644"/>
                </a:solidFill>
                <a:latin typeface="Poppins Bold"/>
                <a:ea typeface="Poppins Bold"/>
                <a:cs typeface="Poppins Bold"/>
                <a:sym typeface="Poppins Bold"/>
              </a:rPr>
              <a:t>THANK YOU!</a:t>
            </a:r>
          </a:p>
        </p:txBody>
      </p:sp>
      <p:pic>
        <p:nvPicPr>
          <p:cNvPr id="29" name="Picture 28">
            <a:extLst>
              <a:ext uri="{FF2B5EF4-FFF2-40B4-BE49-F238E27FC236}">
                <a16:creationId xmlns:a16="http://schemas.microsoft.com/office/drawing/2014/main" id="{C6946659-EA1C-41D3-B74F-8338A78F4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20" y="-1054546"/>
            <a:ext cx="9753600" cy="975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956</TotalTime>
  <Words>2407</Words>
  <Application>Microsoft Office PowerPoint</Application>
  <PresentationFormat>Custom</PresentationFormat>
  <Paragraphs>375</Paragraphs>
  <Slides>41</Slides>
  <Notes>3</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41</vt:i4>
      </vt:variant>
    </vt:vector>
  </HeadingPairs>
  <TitlesOfParts>
    <vt:vector size="57" baseType="lpstr">
      <vt:lpstr>Prachason Neue SemiExpanded</vt:lpstr>
      <vt:lpstr>Prachason Neue SemiExpanded Bold</vt:lpstr>
      <vt:lpstr>Arial</vt:lpstr>
      <vt:lpstr>Calibri</vt:lpstr>
      <vt:lpstr>Poppins</vt:lpstr>
      <vt:lpstr>Aharoni</vt:lpstr>
      <vt:lpstr>Anantason SemiExpanded Bold</vt:lpstr>
      <vt:lpstr>Anantason SemiExpanded Italics</vt:lpstr>
      <vt:lpstr>Wingdings</vt:lpstr>
      <vt:lpstr>Prachason Neue SemiExpanded Italics</vt:lpstr>
      <vt:lpstr>Open Sans Bold</vt:lpstr>
      <vt:lpstr>Arial MT</vt:lpstr>
      <vt:lpstr>Open Sans Italics</vt:lpstr>
      <vt:lpstr>Courier New</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Jaden Chael</dc:creator>
  <cp:lastModifiedBy>Admin</cp:lastModifiedBy>
  <cp:revision>179</cp:revision>
  <cp:lastPrinted>2026-01-31T01:50:49Z</cp:lastPrinted>
  <dcterms:created xsi:type="dcterms:W3CDTF">2006-08-16T00:00:00Z</dcterms:created>
  <dcterms:modified xsi:type="dcterms:W3CDTF">2026-02-05T05:49:12Z</dcterms:modified>
  <dc:identifier>DAG1ugVYjfw</dc:identifier>
</cp:coreProperties>
</file>