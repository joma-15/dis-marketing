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5"/>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353" r:id="rId18"/>
    <p:sldId id="369" r:id="rId19"/>
    <p:sldId id="259" r:id="rId20"/>
    <p:sldId id="260" r:id="rId21"/>
    <p:sldId id="375" r:id="rId22"/>
    <p:sldId id="356" r:id="rId23"/>
    <p:sldId id="354" r:id="rId24"/>
    <p:sldId id="355" r:id="rId25"/>
    <p:sldId id="357" r:id="rId26"/>
    <p:sldId id="358" r:id="rId27"/>
    <p:sldId id="342" r:id="rId28"/>
    <p:sldId id="261" r:id="rId29"/>
    <p:sldId id="343" r:id="rId30"/>
    <p:sldId id="359" r:id="rId31"/>
    <p:sldId id="263" r:id="rId32"/>
    <p:sldId id="262" r:id="rId33"/>
    <p:sldId id="360" r:id="rId34"/>
    <p:sldId id="361" r:id="rId35"/>
    <p:sldId id="266" r:id="rId36"/>
    <p:sldId id="400" r:id="rId37"/>
    <p:sldId id="269" r:id="rId38"/>
    <p:sldId id="344" r:id="rId39"/>
    <p:sldId id="345" r:id="rId40"/>
    <p:sldId id="370" r:id="rId41"/>
    <p:sldId id="346" r:id="rId42"/>
    <p:sldId id="347" r:id="rId43"/>
    <p:sldId id="270" r:id="rId44"/>
  </p:sldIdLst>
  <p:sldSz cx="18288000" cy="10287000"/>
  <p:notesSz cx="6858000" cy="9144000"/>
  <p:embeddedFontLst>
    <p:embeddedFont>
      <p:font typeface="Aharoni" panose="02010803020104030203" pitchFamily="2" charset="-79"/>
      <p:bold r:id="rId46"/>
    </p:embeddedFont>
    <p:embeddedFont>
      <p:font typeface="Anantason SemiExpanded Bold" panose="020B0604020202020204" charset="0"/>
      <p:regular r:id="rId47"/>
    </p:embeddedFont>
    <p:embeddedFont>
      <p:font typeface="Anantason SemiExpanded Italics" panose="020B0604020202020204" charset="0"/>
      <p:regular r:id="rId48"/>
    </p:embeddedFont>
    <p:embeddedFont>
      <p:font typeface="Arial MT" panose="020B0604020202020204" charset="0"/>
      <p:bold r:id="rId49"/>
      <p:italic r:id="rId50"/>
      <p:boldItalic r:id="rId51"/>
    </p:embeddedFont>
    <p:embeddedFont>
      <p:font typeface="Calibri" panose="020F0502020204030204" pitchFamily="34" charset="0"/>
      <p:regular r:id="rId52"/>
      <p:bold r:id="rId53"/>
      <p:italic r:id="rId54"/>
      <p:boldItalic r:id="rId55"/>
    </p:embeddedFont>
    <p:embeddedFont>
      <p:font typeface="Cambria" panose="02040503050406030204" pitchFamily="18" charset="0"/>
      <p:regular r:id="rId56"/>
      <p:bold r:id="rId57"/>
      <p:italic r:id="rId58"/>
      <p:boldItalic r:id="rId59"/>
    </p:embeddedFont>
    <p:embeddedFont>
      <p:font typeface="MS Mincho" panose="02020609040205080304" pitchFamily="49" charset="-128"/>
      <p:regular r:id="rId60"/>
    </p:embeddedFont>
    <p:embeddedFont>
      <p:font typeface="Open Sans Bold" panose="020B0604020202020204" charset="0"/>
      <p:regular r:id="rId61"/>
    </p:embeddedFont>
    <p:embeddedFont>
      <p:font typeface="Open Sans Italics" panose="020B0604020202020204" charset="0"/>
      <p:regular r:id="rId62"/>
    </p:embeddedFont>
    <p:embeddedFont>
      <p:font typeface="Poppins" panose="020B0604020202020204" charset="0"/>
      <p:regular r:id="rId63"/>
    </p:embeddedFont>
    <p:embeddedFont>
      <p:font typeface="Poppins Bold" panose="020B0604020202020204" charset="0"/>
      <p:regular r:id="rId64"/>
    </p:embeddedFont>
    <p:embeddedFont>
      <p:font typeface="Prachason Neue SemiExpanded" panose="020B0604020202020204" charset="0"/>
      <p:regular r:id="rId65"/>
    </p:embeddedFont>
    <p:embeddedFont>
      <p:font typeface="Prachason Neue SemiExpanded Bold" panose="020B0604020202020204" charset="0"/>
      <p:regular r:id="rId66"/>
    </p:embeddedFont>
    <p:embeddedFont>
      <p:font typeface="Prachason Neue SemiExpanded Italics" panose="020B0604020202020204" charset="0"/>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750" autoAdjust="0"/>
  </p:normalViewPr>
  <p:slideViewPr>
    <p:cSldViewPr>
      <p:cViewPr varScale="1">
        <p:scale>
          <a:sx n="73" d="100"/>
          <a:sy n="73" d="100"/>
        </p:scale>
        <p:origin x="594" y="5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96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font" Target="fonts/font18.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61"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font" Target="fonts/font15.fntdata"/><Relationship Id="rId65"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font" Target="fonts/font19.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67"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font" Target="fonts/font17.fntdata"/><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22C20-5353-4D0F-A47B-070A7C84035D}" type="datetimeFigureOut">
              <a:rPr lang="en-PH" smtClean="0"/>
              <a:t>22/01/2026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5BD85-2117-4C07-B6E6-90F9A910AA87}" type="slidenum">
              <a:rPr lang="en-PH" smtClean="0"/>
              <a:t>‹#›</a:t>
            </a:fld>
            <a:endParaRPr lang="en-PH"/>
          </a:p>
        </p:txBody>
      </p:sp>
    </p:spTree>
    <p:extLst>
      <p:ext uri="{BB962C8B-B14F-4D97-AF65-F5344CB8AC3E}">
        <p14:creationId xmlns:p14="http://schemas.microsoft.com/office/powerpoint/2010/main" val="3610365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Corpoaide</a:t>
            </a:r>
            <a:r>
              <a:rPr lang="en-US" dirty="0"/>
              <a:t>- 24k per year</a:t>
            </a:r>
          </a:p>
          <a:p>
            <a:r>
              <a:rPr lang="en-US" dirty="0" err="1"/>
              <a:t>CorpoPlus</a:t>
            </a:r>
            <a:r>
              <a:rPr lang="en-US" dirty="0"/>
              <a:t> – 60k per year</a:t>
            </a:r>
          </a:p>
          <a:p>
            <a:r>
              <a:rPr lang="en-US" dirty="0" err="1"/>
              <a:t>CorpoMax</a:t>
            </a:r>
            <a:r>
              <a:rPr lang="en-US" dirty="0"/>
              <a:t> – 72k per year</a:t>
            </a:r>
            <a:endParaRPr lang="en-PH" dirty="0"/>
          </a:p>
        </p:txBody>
      </p:sp>
      <p:sp>
        <p:nvSpPr>
          <p:cNvPr id="4" name="Slide Number Placeholder 3"/>
          <p:cNvSpPr>
            <a:spLocks noGrp="1"/>
          </p:cNvSpPr>
          <p:nvPr>
            <p:ph type="sldNum" sz="quarter" idx="5"/>
          </p:nvPr>
        </p:nvSpPr>
        <p:spPr/>
        <p:txBody>
          <a:bodyPr/>
          <a:lstStyle/>
          <a:p>
            <a:fld id="{3E15BD85-2117-4C07-B6E6-90F9A910AA87}" type="slidenum">
              <a:rPr lang="en-PH" smtClean="0"/>
              <a:t>22</a:t>
            </a:fld>
            <a:endParaRPr lang="en-PH"/>
          </a:p>
        </p:txBody>
      </p:sp>
    </p:spTree>
    <p:extLst>
      <p:ext uri="{BB962C8B-B14F-4D97-AF65-F5344CB8AC3E}">
        <p14:creationId xmlns:p14="http://schemas.microsoft.com/office/powerpoint/2010/main" val="1737035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ctr" latinLnBrk="0" hangingPunct="1"/>
            <a:r>
              <a:rPr lang="en-US" sz="1200" b="1" i="0" u="none" strike="noStrike" kern="1200" dirty="0">
                <a:solidFill>
                  <a:schemeClr val="tx1"/>
                </a:solidFill>
                <a:effectLst/>
                <a:latin typeface="+mn-lt"/>
                <a:ea typeface="+mn-ea"/>
                <a:cs typeface="+mn-cs"/>
              </a:rPr>
              <a:t>Annual Benefit Limit (ABL)</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₱300,000.00</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₱400,000.00</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₱600,000.00</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Maximum Benefit Limit (MBL)</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₱70,000.00 per illness per confinement per year</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₱100,000.00 per illness per confinement per year</a:t>
            </a:r>
            <a:endParaRPr lang="en-PH"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₱150,000.00 per illness per confinement per year</a:t>
            </a:r>
            <a:endParaRPr lang="en-PH" sz="1200" b="0" i="0" u="none" strike="noStrike" kern="1200" dirty="0">
              <a:solidFill>
                <a:schemeClr val="tx1"/>
              </a:solidFill>
              <a:effectLst/>
              <a:latin typeface="+mn-lt"/>
              <a:ea typeface="+mn-ea"/>
              <a:cs typeface="+mn-cs"/>
            </a:endParaRPr>
          </a:p>
          <a:p>
            <a:endParaRPr lang="en-US" dirty="0"/>
          </a:p>
          <a:p>
            <a:r>
              <a:rPr lang="en-US" dirty="0"/>
              <a:t>Y</a:t>
            </a:r>
            <a:r>
              <a:rPr lang="en-PH" dirty="0" err="1"/>
              <a:t>ou</a:t>
            </a:r>
            <a:r>
              <a:rPr lang="en-PH" dirty="0"/>
              <a:t> will also have the option to pay semi-annual mode.</a:t>
            </a:r>
          </a:p>
        </p:txBody>
      </p:sp>
      <p:sp>
        <p:nvSpPr>
          <p:cNvPr id="4" name="Slide Number Placeholder 3"/>
          <p:cNvSpPr>
            <a:spLocks noGrp="1"/>
          </p:cNvSpPr>
          <p:nvPr>
            <p:ph type="sldNum" sz="quarter" idx="5"/>
          </p:nvPr>
        </p:nvSpPr>
        <p:spPr/>
        <p:txBody>
          <a:bodyPr/>
          <a:lstStyle/>
          <a:p>
            <a:fld id="{3E15BD85-2117-4C07-B6E6-90F9A910AA87}" type="slidenum">
              <a:rPr lang="en-PH" smtClean="0"/>
              <a:t>33</a:t>
            </a:fld>
            <a:endParaRPr lang="en-PH"/>
          </a:p>
        </p:txBody>
      </p:sp>
    </p:spTree>
    <p:extLst>
      <p:ext uri="{BB962C8B-B14F-4D97-AF65-F5344CB8AC3E}">
        <p14:creationId xmlns:p14="http://schemas.microsoft.com/office/powerpoint/2010/main" val="4200456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are going to decide which card to choose. We have to consider 2 major factors:</a:t>
            </a:r>
          </a:p>
          <a:p>
            <a:endParaRPr lang="en-US" dirty="0"/>
          </a:p>
          <a:p>
            <a:pPr marL="228600" indent="-228600">
              <a:buAutoNum type="arabicPeriod"/>
            </a:pPr>
            <a:r>
              <a:rPr lang="en-US" dirty="0"/>
              <a:t>Benefits (</a:t>
            </a:r>
            <a:r>
              <a:rPr lang="en-US" dirty="0" err="1"/>
              <a:t>inpatient,outpatient,emergency,financial</a:t>
            </a:r>
            <a:r>
              <a:rPr lang="en-US" dirty="0"/>
              <a:t> assistance)</a:t>
            </a:r>
          </a:p>
          <a:p>
            <a:pPr marL="228600" indent="-228600">
              <a:buAutoNum type="arabicPeriod"/>
            </a:pPr>
            <a:r>
              <a:rPr lang="en-US" dirty="0"/>
              <a:t>How convenient to use</a:t>
            </a:r>
            <a:endParaRPr lang="en-PH" dirty="0"/>
          </a:p>
          <a:p>
            <a:endParaRPr lang="en-PH" dirty="0"/>
          </a:p>
        </p:txBody>
      </p:sp>
      <p:sp>
        <p:nvSpPr>
          <p:cNvPr id="4" name="Slide Number Placeholder 3"/>
          <p:cNvSpPr>
            <a:spLocks noGrp="1"/>
          </p:cNvSpPr>
          <p:nvPr>
            <p:ph type="sldNum" sz="quarter" idx="5"/>
          </p:nvPr>
        </p:nvSpPr>
        <p:spPr/>
        <p:txBody>
          <a:bodyPr/>
          <a:lstStyle/>
          <a:p>
            <a:fld id="{3E15BD85-2117-4C07-B6E6-90F9A910AA87}" type="slidenum">
              <a:rPr lang="en-PH" smtClean="0"/>
              <a:t>39</a:t>
            </a:fld>
            <a:endParaRPr lang="en-PH"/>
          </a:p>
        </p:txBody>
      </p:sp>
    </p:spTree>
    <p:extLst>
      <p:ext uri="{BB962C8B-B14F-4D97-AF65-F5344CB8AC3E}">
        <p14:creationId xmlns:p14="http://schemas.microsoft.com/office/powerpoint/2010/main" val="2758090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PH" dirty="0"/>
          </a:p>
        </p:txBody>
      </p:sp>
      <p:sp>
        <p:nvSpPr>
          <p:cNvPr id="4" name="Slide Number Placeholder 3"/>
          <p:cNvSpPr>
            <a:spLocks noGrp="1"/>
          </p:cNvSpPr>
          <p:nvPr>
            <p:ph type="sldNum" sz="quarter" idx="5"/>
          </p:nvPr>
        </p:nvSpPr>
        <p:spPr/>
        <p:txBody>
          <a:bodyPr/>
          <a:lstStyle/>
          <a:p>
            <a:fld id="{3E15BD85-2117-4C07-B6E6-90F9A910AA87}" type="slidenum">
              <a:rPr lang="en-PH" smtClean="0"/>
              <a:t>40</a:t>
            </a:fld>
            <a:endParaRPr lang="en-PH"/>
          </a:p>
        </p:txBody>
      </p:sp>
    </p:spTree>
    <p:extLst>
      <p:ext uri="{BB962C8B-B14F-4D97-AF65-F5344CB8AC3E}">
        <p14:creationId xmlns:p14="http://schemas.microsoft.com/office/powerpoint/2010/main" val="2085503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are going to decide which card to choose. We have to consider 3 major factors:</a:t>
            </a:r>
          </a:p>
          <a:p>
            <a:endParaRPr lang="en-US" dirty="0"/>
          </a:p>
          <a:p>
            <a:pPr marL="228600" indent="-228600">
              <a:buAutoNum type="arabicPeriod"/>
            </a:pPr>
            <a:r>
              <a:rPr lang="en-US" dirty="0"/>
              <a:t>Affordability. We offer the lowest in the market ( 6k per year or 5.7k for 50 above members. 300k ABL )</a:t>
            </a:r>
          </a:p>
          <a:p>
            <a:pPr marL="228600" indent="-228600">
              <a:buAutoNum type="arabicPeriod"/>
            </a:pPr>
            <a:r>
              <a:rPr lang="en-US" dirty="0"/>
              <a:t>Benefits (</a:t>
            </a:r>
            <a:r>
              <a:rPr lang="en-US" dirty="0" err="1"/>
              <a:t>inpatient,outpatient,emergency,financial</a:t>
            </a:r>
            <a:r>
              <a:rPr lang="en-US" dirty="0"/>
              <a:t> assistance)</a:t>
            </a:r>
          </a:p>
          <a:p>
            <a:pPr marL="228600" indent="-228600">
              <a:buAutoNum type="arabicPeriod"/>
            </a:pPr>
            <a:r>
              <a:rPr lang="en-US" dirty="0"/>
              <a:t>How convenient to use ( </a:t>
            </a:r>
            <a:r>
              <a:rPr lang="en-US" dirty="0" err="1"/>
              <a:t>sobrang</a:t>
            </a:r>
            <a:r>
              <a:rPr lang="en-US" dirty="0"/>
              <a:t> convenient ang approval using the </a:t>
            </a:r>
            <a:r>
              <a:rPr lang="en-US" dirty="0" err="1"/>
              <a:t>amaphil</a:t>
            </a:r>
            <a:r>
              <a:rPr lang="en-US" dirty="0"/>
              <a:t> mobile app)</a:t>
            </a:r>
            <a:endParaRPr lang="en-PH" dirty="0"/>
          </a:p>
          <a:p>
            <a:endParaRPr lang="en-PH" dirty="0"/>
          </a:p>
        </p:txBody>
      </p:sp>
      <p:sp>
        <p:nvSpPr>
          <p:cNvPr id="4" name="Slide Number Placeholder 3"/>
          <p:cNvSpPr>
            <a:spLocks noGrp="1"/>
          </p:cNvSpPr>
          <p:nvPr>
            <p:ph type="sldNum" sz="quarter" idx="5"/>
          </p:nvPr>
        </p:nvSpPr>
        <p:spPr/>
        <p:txBody>
          <a:bodyPr/>
          <a:lstStyle/>
          <a:p>
            <a:fld id="{3E15BD85-2117-4C07-B6E6-90F9A910AA87}" type="slidenum">
              <a:rPr lang="en-PH" smtClean="0"/>
              <a:t>42</a:t>
            </a:fld>
            <a:endParaRPr lang="en-PH"/>
          </a:p>
        </p:txBody>
      </p:sp>
    </p:spTree>
    <p:extLst>
      <p:ext uri="{BB962C8B-B14F-4D97-AF65-F5344CB8AC3E}">
        <p14:creationId xmlns:p14="http://schemas.microsoft.com/office/powerpoint/2010/main" val="2575944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Valenzuela</a:t>
            </a:r>
          </a:p>
          <a:p>
            <a:pPr algn="just">
              <a:lnSpc>
                <a:spcPts val="3311"/>
              </a:lnSpc>
            </a:pPr>
            <a:r>
              <a:rPr lang="en-US" sz="2547" spc="-25" dirty="0" err="1">
                <a:solidFill>
                  <a:srgbClr val="000000"/>
                </a:solidFill>
                <a:latin typeface="Prachason Neue SemiExpanded"/>
                <a:ea typeface="Prachason Neue SemiExpanded"/>
                <a:cs typeface="Prachason Neue SemiExpanded"/>
                <a:sym typeface="Prachason Neue SemiExpanded"/>
              </a:rPr>
              <a:t>Lipa</a:t>
            </a:r>
            <a:endParaRPr lang="en-US" sz="2547" spc="-25" dirty="0">
              <a:solidFill>
                <a:srgbClr val="000000"/>
              </a:solidFill>
              <a:latin typeface="Prachason Neue SemiExpanded"/>
              <a:ea typeface="Prachason Neue SemiExpanded"/>
              <a:cs typeface="Prachason Neue SemiExpanded"/>
              <a:sym typeface="Prachason Neue SemiExpanded"/>
            </a:endParaRP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 1 &amp; 2</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General Santos City</a:t>
            </a: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277842" y="429639"/>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384895" y="2141843"/>
            <a:ext cx="21028168" cy="2646878"/>
          </a:xfrm>
          <a:prstGeom prst="rect">
            <a:avLst/>
          </a:prstGeom>
          <a:noFill/>
        </p:spPr>
        <p:txBody>
          <a:bodyPr wrap="square" rtlCol="0">
            <a:spAutoFit/>
          </a:bodyPr>
          <a:lstStyle/>
          <a:p>
            <a:r>
              <a:rPr lang="en-US" sz="16600" b="1" dirty="0">
                <a:ln>
                  <a:solidFill>
                    <a:schemeClr val="tx1"/>
                  </a:solidFill>
                </a:ln>
                <a:solidFill>
                  <a:srgbClr val="002060"/>
                </a:solidFill>
                <a:latin typeface="Aharoni" panose="02010803020104030203" pitchFamily="2" charset="-79"/>
                <a:cs typeface="Aharoni" panose="02010803020104030203" pitchFamily="2" charset="-79"/>
              </a:rPr>
              <a:t>Total </a:t>
            </a:r>
            <a:r>
              <a:rPr lang="en-US" sz="16600" b="1" dirty="0" err="1">
                <a:ln>
                  <a:solidFill>
                    <a:schemeClr val="tx1"/>
                  </a:solidFill>
                </a:ln>
                <a:solidFill>
                  <a:srgbClr val="002060"/>
                </a:solidFill>
                <a:latin typeface="Aharoni" panose="02010803020104030203" pitchFamily="2" charset="-79"/>
                <a:cs typeface="Aharoni" panose="02010803020104030203" pitchFamily="2" charset="-79"/>
              </a:rPr>
              <a:t>CorpoShield</a:t>
            </a:r>
            <a:endParaRPr lang="en-US" sz="16600" b="1" dirty="0">
              <a:ln>
                <a:solidFill>
                  <a:schemeClr val="tx1"/>
                </a:solidFill>
              </a:ln>
              <a:solidFill>
                <a:srgbClr val="002060"/>
              </a:solidFill>
              <a:latin typeface="Aharoni" panose="02010803020104030203" pitchFamily="2" charset="-79"/>
              <a:cs typeface="Aharoni" panose="02010803020104030203" pitchFamily="2" charset="-79"/>
            </a:endParaRP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6834" y="7807033"/>
            <a:ext cx="2725919" cy="2725919"/>
          </a:xfrm>
          <a:prstGeom prst="rect">
            <a:avLst/>
          </a:prstGeom>
        </p:spPr>
      </p:pic>
      <p:sp>
        <p:nvSpPr>
          <p:cNvPr id="22" name="Rectangle 21">
            <a:extLst>
              <a:ext uri="{FF2B5EF4-FFF2-40B4-BE49-F238E27FC236}">
                <a16:creationId xmlns:a16="http://schemas.microsoft.com/office/drawing/2014/main" id="{B388E0A9-D9CF-4B6F-8CA4-C9EF14C587A5}"/>
              </a:ext>
            </a:extLst>
          </p:cNvPr>
          <p:cNvSpPr/>
          <p:nvPr/>
        </p:nvSpPr>
        <p:spPr>
          <a:xfrm>
            <a:off x="304800" y="4457700"/>
            <a:ext cx="10348628" cy="4514634"/>
          </a:xfrm>
          <a:prstGeom prst="rect">
            <a:avLst/>
          </a:prstGeom>
        </p:spPr>
        <p:txBody>
          <a:bodyPr wrap="square">
            <a:spAutoFit/>
          </a:bodyPr>
          <a:lstStyle/>
          <a:p>
            <a:pPr algn="just">
              <a:lnSpc>
                <a:spcPct val="115000"/>
              </a:lnSpc>
              <a:spcAft>
                <a:spcPts val="1000"/>
              </a:spcAft>
            </a:pPr>
            <a:r>
              <a:rPr lang="en-US" sz="3600" b="1" dirty="0">
                <a:latin typeface="+mj-lt"/>
                <a:ea typeface="MS Mincho" panose="02020609040205080304" pitchFamily="49" charset="-128"/>
                <a:cs typeface="Times New Roman" panose="02020603050405020304" pitchFamily="18" charset="0"/>
              </a:rPr>
              <a:t>This plan is a comprehensive corporate health program designed to protect companies and their employees through total medical coverage, financial security, and wellness support. It combines the advantages of a managed healthcare system with flexible benefits that meet the diverse needs of the modern workforce.</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1160723"/>
            <a:ext cx="12026900" cy="1292662"/>
          </a:xfrm>
          <a:prstGeom prst="rect">
            <a:avLst/>
          </a:prstGeom>
          <a:noFill/>
        </p:spPr>
        <p:txBody>
          <a:bodyPr wrap="square" rtlCol="0">
            <a:spAutoFit/>
          </a:bodyPr>
          <a:lstStyle/>
          <a:p>
            <a:pPr algn="ctr"/>
            <a:endParaRPr lang="en-US" sz="6000" b="1" dirty="0">
              <a:solidFill>
                <a:schemeClr val="accent6">
                  <a:lumMod val="75000"/>
                </a:schemeClr>
              </a:solidFill>
              <a:latin typeface="+mj-lt"/>
              <a:cs typeface="Poppins" panose="020B0604020202020204" charset="0"/>
            </a:endParaRPr>
          </a:p>
          <a:p>
            <a:pPr algn="ctr"/>
            <a:endParaRPr lang="en-PH" sz="1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57355" y="1492162"/>
            <a:ext cx="11117550" cy="3046988"/>
          </a:xfrm>
          <a:prstGeom prst="rect">
            <a:avLst/>
          </a:prstGeom>
          <a:noFill/>
        </p:spPr>
        <p:txBody>
          <a:bodyPr wrap="square" rtlCol="0">
            <a:spAutoFit/>
          </a:bodyPr>
          <a:lstStyle/>
          <a:p>
            <a:pPr algn="ctr"/>
            <a:r>
              <a:rPr lang="en-US" sz="9600" b="1" dirty="0">
                <a:ln>
                  <a:solidFill>
                    <a:schemeClr val="tx1"/>
                  </a:solidFill>
                </a:ln>
                <a:solidFill>
                  <a:srgbClr val="002060"/>
                </a:solidFill>
                <a:latin typeface="Aharoni" panose="02010803020104030203" pitchFamily="2" charset="-79"/>
                <a:cs typeface="Aharoni" panose="02010803020104030203" pitchFamily="2" charset="-79"/>
              </a:rPr>
              <a:t>Total </a:t>
            </a:r>
            <a:r>
              <a:rPr lang="en-US" sz="9600" b="1" dirty="0" err="1">
                <a:ln>
                  <a:solidFill>
                    <a:schemeClr val="tx1"/>
                  </a:solidFill>
                </a:ln>
                <a:solidFill>
                  <a:srgbClr val="002060"/>
                </a:solidFill>
                <a:latin typeface="Aharoni" panose="02010803020104030203" pitchFamily="2" charset="-79"/>
                <a:cs typeface="Aharoni" panose="02010803020104030203" pitchFamily="2" charset="-79"/>
              </a:rPr>
              <a:t>CorpoShield</a:t>
            </a:r>
            <a:r>
              <a:rPr lang="en-US" sz="9600" b="1" dirty="0">
                <a:ln>
                  <a:solidFill>
                    <a:schemeClr val="tx1"/>
                  </a:solidFill>
                </a:ln>
                <a:solidFill>
                  <a:srgbClr val="002060"/>
                </a:solidFill>
                <a:latin typeface="Aharoni" panose="02010803020104030203" pitchFamily="2" charset="-79"/>
                <a:cs typeface="Aharoni" panose="02010803020104030203" pitchFamily="2" charset="-79"/>
              </a:rPr>
              <a:t> </a:t>
            </a:r>
          </a:p>
          <a:p>
            <a:pPr algn="ctr"/>
            <a:r>
              <a:rPr lang="en-US" sz="9600" b="1" dirty="0">
                <a:ln>
                  <a:solidFill>
                    <a:schemeClr val="tx1"/>
                  </a:solidFill>
                </a:ln>
                <a:solidFill>
                  <a:srgbClr val="002060"/>
                </a:solidFill>
                <a:latin typeface="Aharoni" panose="02010803020104030203" pitchFamily="2" charset="-79"/>
                <a:cs typeface="Aharoni" panose="02010803020104030203" pitchFamily="2" charset="-79"/>
              </a:rPr>
              <a:t>Variants</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048277"/>
            <a:ext cx="2725919" cy="2725919"/>
          </a:xfrm>
          <a:prstGeom prst="rect">
            <a:avLst/>
          </a:prstGeom>
        </p:spPr>
      </p:pic>
      <p:sp>
        <p:nvSpPr>
          <p:cNvPr id="25" name="TextBox 24">
            <a:extLst>
              <a:ext uri="{FF2B5EF4-FFF2-40B4-BE49-F238E27FC236}">
                <a16:creationId xmlns:a16="http://schemas.microsoft.com/office/drawing/2014/main" id="{A59E7064-88EE-42BF-8934-73C0670E21CC}"/>
              </a:ext>
            </a:extLst>
          </p:cNvPr>
          <p:cNvSpPr txBox="1"/>
          <p:nvPr/>
        </p:nvSpPr>
        <p:spPr>
          <a:xfrm>
            <a:off x="2734020" y="5188467"/>
            <a:ext cx="6499999" cy="4154984"/>
          </a:xfrm>
          <a:prstGeom prst="rect">
            <a:avLst/>
          </a:prstGeom>
          <a:noFill/>
        </p:spPr>
        <p:txBody>
          <a:bodyPr wrap="square" rtlCol="0">
            <a:spAutoFit/>
          </a:bodyPr>
          <a:lstStyle/>
          <a:p>
            <a:pPr marL="857250" indent="-857250">
              <a:buFont typeface="Wingdings" panose="05000000000000000000" pitchFamily="2" charset="2"/>
              <a:buChar char="v"/>
            </a:pPr>
            <a:r>
              <a:rPr lang="en-US" sz="6600" b="1" dirty="0" err="1">
                <a:ln>
                  <a:solidFill>
                    <a:schemeClr val="tx1"/>
                  </a:solidFill>
                </a:ln>
                <a:solidFill>
                  <a:schemeClr val="accent6">
                    <a:lumMod val="75000"/>
                  </a:schemeClr>
                </a:solidFill>
                <a:latin typeface="Aharoni" panose="02010803020104030203" pitchFamily="2" charset="-79"/>
                <a:cs typeface="Aharoni" panose="02010803020104030203" pitchFamily="2" charset="-79"/>
              </a:rPr>
              <a:t>CorpoServe</a:t>
            </a:r>
            <a:endParaRPr lang="en-US" sz="6600" b="1" dirty="0">
              <a:ln>
                <a:solidFill>
                  <a:schemeClr val="tx1"/>
                </a:solidFill>
              </a:ln>
              <a:solidFill>
                <a:schemeClr val="accent6">
                  <a:lumMod val="75000"/>
                </a:schemeClr>
              </a:solidFill>
              <a:latin typeface="Aharoni" panose="02010803020104030203" pitchFamily="2" charset="-79"/>
              <a:cs typeface="Aharoni" panose="02010803020104030203" pitchFamily="2" charset="-79"/>
            </a:endParaRPr>
          </a:p>
          <a:p>
            <a:pPr marL="857250" indent="-857250">
              <a:buFont typeface="Wingdings" panose="05000000000000000000" pitchFamily="2" charset="2"/>
              <a:buChar char="v"/>
            </a:pPr>
            <a:r>
              <a:rPr lang="en-US" sz="6600" b="1" dirty="0" err="1">
                <a:ln>
                  <a:solidFill>
                    <a:schemeClr val="tx1"/>
                  </a:solidFill>
                </a:ln>
                <a:solidFill>
                  <a:schemeClr val="accent6">
                    <a:lumMod val="75000"/>
                  </a:schemeClr>
                </a:solidFill>
                <a:latin typeface="Aharoni" panose="02010803020104030203" pitchFamily="2" charset="-79"/>
                <a:cs typeface="Aharoni" panose="02010803020104030203" pitchFamily="2" charset="-79"/>
              </a:rPr>
              <a:t>CorpoAide</a:t>
            </a:r>
            <a:endParaRPr lang="en-US" sz="6600" b="1" dirty="0">
              <a:ln>
                <a:solidFill>
                  <a:schemeClr val="tx1"/>
                </a:solidFill>
              </a:ln>
              <a:solidFill>
                <a:schemeClr val="accent6">
                  <a:lumMod val="75000"/>
                </a:schemeClr>
              </a:solidFill>
              <a:latin typeface="Aharoni" panose="02010803020104030203" pitchFamily="2" charset="-79"/>
              <a:cs typeface="Aharoni" panose="02010803020104030203" pitchFamily="2" charset="-79"/>
            </a:endParaRPr>
          </a:p>
          <a:p>
            <a:pPr marL="857250" indent="-857250">
              <a:buFont typeface="Wingdings" panose="05000000000000000000" pitchFamily="2" charset="2"/>
              <a:buChar char="v"/>
            </a:pPr>
            <a:r>
              <a:rPr lang="en-US" sz="6600" b="1" dirty="0" err="1">
                <a:ln>
                  <a:solidFill>
                    <a:schemeClr val="tx1"/>
                  </a:solidFill>
                </a:ln>
                <a:solidFill>
                  <a:schemeClr val="accent6">
                    <a:lumMod val="75000"/>
                  </a:schemeClr>
                </a:solidFill>
                <a:latin typeface="Aharoni" panose="02010803020104030203" pitchFamily="2" charset="-79"/>
                <a:cs typeface="Aharoni" panose="02010803020104030203" pitchFamily="2" charset="-79"/>
              </a:rPr>
              <a:t>CorpoPlus</a:t>
            </a:r>
            <a:endParaRPr lang="en-US" sz="6600" b="1" dirty="0">
              <a:ln>
                <a:solidFill>
                  <a:schemeClr val="tx1"/>
                </a:solidFill>
              </a:ln>
              <a:solidFill>
                <a:schemeClr val="accent6">
                  <a:lumMod val="75000"/>
                </a:schemeClr>
              </a:solidFill>
              <a:latin typeface="Aharoni" panose="02010803020104030203" pitchFamily="2" charset="-79"/>
              <a:cs typeface="Aharoni" panose="02010803020104030203" pitchFamily="2" charset="-79"/>
            </a:endParaRPr>
          </a:p>
          <a:p>
            <a:pPr marL="857250" indent="-857250">
              <a:buFont typeface="Wingdings" panose="05000000000000000000" pitchFamily="2" charset="2"/>
              <a:buChar char="v"/>
            </a:pPr>
            <a:r>
              <a:rPr lang="en-US" sz="6600" b="1" dirty="0" err="1">
                <a:ln>
                  <a:solidFill>
                    <a:schemeClr val="tx1"/>
                  </a:solidFill>
                </a:ln>
                <a:solidFill>
                  <a:schemeClr val="accent6">
                    <a:lumMod val="75000"/>
                  </a:schemeClr>
                </a:solidFill>
                <a:latin typeface="Aharoni" panose="02010803020104030203" pitchFamily="2" charset="-79"/>
                <a:cs typeface="Aharoni" panose="02010803020104030203" pitchFamily="2" charset="-79"/>
              </a:rPr>
              <a:t>CorpoMax</a:t>
            </a:r>
            <a:endParaRPr lang="en-US" sz="6600" b="1" dirty="0">
              <a:ln>
                <a:solidFill>
                  <a:schemeClr val="tx1"/>
                </a:solidFill>
              </a:ln>
              <a:solidFill>
                <a:schemeClr val="accent6">
                  <a:lumMod val="75000"/>
                </a:schemeClr>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33226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fad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fad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3" end="3"/>
                                            </p:txEl>
                                          </p:spTgt>
                                        </p:tgtEl>
                                        <p:attrNameLst>
                                          <p:attrName>style.visibility</p:attrName>
                                        </p:attrNameLst>
                                      </p:cBhvr>
                                      <p:to>
                                        <p:strVal val="visible"/>
                                      </p:to>
                                    </p:set>
                                    <p:animEffect transition="in" filter="fade">
                                      <p:cBhvr>
                                        <p:cTn id="27"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nvPr>
        </p:nvGraphicFramePr>
        <p:xfrm>
          <a:off x="7025549" y="3171231"/>
          <a:ext cx="11096557" cy="223211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20000"/>
                    </a:ext>
                  </a:extLst>
                </a:gridCol>
                <a:gridCol w="2624824">
                  <a:extLst>
                    <a:ext uri="{9D8B030D-6E8A-4147-A177-3AD203B41FA5}">
                      <a16:colId xmlns:a16="http://schemas.microsoft.com/office/drawing/2014/main" val="20001"/>
                    </a:ext>
                  </a:extLst>
                </a:gridCol>
                <a:gridCol w="2671975">
                  <a:extLst>
                    <a:ext uri="{9D8B030D-6E8A-4147-A177-3AD203B41FA5}">
                      <a16:colId xmlns:a16="http://schemas.microsoft.com/office/drawing/2014/main" val="20002"/>
                    </a:ext>
                  </a:extLst>
                </a:gridCol>
                <a:gridCol w="2373342">
                  <a:extLst>
                    <a:ext uri="{9D8B030D-6E8A-4147-A177-3AD203B41FA5}">
                      <a16:colId xmlns:a16="http://schemas.microsoft.com/office/drawing/2014/main" val="20003"/>
                    </a:ext>
                  </a:extLst>
                </a:gridCol>
              </a:tblGrid>
              <a:tr h="1531078">
                <a:tc rowSpan="2">
                  <a:txBody>
                    <a:bodyPr/>
                    <a:lstStyle/>
                    <a:p>
                      <a:pPr algn="ctr"/>
                      <a:r>
                        <a:rPr lang="en-US" sz="3600" dirty="0">
                          <a:latin typeface="+mj-lt"/>
                        </a:rPr>
                        <a:t>EMPLOYEES</a:t>
                      </a: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10000"/>
                  </a:ext>
                </a:extLst>
              </a:tr>
              <a:tr h="456348">
                <a:tc vMerge="1">
                  <a:txBody>
                    <a:bodyPr/>
                    <a:lstStyle/>
                    <a:p>
                      <a:pPr algn="ctr"/>
                      <a:endParaRPr lang="en-US" sz="2400" dirty="0">
                        <a:latin typeface="Garamond" panose="02020404030301010803" pitchFamily="18" charset="0"/>
                      </a:endParaRPr>
                    </a:p>
                  </a:txBody>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65</a:t>
                      </a:r>
                    </a:p>
                  </a:txBody>
                  <a:tcPr anchor="ctr">
                    <a:solidFill>
                      <a:srgbClr val="F68712"/>
                    </a:solidFill>
                  </a:tcPr>
                </a:tc>
                <a:tc>
                  <a:txBody>
                    <a:bodyPr/>
                    <a:lstStyle/>
                    <a:p>
                      <a:pPr algn="ctr"/>
                      <a:r>
                        <a:rPr lang="en-US" sz="4000" dirty="0">
                          <a:latin typeface="+mj-lt"/>
                        </a:rPr>
                        <a:t>66</a:t>
                      </a:r>
                    </a:p>
                  </a:txBody>
                  <a:tcPr anchor="ctr">
                    <a:solidFill>
                      <a:srgbClr val="F68712"/>
                    </a:solidFill>
                  </a:tcPr>
                </a:tc>
                <a:extLst>
                  <a:ext uri="{0D108BD9-81ED-4DB2-BD59-A6C34878D82A}">
                    <a16:rowId xmlns:a16="http://schemas.microsoft.com/office/drawing/2014/main" val="10001"/>
                  </a:ext>
                </a:extLst>
              </a:tr>
            </a:tbl>
          </a:graphicData>
        </a:graphic>
      </p:graphicFrame>
      <p:sp>
        <p:nvSpPr>
          <p:cNvPr id="31" name="TextBox 30">
            <a:extLst>
              <a:ext uri="{FF2B5EF4-FFF2-40B4-BE49-F238E27FC236}">
                <a16:creationId xmlns:a16="http://schemas.microsoft.com/office/drawing/2014/main" id="{5B07BB15-7FE4-4628-A565-C990D4F30E14}"/>
              </a:ext>
            </a:extLst>
          </p:cNvPr>
          <p:cNvSpPr txBox="1"/>
          <p:nvPr/>
        </p:nvSpPr>
        <p:spPr>
          <a:xfrm>
            <a:off x="7744749" y="1621663"/>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graphicFrame>
        <p:nvGraphicFramePr>
          <p:cNvPr id="2" name="Table 1">
            <a:extLst>
              <a:ext uri="{FF2B5EF4-FFF2-40B4-BE49-F238E27FC236}">
                <a16:creationId xmlns:a16="http://schemas.microsoft.com/office/drawing/2014/main" id="{3DC3788A-865C-4DDD-BCB4-A27D751EBF76}"/>
              </a:ext>
            </a:extLst>
          </p:cNvPr>
          <p:cNvGraphicFramePr>
            <a:graphicFrameLocks noGrp="1"/>
          </p:cNvGraphicFramePr>
          <p:nvPr>
            <p:extLst/>
          </p:nvPr>
        </p:nvGraphicFramePr>
        <p:xfrm>
          <a:off x="7113858" y="6674543"/>
          <a:ext cx="11096557" cy="293315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415786042"/>
                    </a:ext>
                  </a:extLst>
                </a:gridCol>
                <a:gridCol w="2624824">
                  <a:extLst>
                    <a:ext uri="{9D8B030D-6E8A-4147-A177-3AD203B41FA5}">
                      <a16:colId xmlns:a16="http://schemas.microsoft.com/office/drawing/2014/main" val="1249221643"/>
                    </a:ext>
                  </a:extLst>
                </a:gridCol>
                <a:gridCol w="2671975">
                  <a:extLst>
                    <a:ext uri="{9D8B030D-6E8A-4147-A177-3AD203B41FA5}">
                      <a16:colId xmlns:a16="http://schemas.microsoft.com/office/drawing/2014/main" val="4148185160"/>
                    </a:ext>
                  </a:extLst>
                </a:gridCol>
                <a:gridCol w="2373342">
                  <a:extLst>
                    <a:ext uri="{9D8B030D-6E8A-4147-A177-3AD203B41FA5}">
                      <a16:colId xmlns:a16="http://schemas.microsoft.com/office/drawing/2014/main" val="3543190685"/>
                    </a:ext>
                  </a:extLst>
                </a:gridCol>
              </a:tblGrid>
              <a:tr h="1531078">
                <a:tc>
                  <a:txBody>
                    <a:bodyPr/>
                    <a:lstStyle/>
                    <a:p>
                      <a:pPr algn="ctr"/>
                      <a:endParaRPr lang="en-US" sz="3600" dirty="0">
                        <a:latin typeface="+mj-lt"/>
                      </a:endParaRP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2045980287"/>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Children</a:t>
                      </a:r>
                    </a:p>
                  </a:txBody>
                  <a:tcPr anchor="ctr">
                    <a:solidFill>
                      <a:srgbClr val="F68712"/>
                    </a:solidFill>
                  </a:tcPr>
                </a:tc>
                <a:tc>
                  <a:txBody>
                    <a:bodyPr/>
                    <a:lstStyle/>
                    <a:p>
                      <a:pPr algn="ctr"/>
                      <a:r>
                        <a:rPr lang="en-US" sz="4000" dirty="0">
                          <a:latin typeface="+mj-lt"/>
                        </a:rPr>
                        <a:t>5</a:t>
                      </a:r>
                    </a:p>
                  </a:txBody>
                  <a:tcPr anchor="ctr">
                    <a:solidFill>
                      <a:srgbClr val="F68712"/>
                    </a:solidFill>
                  </a:tcPr>
                </a:tc>
                <a:tc>
                  <a:txBody>
                    <a:bodyPr/>
                    <a:lstStyle/>
                    <a:p>
                      <a:pPr algn="ctr"/>
                      <a:r>
                        <a:rPr lang="en-US" sz="4000" dirty="0">
                          <a:latin typeface="+mj-lt"/>
                        </a:rPr>
                        <a:t>23</a:t>
                      </a:r>
                    </a:p>
                  </a:txBody>
                  <a:tcPr anchor="ctr">
                    <a:solidFill>
                      <a:srgbClr val="F68712"/>
                    </a:solidFill>
                  </a:tcPr>
                </a:tc>
                <a:tc>
                  <a:txBody>
                    <a:bodyPr/>
                    <a:lstStyle/>
                    <a:p>
                      <a:pPr algn="ctr"/>
                      <a:r>
                        <a:rPr lang="en-US" sz="4000" dirty="0">
                          <a:latin typeface="+mj-lt"/>
                        </a:rPr>
                        <a:t>24</a:t>
                      </a:r>
                    </a:p>
                  </a:txBody>
                  <a:tcPr anchor="ctr">
                    <a:solidFill>
                      <a:srgbClr val="F68712"/>
                    </a:solidFill>
                  </a:tcPr>
                </a:tc>
                <a:extLst>
                  <a:ext uri="{0D108BD9-81ED-4DB2-BD59-A6C34878D82A}">
                    <a16:rowId xmlns:a16="http://schemas.microsoft.com/office/drawing/2014/main" val="1649056569"/>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Spouse/Parents</a:t>
                      </a:r>
                    </a:p>
                  </a:txBody>
                  <a:tcPr anchor="ctr">
                    <a:solidFill>
                      <a:srgbClr val="F68712"/>
                    </a:solidFill>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60</a:t>
                      </a:r>
                    </a:p>
                  </a:txBody>
                  <a:tcPr anchor="ctr">
                    <a:solidFill>
                      <a:srgbClr val="F68712"/>
                    </a:solidFill>
                  </a:tcPr>
                </a:tc>
                <a:tc>
                  <a:txBody>
                    <a:bodyPr/>
                    <a:lstStyle/>
                    <a:p>
                      <a:pPr algn="ctr"/>
                      <a:r>
                        <a:rPr lang="en-US" sz="4000" dirty="0">
                          <a:latin typeface="+mj-lt"/>
                        </a:rPr>
                        <a:t>61</a:t>
                      </a:r>
                    </a:p>
                  </a:txBody>
                  <a:tcPr anchor="ctr">
                    <a:solidFill>
                      <a:srgbClr val="F68712"/>
                    </a:solidFill>
                  </a:tcPr>
                </a:tc>
                <a:extLst>
                  <a:ext uri="{0D108BD9-81ED-4DB2-BD59-A6C34878D82A}">
                    <a16:rowId xmlns:a16="http://schemas.microsoft.com/office/drawing/2014/main" val="2139682812"/>
                  </a:ext>
                </a:extLst>
              </a:tr>
            </a:tbl>
          </a:graphicData>
        </a:graphic>
      </p:graphicFrame>
      <p:sp>
        <p:nvSpPr>
          <p:cNvPr id="28" name="TextBox 27">
            <a:extLst>
              <a:ext uri="{FF2B5EF4-FFF2-40B4-BE49-F238E27FC236}">
                <a16:creationId xmlns:a16="http://schemas.microsoft.com/office/drawing/2014/main" id="{204FC43C-0FA9-487A-8706-690B2A2135EC}"/>
              </a:ext>
            </a:extLst>
          </p:cNvPr>
          <p:cNvSpPr txBox="1"/>
          <p:nvPr/>
        </p:nvSpPr>
        <p:spPr>
          <a:xfrm>
            <a:off x="7620354" y="5299625"/>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Dependents</a:t>
            </a:r>
            <a:endParaRPr lang="en-PH" sz="8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03D3129A-70BA-4DB7-B46E-95AEE3A1A9B1}"/>
              </a:ext>
            </a:extLst>
          </p:cNvPr>
          <p:cNvSpPr txBox="1"/>
          <p:nvPr/>
        </p:nvSpPr>
        <p:spPr>
          <a:xfrm>
            <a:off x="2425185" y="1433651"/>
            <a:ext cx="14458950" cy="821763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a:p>
            <a:pPr marL="457200" indent="-457200">
              <a:buFont typeface="Wingdings" panose="05000000000000000000" pitchFamily="2" charset="2"/>
              <a:buChar char="Ø"/>
            </a:pPr>
            <a:r>
              <a:rPr lang="en-PH" sz="8800" dirty="0">
                <a:latin typeface="+mj-lt"/>
              </a:rPr>
              <a:t>APE (Annual Physical Exam)</a:t>
            </a:r>
          </a:p>
          <a:p>
            <a:pPr marL="457200" indent="-457200">
              <a:buFont typeface="Wingdings" panose="05000000000000000000" pitchFamily="2" charset="2"/>
              <a:buChar char="Ø"/>
            </a:pPr>
            <a:r>
              <a:rPr lang="en-PH" sz="8800" dirty="0">
                <a:latin typeface="+mj-lt"/>
              </a:rPr>
              <a:t>Dental Care</a:t>
            </a:r>
          </a:p>
          <a:p>
            <a:pPr marL="457200" indent="-457200">
              <a:buFont typeface="Wingdings" panose="05000000000000000000" pitchFamily="2" charset="2"/>
              <a:buChar char="Ø"/>
            </a:pPr>
            <a:r>
              <a:rPr lang="en-PH" sz="8800" dirty="0">
                <a:latin typeface="+mj-lt"/>
              </a:rPr>
              <a:t>Financial Assistance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4" end="4"/>
                                            </p:txEl>
                                          </p:spTgt>
                                        </p:tgtEl>
                                        <p:attrNameLst>
                                          <p:attrName>style.visibility</p:attrName>
                                        </p:attrNameLst>
                                      </p:cBhvr>
                                      <p:to>
                                        <p:strVal val="visible"/>
                                      </p:to>
                                    </p:set>
                                    <p:animEffect transition="in" filter="fade">
                                      <p:cBhvr>
                                        <p:cTn id="27" dur="500"/>
                                        <p:tgtEl>
                                          <p:spTgt spid="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5" end="5"/>
                                            </p:txEl>
                                          </p:spTgt>
                                        </p:tgtEl>
                                        <p:attrNameLst>
                                          <p:attrName>style.visibility</p:attrName>
                                        </p:attrNameLst>
                                      </p:cBhvr>
                                      <p:to>
                                        <p:strVal val="visible"/>
                                      </p:to>
                                    </p:set>
                                    <p:animEffect transition="in" filter="fade">
                                      <p:cBhvr>
                                        <p:cTn id="32"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85800" y="383934"/>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aphicFrame>
        <p:nvGraphicFramePr>
          <p:cNvPr id="37" name="Table 36">
            <a:extLst>
              <a:ext uri="{FF2B5EF4-FFF2-40B4-BE49-F238E27FC236}">
                <a16:creationId xmlns:a16="http://schemas.microsoft.com/office/drawing/2014/main" id="{EBEF2063-1374-437F-98DE-8E40AF0B18C9}"/>
              </a:ext>
            </a:extLst>
          </p:cNvPr>
          <p:cNvGraphicFramePr>
            <a:graphicFrameLocks noGrp="1"/>
          </p:cNvGraphicFramePr>
          <p:nvPr>
            <p:extLst>
              <p:ext uri="{D42A27DB-BD31-4B8C-83A1-F6EECF244321}">
                <p14:modId xmlns:p14="http://schemas.microsoft.com/office/powerpoint/2010/main" val="1319019559"/>
              </p:ext>
            </p:extLst>
          </p:nvPr>
        </p:nvGraphicFramePr>
        <p:xfrm>
          <a:off x="304800" y="1628500"/>
          <a:ext cx="17754600" cy="8544200"/>
        </p:xfrm>
        <a:graphic>
          <a:graphicData uri="http://schemas.openxmlformats.org/drawingml/2006/table">
            <a:tbl>
              <a:tblPr firstRow="1" firstCol="1" bandRow="1">
                <a:tableStyleId>{5C22544A-7EE6-4342-B048-85BDC9FD1C3A}</a:tableStyleId>
              </a:tblPr>
              <a:tblGrid>
                <a:gridCol w="3477229">
                  <a:extLst>
                    <a:ext uri="{9D8B030D-6E8A-4147-A177-3AD203B41FA5}">
                      <a16:colId xmlns:a16="http://schemas.microsoft.com/office/drawing/2014/main" val="937138042"/>
                    </a:ext>
                  </a:extLst>
                </a:gridCol>
                <a:gridCol w="3643047">
                  <a:extLst>
                    <a:ext uri="{9D8B030D-6E8A-4147-A177-3AD203B41FA5}">
                      <a16:colId xmlns:a16="http://schemas.microsoft.com/office/drawing/2014/main" val="4285764000"/>
                    </a:ext>
                  </a:extLst>
                </a:gridCol>
                <a:gridCol w="3655549">
                  <a:extLst>
                    <a:ext uri="{9D8B030D-6E8A-4147-A177-3AD203B41FA5}">
                      <a16:colId xmlns:a16="http://schemas.microsoft.com/office/drawing/2014/main" val="1848424157"/>
                    </a:ext>
                  </a:extLst>
                </a:gridCol>
                <a:gridCol w="3406307">
                  <a:extLst>
                    <a:ext uri="{9D8B030D-6E8A-4147-A177-3AD203B41FA5}">
                      <a16:colId xmlns:a16="http://schemas.microsoft.com/office/drawing/2014/main" val="1206961336"/>
                    </a:ext>
                  </a:extLst>
                </a:gridCol>
                <a:gridCol w="3572468">
                  <a:extLst>
                    <a:ext uri="{9D8B030D-6E8A-4147-A177-3AD203B41FA5}">
                      <a16:colId xmlns:a16="http://schemas.microsoft.com/office/drawing/2014/main" val="455588920"/>
                    </a:ext>
                  </a:extLst>
                </a:gridCol>
              </a:tblGrid>
              <a:tr h="1145925">
                <a:tc>
                  <a:txBody>
                    <a:bodyPr/>
                    <a:lstStyle/>
                    <a:p>
                      <a:pPr marL="0" marR="0" algn="ctr">
                        <a:lnSpc>
                          <a:spcPct val="115000"/>
                        </a:lnSpc>
                        <a:spcBef>
                          <a:spcPts val="0"/>
                        </a:spcBef>
                        <a:spcAft>
                          <a:spcPts val="1000"/>
                        </a:spcAft>
                      </a:pPr>
                      <a:r>
                        <a:rPr lang="en-US" sz="5400" b="1" dirty="0">
                          <a:effectLst/>
                        </a:rPr>
                        <a:t>Coverage</a:t>
                      </a:r>
                      <a:endParaRPr lang="en-US" sz="5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5400" b="1" dirty="0" err="1">
                          <a:effectLst/>
                        </a:rPr>
                        <a:t>CorpoServe</a:t>
                      </a:r>
                      <a:endParaRPr lang="en-US" sz="5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5400" b="1" dirty="0" err="1">
                          <a:effectLst/>
                        </a:rPr>
                        <a:t>CorpoAide</a:t>
                      </a:r>
                      <a:endParaRPr lang="en-US" sz="5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5400" b="1" dirty="0" err="1">
                          <a:effectLst/>
                        </a:rPr>
                        <a:t>CorpoPlus</a:t>
                      </a:r>
                      <a:endParaRPr lang="en-US" sz="5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5400" b="1" dirty="0" err="1">
                          <a:effectLst/>
                        </a:rPr>
                        <a:t>CorpoMax</a:t>
                      </a:r>
                      <a:endParaRPr lang="en-US" sz="5400" b="1"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extLst>
                  <a:ext uri="{0D108BD9-81ED-4DB2-BD59-A6C34878D82A}">
                    <a16:rowId xmlns:a16="http://schemas.microsoft.com/office/drawing/2014/main" val="1924323396"/>
                  </a:ext>
                </a:extLst>
              </a:tr>
              <a:tr h="1401753">
                <a:tc>
                  <a:txBody>
                    <a:bodyPr/>
                    <a:lstStyle/>
                    <a:p>
                      <a:pPr marL="0" marR="0" algn="ctr">
                        <a:lnSpc>
                          <a:spcPct val="115000"/>
                        </a:lnSpc>
                        <a:spcBef>
                          <a:spcPts val="0"/>
                        </a:spcBef>
                        <a:spcAft>
                          <a:spcPts val="1000"/>
                        </a:spcAft>
                      </a:pPr>
                      <a:r>
                        <a:rPr lang="en-US" sz="2800" dirty="0">
                          <a:solidFill>
                            <a:schemeClr val="bg1"/>
                          </a:solidFill>
                          <a:effectLst/>
                        </a:rPr>
                        <a:t>Annual Benefit Limit </a:t>
                      </a:r>
                    </a:p>
                    <a:p>
                      <a:pPr marL="0" marR="0" algn="ctr">
                        <a:lnSpc>
                          <a:spcPct val="115000"/>
                        </a:lnSpc>
                        <a:spcBef>
                          <a:spcPts val="0"/>
                        </a:spcBef>
                        <a:spcAft>
                          <a:spcPts val="1000"/>
                        </a:spcAft>
                      </a:pPr>
                      <a:r>
                        <a:rPr lang="en-US" sz="2800" dirty="0">
                          <a:solidFill>
                            <a:schemeClr val="bg1"/>
                          </a:solidFill>
                          <a:effectLst/>
                        </a:rPr>
                        <a:t>(ABL)</a:t>
                      </a:r>
                      <a:endPar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₱40,000.00</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₱300,000.00</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₱400,000.00</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₱600,000.00</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476002181"/>
                  </a:ext>
                </a:extLst>
              </a:tr>
              <a:tr h="1985948">
                <a:tc>
                  <a:txBody>
                    <a:bodyPr/>
                    <a:lstStyle/>
                    <a:p>
                      <a:pPr marL="0" marR="0" algn="ctr">
                        <a:lnSpc>
                          <a:spcPct val="115000"/>
                        </a:lnSpc>
                        <a:spcBef>
                          <a:spcPts val="0"/>
                        </a:spcBef>
                        <a:spcAft>
                          <a:spcPts val="1000"/>
                        </a:spcAft>
                      </a:pPr>
                      <a:r>
                        <a:rPr lang="en-US" sz="2800" dirty="0">
                          <a:solidFill>
                            <a:schemeClr val="bg1"/>
                          </a:solidFill>
                          <a:effectLst/>
                        </a:rPr>
                        <a:t>Maximum Benefit Limit (MBL)</a:t>
                      </a:r>
                      <a:endPar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₱10,000.00 per illness per confinement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₱70,000.00 per illness per confinement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₱100,000.00 per illness per confinement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₱150,000.00 per illness per confinement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639910731"/>
                  </a:ext>
                </a:extLst>
              </a:tr>
              <a:tr h="862617">
                <a:tc>
                  <a:txBody>
                    <a:bodyPr/>
                    <a:lstStyle/>
                    <a:p>
                      <a:pPr marL="0" marR="0" algn="ctr">
                        <a:lnSpc>
                          <a:spcPct val="115000"/>
                        </a:lnSpc>
                        <a:spcBef>
                          <a:spcPts val="0"/>
                        </a:spcBef>
                        <a:spcAft>
                          <a:spcPts val="1000"/>
                        </a:spcAft>
                      </a:pPr>
                      <a:r>
                        <a:rPr lang="en-US" sz="2800" dirty="0">
                          <a:solidFill>
                            <a:schemeClr val="bg1"/>
                          </a:solidFill>
                          <a:effectLst/>
                        </a:rPr>
                        <a:t>Room Type</a:t>
                      </a:r>
                      <a:endPar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Open Ward</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Open Semi-Private</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Regular Private</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Regular Private</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1016073081"/>
                  </a:ext>
                </a:extLst>
              </a:tr>
              <a:tr h="1661697">
                <a:tc>
                  <a:txBody>
                    <a:bodyPr/>
                    <a:lstStyle/>
                    <a:p>
                      <a:pPr marL="0" marR="0" algn="ctr">
                        <a:lnSpc>
                          <a:spcPct val="115000"/>
                        </a:lnSpc>
                        <a:spcBef>
                          <a:spcPts val="0"/>
                        </a:spcBef>
                        <a:spcAft>
                          <a:spcPts val="1000"/>
                        </a:spcAft>
                      </a:pPr>
                      <a:r>
                        <a:rPr lang="en-US" sz="2800" dirty="0">
                          <a:solidFill>
                            <a:schemeClr val="bg1"/>
                          </a:solidFill>
                          <a:effectLst/>
                        </a:rPr>
                        <a:t>Prescribed Medicine Reimbursement</a:t>
                      </a:r>
                      <a:endPar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PHP500 per confinement</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PHP1,000 per confinement</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PHP1,500 per confinement</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PHP1,500 per confinement</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738412877"/>
                  </a:ext>
                </a:extLst>
              </a:tr>
              <a:tr h="1486260">
                <a:tc>
                  <a:txBody>
                    <a:bodyPr/>
                    <a:lstStyle/>
                    <a:p>
                      <a:pPr marL="0" marR="0" algn="ctr">
                        <a:lnSpc>
                          <a:spcPct val="115000"/>
                        </a:lnSpc>
                        <a:spcBef>
                          <a:spcPts val="0"/>
                        </a:spcBef>
                        <a:spcAft>
                          <a:spcPts val="1000"/>
                        </a:spcAft>
                      </a:pPr>
                      <a:r>
                        <a:rPr lang="en-US" sz="2800" dirty="0">
                          <a:solidFill>
                            <a:schemeClr val="bg1"/>
                          </a:solidFill>
                          <a:effectLst/>
                        </a:rPr>
                        <a:t>Hospital Income Benefit (HIB)</a:t>
                      </a:r>
                      <a:endParaRPr lang="en-US" sz="2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PHP250 per day max. of 12 days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PHP350 per day max. of 12 days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PHP350 per day max. of 12 days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2800" b="1" dirty="0">
                          <a:solidFill>
                            <a:schemeClr val="bg1"/>
                          </a:solidFill>
                          <a:effectLst/>
                        </a:rPr>
                        <a:t>PHP350 per day max. of 12 days per year</a:t>
                      </a:r>
                      <a:endParaRPr lang="en-US" sz="2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197219625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0" name="Rectangle 9">
            <a:extLst>
              <a:ext uri="{FF2B5EF4-FFF2-40B4-BE49-F238E27FC236}">
                <a16:creationId xmlns:a16="http://schemas.microsoft.com/office/drawing/2014/main" id="{D5AA9ACB-C460-4435-9B7E-22DFA7077DB2}"/>
              </a:ext>
            </a:extLst>
          </p:cNvPr>
          <p:cNvSpPr/>
          <p:nvPr/>
        </p:nvSpPr>
        <p:spPr>
          <a:xfrm>
            <a:off x="341552" y="2095053"/>
            <a:ext cx="13750687" cy="7540526"/>
          </a:xfrm>
          <a:prstGeom prst="rect">
            <a:avLst/>
          </a:prstGeom>
        </p:spPr>
        <p:txBody>
          <a:bodyPr wrap="none">
            <a:spAutoFit/>
          </a:bodyPr>
          <a:lstStyle/>
          <a:p>
            <a:pPr marL="742950" indent="-742950">
              <a:buFont typeface="Courier New" panose="02070309020205020404" pitchFamily="49" charset="0"/>
              <a:buChar char="o"/>
            </a:pPr>
            <a:r>
              <a:rPr lang="en-US" sz="4400" b="1" dirty="0"/>
              <a:t>Room &amp; board accommodation</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Use of operating, ICU, isolation, or recovery room</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Professional fees (physician, surgeon, anesthesiologist)</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Nursing services, medicines, diagnostics, and supplies</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Blood transfusions and fluids (recipient only)</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Room upgrade (if room unavailable) – Up to 24 hours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500"/>
                                        <p:tgtEl>
                                          <p:spTgt spid="1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8" end="8"/>
                                            </p:txEl>
                                          </p:spTgt>
                                        </p:tgtEl>
                                        <p:attrNameLst>
                                          <p:attrName>style.visibility</p:attrName>
                                        </p:attrNameLst>
                                      </p:cBhvr>
                                      <p:to>
                                        <p:strVal val="visible"/>
                                      </p:to>
                                    </p:set>
                                    <p:animEffect transition="in" filter="fade">
                                      <p:cBhvr>
                                        <p:cTn id="32" dur="500"/>
                                        <p:tgtEl>
                                          <p:spTgt spid="1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fade">
                                      <p:cBhvr>
                                        <p:cTn id="3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aphicFrame>
        <p:nvGraphicFramePr>
          <p:cNvPr id="8" name="Table 7">
            <a:extLst>
              <a:ext uri="{FF2B5EF4-FFF2-40B4-BE49-F238E27FC236}">
                <a16:creationId xmlns:a16="http://schemas.microsoft.com/office/drawing/2014/main" id="{71905D46-4427-4E4C-AB87-ACA7EA0DBBF1}"/>
              </a:ext>
            </a:extLst>
          </p:cNvPr>
          <p:cNvGraphicFramePr>
            <a:graphicFrameLocks noGrp="1"/>
          </p:cNvGraphicFramePr>
          <p:nvPr>
            <p:extLst>
              <p:ext uri="{D42A27DB-BD31-4B8C-83A1-F6EECF244321}">
                <p14:modId xmlns:p14="http://schemas.microsoft.com/office/powerpoint/2010/main" val="3209455007"/>
              </p:ext>
            </p:extLst>
          </p:nvPr>
        </p:nvGraphicFramePr>
        <p:xfrm>
          <a:off x="76199" y="2897548"/>
          <a:ext cx="17907001" cy="6075265"/>
        </p:xfrm>
        <a:graphic>
          <a:graphicData uri="http://schemas.openxmlformats.org/drawingml/2006/table">
            <a:tbl>
              <a:tblPr firstRow="1" firstCol="1" bandRow="1">
                <a:tableStyleId>{5C22544A-7EE6-4342-B048-85BDC9FD1C3A}</a:tableStyleId>
              </a:tblPr>
              <a:tblGrid>
                <a:gridCol w="4512596">
                  <a:extLst>
                    <a:ext uri="{9D8B030D-6E8A-4147-A177-3AD203B41FA5}">
                      <a16:colId xmlns:a16="http://schemas.microsoft.com/office/drawing/2014/main" val="3466565370"/>
                    </a:ext>
                  </a:extLst>
                </a:gridCol>
                <a:gridCol w="4266455">
                  <a:extLst>
                    <a:ext uri="{9D8B030D-6E8A-4147-A177-3AD203B41FA5}">
                      <a16:colId xmlns:a16="http://schemas.microsoft.com/office/drawing/2014/main" val="1366532085"/>
                    </a:ext>
                  </a:extLst>
                </a:gridCol>
                <a:gridCol w="4758738">
                  <a:extLst>
                    <a:ext uri="{9D8B030D-6E8A-4147-A177-3AD203B41FA5}">
                      <a16:colId xmlns:a16="http://schemas.microsoft.com/office/drawing/2014/main" val="2778414947"/>
                    </a:ext>
                  </a:extLst>
                </a:gridCol>
                <a:gridCol w="4369212">
                  <a:extLst>
                    <a:ext uri="{9D8B030D-6E8A-4147-A177-3AD203B41FA5}">
                      <a16:colId xmlns:a16="http://schemas.microsoft.com/office/drawing/2014/main" val="510118177"/>
                    </a:ext>
                  </a:extLst>
                </a:gridCol>
              </a:tblGrid>
              <a:tr h="1660990">
                <a:tc>
                  <a:txBody>
                    <a:bodyPr/>
                    <a:lstStyle/>
                    <a:p>
                      <a:pPr marL="0" marR="0" algn="ctr">
                        <a:lnSpc>
                          <a:spcPct val="115000"/>
                        </a:lnSpc>
                        <a:spcBef>
                          <a:spcPts val="0"/>
                        </a:spcBef>
                        <a:spcAft>
                          <a:spcPts val="1000"/>
                        </a:spcAft>
                      </a:pPr>
                      <a:r>
                        <a:rPr lang="en-US" sz="6000" dirty="0" err="1">
                          <a:effectLst/>
                          <a:latin typeface="+mj-lt"/>
                        </a:rPr>
                        <a:t>CorpoServe</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CorpoAide</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CorpoPlus</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CorpoMax</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extLst>
                  <a:ext uri="{0D108BD9-81ED-4DB2-BD59-A6C34878D82A}">
                    <a16:rowId xmlns:a16="http://schemas.microsoft.com/office/drawing/2014/main" val="2673456080"/>
                  </a:ext>
                </a:extLst>
              </a:tr>
              <a:tr h="4414275">
                <a:tc>
                  <a:txBody>
                    <a:bodyPr/>
                    <a:lstStyle/>
                    <a:p>
                      <a:pPr marL="0" marR="0" algn="ctr">
                        <a:lnSpc>
                          <a:spcPct val="115000"/>
                        </a:lnSpc>
                        <a:spcBef>
                          <a:spcPts val="0"/>
                        </a:spcBef>
                        <a:spcAft>
                          <a:spcPts val="1000"/>
                        </a:spcAft>
                      </a:pPr>
                      <a:r>
                        <a:rPr lang="en-US" sz="9600" dirty="0">
                          <a:effectLst/>
                          <a:latin typeface="+mj-lt"/>
                          <a:ea typeface="MS Mincho" panose="02020609040205080304" pitchFamily="49" charset="-128"/>
                          <a:cs typeface="Times New Roman" panose="02020603050405020304" pitchFamily="18" charset="0"/>
                        </a:rPr>
                        <a:t>1,500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6,000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15,000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18,000</a:t>
                      </a:r>
                    </a:p>
                  </a:txBody>
                  <a:tcPr marL="9525" marR="9525" marT="9525" marB="9525" anchor="ctr">
                    <a:solidFill>
                      <a:srgbClr val="F68712"/>
                    </a:solidFill>
                  </a:tcPr>
                </a:tc>
                <a:extLst>
                  <a:ext uri="{0D108BD9-81ED-4DB2-BD59-A6C34878D82A}">
                    <a16:rowId xmlns:a16="http://schemas.microsoft.com/office/drawing/2014/main" val="581651754"/>
                  </a:ext>
                </a:extLst>
              </a:tr>
            </a:tbl>
          </a:graphicData>
        </a:graphic>
      </p:graphicFrame>
      <p:sp>
        <p:nvSpPr>
          <p:cNvPr id="9" name="Rectangle 8">
            <a:extLst>
              <a:ext uri="{FF2B5EF4-FFF2-40B4-BE49-F238E27FC236}">
                <a16:creationId xmlns:a16="http://schemas.microsoft.com/office/drawing/2014/main" id="{FF9DF938-D083-4CBD-AA06-8224AD8914F7}"/>
              </a:ext>
            </a:extLst>
          </p:cNvPr>
          <p:cNvSpPr/>
          <p:nvPr/>
        </p:nvSpPr>
        <p:spPr>
          <a:xfrm>
            <a:off x="838200" y="1488167"/>
            <a:ext cx="8564076" cy="1446550"/>
          </a:xfrm>
          <a:prstGeom prst="rect">
            <a:avLst/>
          </a:prstGeom>
        </p:spPr>
        <p:txBody>
          <a:bodyPr wrap="none">
            <a:spAutoFit/>
          </a:bodyPr>
          <a:lstStyle/>
          <a:p>
            <a:r>
              <a:rPr lang="en-US" sz="8800" b="1" dirty="0">
                <a:solidFill>
                  <a:schemeClr val="accent6">
                    <a:lumMod val="75000"/>
                  </a:schemeClr>
                </a:solidFill>
                <a:latin typeface="+mj-lt"/>
                <a:ea typeface="MS Mincho" panose="02020609040205080304" pitchFamily="49" charset="-128"/>
                <a:cs typeface="Times New Roman" panose="02020603050405020304" pitchFamily="18" charset="0"/>
              </a:rPr>
              <a:t>QUARTERLY LIMIT</a:t>
            </a:r>
            <a:endParaRPr lang="en-US" sz="8800" dirty="0">
              <a:solidFill>
                <a:schemeClr val="accent6">
                  <a:lumMod val="75000"/>
                </a:schemeClr>
              </a:solidFill>
              <a:latin typeface="+mj-lt"/>
            </a:endParaRPr>
          </a:p>
        </p:txBody>
      </p:sp>
    </p:spTree>
    <p:extLst>
      <p:ext uri="{BB962C8B-B14F-4D97-AF65-F5344CB8AC3E}">
        <p14:creationId xmlns:p14="http://schemas.microsoft.com/office/powerpoint/2010/main" val="358578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aphicFrame>
        <p:nvGraphicFramePr>
          <p:cNvPr id="8" name="Table 7">
            <a:extLst>
              <a:ext uri="{FF2B5EF4-FFF2-40B4-BE49-F238E27FC236}">
                <a16:creationId xmlns:a16="http://schemas.microsoft.com/office/drawing/2014/main" id="{71905D46-4427-4E4C-AB87-ACA7EA0DBBF1}"/>
              </a:ext>
            </a:extLst>
          </p:cNvPr>
          <p:cNvGraphicFramePr>
            <a:graphicFrameLocks noGrp="1"/>
          </p:cNvGraphicFramePr>
          <p:nvPr>
            <p:extLst>
              <p:ext uri="{D42A27DB-BD31-4B8C-83A1-F6EECF244321}">
                <p14:modId xmlns:p14="http://schemas.microsoft.com/office/powerpoint/2010/main" val="761290428"/>
              </p:ext>
            </p:extLst>
          </p:nvPr>
        </p:nvGraphicFramePr>
        <p:xfrm>
          <a:off x="308146" y="3417516"/>
          <a:ext cx="16227254" cy="5583676"/>
        </p:xfrm>
        <a:graphic>
          <a:graphicData uri="http://schemas.openxmlformats.org/drawingml/2006/table">
            <a:tbl>
              <a:tblPr firstRow="1" firstCol="1" bandRow="1">
                <a:tableStyleId>{5C22544A-7EE6-4342-B048-85BDC9FD1C3A}</a:tableStyleId>
              </a:tblPr>
              <a:tblGrid>
                <a:gridCol w="3806654">
                  <a:extLst>
                    <a:ext uri="{9D8B030D-6E8A-4147-A177-3AD203B41FA5}">
                      <a16:colId xmlns:a16="http://schemas.microsoft.com/office/drawing/2014/main" val="3383660555"/>
                    </a:ext>
                  </a:extLst>
                </a:gridCol>
                <a:gridCol w="3200400">
                  <a:extLst>
                    <a:ext uri="{9D8B030D-6E8A-4147-A177-3AD203B41FA5}">
                      <a16:colId xmlns:a16="http://schemas.microsoft.com/office/drawing/2014/main" val="3466565370"/>
                    </a:ext>
                  </a:extLst>
                </a:gridCol>
                <a:gridCol w="3048000">
                  <a:extLst>
                    <a:ext uri="{9D8B030D-6E8A-4147-A177-3AD203B41FA5}">
                      <a16:colId xmlns:a16="http://schemas.microsoft.com/office/drawing/2014/main" val="3210041892"/>
                    </a:ext>
                  </a:extLst>
                </a:gridCol>
                <a:gridCol w="3124200">
                  <a:extLst>
                    <a:ext uri="{9D8B030D-6E8A-4147-A177-3AD203B41FA5}">
                      <a16:colId xmlns:a16="http://schemas.microsoft.com/office/drawing/2014/main" val="2778414947"/>
                    </a:ext>
                  </a:extLst>
                </a:gridCol>
                <a:gridCol w="3048000">
                  <a:extLst>
                    <a:ext uri="{9D8B030D-6E8A-4147-A177-3AD203B41FA5}">
                      <a16:colId xmlns:a16="http://schemas.microsoft.com/office/drawing/2014/main" val="978924609"/>
                    </a:ext>
                  </a:extLst>
                </a:gridCol>
              </a:tblGrid>
              <a:tr h="1526588">
                <a:tc>
                  <a:txBody>
                    <a:bodyPr/>
                    <a:lstStyle/>
                    <a:p>
                      <a:pPr marL="0" marR="0" algn="ctr">
                        <a:lnSpc>
                          <a:spcPct val="115000"/>
                        </a:lnSpc>
                        <a:spcBef>
                          <a:spcPts val="0"/>
                        </a:spcBef>
                        <a:spcAft>
                          <a:spcPts val="1000"/>
                        </a:spcAft>
                      </a:pPr>
                      <a:r>
                        <a:rPr lang="en-US" sz="4800" dirty="0">
                          <a:effectLst/>
                        </a:rPr>
                        <a:t>Coverage</a:t>
                      </a:r>
                      <a:endParaRPr lang="en-US" sz="4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02060"/>
                    </a:solidFill>
                  </a:tcPr>
                </a:tc>
                <a:tc>
                  <a:txBody>
                    <a:bodyPr/>
                    <a:lstStyle/>
                    <a:p>
                      <a:pPr marL="0" marR="0" algn="ctr">
                        <a:lnSpc>
                          <a:spcPct val="115000"/>
                        </a:lnSpc>
                        <a:spcBef>
                          <a:spcPts val="0"/>
                        </a:spcBef>
                        <a:spcAft>
                          <a:spcPts val="1000"/>
                        </a:spcAft>
                      </a:pPr>
                      <a:r>
                        <a:rPr lang="en-US" sz="4800" dirty="0" err="1">
                          <a:effectLst/>
                        </a:rPr>
                        <a:t>CorpoServe</a:t>
                      </a:r>
                      <a:endParaRPr lang="en-US" sz="4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02060"/>
                    </a:solidFill>
                  </a:tcPr>
                </a:tc>
                <a:tc>
                  <a:txBody>
                    <a:bodyPr/>
                    <a:lstStyle/>
                    <a:p>
                      <a:pPr marL="0" marR="0" algn="ctr">
                        <a:lnSpc>
                          <a:spcPct val="115000"/>
                        </a:lnSpc>
                        <a:spcBef>
                          <a:spcPts val="0"/>
                        </a:spcBef>
                        <a:spcAft>
                          <a:spcPts val="1000"/>
                        </a:spcAft>
                      </a:pPr>
                      <a:r>
                        <a:rPr lang="en-US" sz="4800" dirty="0" err="1">
                          <a:effectLst/>
                        </a:rPr>
                        <a:t>CorpoAide</a:t>
                      </a:r>
                      <a:endParaRPr lang="en-US" sz="4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02060"/>
                    </a:solidFill>
                  </a:tcPr>
                </a:tc>
                <a:tc>
                  <a:txBody>
                    <a:bodyPr/>
                    <a:lstStyle/>
                    <a:p>
                      <a:pPr marL="0" marR="0" algn="ctr">
                        <a:lnSpc>
                          <a:spcPct val="115000"/>
                        </a:lnSpc>
                        <a:spcBef>
                          <a:spcPts val="0"/>
                        </a:spcBef>
                        <a:spcAft>
                          <a:spcPts val="1000"/>
                        </a:spcAft>
                      </a:pPr>
                      <a:r>
                        <a:rPr lang="en-US" sz="4800" dirty="0" err="1">
                          <a:effectLst/>
                        </a:rPr>
                        <a:t>CorpoPlus</a:t>
                      </a:r>
                      <a:endParaRPr lang="en-US" sz="4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02060"/>
                    </a:solidFill>
                  </a:tcPr>
                </a:tc>
                <a:tc>
                  <a:txBody>
                    <a:bodyPr/>
                    <a:lstStyle/>
                    <a:p>
                      <a:pPr marL="0" marR="0" algn="ctr">
                        <a:lnSpc>
                          <a:spcPct val="115000"/>
                        </a:lnSpc>
                        <a:spcBef>
                          <a:spcPts val="0"/>
                        </a:spcBef>
                        <a:spcAft>
                          <a:spcPts val="1000"/>
                        </a:spcAft>
                      </a:pPr>
                      <a:r>
                        <a:rPr lang="en-US" sz="4800" dirty="0" err="1">
                          <a:effectLst/>
                        </a:rPr>
                        <a:t>CorpoMax</a:t>
                      </a:r>
                      <a:endParaRPr lang="en-US" sz="4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002060"/>
                    </a:solidFill>
                  </a:tcPr>
                </a:tc>
                <a:extLst>
                  <a:ext uri="{0D108BD9-81ED-4DB2-BD59-A6C34878D82A}">
                    <a16:rowId xmlns:a16="http://schemas.microsoft.com/office/drawing/2014/main" val="2673456080"/>
                  </a:ext>
                </a:extLst>
              </a:tr>
              <a:tr h="4057088">
                <a:tc>
                  <a:txBody>
                    <a:bodyPr/>
                    <a:lstStyle/>
                    <a:p>
                      <a:pPr marL="0" marR="0" algn="ctr">
                        <a:lnSpc>
                          <a:spcPct val="115000"/>
                        </a:lnSpc>
                        <a:spcBef>
                          <a:spcPts val="0"/>
                        </a:spcBef>
                        <a:spcAft>
                          <a:spcPts val="1000"/>
                        </a:spcAft>
                      </a:pPr>
                      <a:r>
                        <a:rPr lang="en-US" sz="4000" b="1" dirty="0">
                          <a:solidFill>
                            <a:schemeClr val="bg1"/>
                          </a:solidFill>
                          <a:effectLst/>
                        </a:rPr>
                        <a:t>Comprehensive Check Ups  </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800" b="1" dirty="0">
                          <a:solidFill>
                            <a:schemeClr val="bg1"/>
                          </a:solidFill>
                          <a:effectLst/>
                        </a:rPr>
                        <a:t>Up to Quarterly Limit</a:t>
                      </a:r>
                      <a:endParaRPr lang="en-US" sz="4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800" b="1" dirty="0">
                          <a:solidFill>
                            <a:schemeClr val="bg1"/>
                          </a:solidFill>
                          <a:effectLst/>
                        </a:rPr>
                        <a:t>Up to Quarterly Limit</a:t>
                      </a:r>
                      <a:endParaRPr lang="en-US" sz="4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800" b="1" dirty="0">
                          <a:solidFill>
                            <a:schemeClr val="bg1"/>
                          </a:solidFill>
                          <a:effectLst/>
                        </a:rPr>
                        <a:t>Up to Quarterly Limit</a:t>
                      </a:r>
                      <a:endParaRPr lang="en-US" sz="4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800" b="1" dirty="0">
                          <a:solidFill>
                            <a:schemeClr val="bg1"/>
                          </a:solidFill>
                          <a:effectLst/>
                        </a:rPr>
                        <a:t>Up to Quarterly Limit</a:t>
                      </a:r>
                      <a:endParaRPr lang="en-US" sz="48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581651754"/>
                  </a:ext>
                </a:extLst>
              </a:tr>
            </a:tbl>
          </a:graphicData>
        </a:graphic>
      </p:graphicFrame>
      <p:sp>
        <p:nvSpPr>
          <p:cNvPr id="9" name="Rectangle 8">
            <a:extLst>
              <a:ext uri="{FF2B5EF4-FFF2-40B4-BE49-F238E27FC236}">
                <a16:creationId xmlns:a16="http://schemas.microsoft.com/office/drawing/2014/main" id="{FF9DF938-D083-4CBD-AA06-8224AD8914F7}"/>
              </a:ext>
            </a:extLst>
          </p:cNvPr>
          <p:cNvSpPr/>
          <p:nvPr/>
        </p:nvSpPr>
        <p:spPr>
          <a:xfrm>
            <a:off x="381000" y="2176817"/>
            <a:ext cx="7780976" cy="830997"/>
          </a:xfrm>
          <a:prstGeom prst="rect">
            <a:avLst/>
          </a:prstGeom>
        </p:spPr>
        <p:txBody>
          <a:bodyPr wrap="none">
            <a:spAutoFit/>
          </a:bodyPr>
          <a:lstStyle/>
          <a:p>
            <a:r>
              <a:rPr lang="en-US" sz="4800" b="1" dirty="0">
                <a:solidFill>
                  <a:schemeClr val="accent6">
                    <a:lumMod val="75000"/>
                  </a:schemeClr>
                </a:solidFill>
                <a:latin typeface="+mj-lt"/>
                <a:ea typeface="MS Mincho" panose="02020609040205080304" pitchFamily="49" charset="-128"/>
                <a:cs typeface="Times New Roman" panose="02020603050405020304" pitchFamily="18" charset="0"/>
              </a:rPr>
              <a:t>Comprehensive Consultations</a:t>
            </a:r>
            <a:endParaRPr lang="en-US" sz="4800" dirty="0">
              <a:solidFill>
                <a:schemeClr val="accent6">
                  <a:lumMod val="75000"/>
                </a:schemeClr>
              </a:solidFill>
              <a:latin typeface="+mj-lt"/>
            </a:endParaRPr>
          </a:p>
        </p:txBody>
      </p:sp>
    </p:spTree>
    <p:extLst>
      <p:ext uri="{BB962C8B-B14F-4D97-AF65-F5344CB8AC3E}">
        <p14:creationId xmlns:p14="http://schemas.microsoft.com/office/powerpoint/2010/main" val="46669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1" name="Rectangle 10">
            <a:extLst>
              <a:ext uri="{FF2B5EF4-FFF2-40B4-BE49-F238E27FC236}">
                <a16:creationId xmlns:a16="http://schemas.microsoft.com/office/drawing/2014/main" id="{2F8D3C42-F3AB-49B9-8A20-2FA976D03542}"/>
              </a:ext>
            </a:extLst>
          </p:cNvPr>
          <p:cNvSpPr/>
          <p:nvPr/>
        </p:nvSpPr>
        <p:spPr>
          <a:xfrm>
            <a:off x="315714" y="1844581"/>
            <a:ext cx="17550249" cy="7879080"/>
          </a:xfrm>
          <a:prstGeom prst="rect">
            <a:avLst/>
          </a:prstGeom>
        </p:spPr>
        <p:txBody>
          <a:bodyPr wrap="square">
            <a:spAutoFit/>
          </a:bodyPr>
          <a:lstStyle/>
          <a:p>
            <a:r>
              <a:rPr lang="en-US" sz="6600" b="1" dirty="0">
                <a:solidFill>
                  <a:srgbClr val="F68712"/>
                </a:solidFill>
              </a:rPr>
              <a:t>Laboratory Tests and Procedures for Members (upon order of the Accredited Physician) up to the quarterly limit.</a:t>
            </a:r>
          </a:p>
          <a:p>
            <a:endParaRPr lang="en-US" sz="4400" b="1" dirty="0">
              <a:solidFill>
                <a:srgbClr val="F68712"/>
              </a:solidFill>
            </a:endParaRPr>
          </a:p>
          <a:p>
            <a:r>
              <a:rPr lang="en-US" sz="4400" dirty="0"/>
              <a:t>Includes:</a:t>
            </a:r>
          </a:p>
          <a:p>
            <a:endParaRPr lang="en-US" sz="4400" dirty="0"/>
          </a:p>
          <a:p>
            <a:r>
              <a:rPr lang="en-US" sz="4400" dirty="0"/>
              <a:t>•	CBC, Creatinine, Urinalysis, </a:t>
            </a:r>
            <a:r>
              <a:rPr lang="en-US" sz="4400" dirty="0" err="1"/>
              <a:t>Fecalysis</a:t>
            </a:r>
            <a:endParaRPr lang="en-US" sz="4400" dirty="0"/>
          </a:p>
          <a:p>
            <a:r>
              <a:rPr lang="en-US" sz="4400" dirty="0"/>
              <a:t>•	Blood Uric Acid (BUA), Cholesterol, Triglycerides</a:t>
            </a:r>
          </a:p>
          <a:p>
            <a:r>
              <a:rPr lang="en-US" sz="4400" dirty="0"/>
              <a:t>•	Blood Typing, Platelet Count</a:t>
            </a:r>
          </a:p>
          <a:p>
            <a:r>
              <a:rPr lang="en-US" sz="4400" dirty="0"/>
              <a:t>•	Fasting Blood Sugar (FBS), HDL, LDL, BUN</a:t>
            </a:r>
          </a:p>
        </p:txBody>
      </p:sp>
    </p:spTree>
    <p:extLst>
      <p:ext uri="{BB962C8B-B14F-4D97-AF65-F5344CB8AC3E}">
        <p14:creationId xmlns:p14="http://schemas.microsoft.com/office/powerpoint/2010/main" val="265061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5" end="5"/>
                                            </p:txEl>
                                          </p:spTgt>
                                        </p:tgtEl>
                                        <p:attrNameLst>
                                          <p:attrName>style.visibility</p:attrName>
                                        </p:attrNameLst>
                                      </p:cBhvr>
                                      <p:to>
                                        <p:strVal val="visible"/>
                                      </p:to>
                                    </p:set>
                                    <p:animEffect transition="in" filter="fade">
                                      <p:cBhvr>
                                        <p:cTn id="22" dur="500"/>
                                        <p:tgtEl>
                                          <p:spTgt spid="1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fade">
                                      <p:cBhvr>
                                        <p:cTn id="27" dur="500"/>
                                        <p:tgtEl>
                                          <p:spTgt spid="1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7" end="7"/>
                                            </p:txEl>
                                          </p:spTgt>
                                        </p:tgtEl>
                                        <p:attrNameLst>
                                          <p:attrName>style.visibility</p:attrName>
                                        </p:attrNameLst>
                                      </p:cBhvr>
                                      <p:to>
                                        <p:strVal val="visible"/>
                                      </p:to>
                                    </p:set>
                                    <p:animEffect transition="in" filter="fade">
                                      <p:cBhvr>
                                        <p:cTn id="3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1" name="Rectangle 10">
            <a:extLst>
              <a:ext uri="{FF2B5EF4-FFF2-40B4-BE49-F238E27FC236}">
                <a16:creationId xmlns:a16="http://schemas.microsoft.com/office/drawing/2014/main" id="{2F8D3C42-F3AB-49B9-8A20-2FA976D03542}"/>
              </a:ext>
            </a:extLst>
          </p:cNvPr>
          <p:cNvSpPr/>
          <p:nvPr/>
        </p:nvSpPr>
        <p:spPr>
          <a:xfrm>
            <a:off x="315714" y="1844581"/>
            <a:ext cx="17550249" cy="4832092"/>
          </a:xfrm>
          <a:prstGeom prst="rect">
            <a:avLst/>
          </a:prstGeom>
        </p:spPr>
        <p:txBody>
          <a:bodyPr wrap="square">
            <a:spAutoFit/>
          </a:bodyPr>
          <a:lstStyle/>
          <a:p>
            <a:r>
              <a:rPr lang="en-US" sz="6600" b="1" dirty="0">
                <a:solidFill>
                  <a:srgbClr val="F68712"/>
                </a:solidFill>
              </a:rPr>
              <a:t>Diagnostic Procedures (upon order of the Accredited Physician) up to the quarterly limit.</a:t>
            </a:r>
            <a:endParaRPr lang="en-US" sz="4400" b="1" dirty="0">
              <a:solidFill>
                <a:srgbClr val="F68712"/>
              </a:solidFill>
            </a:endParaRPr>
          </a:p>
          <a:p>
            <a:r>
              <a:rPr lang="en-US" sz="4400" dirty="0"/>
              <a:t>Includes:</a:t>
            </a:r>
          </a:p>
          <a:p>
            <a:endParaRPr lang="en-US" sz="4400" dirty="0"/>
          </a:p>
          <a:p>
            <a:r>
              <a:rPr lang="en-US" sz="4400" dirty="0"/>
              <a:t>•	Chest X-ray</a:t>
            </a:r>
          </a:p>
          <a:p>
            <a:r>
              <a:rPr lang="en-US" sz="4400" dirty="0"/>
              <a:t>•	Electrocardiogram (ECG)</a:t>
            </a:r>
          </a:p>
        </p:txBody>
      </p:sp>
    </p:spTree>
    <p:extLst>
      <p:ext uri="{BB962C8B-B14F-4D97-AF65-F5344CB8AC3E}">
        <p14:creationId xmlns:p14="http://schemas.microsoft.com/office/powerpoint/2010/main" val="112032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fade">
                                      <p:cBhvr>
                                        <p:cTn id="17" dur="500"/>
                                        <p:tgtEl>
                                          <p:spTgt spid="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59032"/>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1" name="Rectangle 10">
            <a:extLst>
              <a:ext uri="{FF2B5EF4-FFF2-40B4-BE49-F238E27FC236}">
                <a16:creationId xmlns:a16="http://schemas.microsoft.com/office/drawing/2014/main" id="{2F8D3C42-F3AB-49B9-8A20-2FA976D03542}"/>
              </a:ext>
            </a:extLst>
          </p:cNvPr>
          <p:cNvSpPr/>
          <p:nvPr/>
        </p:nvSpPr>
        <p:spPr>
          <a:xfrm>
            <a:off x="645458" y="1915118"/>
            <a:ext cx="16651941" cy="2123658"/>
          </a:xfrm>
          <a:prstGeom prst="rect">
            <a:avLst/>
          </a:prstGeom>
        </p:spPr>
        <p:txBody>
          <a:bodyPr wrap="square">
            <a:spAutoFit/>
          </a:bodyPr>
          <a:lstStyle/>
          <a:p>
            <a:r>
              <a:rPr lang="en-US" sz="6600" b="1" dirty="0">
                <a:solidFill>
                  <a:srgbClr val="F68712"/>
                </a:solidFill>
              </a:rPr>
              <a:t>Other diagnostic procedures not mentioned above have a maximum limit per year:</a:t>
            </a:r>
            <a:endParaRPr lang="en-US" sz="4400" b="1" dirty="0">
              <a:solidFill>
                <a:srgbClr val="F68712"/>
              </a:solidFill>
            </a:endParaRPr>
          </a:p>
        </p:txBody>
      </p:sp>
      <p:graphicFrame>
        <p:nvGraphicFramePr>
          <p:cNvPr id="23" name="Table 22">
            <a:extLst>
              <a:ext uri="{FF2B5EF4-FFF2-40B4-BE49-F238E27FC236}">
                <a16:creationId xmlns:a16="http://schemas.microsoft.com/office/drawing/2014/main" id="{C9E19C74-F3BB-4824-A152-B22DE58F18F4}"/>
              </a:ext>
            </a:extLst>
          </p:cNvPr>
          <p:cNvGraphicFramePr>
            <a:graphicFrameLocks noGrp="1"/>
          </p:cNvGraphicFramePr>
          <p:nvPr>
            <p:extLst>
              <p:ext uri="{D42A27DB-BD31-4B8C-83A1-F6EECF244321}">
                <p14:modId xmlns:p14="http://schemas.microsoft.com/office/powerpoint/2010/main" val="1766087581"/>
              </p:ext>
            </p:extLst>
          </p:nvPr>
        </p:nvGraphicFramePr>
        <p:xfrm>
          <a:off x="228600" y="4079160"/>
          <a:ext cx="16554634" cy="5572975"/>
        </p:xfrm>
        <a:graphic>
          <a:graphicData uri="http://schemas.openxmlformats.org/drawingml/2006/table">
            <a:tbl>
              <a:tblPr firstRow="1" firstCol="1" bandRow="1">
                <a:tableStyleId>{5C22544A-7EE6-4342-B048-85BDC9FD1C3A}</a:tableStyleId>
              </a:tblPr>
              <a:tblGrid>
                <a:gridCol w="4171797">
                  <a:extLst>
                    <a:ext uri="{9D8B030D-6E8A-4147-A177-3AD203B41FA5}">
                      <a16:colId xmlns:a16="http://schemas.microsoft.com/office/drawing/2014/main" val="3466565370"/>
                    </a:ext>
                  </a:extLst>
                </a:gridCol>
                <a:gridCol w="3944245">
                  <a:extLst>
                    <a:ext uri="{9D8B030D-6E8A-4147-A177-3AD203B41FA5}">
                      <a16:colId xmlns:a16="http://schemas.microsoft.com/office/drawing/2014/main" val="1366532085"/>
                    </a:ext>
                  </a:extLst>
                </a:gridCol>
                <a:gridCol w="4399350">
                  <a:extLst>
                    <a:ext uri="{9D8B030D-6E8A-4147-A177-3AD203B41FA5}">
                      <a16:colId xmlns:a16="http://schemas.microsoft.com/office/drawing/2014/main" val="2778414947"/>
                    </a:ext>
                  </a:extLst>
                </a:gridCol>
                <a:gridCol w="4039242">
                  <a:extLst>
                    <a:ext uri="{9D8B030D-6E8A-4147-A177-3AD203B41FA5}">
                      <a16:colId xmlns:a16="http://schemas.microsoft.com/office/drawing/2014/main" val="510118177"/>
                    </a:ext>
                  </a:extLst>
                </a:gridCol>
              </a:tblGrid>
              <a:tr h="1523662">
                <a:tc>
                  <a:txBody>
                    <a:bodyPr/>
                    <a:lstStyle/>
                    <a:p>
                      <a:pPr marL="0" marR="0" algn="ctr">
                        <a:lnSpc>
                          <a:spcPct val="115000"/>
                        </a:lnSpc>
                        <a:spcBef>
                          <a:spcPts val="0"/>
                        </a:spcBef>
                        <a:spcAft>
                          <a:spcPts val="1000"/>
                        </a:spcAft>
                      </a:pPr>
                      <a:r>
                        <a:rPr lang="en-US" sz="6000" dirty="0" err="1">
                          <a:effectLst/>
                          <a:latin typeface="+mj-lt"/>
                        </a:rPr>
                        <a:t>CorpoServe</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CorpoAide</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CorpoPlus</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tc>
                  <a:txBody>
                    <a:bodyPr/>
                    <a:lstStyle/>
                    <a:p>
                      <a:pPr marL="0" marR="0" algn="ctr">
                        <a:lnSpc>
                          <a:spcPct val="115000"/>
                        </a:lnSpc>
                        <a:spcBef>
                          <a:spcPts val="0"/>
                        </a:spcBef>
                        <a:spcAft>
                          <a:spcPts val="1000"/>
                        </a:spcAft>
                      </a:pPr>
                      <a:r>
                        <a:rPr lang="en-US" sz="6000" dirty="0" err="1">
                          <a:effectLst/>
                          <a:latin typeface="+mj-lt"/>
                        </a:rPr>
                        <a:t>CorpoMax</a:t>
                      </a:r>
                      <a:endParaRPr lang="en-US" sz="6000" dirty="0">
                        <a:effectLst/>
                        <a:latin typeface="+mj-lt"/>
                        <a:ea typeface="MS Mincho" panose="02020609040205080304" pitchFamily="49" charset="-128"/>
                        <a:cs typeface="Times New Roman" panose="02020603050405020304" pitchFamily="18" charset="0"/>
                      </a:endParaRPr>
                    </a:p>
                  </a:txBody>
                  <a:tcPr marL="9525" marR="9525" marT="9525" marB="9525" anchor="ctr">
                    <a:solidFill>
                      <a:srgbClr val="060644"/>
                    </a:solidFill>
                  </a:tcPr>
                </a:tc>
                <a:extLst>
                  <a:ext uri="{0D108BD9-81ED-4DB2-BD59-A6C34878D82A}">
                    <a16:rowId xmlns:a16="http://schemas.microsoft.com/office/drawing/2014/main" val="2673456080"/>
                  </a:ext>
                </a:extLst>
              </a:tr>
              <a:tr h="4049313">
                <a:tc>
                  <a:txBody>
                    <a:bodyPr/>
                    <a:lstStyle/>
                    <a:p>
                      <a:pPr marL="0" marR="0" algn="ctr">
                        <a:lnSpc>
                          <a:spcPct val="115000"/>
                        </a:lnSpc>
                        <a:spcBef>
                          <a:spcPts val="0"/>
                        </a:spcBef>
                        <a:spcAft>
                          <a:spcPts val="1000"/>
                        </a:spcAft>
                      </a:pPr>
                      <a:r>
                        <a:rPr lang="en-US" sz="9600" dirty="0">
                          <a:effectLst/>
                          <a:latin typeface="+mj-lt"/>
                          <a:ea typeface="MS Mincho" panose="02020609040205080304" pitchFamily="49" charset="-128"/>
                          <a:cs typeface="Times New Roman" panose="02020603050405020304" pitchFamily="18" charset="0"/>
                        </a:rPr>
                        <a:t>2,000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5,000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5,000</a:t>
                      </a: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9600" b="1" dirty="0">
                          <a:solidFill>
                            <a:schemeClr val="bg1"/>
                          </a:solidFill>
                          <a:effectLst/>
                          <a:latin typeface="+mj-lt"/>
                          <a:ea typeface="MS Mincho" panose="02020609040205080304" pitchFamily="49" charset="-128"/>
                          <a:cs typeface="Times New Roman" panose="02020603050405020304" pitchFamily="18" charset="0"/>
                        </a:rPr>
                        <a:t>5,000</a:t>
                      </a:r>
                    </a:p>
                  </a:txBody>
                  <a:tcPr marL="9525" marR="9525" marT="9525" marB="9525" anchor="ctr">
                    <a:solidFill>
                      <a:srgbClr val="F68712"/>
                    </a:solidFill>
                  </a:tcPr>
                </a:tc>
                <a:extLst>
                  <a:ext uri="{0D108BD9-81ED-4DB2-BD59-A6C34878D82A}">
                    <a16:rowId xmlns:a16="http://schemas.microsoft.com/office/drawing/2014/main" val="581651754"/>
                  </a:ext>
                </a:extLst>
              </a:tr>
            </a:tbl>
          </a:graphicData>
        </a:graphic>
      </p:graphicFrame>
    </p:spTree>
    <p:extLst>
      <p:ext uri="{BB962C8B-B14F-4D97-AF65-F5344CB8AC3E}">
        <p14:creationId xmlns:p14="http://schemas.microsoft.com/office/powerpoint/2010/main" val="366116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661247" y="4192381"/>
            <a:ext cx="5456629" cy="3004571"/>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5398661" y="5760253"/>
            <a:ext cx="5617457" cy="2922779"/>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4" name="Group 34"/>
          <p:cNvGrpSpPr/>
          <p:nvPr/>
        </p:nvGrpSpPr>
        <p:grpSpPr>
          <a:xfrm>
            <a:off x="10800938" y="6337657"/>
            <a:ext cx="3701846" cy="3205631"/>
            <a:chOff x="0" y="0"/>
            <a:chExt cx="4282440" cy="3708400"/>
          </a:xfrm>
          <a:solidFill>
            <a:schemeClr val="bg1"/>
          </a:solidFill>
        </p:grpSpPr>
        <p:sp>
          <p:nvSpPr>
            <p:cNvPr id="35" name="Freeform 3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sp>
        <p:nvSpPr>
          <p:cNvPr id="40" name="TextBox 40"/>
          <p:cNvSpPr txBox="1"/>
          <p:nvPr/>
        </p:nvSpPr>
        <p:spPr>
          <a:xfrm>
            <a:off x="6481245" y="6018427"/>
            <a:ext cx="3767918" cy="525785"/>
          </a:xfrm>
          <a:prstGeom prst="rect">
            <a:avLst/>
          </a:prstGeom>
        </p:spPr>
        <p:txBody>
          <a:bodyPr wrap="square" lIns="0" tIns="0" rIns="0" bIns="0" rtlCol="0" anchor="t">
            <a:spAutoFit/>
          </a:bodyPr>
          <a:lstStyle/>
          <a:p>
            <a:pPr algn="ctr">
              <a:lnSpc>
                <a:spcPts val="4134"/>
              </a:lnSpc>
              <a:spcBef>
                <a:spcPct val="0"/>
              </a:spcBef>
            </a:pPr>
            <a:r>
              <a:rPr lang="en-US" sz="3600" b="1" dirty="0">
                <a:solidFill>
                  <a:srgbClr val="000000"/>
                </a:solidFill>
                <a:latin typeface="+mj-lt"/>
                <a:ea typeface="Poppins Bold"/>
                <a:cs typeface="Poppins Bold"/>
                <a:sym typeface="Poppins Bold"/>
              </a:rPr>
              <a:t>PHYSICAL THERAPY</a:t>
            </a:r>
          </a:p>
        </p:txBody>
      </p:sp>
      <p:sp>
        <p:nvSpPr>
          <p:cNvPr id="42" name="TextBox 42"/>
          <p:cNvSpPr txBox="1"/>
          <p:nvPr/>
        </p:nvSpPr>
        <p:spPr>
          <a:xfrm>
            <a:off x="1854595" y="4256594"/>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MENTAL HEALTH CONSULTATION</a:t>
            </a:r>
          </a:p>
        </p:txBody>
      </p:sp>
      <p:sp>
        <p:nvSpPr>
          <p:cNvPr id="43" name="TextBox 43"/>
          <p:cNvSpPr txBox="1"/>
          <p:nvPr/>
        </p:nvSpPr>
        <p:spPr>
          <a:xfrm>
            <a:off x="1434985" y="5366915"/>
            <a:ext cx="4493770" cy="1292662"/>
          </a:xfrm>
          <a:prstGeom prst="rect">
            <a:avLst/>
          </a:prstGeom>
        </p:spPr>
        <p:txBody>
          <a:bodyPr wrap="square" lIns="0" tIns="0" rIns="0" bIns="0" rtlCol="0" anchor="t">
            <a:spAutoFit/>
          </a:bodyPr>
          <a:lstStyle/>
          <a:p>
            <a:r>
              <a:rPr lang="en-US" sz="2800" b="1" dirty="0"/>
              <a:t>1,500 consultation assistance per year to AMAPHIL-accredited psychiatrist.</a:t>
            </a: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10178814" cy="1323439"/>
          </a:xfrm>
          <a:prstGeom prst="rect">
            <a:avLst/>
          </a:prstGeom>
          <a:noFill/>
          <a:ln>
            <a:noFill/>
          </a:ln>
        </p:spPr>
        <p:txBody>
          <a:bodyPr wrap="square" rtlCol="0">
            <a:spAutoFit/>
          </a:bodyPr>
          <a:lstStyle/>
          <a:p>
            <a:r>
              <a:rPr lang="en-US" sz="8000" b="1" dirty="0">
                <a:ln>
                  <a:solidFill>
                    <a:schemeClr val="tx1"/>
                  </a:solidFill>
                </a:ln>
                <a:latin typeface="+mj-lt"/>
              </a:rPr>
              <a:t>OUT-PATIENT BENEFITS</a:t>
            </a:r>
          </a:p>
        </p:txBody>
      </p:sp>
      <p:sp>
        <p:nvSpPr>
          <p:cNvPr id="45" name="TextBox 43">
            <a:extLst>
              <a:ext uri="{FF2B5EF4-FFF2-40B4-BE49-F238E27FC236}">
                <a16:creationId xmlns:a16="http://schemas.microsoft.com/office/drawing/2014/main" id="{EE3DCF61-7021-4AC6-BF71-16079D239B9D}"/>
              </a:ext>
            </a:extLst>
          </p:cNvPr>
          <p:cNvSpPr txBox="1"/>
          <p:nvPr/>
        </p:nvSpPr>
        <p:spPr>
          <a:xfrm>
            <a:off x="6409636" y="6708173"/>
            <a:ext cx="4347019" cy="1292662"/>
          </a:xfrm>
          <a:prstGeom prst="rect">
            <a:avLst/>
          </a:prstGeom>
        </p:spPr>
        <p:txBody>
          <a:bodyPr wrap="square" lIns="0" tIns="0" rIns="0" bIns="0" rtlCol="0" anchor="t">
            <a:spAutoFit/>
          </a:bodyPr>
          <a:lstStyle/>
          <a:p>
            <a:r>
              <a:rPr lang="en-US" sz="2800" b="1" dirty="0"/>
              <a:t>1,500 assistance per year to AMAPHIL-accredited PT centers or rehab doctors.</a:t>
            </a:r>
          </a:p>
        </p:txBody>
      </p:sp>
      <p:pic>
        <p:nvPicPr>
          <p:cNvPr id="37" name="Picture 36">
            <a:extLst>
              <a:ext uri="{FF2B5EF4-FFF2-40B4-BE49-F238E27FC236}">
                <a16:creationId xmlns:a16="http://schemas.microsoft.com/office/drawing/2014/main" id="{93BB29CF-1E14-4F3F-9B5C-7C82686BCB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
        <p:nvSpPr>
          <p:cNvPr id="41" name="Rectangle 40">
            <a:extLst>
              <a:ext uri="{FF2B5EF4-FFF2-40B4-BE49-F238E27FC236}">
                <a16:creationId xmlns:a16="http://schemas.microsoft.com/office/drawing/2014/main" id="{BD9545B3-0400-42BB-9B36-52440EB0AA17}"/>
              </a:ext>
            </a:extLst>
          </p:cNvPr>
          <p:cNvSpPr/>
          <p:nvPr/>
        </p:nvSpPr>
        <p:spPr>
          <a:xfrm>
            <a:off x="874307" y="2361861"/>
            <a:ext cx="9813991" cy="1107996"/>
          </a:xfrm>
          <a:prstGeom prst="rect">
            <a:avLst/>
          </a:prstGeom>
        </p:spPr>
        <p:txBody>
          <a:bodyPr wrap="square">
            <a:spAutoFit/>
          </a:bodyPr>
          <a:lstStyle/>
          <a:p>
            <a:r>
              <a:rPr lang="en-US" sz="6600" b="1" dirty="0">
                <a:solidFill>
                  <a:schemeClr val="accent6">
                    <a:lumMod val="75000"/>
                  </a:schemeClr>
                </a:solidFill>
              </a:rPr>
              <a:t>COVERED for all Variants </a:t>
            </a:r>
          </a:p>
        </p:txBody>
      </p:sp>
    </p:spTree>
    <p:extLst>
      <p:ext uri="{BB962C8B-B14F-4D97-AF65-F5344CB8AC3E}">
        <p14:creationId xmlns:p14="http://schemas.microsoft.com/office/powerpoint/2010/main" val="345423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43" grpId="0"/>
      <p:bldP spid="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8463855"/>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affiliated </a:t>
            </a:r>
          </a:p>
          <a:p>
            <a:r>
              <a:rPr lang="en-US" sz="3600" dirty="0">
                <a:latin typeface="+mj-lt"/>
              </a:rPr>
              <a:t>hospitals/clinics- </a:t>
            </a:r>
            <a:r>
              <a:rPr lang="en-US" sz="3600" b="1" dirty="0">
                <a:latin typeface="+mj-lt"/>
              </a:rPr>
              <a:t>100%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28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5" end="5"/>
                                            </p:txEl>
                                          </p:spTgt>
                                        </p:tgtEl>
                                        <p:attrNameLst>
                                          <p:attrName>style.visibility</p:attrName>
                                        </p:attrNameLst>
                                      </p:cBhvr>
                                      <p:to>
                                        <p:strVal val="visible"/>
                                      </p:to>
                                    </p:set>
                                    <p:animEffect transition="in" filter="fade">
                                      <p:cBhvr>
                                        <p:cTn id="18" dur="500"/>
                                        <p:tgtEl>
                                          <p:spTgt spid="2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animEffect transition="in" filter="fade">
                                      <p:cBhvr>
                                        <p:cTn id="21" dur="500"/>
                                        <p:tgtEl>
                                          <p:spTgt spid="2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7" end="7"/>
                                            </p:txEl>
                                          </p:spTgt>
                                        </p:tgtEl>
                                        <p:attrNameLst>
                                          <p:attrName>style.visibility</p:attrName>
                                        </p:attrNameLst>
                                      </p:cBhvr>
                                      <p:to>
                                        <p:strVal val="visible"/>
                                      </p:to>
                                    </p:set>
                                    <p:animEffect transition="in" filter="fade">
                                      <p:cBhvr>
                                        <p:cTn id="24" dur="500"/>
                                        <p:tgtEl>
                                          <p:spTgt spid="2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xEl>
                                              <p:pRg st="10" end="10"/>
                                            </p:txEl>
                                          </p:spTgt>
                                        </p:tgtEl>
                                        <p:attrNameLst>
                                          <p:attrName>style.visibility</p:attrName>
                                        </p:attrNameLst>
                                      </p:cBhvr>
                                      <p:to>
                                        <p:strVal val="visible"/>
                                      </p:to>
                                    </p:set>
                                    <p:animEffect transition="in" filter="fade">
                                      <p:cBhvr>
                                        <p:cTn id="29" dur="500"/>
                                        <p:tgtEl>
                                          <p:spTgt spid="2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11" end="11"/>
                                            </p:txEl>
                                          </p:spTgt>
                                        </p:tgtEl>
                                        <p:attrNameLst>
                                          <p:attrName>style.visibility</p:attrName>
                                        </p:attrNameLst>
                                      </p:cBhvr>
                                      <p:to>
                                        <p:strVal val="visible"/>
                                      </p:to>
                                    </p:set>
                                    <p:animEffect transition="in" filter="fade">
                                      <p:cBhvr>
                                        <p:cTn id="32" dur="500"/>
                                        <p:tgtEl>
                                          <p:spTgt spid="2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2" end="12"/>
                                            </p:txEl>
                                          </p:spTgt>
                                        </p:tgtEl>
                                        <p:attrNameLst>
                                          <p:attrName>style.visibility</p:attrName>
                                        </p:attrNameLst>
                                      </p:cBhvr>
                                      <p:to>
                                        <p:strVal val="visible"/>
                                      </p:to>
                                    </p:set>
                                    <p:animEffect transition="in" filter="fade">
                                      <p:cBhvr>
                                        <p:cTn id="35" dur="500"/>
                                        <p:tgtEl>
                                          <p:spTgt spid="23">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4" end="14"/>
                                            </p:txEl>
                                          </p:spTgt>
                                        </p:tgtEl>
                                        <p:attrNameLst>
                                          <p:attrName>style.visibility</p:attrName>
                                        </p:attrNameLst>
                                      </p:cBhvr>
                                      <p:to>
                                        <p:strVal val="visible"/>
                                      </p:to>
                                    </p:set>
                                    <p:animEffect transition="in" filter="fade">
                                      <p:cBhvr>
                                        <p:cTn id="40" dur="500"/>
                                        <p:tgtEl>
                                          <p:spTgt spid="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895600" y="77267"/>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ANNUAL PHYSICAL EXAM</a:t>
            </a:r>
          </a:p>
        </p:txBody>
      </p:sp>
      <p:sp>
        <p:nvSpPr>
          <p:cNvPr id="46" name="Freeform 10">
            <a:extLst>
              <a:ext uri="{FF2B5EF4-FFF2-40B4-BE49-F238E27FC236}">
                <a16:creationId xmlns:a16="http://schemas.microsoft.com/office/drawing/2014/main" id="{07E66B71-B7EA-41EC-9F2A-F76452F60932}"/>
              </a:ext>
            </a:extLst>
          </p:cNvPr>
          <p:cNvSpPr/>
          <p:nvPr/>
        </p:nvSpPr>
        <p:spPr>
          <a:xfrm>
            <a:off x="304800" y="17651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Physical Examination</a:t>
            </a:r>
          </a:p>
        </p:txBody>
      </p:sp>
      <p:sp>
        <p:nvSpPr>
          <p:cNvPr id="49" name="Freeform 10">
            <a:extLst>
              <a:ext uri="{FF2B5EF4-FFF2-40B4-BE49-F238E27FC236}">
                <a16:creationId xmlns:a16="http://schemas.microsoft.com/office/drawing/2014/main" id="{173C7550-566C-4AB4-8651-28A0DA5E209C}"/>
              </a:ext>
            </a:extLst>
          </p:cNvPr>
          <p:cNvSpPr/>
          <p:nvPr/>
        </p:nvSpPr>
        <p:spPr>
          <a:xfrm>
            <a:off x="387328" y="32129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Complete Blood Count</a:t>
            </a:r>
          </a:p>
        </p:txBody>
      </p:sp>
      <p:sp>
        <p:nvSpPr>
          <p:cNvPr id="50" name="Freeform 10">
            <a:extLst>
              <a:ext uri="{FF2B5EF4-FFF2-40B4-BE49-F238E27FC236}">
                <a16:creationId xmlns:a16="http://schemas.microsoft.com/office/drawing/2014/main" id="{C72B9FB4-EEAA-4F6F-A049-BAAAA1A593BA}"/>
              </a:ext>
            </a:extLst>
          </p:cNvPr>
          <p:cNvSpPr/>
          <p:nvPr/>
        </p:nvSpPr>
        <p:spPr>
          <a:xfrm>
            <a:off x="406378" y="46607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Urinalysis</a:t>
            </a:r>
          </a:p>
        </p:txBody>
      </p:sp>
      <p:sp>
        <p:nvSpPr>
          <p:cNvPr id="51" name="Freeform 10">
            <a:extLst>
              <a:ext uri="{FF2B5EF4-FFF2-40B4-BE49-F238E27FC236}">
                <a16:creationId xmlns:a16="http://schemas.microsoft.com/office/drawing/2014/main" id="{728E1E9D-4F4A-4CE9-94CA-C0A76706D33D}"/>
              </a:ext>
            </a:extLst>
          </p:cNvPr>
          <p:cNvSpPr/>
          <p:nvPr/>
        </p:nvSpPr>
        <p:spPr>
          <a:xfrm>
            <a:off x="406378" y="61085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err="1"/>
              <a:t>Fecalysis</a:t>
            </a:r>
            <a:endParaRPr lang="en-US" sz="7200" b="1" dirty="0"/>
          </a:p>
        </p:txBody>
      </p:sp>
      <p:sp>
        <p:nvSpPr>
          <p:cNvPr id="52" name="Freeform 10">
            <a:extLst>
              <a:ext uri="{FF2B5EF4-FFF2-40B4-BE49-F238E27FC236}">
                <a16:creationId xmlns:a16="http://schemas.microsoft.com/office/drawing/2014/main" id="{FBA0B63C-0835-477D-A478-287B88859E83}"/>
              </a:ext>
            </a:extLst>
          </p:cNvPr>
          <p:cNvSpPr/>
          <p:nvPr/>
        </p:nvSpPr>
        <p:spPr>
          <a:xfrm>
            <a:off x="349228" y="75563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Chest X-ray</a:t>
            </a:r>
          </a:p>
        </p:txBody>
      </p:sp>
      <p:pic>
        <p:nvPicPr>
          <p:cNvPr id="1026" name="Picture 2" descr="Examination - Free medical icons">
            <a:extLst>
              <a:ext uri="{FF2B5EF4-FFF2-40B4-BE49-F238E27FC236}">
                <a16:creationId xmlns:a16="http://schemas.microsoft.com/office/drawing/2014/main" id="{F7442293-6709-40F2-B28D-06175E30B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256174-88D6-4A8C-844B-71F4E7F7C1EC}"/>
              </a:ext>
            </a:extLst>
          </p:cNvPr>
          <p:cNvSpPr/>
          <p:nvPr/>
        </p:nvSpPr>
        <p:spPr>
          <a:xfrm>
            <a:off x="4116314" y="9095264"/>
            <a:ext cx="13409686" cy="1191736"/>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Can be availed at AMAPHIL accredited clinics with APE arrangements, or </a:t>
            </a:r>
            <a:r>
              <a:rPr lang="en-US" sz="3200" b="1" dirty="0">
                <a:latin typeface="+mj-lt"/>
                <a:ea typeface="MS Mincho" panose="02020609040205080304" pitchFamily="49" charset="-128"/>
                <a:cs typeface="Times New Roman" panose="02020603050405020304" pitchFamily="18" charset="0"/>
              </a:rPr>
              <a:t>APE assistance of up to ₱350</a:t>
            </a:r>
            <a:r>
              <a:rPr lang="en-US" sz="3200" dirty="0">
                <a:latin typeface="+mj-lt"/>
                <a:ea typeface="MS Mincho" panose="02020609040205080304" pitchFamily="49" charset="-128"/>
                <a:cs typeface="Times New Roman" panose="02020603050405020304" pitchFamily="18" charset="0"/>
              </a:rPr>
              <a:t>.</a:t>
            </a:r>
          </a:p>
        </p:txBody>
      </p:sp>
      <p:sp>
        <p:nvSpPr>
          <p:cNvPr id="22" name="Rectangle 21">
            <a:extLst>
              <a:ext uri="{FF2B5EF4-FFF2-40B4-BE49-F238E27FC236}">
                <a16:creationId xmlns:a16="http://schemas.microsoft.com/office/drawing/2014/main" id="{F24523FF-BEF5-48C2-9F53-8A8E8F981465}"/>
              </a:ext>
            </a:extLst>
          </p:cNvPr>
          <p:cNvSpPr/>
          <p:nvPr/>
        </p:nvSpPr>
        <p:spPr>
          <a:xfrm>
            <a:off x="6602872" y="858207"/>
            <a:ext cx="4641164" cy="584775"/>
          </a:xfrm>
          <a:prstGeom prst="rect">
            <a:avLst/>
          </a:prstGeom>
        </p:spPr>
        <p:txBody>
          <a:bodyPr wrap="square">
            <a:spAutoFit/>
          </a:bodyPr>
          <a:lstStyle/>
          <a:p>
            <a:r>
              <a:rPr lang="en-US" sz="3200" b="1" dirty="0">
                <a:solidFill>
                  <a:schemeClr val="accent6">
                    <a:lumMod val="75000"/>
                  </a:schemeClr>
                </a:solidFill>
              </a:rPr>
              <a:t>COVERED for all Variants </a:t>
            </a:r>
          </a:p>
        </p:txBody>
      </p:sp>
    </p:spTree>
    <p:extLst>
      <p:ext uri="{BB962C8B-B14F-4D97-AF65-F5344CB8AC3E}">
        <p14:creationId xmlns:p14="http://schemas.microsoft.com/office/powerpoint/2010/main" val="157007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7909858"/>
          </a:xfrm>
          <a:prstGeom prst="rect">
            <a:avLst/>
          </a:prstGeom>
          <a:noFill/>
        </p:spPr>
        <p:txBody>
          <a:bodyPr wrap="square" rtlCol="0">
            <a:spAutoFit/>
          </a:bodyPr>
          <a:lstStyle/>
          <a:p>
            <a:r>
              <a:rPr lang="en-US" sz="6000" b="1" dirty="0"/>
              <a:t>DENTAL CARE BENEFITS</a:t>
            </a:r>
          </a:p>
          <a:p>
            <a:endParaRPr lang="en-US" sz="3200" b="1" dirty="0"/>
          </a:p>
          <a:p>
            <a:r>
              <a:rPr lang="en-US" sz="3200" dirty="0"/>
              <a:t>a.	Free &amp; unlimited consultation &amp; dental examinations</a:t>
            </a:r>
          </a:p>
          <a:p>
            <a:pPr marL="457200" indent="-457200">
              <a:buAutoNum type="alphaLcPeriod" startAt="2"/>
            </a:pPr>
            <a:r>
              <a:rPr lang="en-US" sz="3200" dirty="0"/>
              <a:t>     Simple tooth extraction, except surgery for impaction </a:t>
            </a:r>
          </a:p>
          <a:p>
            <a:r>
              <a:rPr lang="en-US" sz="3200" dirty="0"/>
              <a:t>          (unlimited/maximum of 3 teeth per day)</a:t>
            </a:r>
          </a:p>
          <a:p>
            <a:r>
              <a:rPr lang="en-US" sz="3200" dirty="0"/>
              <a:t>c.	Temporary fillings (up to 3 times a year)</a:t>
            </a:r>
          </a:p>
          <a:p>
            <a:pPr marL="457200" indent="-457200">
              <a:buAutoNum type="alphaLcPeriod" startAt="4"/>
            </a:pPr>
            <a:r>
              <a:rPr lang="en-US" sz="3200" dirty="0"/>
              <a:t>     Twice a year oral prophylaxis (mild to moderate) which can be availed of </a:t>
            </a:r>
          </a:p>
          <a:p>
            <a:r>
              <a:rPr lang="en-US" sz="3200" dirty="0"/>
              <a:t>          after active membership (premium paid)/ succeeding may be availed of</a:t>
            </a:r>
          </a:p>
          <a:p>
            <a:r>
              <a:rPr lang="en-US" sz="3200" dirty="0"/>
              <a:t>          six (6) months thereafter</a:t>
            </a:r>
          </a:p>
          <a:p>
            <a:r>
              <a:rPr lang="en-US" sz="3200" dirty="0"/>
              <a:t>e.	Adjustment of dentures</a:t>
            </a:r>
          </a:p>
          <a:p>
            <a:r>
              <a:rPr lang="en-US" sz="3200" dirty="0"/>
              <a:t>f.	</a:t>
            </a:r>
            <a:r>
              <a:rPr lang="en-US" sz="3200" dirty="0" err="1"/>
              <a:t>Recementation</a:t>
            </a:r>
            <a:r>
              <a:rPr lang="en-US" sz="3200" dirty="0"/>
              <a:t> of jacket crown inlays and </a:t>
            </a:r>
            <a:r>
              <a:rPr lang="en-US" sz="3200" dirty="0" err="1"/>
              <a:t>onlays</a:t>
            </a:r>
            <a:endParaRPr lang="en-US" sz="3200" dirty="0"/>
          </a:p>
          <a:p>
            <a:r>
              <a:rPr lang="en-US" sz="3200" dirty="0"/>
              <a:t>g.	Treatment of dental related pain excluding cost of prescribed medicines</a:t>
            </a:r>
          </a:p>
          <a:p>
            <a:r>
              <a:rPr lang="en-US" sz="3200" dirty="0"/>
              <a:t>h.	Emergency desensitization of hypersensitive teeth</a:t>
            </a:r>
          </a:p>
          <a:p>
            <a:r>
              <a:rPr lang="en-US" sz="3200" dirty="0" err="1"/>
              <a:t>i</a:t>
            </a:r>
            <a:r>
              <a:rPr lang="en-US" sz="3200" dirty="0"/>
              <a:t>.	Annual dental examination (within the dentist’s dental clinic only)</a:t>
            </a:r>
          </a:p>
          <a:p>
            <a:r>
              <a:rPr lang="en-US" sz="3200" dirty="0"/>
              <a:t>j.	Orthodontic and aesthetic dental consultation</a:t>
            </a:r>
          </a:p>
        </p:txBody>
      </p:sp>
      <p:sp>
        <p:nvSpPr>
          <p:cNvPr id="22" name="Rectangle 21">
            <a:extLst>
              <a:ext uri="{FF2B5EF4-FFF2-40B4-BE49-F238E27FC236}">
                <a16:creationId xmlns:a16="http://schemas.microsoft.com/office/drawing/2014/main" id="{8AF5F82C-82BF-4D6B-B27A-1BEE0133F04A}"/>
              </a:ext>
            </a:extLst>
          </p:cNvPr>
          <p:cNvSpPr/>
          <p:nvPr/>
        </p:nvSpPr>
        <p:spPr>
          <a:xfrm>
            <a:off x="1981200" y="723900"/>
            <a:ext cx="10287000" cy="584775"/>
          </a:xfrm>
          <a:prstGeom prst="rect">
            <a:avLst/>
          </a:prstGeom>
        </p:spPr>
        <p:txBody>
          <a:bodyPr wrap="square">
            <a:spAutoFit/>
          </a:bodyPr>
          <a:lstStyle/>
          <a:p>
            <a:r>
              <a:rPr lang="en-US" sz="3200" b="1" dirty="0">
                <a:solidFill>
                  <a:schemeClr val="accent6">
                    <a:lumMod val="75000"/>
                  </a:schemeClr>
                </a:solidFill>
              </a:rPr>
              <a:t>COVERED for </a:t>
            </a:r>
            <a:r>
              <a:rPr lang="en-US" sz="3200" b="1" dirty="0" err="1">
                <a:solidFill>
                  <a:schemeClr val="accent6">
                    <a:lumMod val="75000"/>
                  </a:schemeClr>
                </a:solidFill>
              </a:rPr>
              <a:t>CorpoAide</a:t>
            </a:r>
            <a:r>
              <a:rPr lang="en-US" sz="3200" b="1" dirty="0">
                <a:solidFill>
                  <a:schemeClr val="accent6">
                    <a:lumMod val="75000"/>
                  </a:schemeClr>
                </a:solidFill>
              </a:rPr>
              <a:t>, </a:t>
            </a:r>
            <a:r>
              <a:rPr lang="en-US" sz="3200" b="1" dirty="0" err="1">
                <a:solidFill>
                  <a:schemeClr val="accent6">
                    <a:lumMod val="75000"/>
                  </a:schemeClr>
                </a:solidFill>
              </a:rPr>
              <a:t>CorpoPlus</a:t>
            </a:r>
            <a:r>
              <a:rPr lang="en-US" sz="3200" b="1" dirty="0">
                <a:solidFill>
                  <a:schemeClr val="accent6">
                    <a:lumMod val="75000"/>
                  </a:schemeClr>
                </a:solidFill>
              </a:rPr>
              <a:t> and </a:t>
            </a:r>
            <a:r>
              <a:rPr lang="en-US" sz="3200" b="1" dirty="0" err="1">
                <a:solidFill>
                  <a:schemeClr val="accent6">
                    <a:lumMod val="75000"/>
                  </a:schemeClr>
                </a:solidFill>
              </a:rPr>
              <a:t>CorpoMax</a:t>
            </a:r>
            <a:r>
              <a:rPr lang="en-US" sz="3200" b="1" dirty="0">
                <a:solidFill>
                  <a:schemeClr val="accent6">
                    <a:lumMod val="75000"/>
                  </a:schemeClr>
                </a:solidFill>
              </a:rPr>
              <a:t> only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3">
                                            <p:txEl>
                                              <p:pRg st="2" end="2"/>
                                            </p:txEl>
                                          </p:spTgt>
                                        </p:tgtEl>
                                        <p:attrNameLst>
                                          <p:attrName>style.visibility</p:attrName>
                                        </p:attrNameLst>
                                      </p:cBhvr>
                                      <p:to>
                                        <p:strVal val="visible"/>
                                      </p:to>
                                    </p:set>
                                    <p:animEffect transition="in" filter="fade">
                                      <p:cBhvr>
                                        <p:cTn id="15" dur="500"/>
                                        <p:tgtEl>
                                          <p:spTgt spid="5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3">
                                            <p:txEl>
                                              <p:pRg st="3" end="3"/>
                                            </p:txEl>
                                          </p:spTgt>
                                        </p:tgtEl>
                                        <p:attrNameLst>
                                          <p:attrName>style.visibility</p:attrName>
                                        </p:attrNameLst>
                                      </p:cBhvr>
                                      <p:to>
                                        <p:strVal val="visible"/>
                                      </p:to>
                                    </p:set>
                                    <p:animEffect transition="in" filter="fade">
                                      <p:cBhvr>
                                        <p:cTn id="20" dur="500"/>
                                        <p:tgtEl>
                                          <p:spTgt spid="5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3">
                                            <p:txEl>
                                              <p:pRg st="4" end="4"/>
                                            </p:txEl>
                                          </p:spTgt>
                                        </p:tgtEl>
                                        <p:attrNameLst>
                                          <p:attrName>style.visibility</p:attrName>
                                        </p:attrNameLst>
                                      </p:cBhvr>
                                      <p:to>
                                        <p:strVal val="visible"/>
                                      </p:to>
                                    </p:set>
                                    <p:animEffect transition="in" filter="fade">
                                      <p:cBhvr>
                                        <p:cTn id="23" dur="500"/>
                                        <p:tgtEl>
                                          <p:spTgt spid="5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3">
                                            <p:txEl>
                                              <p:pRg st="5" end="5"/>
                                            </p:txEl>
                                          </p:spTgt>
                                        </p:tgtEl>
                                        <p:attrNameLst>
                                          <p:attrName>style.visibility</p:attrName>
                                        </p:attrNameLst>
                                      </p:cBhvr>
                                      <p:to>
                                        <p:strVal val="visible"/>
                                      </p:to>
                                    </p:set>
                                    <p:animEffect transition="in" filter="fade">
                                      <p:cBhvr>
                                        <p:cTn id="28" dur="500"/>
                                        <p:tgtEl>
                                          <p:spTgt spid="5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3">
                                            <p:txEl>
                                              <p:pRg st="6" end="6"/>
                                            </p:txEl>
                                          </p:spTgt>
                                        </p:tgtEl>
                                        <p:attrNameLst>
                                          <p:attrName>style.visibility</p:attrName>
                                        </p:attrNameLst>
                                      </p:cBhvr>
                                      <p:to>
                                        <p:strVal val="visible"/>
                                      </p:to>
                                    </p:set>
                                    <p:animEffect transition="in" filter="fade">
                                      <p:cBhvr>
                                        <p:cTn id="33" dur="500"/>
                                        <p:tgtEl>
                                          <p:spTgt spid="5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3">
                                            <p:txEl>
                                              <p:pRg st="7" end="7"/>
                                            </p:txEl>
                                          </p:spTgt>
                                        </p:tgtEl>
                                        <p:attrNameLst>
                                          <p:attrName>style.visibility</p:attrName>
                                        </p:attrNameLst>
                                      </p:cBhvr>
                                      <p:to>
                                        <p:strVal val="visible"/>
                                      </p:to>
                                    </p:set>
                                    <p:animEffect transition="in" filter="fade">
                                      <p:cBhvr>
                                        <p:cTn id="36" dur="500"/>
                                        <p:tgtEl>
                                          <p:spTgt spid="5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3">
                                            <p:txEl>
                                              <p:pRg st="8" end="8"/>
                                            </p:txEl>
                                          </p:spTgt>
                                        </p:tgtEl>
                                        <p:attrNameLst>
                                          <p:attrName>style.visibility</p:attrName>
                                        </p:attrNameLst>
                                      </p:cBhvr>
                                      <p:to>
                                        <p:strVal val="visible"/>
                                      </p:to>
                                    </p:set>
                                    <p:animEffect transition="in" filter="fade">
                                      <p:cBhvr>
                                        <p:cTn id="39" dur="500"/>
                                        <p:tgtEl>
                                          <p:spTgt spid="5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3">
                                            <p:txEl>
                                              <p:pRg st="9" end="9"/>
                                            </p:txEl>
                                          </p:spTgt>
                                        </p:tgtEl>
                                        <p:attrNameLst>
                                          <p:attrName>style.visibility</p:attrName>
                                        </p:attrNameLst>
                                      </p:cBhvr>
                                      <p:to>
                                        <p:strVal val="visible"/>
                                      </p:to>
                                    </p:set>
                                    <p:animEffect transition="in" filter="fade">
                                      <p:cBhvr>
                                        <p:cTn id="44" dur="500"/>
                                        <p:tgtEl>
                                          <p:spTgt spid="5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3">
                                            <p:txEl>
                                              <p:pRg st="10" end="10"/>
                                            </p:txEl>
                                          </p:spTgt>
                                        </p:tgtEl>
                                        <p:attrNameLst>
                                          <p:attrName>style.visibility</p:attrName>
                                        </p:attrNameLst>
                                      </p:cBhvr>
                                      <p:to>
                                        <p:strVal val="visible"/>
                                      </p:to>
                                    </p:set>
                                    <p:animEffect transition="in" filter="fade">
                                      <p:cBhvr>
                                        <p:cTn id="49" dur="500"/>
                                        <p:tgtEl>
                                          <p:spTgt spid="5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3">
                                            <p:txEl>
                                              <p:pRg st="11" end="11"/>
                                            </p:txEl>
                                          </p:spTgt>
                                        </p:tgtEl>
                                        <p:attrNameLst>
                                          <p:attrName>style.visibility</p:attrName>
                                        </p:attrNameLst>
                                      </p:cBhvr>
                                      <p:to>
                                        <p:strVal val="visible"/>
                                      </p:to>
                                    </p:set>
                                    <p:animEffect transition="in" filter="fade">
                                      <p:cBhvr>
                                        <p:cTn id="54" dur="500"/>
                                        <p:tgtEl>
                                          <p:spTgt spid="53">
                                            <p:txEl>
                                              <p:pRg st="11" end="1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3">
                                            <p:txEl>
                                              <p:pRg st="12" end="12"/>
                                            </p:txEl>
                                          </p:spTgt>
                                        </p:tgtEl>
                                        <p:attrNameLst>
                                          <p:attrName>style.visibility</p:attrName>
                                        </p:attrNameLst>
                                      </p:cBhvr>
                                      <p:to>
                                        <p:strVal val="visible"/>
                                      </p:to>
                                    </p:set>
                                    <p:animEffect transition="in" filter="fade">
                                      <p:cBhvr>
                                        <p:cTn id="59" dur="500"/>
                                        <p:tgtEl>
                                          <p:spTgt spid="53">
                                            <p:txEl>
                                              <p:pRg st="12" end="1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3">
                                            <p:txEl>
                                              <p:pRg st="13" end="13"/>
                                            </p:txEl>
                                          </p:spTgt>
                                        </p:tgtEl>
                                        <p:attrNameLst>
                                          <p:attrName>style.visibility</p:attrName>
                                        </p:attrNameLst>
                                      </p:cBhvr>
                                      <p:to>
                                        <p:strVal val="visible"/>
                                      </p:to>
                                    </p:set>
                                    <p:animEffect transition="in" filter="fade">
                                      <p:cBhvr>
                                        <p:cTn id="64" dur="500"/>
                                        <p:tgtEl>
                                          <p:spTgt spid="53">
                                            <p:txEl>
                                              <p:pRg st="13" end="13"/>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3">
                                            <p:txEl>
                                              <p:pRg st="14" end="14"/>
                                            </p:txEl>
                                          </p:spTgt>
                                        </p:tgtEl>
                                        <p:attrNameLst>
                                          <p:attrName>style.visibility</p:attrName>
                                        </p:attrNameLst>
                                      </p:cBhvr>
                                      <p:to>
                                        <p:strVal val="visible"/>
                                      </p:to>
                                    </p:set>
                                    <p:animEffect transition="in" filter="fade">
                                      <p:cBhvr>
                                        <p:cTn id="69" dur="500"/>
                                        <p:tgtEl>
                                          <p:spTgt spid="5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946297" y="286749"/>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FINANCIAL ASSISTANCE</a:t>
            </a:r>
          </a:p>
        </p:txBody>
      </p:sp>
      <p:graphicFrame>
        <p:nvGraphicFramePr>
          <p:cNvPr id="17" name="Table 16">
            <a:extLst>
              <a:ext uri="{FF2B5EF4-FFF2-40B4-BE49-F238E27FC236}">
                <a16:creationId xmlns:a16="http://schemas.microsoft.com/office/drawing/2014/main" id="{2DDC877B-1A5F-4F25-8879-E2BED0B4B1BD}"/>
              </a:ext>
            </a:extLst>
          </p:cNvPr>
          <p:cNvGraphicFramePr>
            <a:graphicFrameLocks noGrp="1"/>
          </p:cNvGraphicFramePr>
          <p:nvPr>
            <p:extLst>
              <p:ext uri="{D42A27DB-BD31-4B8C-83A1-F6EECF244321}">
                <p14:modId xmlns:p14="http://schemas.microsoft.com/office/powerpoint/2010/main" val="265420411"/>
              </p:ext>
            </p:extLst>
          </p:nvPr>
        </p:nvGraphicFramePr>
        <p:xfrm>
          <a:off x="50807" y="1229314"/>
          <a:ext cx="16581662" cy="6258988"/>
        </p:xfrm>
        <a:graphic>
          <a:graphicData uri="http://schemas.openxmlformats.org/drawingml/2006/table">
            <a:tbl>
              <a:tblPr firstRow="1" firstCol="1" bandRow="1">
                <a:tableStyleId>{5C22544A-7EE6-4342-B048-85BDC9FD1C3A}</a:tableStyleId>
              </a:tblPr>
              <a:tblGrid>
                <a:gridCol w="5634788">
                  <a:extLst>
                    <a:ext uri="{9D8B030D-6E8A-4147-A177-3AD203B41FA5}">
                      <a16:colId xmlns:a16="http://schemas.microsoft.com/office/drawing/2014/main" val="2196676966"/>
                    </a:ext>
                  </a:extLst>
                </a:gridCol>
                <a:gridCol w="3558518">
                  <a:extLst>
                    <a:ext uri="{9D8B030D-6E8A-4147-A177-3AD203B41FA5}">
                      <a16:colId xmlns:a16="http://schemas.microsoft.com/office/drawing/2014/main" val="129045541"/>
                    </a:ext>
                  </a:extLst>
                </a:gridCol>
                <a:gridCol w="3581400">
                  <a:extLst>
                    <a:ext uri="{9D8B030D-6E8A-4147-A177-3AD203B41FA5}">
                      <a16:colId xmlns:a16="http://schemas.microsoft.com/office/drawing/2014/main" val="1073770237"/>
                    </a:ext>
                  </a:extLst>
                </a:gridCol>
                <a:gridCol w="3806956">
                  <a:extLst>
                    <a:ext uri="{9D8B030D-6E8A-4147-A177-3AD203B41FA5}">
                      <a16:colId xmlns:a16="http://schemas.microsoft.com/office/drawing/2014/main" val="3878682130"/>
                    </a:ext>
                  </a:extLst>
                </a:gridCol>
              </a:tblGrid>
              <a:tr h="868539">
                <a:tc>
                  <a:txBody>
                    <a:bodyPr/>
                    <a:lstStyle/>
                    <a:p>
                      <a:pPr marL="0" marR="0" algn="ctr">
                        <a:lnSpc>
                          <a:spcPct val="115000"/>
                        </a:lnSpc>
                        <a:spcBef>
                          <a:spcPts val="0"/>
                        </a:spcBef>
                        <a:spcAft>
                          <a:spcPts val="1000"/>
                        </a:spcAft>
                      </a:pPr>
                      <a:r>
                        <a:rPr lang="en-US" sz="4000" dirty="0">
                          <a:effectLst/>
                        </a:rPr>
                        <a:t>Benefit Type</a:t>
                      </a:r>
                      <a:endParaRPr lang="en-US" sz="40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chemeClr val="tx2">
                        <a:lumMod val="75000"/>
                      </a:schemeClr>
                    </a:solidFill>
                  </a:tcPr>
                </a:tc>
                <a:tc>
                  <a:txBody>
                    <a:bodyPr/>
                    <a:lstStyle/>
                    <a:p>
                      <a:pPr marL="0" marR="0" algn="ctr">
                        <a:lnSpc>
                          <a:spcPct val="115000"/>
                        </a:lnSpc>
                        <a:spcBef>
                          <a:spcPts val="0"/>
                        </a:spcBef>
                        <a:spcAft>
                          <a:spcPts val="1000"/>
                        </a:spcAft>
                      </a:pPr>
                      <a:r>
                        <a:rPr lang="en-US" sz="4000">
                          <a:effectLst/>
                        </a:rPr>
                        <a:t>CorpoAide</a:t>
                      </a:r>
                      <a:endParaRPr lang="en-US" sz="400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chemeClr val="tx2">
                        <a:lumMod val="75000"/>
                      </a:schemeClr>
                    </a:solidFill>
                  </a:tcPr>
                </a:tc>
                <a:tc>
                  <a:txBody>
                    <a:bodyPr/>
                    <a:lstStyle/>
                    <a:p>
                      <a:pPr marL="0" marR="0" algn="ctr">
                        <a:lnSpc>
                          <a:spcPct val="115000"/>
                        </a:lnSpc>
                        <a:spcBef>
                          <a:spcPts val="0"/>
                        </a:spcBef>
                        <a:spcAft>
                          <a:spcPts val="1000"/>
                        </a:spcAft>
                      </a:pPr>
                      <a:r>
                        <a:rPr lang="en-US" sz="4000" dirty="0" err="1">
                          <a:effectLst/>
                        </a:rPr>
                        <a:t>CorpoPlus</a:t>
                      </a:r>
                      <a:endParaRPr lang="en-US" sz="40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chemeClr val="tx2">
                        <a:lumMod val="75000"/>
                      </a:schemeClr>
                    </a:solidFill>
                  </a:tcPr>
                </a:tc>
                <a:tc>
                  <a:txBody>
                    <a:bodyPr/>
                    <a:lstStyle/>
                    <a:p>
                      <a:pPr marL="0" marR="0" algn="ctr">
                        <a:lnSpc>
                          <a:spcPct val="115000"/>
                        </a:lnSpc>
                        <a:spcBef>
                          <a:spcPts val="0"/>
                        </a:spcBef>
                        <a:spcAft>
                          <a:spcPts val="1000"/>
                        </a:spcAft>
                      </a:pPr>
                      <a:r>
                        <a:rPr lang="en-US" sz="4000" dirty="0" err="1">
                          <a:effectLst/>
                        </a:rPr>
                        <a:t>CorpoMax</a:t>
                      </a:r>
                      <a:endParaRPr lang="en-US" sz="4000" dirty="0">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chemeClr val="tx2">
                        <a:lumMod val="75000"/>
                      </a:schemeClr>
                    </a:solidFill>
                  </a:tcPr>
                </a:tc>
                <a:extLst>
                  <a:ext uri="{0D108BD9-81ED-4DB2-BD59-A6C34878D82A}">
                    <a16:rowId xmlns:a16="http://schemas.microsoft.com/office/drawing/2014/main" val="2849165512"/>
                  </a:ext>
                </a:extLst>
              </a:tr>
              <a:tr h="1629696">
                <a:tc>
                  <a:txBody>
                    <a:bodyPr/>
                    <a:lstStyle/>
                    <a:p>
                      <a:pPr marL="0" marR="0" algn="ctr">
                        <a:lnSpc>
                          <a:spcPct val="115000"/>
                        </a:lnSpc>
                        <a:spcBef>
                          <a:spcPts val="0"/>
                        </a:spcBef>
                        <a:spcAft>
                          <a:spcPts val="1000"/>
                        </a:spcAft>
                      </a:pPr>
                      <a:r>
                        <a:rPr lang="en-US" sz="4000" b="1" dirty="0">
                          <a:solidFill>
                            <a:schemeClr val="bg1"/>
                          </a:solidFill>
                          <a:effectLst/>
                        </a:rPr>
                        <a:t>Accidental Death &amp; Disablement</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₱100,000.00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4000" b="1" dirty="0">
                          <a:solidFill>
                            <a:schemeClr val="bg1"/>
                          </a:solidFill>
                          <a:effectLst/>
                        </a:rPr>
                        <a:t>₱100,000.00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4000" b="1" dirty="0">
                          <a:solidFill>
                            <a:schemeClr val="bg1"/>
                          </a:solidFill>
                          <a:effectLst/>
                        </a:rPr>
                        <a:t>₱100,000.00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978021581"/>
                  </a:ext>
                </a:extLst>
              </a:tr>
              <a:tr h="2262137">
                <a:tc>
                  <a:txBody>
                    <a:bodyPr/>
                    <a:lstStyle/>
                    <a:p>
                      <a:pPr marL="0" marR="0" algn="ctr">
                        <a:lnSpc>
                          <a:spcPct val="115000"/>
                        </a:lnSpc>
                        <a:spcBef>
                          <a:spcPts val="0"/>
                        </a:spcBef>
                        <a:spcAft>
                          <a:spcPts val="1000"/>
                        </a:spcAft>
                      </a:pPr>
                      <a:r>
                        <a:rPr lang="en-US" sz="4000" b="1" dirty="0">
                          <a:solidFill>
                            <a:schemeClr val="bg1"/>
                          </a:solidFill>
                          <a:effectLst/>
                        </a:rPr>
                        <a:t>Burial Expense</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3256656809"/>
                  </a:ext>
                </a:extLst>
              </a:tr>
              <a:tr h="1498616">
                <a:tc>
                  <a:txBody>
                    <a:bodyPr/>
                    <a:lstStyle/>
                    <a:p>
                      <a:pPr marL="0" marR="0" algn="ctr">
                        <a:lnSpc>
                          <a:spcPct val="115000"/>
                        </a:lnSpc>
                        <a:spcBef>
                          <a:spcPts val="0"/>
                        </a:spcBef>
                        <a:spcAft>
                          <a:spcPts val="1000"/>
                        </a:spcAft>
                      </a:pPr>
                      <a:r>
                        <a:rPr lang="en-US" sz="4000" b="1" kern="1200" dirty="0">
                          <a:solidFill>
                            <a:schemeClr val="lt1"/>
                          </a:solidFill>
                          <a:latin typeface="+mn-lt"/>
                          <a:ea typeface="Arial MT" panose="020B0604020202020204" charset="0"/>
                          <a:cs typeface="Arial MT" panose="020B0604020202020204" charset="0"/>
                        </a:rPr>
                        <a:t>Unprovoked murder and assault </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tc>
                  <a:txBody>
                    <a:bodyPr/>
                    <a:lstStyle/>
                    <a:p>
                      <a:pPr marL="0" marR="0" algn="ctr">
                        <a:lnSpc>
                          <a:spcPct val="115000"/>
                        </a:lnSpc>
                        <a:spcBef>
                          <a:spcPts val="0"/>
                        </a:spcBef>
                        <a:spcAft>
                          <a:spcPts val="1000"/>
                        </a:spcAft>
                      </a:pPr>
                      <a:r>
                        <a:rPr lang="en-US" sz="4000" b="1" dirty="0">
                          <a:solidFill>
                            <a:schemeClr val="bg1"/>
                          </a:solidFill>
                          <a:effectLst/>
                        </a:rPr>
                        <a:t>₱50,000.00</a:t>
                      </a:r>
                      <a:endParaRPr lang="en-US" sz="4000" b="1"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9525" marR="9525" marT="9525" marB="9525" anchor="ctr">
                    <a:solidFill>
                      <a:srgbClr val="F68712"/>
                    </a:solidFill>
                  </a:tcPr>
                </a:tc>
                <a:extLst>
                  <a:ext uri="{0D108BD9-81ED-4DB2-BD59-A6C34878D82A}">
                    <a16:rowId xmlns:a16="http://schemas.microsoft.com/office/drawing/2014/main" val="1596001087"/>
                  </a:ext>
                </a:extLst>
              </a:tr>
            </a:tbl>
          </a:graphicData>
        </a:graphic>
      </p:graphicFrame>
      <p:sp>
        <p:nvSpPr>
          <p:cNvPr id="2" name="TextBox 1">
            <a:extLst>
              <a:ext uri="{FF2B5EF4-FFF2-40B4-BE49-F238E27FC236}">
                <a16:creationId xmlns:a16="http://schemas.microsoft.com/office/drawing/2014/main" id="{943910F4-86A8-4821-91D6-995F90CD476F}"/>
              </a:ext>
            </a:extLst>
          </p:cNvPr>
          <p:cNvSpPr txBox="1"/>
          <p:nvPr/>
        </p:nvSpPr>
        <p:spPr>
          <a:xfrm>
            <a:off x="914400" y="8591158"/>
            <a:ext cx="9556386" cy="584775"/>
          </a:xfrm>
          <a:prstGeom prst="rect">
            <a:avLst/>
          </a:prstGeom>
          <a:noFill/>
        </p:spPr>
        <p:txBody>
          <a:bodyPr wrap="square" rtlCol="0">
            <a:spAutoFit/>
          </a:bodyPr>
          <a:lstStyle/>
          <a:p>
            <a:r>
              <a:rPr lang="en-US" sz="3200" b="1" dirty="0">
                <a:solidFill>
                  <a:srgbClr val="FF0000"/>
                </a:solidFill>
              </a:rPr>
              <a:t>Note: No Financial Assistance for </a:t>
            </a:r>
            <a:r>
              <a:rPr lang="en-US" sz="3200" b="1" dirty="0" err="1">
                <a:solidFill>
                  <a:srgbClr val="FF0000"/>
                </a:solidFill>
              </a:rPr>
              <a:t>CorpoServe</a:t>
            </a:r>
            <a:endParaRPr lang="en-PH" sz="3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PREMIUM-Principals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graphicFrame>
        <p:nvGraphicFramePr>
          <p:cNvPr id="10" name="Table 9">
            <a:extLst>
              <a:ext uri="{FF2B5EF4-FFF2-40B4-BE49-F238E27FC236}">
                <a16:creationId xmlns:a16="http://schemas.microsoft.com/office/drawing/2014/main" id="{C8249287-F16D-4412-AF9D-0888CB89346A}"/>
              </a:ext>
            </a:extLst>
          </p:cNvPr>
          <p:cNvGraphicFramePr>
            <a:graphicFrameLocks noGrp="1"/>
          </p:cNvGraphicFramePr>
          <p:nvPr>
            <p:extLst>
              <p:ext uri="{D42A27DB-BD31-4B8C-83A1-F6EECF244321}">
                <p14:modId xmlns:p14="http://schemas.microsoft.com/office/powerpoint/2010/main" val="400959972"/>
              </p:ext>
            </p:extLst>
          </p:nvPr>
        </p:nvGraphicFramePr>
        <p:xfrm>
          <a:off x="97753" y="2002618"/>
          <a:ext cx="18133280" cy="7276701"/>
        </p:xfrm>
        <a:graphic>
          <a:graphicData uri="http://schemas.openxmlformats.org/drawingml/2006/table">
            <a:tbl>
              <a:tblPr/>
              <a:tblGrid>
                <a:gridCol w="2991055">
                  <a:extLst>
                    <a:ext uri="{9D8B030D-6E8A-4147-A177-3AD203B41FA5}">
                      <a16:colId xmlns:a16="http://schemas.microsoft.com/office/drawing/2014/main" val="3752031797"/>
                    </a:ext>
                  </a:extLst>
                </a:gridCol>
                <a:gridCol w="2964619">
                  <a:extLst>
                    <a:ext uri="{9D8B030D-6E8A-4147-A177-3AD203B41FA5}">
                      <a16:colId xmlns:a16="http://schemas.microsoft.com/office/drawing/2014/main" val="1252804144"/>
                    </a:ext>
                  </a:extLst>
                </a:gridCol>
                <a:gridCol w="2709573">
                  <a:extLst>
                    <a:ext uri="{9D8B030D-6E8A-4147-A177-3AD203B41FA5}">
                      <a16:colId xmlns:a16="http://schemas.microsoft.com/office/drawing/2014/main" val="4260460310"/>
                    </a:ext>
                  </a:extLst>
                </a:gridCol>
                <a:gridCol w="2971800">
                  <a:extLst>
                    <a:ext uri="{9D8B030D-6E8A-4147-A177-3AD203B41FA5}">
                      <a16:colId xmlns:a16="http://schemas.microsoft.com/office/drawing/2014/main" val="4232773868"/>
                    </a:ext>
                  </a:extLst>
                </a:gridCol>
                <a:gridCol w="3352800">
                  <a:extLst>
                    <a:ext uri="{9D8B030D-6E8A-4147-A177-3AD203B41FA5}">
                      <a16:colId xmlns:a16="http://schemas.microsoft.com/office/drawing/2014/main" val="1793667562"/>
                    </a:ext>
                  </a:extLst>
                </a:gridCol>
                <a:gridCol w="3143433">
                  <a:extLst>
                    <a:ext uri="{9D8B030D-6E8A-4147-A177-3AD203B41FA5}">
                      <a16:colId xmlns:a16="http://schemas.microsoft.com/office/drawing/2014/main" val="848635862"/>
                    </a:ext>
                  </a:extLst>
                </a:gridCol>
              </a:tblGrid>
              <a:tr h="1220317">
                <a:tc>
                  <a:txBody>
                    <a:bodyPr/>
                    <a:lstStyle/>
                    <a:p>
                      <a:pPr algn="ctr" fontAlgn="ctr"/>
                      <a:r>
                        <a:rPr lang="en-US" sz="3600" b="1" i="0" u="none" strike="noStrike" dirty="0">
                          <a:solidFill>
                            <a:srgbClr val="FFFFFF"/>
                          </a:solidFill>
                          <a:effectLst/>
                          <a:latin typeface="Calibri" panose="020F0502020204030204" pitchFamily="34" charset="0"/>
                        </a:rPr>
                        <a:t>Number of Members</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a:solidFill>
                            <a:srgbClr val="FFFFFF"/>
                          </a:solidFill>
                          <a:effectLst/>
                          <a:latin typeface="Calibri" panose="020F0502020204030204" pitchFamily="34" charset="0"/>
                        </a:rPr>
                        <a:t>Mode of Payment</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CorpoServe</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CorpoAide</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CorpoPlus</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CorpoMax</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172892748"/>
                  </a:ext>
                </a:extLst>
              </a:tr>
              <a:tr h="1514096">
                <a:tc rowSpan="2">
                  <a:txBody>
                    <a:bodyPr/>
                    <a:lstStyle/>
                    <a:p>
                      <a:pPr algn="ctr" fontAlgn="ctr"/>
                      <a:r>
                        <a:rPr lang="en-US" sz="3600" b="1" i="0" u="none" strike="noStrike" dirty="0">
                          <a:solidFill>
                            <a:schemeClr val="bg1"/>
                          </a:solidFill>
                          <a:effectLst/>
                          <a:latin typeface="Calibri" panose="020F0502020204030204" pitchFamily="34" charset="0"/>
                        </a:rPr>
                        <a:t>For 5-49 Members</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4,740</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6,048</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10,584</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15,876</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362545255"/>
                  </a:ext>
                </a:extLst>
              </a:tr>
              <a:tr h="1514096">
                <a:tc vMerge="1">
                  <a:txBody>
                    <a:bodyPr/>
                    <a:lstStyle/>
                    <a:p>
                      <a:endParaRPr lang="en-US"/>
                    </a:p>
                  </a:txBody>
                  <a:tcPr/>
                </a:tc>
                <a:tc>
                  <a:txBody>
                    <a:bodyPr/>
                    <a:lstStyle/>
                    <a:p>
                      <a:pPr algn="ctr" fontAlgn="ctr"/>
                      <a:r>
                        <a:rPr lang="en-US" sz="3600" b="1" i="0" u="none" strike="noStrike" dirty="0">
                          <a:solidFill>
                            <a:schemeClr val="bg1"/>
                          </a:solidFill>
                          <a:effectLst/>
                          <a:latin typeface="Calibri" panose="020F0502020204030204" pitchFamily="34" charset="0"/>
                        </a:rPr>
                        <a:t>Semi-Annual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2,559</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3,266</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5,716</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8,574</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2313087592"/>
                  </a:ext>
                </a:extLst>
              </a:tr>
              <a:tr h="1514096">
                <a:tc rowSpan="2">
                  <a:txBody>
                    <a:bodyPr/>
                    <a:lstStyle/>
                    <a:p>
                      <a:pPr algn="ctr" fontAlgn="ctr"/>
                      <a:r>
                        <a:rPr lang="en-US" sz="3600" b="1" i="0" u="none" strike="noStrike">
                          <a:solidFill>
                            <a:schemeClr val="bg1"/>
                          </a:solidFill>
                          <a:effectLst/>
                          <a:latin typeface="Calibri" panose="020F0502020204030204" pitchFamily="34" charset="0"/>
                        </a:rPr>
                        <a:t>For 50 Members Above</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a:solidFill>
                            <a:schemeClr val="bg1"/>
                          </a:solidFill>
                          <a:effectLst/>
                          <a:latin typeface="Calibri" panose="020F0502020204030204" pitchFamily="34" charset="0"/>
                        </a:rPr>
                        <a:t>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4,514</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5,746</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10,055</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15,083</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489904674"/>
                  </a:ext>
                </a:extLst>
              </a:tr>
              <a:tr h="1514096">
                <a:tc vMerge="1">
                  <a:txBody>
                    <a:bodyPr/>
                    <a:lstStyle/>
                    <a:p>
                      <a:endParaRPr lang="en-US"/>
                    </a:p>
                  </a:txBody>
                  <a:tcPr/>
                </a:tc>
                <a:tc>
                  <a:txBody>
                    <a:bodyPr/>
                    <a:lstStyle/>
                    <a:p>
                      <a:pPr algn="ctr" fontAlgn="ctr"/>
                      <a:r>
                        <a:rPr lang="en-US" sz="3600" b="1" i="0" u="none" strike="noStrike">
                          <a:solidFill>
                            <a:schemeClr val="bg1"/>
                          </a:solidFill>
                          <a:effectLst/>
                          <a:latin typeface="Calibri" panose="020F0502020204030204" pitchFamily="34" charset="0"/>
                        </a:rPr>
                        <a:t>Semi-Annual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2,438</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3,103</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5,431</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8,146</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200836504"/>
                  </a:ext>
                </a:extLst>
              </a:tr>
            </a:tbl>
          </a:graphicData>
        </a:graphic>
      </p:graphicFrame>
      <p:sp>
        <p:nvSpPr>
          <p:cNvPr id="11" name="TextBox 10">
            <a:extLst>
              <a:ext uri="{FF2B5EF4-FFF2-40B4-BE49-F238E27FC236}">
                <a16:creationId xmlns:a16="http://schemas.microsoft.com/office/drawing/2014/main" id="{B52E1ABE-FE11-49AF-B631-6B6E249DD08D}"/>
              </a:ext>
            </a:extLst>
          </p:cNvPr>
          <p:cNvSpPr txBox="1"/>
          <p:nvPr/>
        </p:nvSpPr>
        <p:spPr>
          <a:xfrm>
            <a:off x="457201" y="9519945"/>
            <a:ext cx="5242910" cy="584775"/>
          </a:xfrm>
          <a:prstGeom prst="rect">
            <a:avLst/>
          </a:prstGeom>
          <a:noFill/>
        </p:spPr>
        <p:txBody>
          <a:bodyPr wrap="none" rtlCol="0">
            <a:spAutoFit/>
          </a:bodyPr>
          <a:lstStyle/>
          <a:p>
            <a:r>
              <a:rPr lang="en-US" sz="3200" b="1" dirty="0"/>
              <a:t>**Add 50 for membership fee</a:t>
            </a:r>
          </a:p>
        </p:txBody>
      </p:sp>
    </p:spTree>
    <p:extLst>
      <p:ext uri="{BB962C8B-B14F-4D97-AF65-F5344CB8AC3E}">
        <p14:creationId xmlns:p14="http://schemas.microsoft.com/office/powerpoint/2010/main" val="31641626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PREMIUM - Dependents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graphicFrame>
        <p:nvGraphicFramePr>
          <p:cNvPr id="10" name="Table 9">
            <a:extLst>
              <a:ext uri="{FF2B5EF4-FFF2-40B4-BE49-F238E27FC236}">
                <a16:creationId xmlns:a16="http://schemas.microsoft.com/office/drawing/2014/main" id="{C8249287-F16D-4412-AF9D-0888CB89346A}"/>
              </a:ext>
            </a:extLst>
          </p:cNvPr>
          <p:cNvGraphicFramePr>
            <a:graphicFrameLocks noGrp="1"/>
          </p:cNvGraphicFramePr>
          <p:nvPr>
            <p:extLst>
              <p:ext uri="{D42A27DB-BD31-4B8C-83A1-F6EECF244321}">
                <p14:modId xmlns:p14="http://schemas.microsoft.com/office/powerpoint/2010/main" val="3150233999"/>
              </p:ext>
            </p:extLst>
          </p:nvPr>
        </p:nvGraphicFramePr>
        <p:xfrm>
          <a:off x="457201" y="2002618"/>
          <a:ext cx="17773835" cy="7517326"/>
        </p:xfrm>
        <a:graphic>
          <a:graphicData uri="http://schemas.openxmlformats.org/drawingml/2006/table">
            <a:tbl>
              <a:tblPr/>
              <a:tblGrid>
                <a:gridCol w="3957366">
                  <a:extLst>
                    <a:ext uri="{9D8B030D-6E8A-4147-A177-3AD203B41FA5}">
                      <a16:colId xmlns:a16="http://schemas.microsoft.com/office/drawing/2014/main" val="3752031797"/>
                    </a:ext>
                  </a:extLst>
                </a:gridCol>
                <a:gridCol w="3454117">
                  <a:extLst>
                    <a:ext uri="{9D8B030D-6E8A-4147-A177-3AD203B41FA5}">
                      <a16:colId xmlns:a16="http://schemas.microsoft.com/office/drawing/2014/main" val="1252804144"/>
                    </a:ext>
                  </a:extLst>
                </a:gridCol>
                <a:gridCol w="2418316">
                  <a:extLst>
                    <a:ext uri="{9D8B030D-6E8A-4147-A177-3AD203B41FA5}">
                      <a16:colId xmlns:a16="http://schemas.microsoft.com/office/drawing/2014/main" val="4260460310"/>
                    </a:ext>
                  </a:extLst>
                </a:gridCol>
                <a:gridCol w="3048000">
                  <a:extLst>
                    <a:ext uri="{9D8B030D-6E8A-4147-A177-3AD203B41FA5}">
                      <a16:colId xmlns:a16="http://schemas.microsoft.com/office/drawing/2014/main" val="437247019"/>
                    </a:ext>
                  </a:extLst>
                </a:gridCol>
                <a:gridCol w="2438400">
                  <a:extLst>
                    <a:ext uri="{9D8B030D-6E8A-4147-A177-3AD203B41FA5}">
                      <a16:colId xmlns:a16="http://schemas.microsoft.com/office/drawing/2014/main" val="1793667562"/>
                    </a:ext>
                  </a:extLst>
                </a:gridCol>
                <a:gridCol w="2457636">
                  <a:extLst>
                    <a:ext uri="{9D8B030D-6E8A-4147-A177-3AD203B41FA5}">
                      <a16:colId xmlns:a16="http://schemas.microsoft.com/office/drawing/2014/main" val="848635862"/>
                    </a:ext>
                  </a:extLst>
                </a:gridCol>
              </a:tblGrid>
              <a:tr h="1260670">
                <a:tc>
                  <a:txBody>
                    <a:bodyPr/>
                    <a:lstStyle/>
                    <a:p>
                      <a:pPr algn="ctr" fontAlgn="ctr"/>
                      <a:r>
                        <a:rPr lang="en-US" sz="3600" b="1" i="0" u="none" strike="noStrike" dirty="0">
                          <a:solidFill>
                            <a:srgbClr val="FFFFFF"/>
                          </a:solidFill>
                          <a:effectLst/>
                          <a:latin typeface="Calibri" panose="020F0502020204030204" pitchFamily="34" charset="0"/>
                        </a:rPr>
                        <a:t>Number of Members</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a:solidFill>
                            <a:srgbClr val="FFFFFF"/>
                          </a:solidFill>
                          <a:effectLst/>
                          <a:latin typeface="Calibri" panose="020F0502020204030204" pitchFamily="34" charset="0"/>
                        </a:rPr>
                        <a:t>Mode of Payment</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CorpoServe</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CorpoAide</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CorpoPlus</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3600" b="1" i="0" u="none" strike="noStrike" dirty="0" err="1">
                          <a:solidFill>
                            <a:srgbClr val="FFFFFF"/>
                          </a:solidFill>
                          <a:effectLst/>
                          <a:latin typeface="Calibri" panose="020F0502020204030204" pitchFamily="34" charset="0"/>
                        </a:rPr>
                        <a:t>CorpoMax</a:t>
                      </a:r>
                      <a:endParaRPr lang="en-US" sz="3600" b="1" i="0" u="none" strike="noStrike" dirty="0">
                        <a:solidFill>
                          <a:srgbClr val="FFFFFF"/>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172892748"/>
                  </a:ext>
                </a:extLst>
              </a:tr>
              <a:tr h="1564164">
                <a:tc rowSpan="2">
                  <a:txBody>
                    <a:bodyPr/>
                    <a:lstStyle/>
                    <a:p>
                      <a:pPr algn="ctr" fontAlgn="ctr"/>
                      <a:r>
                        <a:rPr lang="en-US" sz="3600" b="1" i="0" u="none" strike="noStrike" dirty="0">
                          <a:solidFill>
                            <a:schemeClr val="bg1"/>
                          </a:solidFill>
                          <a:effectLst/>
                          <a:latin typeface="Calibri" panose="020F0502020204030204" pitchFamily="34" charset="0"/>
                        </a:rPr>
                        <a:t>For 5-49 Members</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5,688</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7,258</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a:solidFill>
                            <a:schemeClr val="bg1"/>
                          </a:solidFill>
                          <a:effectLst/>
                          <a:latin typeface="Calibri" panose="020F0502020204030204" pitchFamily="34" charset="0"/>
                        </a:rPr>
                        <a:t>12,701</a:t>
                      </a:r>
                      <a:endParaRPr lang="en-US" sz="3600" b="1" i="0" u="none" strike="noStrike" dirty="0">
                        <a:solidFill>
                          <a:schemeClr val="bg1"/>
                        </a:solidFill>
                        <a:effectLst/>
                        <a:latin typeface="Calibri" panose="020F0502020204030204" pitchFamily="34" charset="0"/>
                      </a:endParaRP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19,052</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362545255"/>
                  </a:ext>
                </a:extLst>
              </a:tr>
              <a:tr h="1564164">
                <a:tc vMerge="1">
                  <a:txBody>
                    <a:bodyPr/>
                    <a:lstStyle/>
                    <a:p>
                      <a:endParaRPr lang="en-US"/>
                    </a:p>
                  </a:txBody>
                  <a:tcPr/>
                </a:tc>
                <a:tc>
                  <a:txBody>
                    <a:bodyPr/>
                    <a:lstStyle/>
                    <a:p>
                      <a:pPr algn="ctr" fontAlgn="ctr"/>
                      <a:r>
                        <a:rPr lang="en-US" sz="3600" b="1" i="0" u="none" strike="noStrike" dirty="0">
                          <a:solidFill>
                            <a:schemeClr val="bg1"/>
                          </a:solidFill>
                          <a:effectLst/>
                          <a:latin typeface="Calibri" panose="020F0502020204030204" pitchFamily="34" charset="0"/>
                        </a:rPr>
                        <a:t>Semi-Annual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3,041</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3,920</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6,860</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10,289</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2313087592"/>
                  </a:ext>
                </a:extLst>
              </a:tr>
              <a:tr h="1564164">
                <a:tc rowSpan="2">
                  <a:txBody>
                    <a:bodyPr/>
                    <a:lstStyle/>
                    <a:p>
                      <a:pPr algn="ctr" fontAlgn="ctr"/>
                      <a:r>
                        <a:rPr lang="en-US" sz="3600" b="1" i="0" u="none" strike="noStrike">
                          <a:solidFill>
                            <a:schemeClr val="bg1"/>
                          </a:solidFill>
                          <a:effectLst/>
                          <a:latin typeface="Calibri" panose="020F0502020204030204" pitchFamily="34" charset="0"/>
                        </a:rPr>
                        <a:t>For 50 Members Above</a:t>
                      </a:r>
                    </a:p>
                  </a:txBody>
                  <a:tcPr marL="7944" marR="7944" marT="7944"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a:solidFill>
                            <a:schemeClr val="bg1"/>
                          </a:solidFill>
                          <a:effectLst/>
                          <a:latin typeface="Calibri" panose="020F0502020204030204" pitchFamily="34" charset="0"/>
                        </a:rPr>
                        <a:t>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5,417</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6,896</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12,066</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18,100</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489904674"/>
                  </a:ext>
                </a:extLst>
              </a:tr>
              <a:tr h="1564164">
                <a:tc vMerge="1">
                  <a:txBody>
                    <a:bodyPr/>
                    <a:lstStyle/>
                    <a:p>
                      <a:endParaRPr lang="en-US"/>
                    </a:p>
                  </a:txBody>
                  <a:tcPr/>
                </a:tc>
                <a:tc>
                  <a:txBody>
                    <a:bodyPr/>
                    <a:lstStyle/>
                    <a:p>
                      <a:pPr algn="ctr" fontAlgn="ctr"/>
                      <a:r>
                        <a:rPr lang="en-US" sz="3600" b="1" i="0" u="none" strike="noStrike">
                          <a:solidFill>
                            <a:schemeClr val="bg1"/>
                          </a:solidFill>
                          <a:effectLst/>
                          <a:latin typeface="Calibri" panose="020F0502020204030204" pitchFamily="34" charset="0"/>
                        </a:rPr>
                        <a:t>Semi-Annual</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2,925</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3,274</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6,518</a:t>
                      </a:r>
                    </a:p>
                  </a:txBody>
                  <a:tcPr marL="7944" marR="7944" marT="79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tc>
                  <a:txBody>
                    <a:bodyPr/>
                    <a:lstStyle/>
                    <a:p>
                      <a:pPr algn="ctr" fontAlgn="ctr"/>
                      <a:r>
                        <a:rPr lang="en-US" sz="3600" b="1" i="0" u="none" strike="noStrike" dirty="0">
                          <a:solidFill>
                            <a:schemeClr val="bg1"/>
                          </a:solidFill>
                          <a:effectLst/>
                          <a:latin typeface="Calibri" panose="020F0502020204030204" pitchFamily="34" charset="0"/>
                        </a:rPr>
                        <a:t>9,776</a:t>
                      </a:r>
                    </a:p>
                  </a:txBody>
                  <a:tcPr marL="7944" marR="7944" marT="794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8712"/>
                    </a:solidFill>
                  </a:tcPr>
                </a:tc>
                <a:extLst>
                  <a:ext uri="{0D108BD9-81ED-4DB2-BD59-A6C34878D82A}">
                    <a16:rowId xmlns:a16="http://schemas.microsoft.com/office/drawing/2014/main" val="200836504"/>
                  </a:ext>
                </a:extLst>
              </a:tr>
            </a:tbl>
          </a:graphicData>
        </a:graphic>
      </p:graphicFrame>
      <p:sp>
        <p:nvSpPr>
          <p:cNvPr id="11" name="TextBox 10">
            <a:extLst>
              <a:ext uri="{FF2B5EF4-FFF2-40B4-BE49-F238E27FC236}">
                <a16:creationId xmlns:a16="http://schemas.microsoft.com/office/drawing/2014/main" id="{B52E1ABE-FE11-49AF-B631-6B6E249DD08D}"/>
              </a:ext>
            </a:extLst>
          </p:cNvPr>
          <p:cNvSpPr txBox="1"/>
          <p:nvPr/>
        </p:nvSpPr>
        <p:spPr>
          <a:xfrm>
            <a:off x="457201" y="9519945"/>
            <a:ext cx="5242910" cy="584775"/>
          </a:xfrm>
          <a:prstGeom prst="rect">
            <a:avLst/>
          </a:prstGeom>
          <a:noFill/>
        </p:spPr>
        <p:txBody>
          <a:bodyPr wrap="none" rtlCol="0">
            <a:spAutoFit/>
          </a:bodyPr>
          <a:lstStyle/>
          <a:p>
            <a:r>
              <a:rPr lang="en-US" sz="3200" b="1" dirty="0"/>
              <a:t>**Add 50 for membership fee</a:t>
            </a:r>
          </a:p>
        </p:txBody>
      </p:sp>
    </p:spTree>
    <p:extLst>
      <p:ext uri="{BB962C8B-B14F-4D97-AF65-F5344CB8AC3E}">
        <p14:creationId xmlns:p14="http://schemas.microsoft.com/office/powerpoint/2010/main" val="4262381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6001643"/>
          </a:xfrm>
          <a:prstGeom prst="rect">
            <a:avLst/>
          </a:prstGeom>
        </p:spPr>
        <p:txBody>
          <a:bodyPr wrap="square">
            <a:spAutoFit/>
          </a:bodyPr>
          <a:lstStyle/>
          <a:p>
            <a:r>
              <a:rPr lang="en-US" sz="3200" b="1" dirty="0"/>
              <a:t>Illnesses, injuries, or medical conditions that existed prior to enrollment—such as hypertension, diabetes, asthma, tumors, or arthritis—are not covered unless specified under the plan after a designated waiting period, typically six (6) to twelve (12) months. Related complications or recurrences within the waiting period are likewise excluded.</a:t>
            </a:r>
          </a:p>
          <a:p>
            <a:endParaRPr lang="en-US" sz="3200" b="1" dirty="0"/>
          </a:p>
          <a:p>
            <a:r>
              <a:rPr lang="en-US" sz="3200" b="1" dirty="0"/>
              <a:t>However, the PEC exclusion is waived if at least 70% of eligible employees, with a minimum group size of </a:t>
            </a:r>
            <a:r>
              <a:rPr lang="en-US" sz="3200" b="1" dirty="0">
                <a:solidFill>
                  <a:srgbClr val="FF0000"/>
                </a:solidFill>
              </a:rPr>
              <a:t>50 members</a:t>
            </a:r>
            <a:r>
              <a:rPr lang="en-US" sz="3200" b="1" dirty="0"/>
              <a:t>, are enrolled under the plan. If this threshold is not met, pre-existing conditions will be covered after six (6) months of continuous membership.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fade">
                                      <p:cBhvr>
                                        <p:cTn id="1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6001643"/>
          </a:xfrm>
          <a:prstGeom prst="rect">
            <a:avLst/>
          </a:prstGeom>
        </p:spPr>
        <p:txBody>
          <a:bodyPr wrap="square">
            <a:spAutoFit/>
          </a:bodyPr>
          <a:lstStyle/>
          <a:p>
            <a:r>
              <a:rPr lang="en-US" sz="3200" b="1" dirty="0"/>
              <a:t>Illnesses, injuries, or medical conditions that existed prior to enrollment—such as hypertension, diabetes, asthma, tumors, or arthritis—are not covered unless specified under the plan after a designated waiting period, typically six (6) to twelve (12) months. Related complications or recurrences within the waiting period are likewise excluded.</a:t>
            </a:r>
          </a:p>
          <a:p>
            <a:endParaRPr lang="en-US" sz="3200" b="1" dirty="0"/>
          </a:p>
          <a:p>
            <a:r>
              <a:rPr lang="en-US" sz="3200" b="1" dirty="0"/>
              <a:t>However, the PEC exclusion is waived if at least 70% of eligible employees, with a minimum group size of </a:t>
            </a:r>
            <a:r>
              <a:rPr lang="en-US" sz="3200" b="1" dirty="0">
                <a:solidFill>
                  <a:srgbClr val="FF0000"/>
                </a:solidFill>
              </a:rPr>
              <a:t>50 members</a:t>
            </a:r>
            <a:r>
              <a:rPr lang="en-US" sz="3200" b="1" dirty="0"/>
              <a:t>, are enrolled under the plan. If this threshold is not met, pre-existing conditions will be covered after six (6) months of continuous membership.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fade">
                                      <p:cBhvr>
                                        <p:cTn id="1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4006636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753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3"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1,800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2430</Words>
  <Application>Microsoft Office PowerPoint</Application>
  <PresentationFormat>Custom</PresentationFormat>
  <Paragraphs>472</Paragraphs>
  <Slides>43</Slides>
  <Notes>6</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43</vt:i4>
      </vt:variant>
    </vt:vector>
  </HeadingPairs>
  <TitlesOfParts>
    <vt:vector size="62" baseType="lpstr">
      <vt:lpstr>Poppins</vt:lpstr>
      <vt:lpstr>Aharoni</vt:lpstr>
      <vt:lpstr>Open Sans Italics</vt:lpstr>
      <vt:lpstr>Anantason SemiExpanded Italics</vt:lpstr>
      <vt:lpstr>Cambria</vt:lpstr>
      <vt:lpstr>Wingdings</vt:lpstr>
      <vt:lpstr>Prachason Neue SemiExpanded</vt:lpstr>
      <vt:lpstr>Open Sans Bold</vt:lpstr>
      <vt:lpstr>Arial</vt:lpstr>
      <vt:lpstr>Courier New</vt:lpstr>
      <vt:lpstr>Prachason Neue SemiExpanded Italics</vt:lpstr>
      <vt:lpstr>Calibri</vt:lpstr>
      <vt:lpstr>Poppins Bold</vt:lpstr>
      <vt:lpstr>MS Mincho</vt:lpstr>
      <vt:lpstr>Times New Roman</vt:lpstr>
      <vt:lpstr>Prachason Neue SemiExpanded Bold</vt:lpstr>
      <vt:lpstr>Arial MT</vt:lpstr>
      <vt:lpstr>Anantason SemiExpanded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RMC2 Philip Sanchez</cp:lastModifiedBy>
  <cp:revision>172</cp:revision>
  <dcterms:created xsi:type="dcterms:W3CDTF">2006-08-16T00:00:00Z</dcterms:created>
  <dcterms:modified xsi:type="dcterms:W3CDTF">2026-01-22T06:54:18Z</dcterms:modified>
  <dc:identifier>DAG1ugVYjfw</dc:identifier>
</cp:coreProperties>
</file>